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9144000"/>
  <p:notesSz cx="7315200" cy="9601200"/>
  <p:embeddedFontLst>
    <p:embeddedFont>
      <p:font typeface="Helvetica Neue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08">
          <p15:clr>
            <a:srgbClr val="000000"/>
          </p15:clr>
        </p15:guide>
        <p15:guide id="2" pos="524">
          <p15:clr>
            <a:srgbClr val="000000"/>
          </p15:clr>
        </p15:guide>
      </p15:sldGuideLst>
    </p:ext>
    <p:ext uri="GoogleSlidesCustomDataVersion2">
      <go:slidesCustomData xmlns:go="http://customooxmlschemas.google.com/" r:id="rId73" roundtripDataSignature="AMtx7mjjchUDwIPodKdxy+hTMSM7X1/K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08" orient="horz"/>
        <p:guide pos="5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customschemas.google.com/relationships/presentationmetadata" Target="metadata"/><Relationship Id="rId72" Type="http://schemas.openxmlformats.org/officeDocument/2006/relationships/font" Target="fonts/HelveticaNeue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HelveticaNeue-italic.fntdata"/><Relationship Id="rId70" Type="http://schemas.openxmlformats.org/officeDocument/2006/relationships/font" Target="fonts/HelveticaNeue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HelveticaNeue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4" type="sldNum"/>
          </p:nvPr>
        </p:nvSpPr>
        <p:spPr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:notes"/>
          <p:cNvSpPr txBox="1"/>
          <p:nvPr>
            <p:ph idx="1" type="body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6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6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7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F8F8F8"/>
            </a:gs>
            <a:gs pos="100000">
              <a:srgbClr val="99CCFF"/>
            </a:gs>
          </a:gsLst>
          <a:lin ang="5400000" scaled="0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3" name="Google Shape;33;p7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7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5" name="Google Shape;35;p72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" name="Google Shape;36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9762" y="4829175"/>
            <a:ext cx="2349500" cy="14192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7" name="Google Shape;3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5" y="3603625"/>
            <a:ext cx="60356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3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41" name="Google Shape;41;p7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7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3" name="Google Shape;43;p7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7" name="Google Shape;47;p7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8" name="Google Shape;48;p7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71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71"/>
          <p:cNvSpPr txBox="1"/>
          <p:nvPr/>
        </p:nvSpPr>
        <p:spPr>
          <a:xfrm>
            <a:off x="4267200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</a:t>
            </a:r>
            <a:fld id="{00000000-1234-1234-1234-123412341234}" type="slidenum"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3" name="Google Shape;13;p7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71"/>
          <p:cNvSpPr/>
          <p:nvPr/>
        </p:nvSpPr>
        <p:spPr>
          <a:xfrm flipH="1" rot="-2400000">
            <a:off x="1609725" y="4962525"/>
            <a:ext cx="9525" cy="1587"/>
          </a:xfrm>
          <a:custGeom>
            <a:rect b="b" l="l" r="r" t="t"/>
            <a:pathLst>
              <a:path extrusionOk="0" h="4" w="20">
                <a:moveTo>
                  <a:pt x="20" y="4"/>
                </a:moveTo>
                <a:lnTo>
                  <a:pt x="0" y="0"/>
                </a:lnTo>
                <a:lnTo>
                  <a:pt x="16" y="0"/>
                </a:lnTo>
                <a:lnTo>
                  <a:pt x="2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71"/>
          <p:cNvSpPr/>
          <p:nvPr/>
        </p:nvSpPr>
        <p:spPr>
          <a:xfrm flipH="1" rot="-120000">
            <a:off x="1189037" y="4205287"/>
            <a:ext cx="4762" cy="1587"/>
          </a:xfrm>
          <a:custGeom>
            <a:rect b="b" l="l" r="r" t="t"/>
            <a:pathLst>
              <a:path extrusionOk="0" h="4" w="12">
                <a:moveTo>
                  <a:pt x="12" y="4"/>
                </a:moveTo>
                <a:lnTo>
                  <a:pt x="0" y="0"/>
                </a:lnTo>
                <a:lnTo>
                  <a:pt x="12" y="0"/>
                </a:lnTo>
                <a:lnTo>
                  <a:pt x="12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71"/>
          <p:cNvSpPr/>
          <p:nvPr/>
        </p:nvSpPr>
        <p:spPr>
          <a:xfrm>
            <a:off x="5164137" y="4206875"/>
            <a:ext cx="7937" cy="9525"/>
          </a:xfrm>
          <a:custGeom>
            <a:rect b="b" l="l" r="r" t="t"/>
            <a:pathLst>
              <a:path extrusionOk="0" h="12" w="12">
                <a:moveTo>
                  <a:pt x="7" y="12"/>
                </a:moveTo>
                <a:lnTo>
                  <a:pt x="0" y="10"/>
                </a:lnTo>
                <a:lnTo>
                  <a:pt x="12" y="0"/>
                </a:lnTo>
                <a:lnTo>
                  <a:pt x="7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71"/>
          <p:cNvSpPr txBox="1"/>
          <p:nvPr/>
        </p:nvSpPr>
        <p:spPr>
          <a:xfrm>
            <a:off x="6489700" y="65881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©2005</a:t>
            </a:r>
            <a:endParaRPr/>
          </a:p>
        </p:txBody>
      </p:sp>
      <p:sp>
        <p:nvSpPr>
          <p:cNvPr id="18" name="Google Shape;18;p71"/>
          <p:cNvSpPr txBox="1"/>
          <p:nvPr/>
        </p:nvSpPr>
        <p:spPr>
          <a:xfrm>
            <a:off x="0" y="6613525"/>
            <a:ext cx="34544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7</a:t>
            </a:r>
            <a:r>
              <a:rPr b="1" baseline="30000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Edition, Feb 22, 2005</a:t>
            </a:r>
            <a:endParaRPr/>
          </a:p>
        </p:txBody>
      </p:sp>
      <p:sp>
        <p:nvSpPr>
          <p:cNvPr id="19" name="Google Shape;19;p71"/>
          <p:cNvSpPr/>
          <p:nvPr/>
        </p:nvSpPr>
        <p:spPr>
          <a:xfrm>
            <a:off x="-1658937" y="1109662"/>
            <a:ext cx="4762" cy="1587"/>
          </a:xfrm>
          <a:custGeom>
            <a:rect b="b" l="l" r="r" t="t"/>
            <a:pathLst>
              <a:path extrusionOk="0" h="120000" w="13">
                <a:moveTo>
                  <a:pt x="13" y="0"/>
                </a:moveTo>
                <a:lnTo>
                  <a:pt x="0" y="0"/>
                </a:lnTo>
                <a:lnTo>
                  <a:pt x="7" y="0"/>
                </a:lnTo>
                <a:lnTo>
                  <a:pt x="1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71"/>
          <p:cNvSpPr/>
          <p:nvPr/>
        </p:nvSpPr>
        <p:spPr>
          <a:xfrm>
            <a:off x="-898525" y="1169987"/>
            <a:ext cx="3175" cy="1587"/>
          </a:xfrm>
          <a:custGeom>
            <a:rect b="b" l="l" r="r" t="t"/>
            <a:pathLst>
              <a:path extrusionOk="0" h="120000" w="10">
                <a:moveTo>
                  <a:pt x="0" y="0"/>
                </a:moveTo>
                <a:lnTo>
                  <a:pt x="10" y="0"/>
                </a:lnTo>
                <a:lnTo>
                  <a:pt x="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71"/>
          <p:cNvSpPr/>
          <p:nvPr/>
        </p:nvSpPr>
        <p:spPr>
          <a:xfrm>
            <a:off x="-1479550" y="423862"/>
            <a:ext cx="1587" cy="15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71"/>
          <p:cNvSpPr/>
          <p:nvPr/>
        </p:nvSpPr>
        <p:spPr>
          <a:xfrm>
            <a:off x="-1466850" y="889000"/>
            <a:ext cx="6350" cy="1587"/>
          </a:xfrm>
          <a:custGeom>
            <a:rect b="b" l="l" r="r" t="t"/>
            <a:pathLst>
              <a:path extrusionOk="0" h="7" w="18">
                <a:moveTo>
                  <a:pt x="0" y="7"/>
                </a:moveTo>
                <a:lnTo>
                  <a:pt x="12" y="0"/>
                </a:lnTo>
                <a:lnTo>
                  <a:pt x="18" y="0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71"/>
          <p:cNvSpPr/>
          <p:nvPr/>
        </p:nvSpPr>
        <p:spPr>
          <a:xfrm>
            <a:off x="-1639887" y="1144587"/>
            <a:ext cx="1587" cy="6350"/>
          </a:xfrm>
          <a:custGeom>
            <a:rect b="b" l="l" r="r" t="t"/>
            <a:pathLst>
              <a:path extrusionOk="0" h="16" w="6">
                <a:moveTo>
                  <a:pt x="0" y="16"/>
                </a:moveTo>
                <a:lnTo>
                  <a:pt x="6" y="0"/>
                </a:lnTo>
                <a:lnTo>
                  <a:pt x="3" y="13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71"/>
          <p:cNvSpPr/>
          <p:nvPr/>
        </p:nvSpPr>
        <p:spPr>
          <a:xfrm>
            <a:off x="-1247775" y="1146175"/>
            <a:ext cx="4762" cy="7937"/>
          </a:xfrm>
          <a:custGeom>
            <a:rect b="b" l="l" r="r" t="t"/>
            <a:pathLst>
              <a:path extrusionOk="0" h="20" w="11">
                <a:moveTo>
                  <a:pt x="8" y="20"/>
                </a:moveTo>
                <a:lnTo>
                  <a:pt x="0" y="0"/>
                </a:lnTo>
                <a:lnTo>
                  <a:pt x="11" y="16"/>
                </a:lnTo>
                <a:lnTo>
                  <a:pt x="8" y="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71"/>
          <p:cNvSpPr/>
          <p:nvPr/>
        </p:nvSpPr>
        <p:spPr>
          <a:xfrm>
            <a:off x="-1101725" y="1228725"/>
            <a:ext cx="1587" cy="6350"/>
          </a:xfrm>
          <a:custGeom>
            <a:rect b="b" l="l" r="r" t="t"/>
            <a:pathLst>
              <a:path extrusionOk="0" h="14" w="7">
                <a:moveTo>
                  <a:pt x="0" y="14"/>
                </a:moveTo>
                <a:lnTo>
                  <a:pt x="7" y="0"/>
                </a:lnTo>
                <a:lnTo>
                  <a:pt x="7" y="7"/>
                </a:lnTo>
                <a:lnTo>
                  <a:pt x="0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71"/>
          <p:cNvSpPr/>
          <p:nvPr/>
        </p:nvSpPr>
        <p:spPr>
          <a:xfrm>
            <a:off x="-1303337" y="1270000"/>
            <a:ext cx="12700" cy="1587"/>
          </a:xfrm>
          <a:custGeom>
            <a:rect b="b" l="l" r="r" t="t"/>
            <a:pathLst>
              <a:path extrusionOk="0" h="3" w="30">
                <a:moveTo>
                  <a:pt x="0" y="3"/>
                </a:moveTo>
                <a:lnTo>
                  <a:pt x="15" y="0"/>
                </a:lnTo>
                <a:lnTo>
                  <a:pt x="30" y="0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71"/>
          <p:cNvSpPr/>
          <p:nvPr/>
        </p:nvSpPr>
        <p:spPr>
          <a:xfrm>
            <a:off x="1176337" y="885825"/>
            <a:ext cx="4762" cy="9525"/>
          </a:xfrm>
          <a:custGeom>
            <a:rect b="b" l="l" r="r" t="t"/>
            <a:pathLst>
              <a:path extrusionOk="0" h="24" w="9">
                <a:moveTo>
                  <a:pt x="0" y="24"/>
                </a:moveTo>
                <a:lnTo>
                  <a:pt x="9" y="0"/>
                </a:lnTo>
                <a:lnTo>
                  <a:pt x="6" y="17"/>
                </a:lnTo>
                <a:lnTo>
                  <a:pt x="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" name="Google Shape;28;p7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18475" y="6010275"/>
            <a:ext cx="1011237" cy="61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00075" cy="11017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99CCFF"/>
            </a:gs>
          </a:gsLst>
          <a:lin ang="5400000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9:  Virtual Memory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9:  Virtual Memory</a:t>
            </a:r>
            <a:endParaRPr/>
          </a:p>
        </p:txBody>
      </p:sp>
      <p:sp>
        <p:nvSpPr>
          <p:cNvPr id="59" name="Google Shape;59;p2"/>
          <p:cNvSpPr txBox="1"/>
          <p:nvPr>
            <p:ph idx="1" type="body"/>
          </p:nvPr>
        </p:nvSpPr>
        <p:spPr>
          <a:xfrm>
            <a:off x="831850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Copy-on-Write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Allocation of Frames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Thrashing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Memory-Mapped Files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Allocating Kernel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Considerations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Operating-System Examples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/>
          </a:p>
        </p:txBody>
      </p:sp>
      <p:sp>
        <p:nvSpPr>
          <p:cNvPr id="65" name="Google Shape;65;p3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describe the benefits of a virtual memory system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explain the concepts of demand paging, page-replacement algorithms, and allocation of page frames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discuss the principle of the working-set model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</a:t>
            </a:r>
            <a:endParaRPr/>
          </a:p>
        </p:txBody>
      </p:sp>
      <p:sp>
        <p:nvSpPr>
          <p:cNvPr id="71" name="Google Shape;71;p4"/>
          <p:cNvSpPr txBox="1"/>
          <p:nvPr>
            <p:ph idx="1" type="body"/>
          </p:nvPr>
        </p:nvSpPr>
        <p:spPr>
          <a:xfrm>
            <a:off x="831850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memory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separation of user logical memory from physical memory.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part of the program needs to be in memory for execution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address space can therefore be much larger than physical address space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address spaces to be shared by several processes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for more efficient process creation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memory can be implemented via: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paging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segmentation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>
            <p:ph type="title"/>
          </p:nvPr>
        </p:nvSpPr>
        <p:spPr>
          <a:xfrm>
            <a:off x="909637" y="0"/>
            <a:ext cx="81612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Memory That is Larger Than Physical Memory</a:t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4367212" y="3246437"/>
            <a:ext cx="409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⇒</a:t>
            </a:r>
            <a:endParaRPr/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3">
            <a:alphaModFix/>
          </a:blip>
          <a:srcRect b="1038" l="3514" r="3746" t="1008"/>
          <a:stretch/>
        </p:blipFill>
        <p:spPr>
          <a:xfrm>
            <a:off x="1922462" y="1282700"/>
            <a:ext cx="5653087" cy="447833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Paging</a:t>
            </a:r>
            <a:endParaRPr/>
          </a:p>
        </p:txBody>
      </p:sp>
      <p:sp>
        <p:nvSpPr>
          <p:cNvPr id="84" name="Google Shape;84;p8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Bring a page into memory only when it is needed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I/O needed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memory needed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Faster response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users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is needed ⇒ reference to it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invalid reference ⇒ abort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not-in-memory ⇒ bring to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Lazy swapper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never swaps a page into memory unless page will be needed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Swapper that deals with pages is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pager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693737" y="0"/>
            <a:ext cx="8350250" cy="844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Transfer of a Paged Memory to Contiguous Disk Space</a:t>
            </a:r>
            <a:endParaRPr/>
          </a:p>
        </p:txBody>
      </p:sp>
      <p:pic>
        <p:nvPicPr>
          <p:cNvPr id="90" name="Google Shape;90;p9"/>
          <p:cNvPicPr preferRelativeResize="0"/>
          <p:nvPr/>
        </p:nvPicPr>
        <p:blipFill rotWithShape="1">
          <a:blip r:embed="rId3">
            <a:alphaModFix/>
          </a:blip>
          <a:srcRect b="1411" l="9654" r="9933" t="706"/>
          <a:stretch/>
        </p:blipFill>
        <p:spPr>
          <a:xfrm>
            <a:off x="2620962" y="1600200"/>
            <a:ext cx="4575175" cy="417671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Valid-Invalid Bit</a:t>
            </a:r>
            <a:endParaRPr/>
          </a:p>
        </p:txBody>
      </p:sp>
      <p:sp>
        <p:nvSpPr>
          <p:cNvPr id="96" name="Google Shape;96;p10"/>
          <p:cNvSpPr txBox="1"/>
          <p:nvPr>
            <p:ph idx="1" type="body"/>
          </p:nvPr>
        </p:nvSpPr>
        <p:spPr>
          <a:xfrm>
            <a:off x="831850" y="1282700"/>
            <a:ext cx="724535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each page table entry a valid–invalid bit is associated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6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in-memory,</a:t>
            </a:r>
            <a:r>
              <a:rPr b="0" i="0" lang="en-US" sz="16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6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not-in-memory)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Initially valid–invalid bit is set to</a:t>
            </a:r>
            <a:r>
              <a:rPr b="1" i="0" lang="en-US" sz="16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all entries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a page table snapshot: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During address translation, if valid–invalid bit in page table entry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is</a:t>
            </a:r>
            <a:r>
              <a:rPr b="1" i="0" lang="en-US" sz="16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page fault</a:t>
            </a: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2951162" y="2867025"/>
            <a:ext cx="1878012" cy="2667000"/>
          </a:xfrm>
          <a:prstGeom prst="rect">
            <a:avLst/>
          </a:prstGeom>
          <a:solidFill>
            <a:schemeClr val="lt1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" name="Google Shape;98;p10"/>
          <p:cNvCxnSpPr/>
          <p:nvPr/>
        </p:nvCxnSpPr>
        <p:spPr>
          <a:xfrm>
            <a:off x="2901950" y="3151187"/>
            <a:ext cx="19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9" name="Google Shape;99;p10"/>
          <p:cNvCxnSpPr/>
          <p:nvPr/>
        </p:nvCxnSpPr>
        <p:spPr>
          <a:xfrm>
            <a:off x="2901950" y="3455987"/>
            <a:ext cx="19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0" name="Google Shape;100;p10"/>
          <p:cNvCxnSpPr/>
          <p:nvPr/>
        </p:nvCxnSpPr>
        <p:spPr>
          <a:xfrm>
            <a:off x="2901950" y="3760787"/>
            <a:ext cx="19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1" name="Google Shape;101;p10"/>
          <p:cNvCxnSpPr/>
          <p:nvPr/>
        </p:nvCxnSpPr>
        <p:spPr>
          <a:xfrm>
            <a:off x="2901950" y="4065587"/>
            <a:ext cx="19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2" name="Google Shape;102;p10"/>
          <p:cNvCxnSpPr/>
          <p:nvPr/>
        </p:nvCxnSpPr>
        <p:spPr>
          <a:xfrm>
            <a:off x="2901950" y="4370387"/>
            <a:ext cx="19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3" name="Google Shape;103;p10"/>
          <p:cNvCxnSpPr/>
          <p:nvPr/>
        </p:nvCxnSpPr>
        <p:spPr>
          <a:xfrm>
            <a:off x="2901950" y="4927600"/>
            <a:ext cx="19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4" name="Google Shape;104;p10"/>
          <p:cNvCxnSpPr/>
          <p:nvPr/>
        </p:nvCxnSpPr>
        <p:spPr>
          <a:xfrm>
            <a:off x="2901950" y="5208587"/>
            <a:ext cx="19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" name="Google Shape;105;p10"/>
          <p:cNvCxnSpPr/>
          <p:nvPr/>
        </p:nvCxnSpPr>
        <p:spPr>
          <a:xfrm>
            <a:off x="4349750" y="2541587"/>
            <a:ext cx="0" cy="297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6" name="Google Shape;106;p10"/>
          <p:cNvSpPr txBox="1"/>
          <p:nvPr/>
        </p:nvSpPr>
        <p:spPr>
          <a:xfrm>
            <a:off x="4427537" y="2817812"/>
            <a:ext cx="3079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</p:txBody>
      </p:sp>
      <p:sp>
        <p:nvSpPr>
          <p:cNvPr id="107" name="Google Shape;107;p10"/>
          <p:cNvSpPr txBox="1"/>
          <p:nvPr/>
        </p:nvSpPr>
        <p:spPr>
          <a:xfrm>
            <a:off x="4429125" y="3117850"/>
            <a:ext cx="3079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</p:txBody>
      </p:sp>
      <p:sp>
        <p:nvSpPr>
          <p:cNvPr id="108" name="Google Shape;108;p10"/>
          <p:cNvSpPr txBox="1"/>
          <p:nvPr/>
        </p:nvSpPr>
        <p:spPr>
          <a:xfrm>
            <a:off x="4427537" y="3417887"/>
            <a:ext cx="3079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</p:txBody>
      </p:sp>
      <p:sp>
        <p:nvSpPr>
          <p:cNvPr id="109" name="Google Shape;109;p10"/>
          <p:cNvSpPr txBox="1"/>
          <p:nvPr/>
        </p:nvSpPr>
        <p:spPr>
          <a:xfrm>
            <a:off x="4429125" y="3746500"/>
            <a:ext cx="3079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</p:txBody>
      </p:sp>
      <p:sp>
        <p:nvSpPr>
          <p:cNvPr id="110" name="Google Shape;110;p10"/>
          <p:cNvSpPr txBox="1"/>
          <p:nvPr/>
        </p:nvSpPr>
        <p:spPr>
          <a:xfrm>
            <a:off x="4457700" y="4065587"/>
            <a:ext cx="247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111" name="Google Shape;111;p10"/>
          <p:cNvSpPr txBox="1"/>
          <p:nvPr/>
        </p:nvSpPr>
        <p:spPr>
          <a:xfrm>
            <a:off x="4457700" y="4903787"/>
            <a:ext cx="247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112" name="Google Shape;112;p10"/>
          <p:cNvSpPr txBox="1"/>
          <p:nvPr/>
        </p:nvSpPr>
        <p:spPr>
          <a:xfrm>
            <a:off x="4457700" y="5208587"/>
            <a:ext cx="247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113" name="Google Shape;113;p10"/>
          <p:cNvSpPr txBox="1"/>
          <p:nvPr/>
        </p:nvSpPr>
        <p:spPr>
          <a:xfrm>
            <a:off x="3403600" y="4446587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….</a:t>
            </a:r>
            <a:endParaRPr/>
          </a:p>
        </p:txBody>
      </p:sp>
      <p:sp>
        <p:nvSpPr>
          <p:cNvPr id="114" name="Google Shape;114;p10"/>
          <p:cNvSpPr txBox="1"/>
          <p:nvPr/>
        </p:nvSpPr>
        <p:spPr>
          <a:xfrm>
            <a:off x="3257550" y="2541587"/>
            <a:ext cx="8429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 #</a:t>
            </a:r>
            <a:endParaRPr/>
          </a:p>
        </p:txBody>
      </p:sp>
      <p:sp>
        <p:nvSpPr>
          <p:cNvPr id="115" name="Google Shape;115;p10"/>
          <p:cNvSpPr txBox="1"/>
          <p:nvPr/>
        </p:nvSpPr>
        <p:spPr>
          <a:xfrm>
            <a:off x="4373562" y="2541587"/>
            <a:ext cx="13477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valid-invalid bit</a:t>
            </a:r>
            <a:endParaRPr/>
          </a:p>
        </p:txBody>
      </p:sp>
      <p:sp>
        <p:nvSpPr>
          <p:cNvPr id="116" name="Google Shape;116;p10"/>
          <p:cNvSpPr txBox="1"/>
          <p:nvPr/>
        </p:nvSpPr>
        <p:spPr>
          <a:xfrm>
            <a:off x="3452812" y="5513387"/>
            <a:ext cx="10112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table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646112" y="0"/>
            <a:ext cx="8361362" cy="844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Table When Some Pages Are Not in Main Memory</a:t>
            </a:r>
            <a:endParaRPr/>
          </a:p>
        </p:txBody>
      </p:sp>
      <p:pic>
        <p:nvPicPr>
          <p:cNvPr id="122" name="Google Shape;122;p11"/>
          <p:cNvPicPr preferRelativeResize="0"/>
          <p:nvPr/>
        </p:nvPicPr>
        <p:blipFill rotWithShape="1">
          <a:blip r:embed="rId3">
            <a:alphaModFix/>
          </a:blip>
          <a:srcRect b="1301" l="11795" r="12020" t="634"/>
          <a:stretch/>
        </p:blipFill>
        <p:spPr>
          <a:xfrm>
            <a:off x="2332037" y="1570037"/>
            <a:ext cx="4829175" cy="466248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Fault</a:t>
            </a:r>
            <a:endParaRPr/>
          </a:p>
        </p:txBody>
      </p:sp>
      <p:sp>
        <p:nvSpPr>
          <p:cNvPr id="128" name="Google Shape;128;p12"/>
          <p:cNvSpPr txBox="1"/>
          <p:nvPr>
            <p:ph idx="1" type="body"/>
          </p:nvPr>
        </p:nvSpPr>
        <p:spPr>
          <a:xfrm>
            <a:off x="831850" y="1397000"/>
            <a:ext cx="6448425" cy="4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there is a reference to a page, first reference to that page will trap to operating system: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fault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looks at another table to decide: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Invalid reference ⇒ abort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Just not in memory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 empty frame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 page into frame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Reset tables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validation bit =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Restart the instruction that caused the page fault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Fault (Cont.)</a:t>
            </a:r>
            <a:endParaRPr/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1282700"/>
            <a:ext cx="6880200" cy="51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Restart instruction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 move</a:t>
            </a: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 increment/decrement location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45720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i="1" lang="en-US" sz="1600"/>
              <a:t>LOAD R1, [Address X]</a:t>
            </a:r>
            <a:endParaRPr i="1" sz="1600"/>
          </a:p>
          <a:p>
            <a:pPr indent="45720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i="1" sz="1600"/>
          </a:p>
          <a:p>
            <a:pPr indent="45720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600"/>
              <a:t>If Address X is on a page not in memory:</a:t>
            </a:r>
            <a:endParaRPr sz="1600"/>
          </a:p>
          <a:p>
            <a:pPr indent="457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600"/>
              <a:t>Page fault occurs</a:t>
            </a:r>
            <a:endParaRPr sz="1600"/>
          </a:p>
          <a:p>
            <a:pPr indent="457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600"/>
              <a:t>Page is loaded</a:t>
            </a:r>
            <a:endParaRPr sz="1600"/>
          </a:p>
          <a:p>
            <a:pPr indent="457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1600"/>
              <a:t>The LOAD instruction is restarted</a:t>
            </a:r>
            <a:endParaRPr sz="1600"/>
          </a:p>
        </p:txBody>
      </p:sp>
      <p:sp>
        <p:nvSpPr>
          <p:cNvPr id="135" name="Google Shape;135;p13"/>
          <p:cNvSpPr/>
          <p:nvPr/>
        </p:nvSpPr>
        <p:spPr>
          <a:xfrm>
            <a:off x="3381375" y="2132012"/>
            <a:ext cx="914400" cy="9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3895725" y="2552700"/>
            <a:ext cx="914400" cy="91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289425" y="1965325"/>
            <a:ext cx="533400" cy="533400"/>
          </a:xfrm>
          <a:custGeom>
            <a:rect b="b" l="l" r="r" t="t"/>
            <a:pathLst>
              <a:path extrusionOk="0" h="376" w="344">
                <a:moveTo>
                  <a:pt x="336" y="376"/>
                </a:moveTo>
                <a:cubicBezTo>
                  <a:pt x="340" y="228"/>
                  <a:pt x="344" y="80"/>
                  <a:pt x="288" y="40"/>
                </a:cubicBezTo>
                <a:cubicBezTo>
                  <a:pt x="232" y="0"/>
                  <a:pt x="116" y="68"/>
                  <a:pt x="0" y="13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Steps in Handling a Page Fault</a:t>
            </a:r>
            <a:endParaRPr/>
          </a:p>
        </p:txBody>
      </p:sp>
      <p:pic>
        <p:nvPicPr>
          <p:cNvPr id="143" name="Google Shape;143;p14"/>
          <p:cNvPicPr preferRelativeResize="0"/>
          <p:nvPr/>
        </p:nvPicPr>
        <p:blipFill rotWithShape="1">
          <a:blip r:embed="rId3">
            <a:alphaModFix/>
          </a:blip>
          <a:srcRect b="911" l="5665" r="6113" t="598"/>
          <a:stretch/>
        </p:blipFill>
        <p:spPr>
          <a:xfrm>
            <a:off x="1619250" y="1060450"/>
            <a:ext cx="6307137" cy="528002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of Demand Paging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Fault Rate 0 ≤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≤ 1.0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 no page faults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1, every reference is a fault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Effective Access Time (EAT)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EAT = (1 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x memory access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(page fault overhead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+ swap page out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+ swap page in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+ restart overhead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667150" y="1353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Paging Example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831850" y="877075"/>
            <a:ext cx="7347000" cy="56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access time = 200 nanoseconds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page-fault service time = 8 milliseconds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EAT = (1 – p) x 200 + p (8 milliseconds)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= (1 – p  x 200 + p x 8,000,000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= 200 + p x 7,999,800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one access out of 1,000 causes a page fault, then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EAT = 8.2 microseconds.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Original access time:</a:t>
            </a:r>
            <a:r>
              <a:rPr lang="en-US"/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200 ns = 0.2 microseconds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effective access time:</a:t>
            </a:r>
            <a:r>
              <a:rPr lang="en-US"/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8.2 microseconds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lang="en-US"/>
              <a:t>	Slowdown factor: 8.2 / 0.2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This is a slowdown by a factor of 40!!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Creation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memory allows other benefits during process creation: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- Copy-on-Write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- Memory-Mapped Files (later)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Copy-on-Write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Copy-on-Write (COW) allows both parent and child processes to initially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same pages in memory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either process modifies a shared page, only then is the page copied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COW allows more efficient process creation as only modified pages are copied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Free pages are allocated from 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pool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zeroed-out pages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happens if there is no free frame?</a:t>
            </a:r>
            <a:endParaRPr/>
          </a:p>
        </p:txBody>
      </p:sp>
      <p:sp>
        <p:nvSpPr>
          <p:cNvPr id="173" name="Google Shape;173;p21"/>
          <p:cNvSpPr txBox="1"/>
          <p:nvPr>
            <p:ph idx="1" type="body"/>
          </p:nvPr>
        </p:nvSpPr>
        <p:spPr>
          <a:xfrm>
            <a:off x="827087" y="1425575"/>
            <a:ext cx="6683375" cy="451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 – find some page in memory, but not really in use, swap it out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– want an algorithm which will result in minimum number of page faults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Same page may be brought into memory several times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</a:t>
            </a:r>
            <a:endParaRPr/>
          </a:p>
        </p:txBody>
      </p:sp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Prevent over-allocation of memory by modifying page-fault service routine to include page replacement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modify (dirty) bit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reduce overhead of page transfers – only modified pages are written to disk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 completes separation between logical memory and physical memory – large virtual memory can be provided on a smaller physical memory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For Page Replacement</a:t>
            </a:r>
            <a:endParaRPr/>
          </a:p>
        </p:txBody>
      </p:sp>
      <p:pic>
        <p:nvPicPr>
          <p:cNvPr id="185" name="Google Shape;185;p23"/>
          <p:cNvPicPr preferRelativeResize="0"/>
          <p:nvPr/>
        </p:nvPicPr>
        <p:blipFill rotWithShape="1">
          <a:blip r:embed="rId3">
            <a:alphaModFix/>
          </a:blip>
          <a:srcRect b="2160" l="701" r="700" t="2160"/>
          <a:stretch/>
        </p:blipFill>
        <p:spPr>
          <a:xfrm>
            <a:off x="782637" y="1119187"/>
            <a:ext cx="6958012" cy="506253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Page Replacement</a:t>
            </a:r>
            <a:endParaRPr/>
          </a:p>
        </p:txBody>
      </p:sp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831850" y="1439862"/>
            <a:ext cx="6329362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location of the desired page on disk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 free frame: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-  If there is a free frame, use it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-  If there is no free frame, use a page replacement 	algorithm to select 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victim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Bring  the desired page into the (newly) free frame; update the page and frame tables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Restart the process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</a:t>
            </a:r>
            <a:endParaRPr/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3">
            <a:alphaModFix/>
          </a:blip>
          <a:srcRect b="1533" l="694" r="694" t="1533"/>
          <a:stretch/>
        </p:blipFill>
        <p:spPr>
          <a:xfrm>
            <a:off x="1514475" y="1668462"/>
            <a:ext cx="5932487" cy="437356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 Algorithms</a:t>
            </a:r>
            <a:endParaRPr/>
          </a:p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827087" y="1397000"/>
            <a:ext cx="576897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Want lowest page-fault rate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Evaluate algorithm by running it on a particular string of memory references (reference string) and computing the number of page faults on that string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all our examples, the reference string is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1, 2, 3, 4, 1, 2, 5, 1, 2, 3, 4, 5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Page Replacement</a:t>
            </a:r>
            <a:endParaRPr/>
          </a:p>
        </p:txBody>
      </p:sp>
      <p:pic>
        <p:nvPicPr>
          <p:cNvPr id="209" name="Google Shape;209;p29"/>
          <p:cNvPicPr preferRelativeResize="0"/>
          <p:nvPr/>
        </p:nvPicPr>
        <p:blipFill rotWithShape="1">
          <a:blip r:embed="rId3">
            <a:alphaModFix/>
          </a:blip>
          <a:srcRect b="32359" l="653" r="451" t="32359"/>
          <a:stretch/>
        </p:blipFill>
        <p:spPr>
          <a:xfrm>
            <a:off x="244475" y="2166937"/>
            <a:ext cx="8659812" cy="231616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of Page Faults Versus The Number of Frames</a:t>
            </a:r>
            <a:endParaRPr/>
          </a:p>
        </p:txBody>
      </p:sp>
      <p:pic>
        <p:nvPicPr>
          <p:cNvPr id="215" name="Google Shape;215;p27"/>
          <p:cNvPicPr preferRelativeResize="0"/>
          <p:nvPr/>
        </p:nvPicPr>
        <p:blipFill rotWithShape="1">
          <a:blip r:embed="rId3">
            <a:alphaModFix/>
          </a:blip>
          <a:srcRect b="11610" l="492" r="1242" t="11264"/>
          <a:stretch/>
        </p:blipFill>
        <p:spPr>
          <a:xfrm>
            <a:off x="1385887" y="1897062"/>
            <a:ext cx="6061075" cy="356711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First-In-First-Out (FIFO) Algorithm</a:t>
            </a:r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831850" y="1154112"/>
            <a:ext cx="7029450" cy="576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string: 1, 2, 3, 4, 1, 2, 5, 1, 2, 3, 4, 5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frames (3 pages can be in memory at a time per process)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frames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Belady’s Anomaly: more frames ⇒ more page faults</a:t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3441700" y="2225675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3441700" y="2682875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24" name="Google Shape;224;p28"/>
          <p:cNvSpPr txBox="1"/>
          <p:nvPr/>
        </p:nvSpPr>
        <p:spPr>
          <a:xfrm>
            <a:off x="3441700" y="3140075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3054350" y="225901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26" name="Google Shape;226;p28"/>
          <p:cNvSpPr txBox="1"/>
          <p:nvPr/>
        </p:nvSpPr>
        <p:spPr>
          <a:xfrm>
            <a:off x="3054350" y="270192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27" name="Google Shape;227;p28"/>
          <p:cNvSpPr txBox="1"/>
          <p:nvPr/>
        </p:nvSpPr>
        <p:spPr>
          <a:xfrm>
            <a:off x="3054350" y="317817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28" name="Google Shape;228;p28"/>
          <p:cNvSpPr txBox="1"/>
          <p:nvPr/>
        </p:nvSpPr>
        <p:spPr>
          <a:xfrm>
            <a:off x="3898900" y="229711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29" name="Google Shape;229;p28"/>
          <p:cNvSpPr txBox="1"/>
          <p:nvPr/>
        </p:nvSpPr>
        <p:spPr>
          <a:xfrm>
            <a:off x="3898900" y="274002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30" name="Google Shape;230;p28"/>
          <p:cNvSpPr txBox="1"/>
          <p:nvPr/>
        </p:nvSpPr>
        <p:spPr>
          <a:xfrm>
            <a:off x="3898900" y="321627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31" name="Google Shape;231;p28"/>
          <p:cNvSpPr txBox="1"/>
          <p:nvPr/>
        </p:nvSpPr>
        <p:spPr>
          <a:xfrm>
            <a:off x="4279900" y="229711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232" name="Google Shape;232;p28"/>
          <p:cNvSpPr txBox="1"/>
          <p:nvPr/>
        </p:nvSpPr>
        <p:spPr>
          <a:xfrm>
            <a:off x="4279900" y="274002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33" name="Google Shape;233;p28"/>
          <p:cNvSpPr txBox="1"/>
          <p:nvPr/>
        </p:nvSpPr>
        <p:spPr>
          <a:xfrm>
            <a:off x="4279900" y="321627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34" name="Google Shape;234;p28"/>
          <p:cNvSpPr txBox="1"/>
          <p:nvPr/>
        </p:nvSpPr>
        <p:spPr>
          <a:xfrm>
            <a:off x="4737100" y="2740025"/>
            <a:ext cx="1492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 page faults</a:t>
            </a:r>
            <a:endParaRPr/>
          </a:p>
        </p:txBody>
      </p:sp>
      <p:sp>
        <p:nvSpPr>
          <p:cNvPr id="235" name="Google Shape;235;p28"/>
          <p:cNvSpPr txBox="1"/>
          <p:nvPr/>
        </p:nvSpPr>
        <p:spPr>
          <a:xfrm>
            <a:off x="3409950" y="39497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36" name="Google Shape;236;p28"/>
          <p:cNvSpPr txBox="1"/>
          <p:nvPr/>
        </p:nvSpPr>
        <p:spPr>
          <a:xfrm>
            <a:off x="3409950" y="44069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37" name="Google Shape;237;p28"/>
          <p:cNvSpPr txBox="1"/>
          <p:nvPr/>
        </p:nvSpPr>
        <p:spPr>
          <a:xfrm>
            <a:off x="3409950" y="48641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38" name="Google Shape;238;p28"/>
          <p:cNvSpPr txBox="1"/>
          <p:nvPr/>
        </p:nvSpPr>
        <p:spPr>
          <a:xfrm>
            <a:off x="3022600" y="39830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39" name="Google Shape;239;p28"/>
          <p:cNvSpPr txBox="1"/>
          <p:nvPr/>
        </p:nvSpPr>
        <p:spPr>
          <a:xfrm>
            <a:off x="3022600" y="442595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3022600" y="49022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41" name="Google Shape;241;p28"/>
          <p:cNvSpPr txBox="1"/>
          <p:nvPr/>
        </p:nvSpPr>
        <p:spPr>
          <a:xfrm>
            <a:off x="3867150" y="40211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242" name="Google Shape;242;p28"/>
          <p:cNvSpPr txBox="1"/>
          <p:nvPr/>
        </p:nvSpPr>
        <p:spPr>
          <a:xfrm>
            <a:off x="3867150" y="446405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43" name="Google Shape;243;p28"/>
          <p:cNvSpPr txBox="1"/>
          <p:nvPr/>
        </p:nvSpPr>
        <p:spPr>
          <a:xfrm>
            <a:off x="3867150" y="49403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44" name="Google Shape;244;p28"/>
          <p:cNvSpPr txBox="1"/>
          <p:nvPr/>
        </p:nvSpPr>
        <p:spPr>
          <a:xfrm>
            <a:off x="4248150" y="40211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4248150" y="44831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246" name="Google Shape;246;p28"/>
          <p:cNvSpPr txBox="1"/>
          <p:nvPr/>
        </p:nvSpPr>
        <p:spPr>
          <a:xfrm>
            <a:off x="4641850" y="4464050"/>
            <a:ext cx="161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page faults</a:t>
            </a: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3409950" y="53213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48" name="Google Shape;248;p28"/>
          <p:cNvSpPr txBox="1"/>
          <p:nvPr/>
        </p:nvSpPr>
        <p:spPr>
          <a:xfrm>
            <a:off x="3028950" y="53975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49" name="Google Shape;249;p28"/>
          <p:cNvSpPr txBox="1"/>
          <p:nvPr/>
        </p:nvSpPr>
        <p:spPr>
          <a:xfrm>
            <a:off x="3867150" y="53975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Illustrating Belady’s Anomaly</a:t>
            </a:r>
            <a:endParaRPr/>
          </a:p>
        </p:txBody>
      </p:sp>
      <p:pic>
        <p:nvPicPr>
          <p:cNvPr id="255" name="Google Shape;255;p30"/>
          <p:cNvPicPr preferRelativeResize="0"/>
          <p:nvPr/>
        </p:nvPicPr>
        <p:blipFill rotWithShape="1">
          <a:blip r:embed="rId3">
            <a:alphaModFix/>
          </a:blip>
          <a:srcRect b="8516" l="1103" r="1102" t="7934"/>
          <a:stretch/>
        </p:blipFill>
        <p:spPr>
          <a:xfrm>
            <a:off x="1411287" y="1827212"/>
            <a:ext cx="6196012" cy="397033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Optimal Algorithm</a:t>
            </a:r>
            <a:endParaRPr/>
          </a:p>
        </p:txBody>
      </p:sp>
      <p:sp>
        <p:nvSpPr>
          <p:cNvPr id="261" name="Google Shape;261;p31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page that will not be used for longest period of 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frames example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1, 2, 3, 4, 1, 2, 5, 1, 2, 3, 4, 5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do you know this?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for measuring how well your algorithm performs</a:t>
            </a:r>
            <a:endParaRPr/>
          </a:p>
        </p:txBody>
      </p:sp>
      <p:sp>
        <p:nvSpPr>
          <p:cNvPr id="262" name="Google Shape;262;p31"/>
          <p:cNvSpPr txBox="1"/>
          <p:nvPr/>
        </p:nvSpPr>
        <p:spPr>
          <a:xfrm>
            <a:off x="3560762" y="26114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63" name="Google Shape;263;p31"/>
          <p:cNvSpPr txBox="1"/>
          <p:nvPr/>
        </p:nvSpPr>
        <p:spPr>
          <a:xfrm>
            <a:off x="3560762" y="30686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64" name="Google Shape;264;p31"/>
          <p:cNvSpPr txBox="1"/>
          <p:nvPr/>
        </p:nvSpPr>
        <p:spPr>
          <a:xfrm>
            <a:off x="3560762" y="35258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4297362" y="268287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5110162" y="3125787"/>
            <a:ext cx="1492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 page faults</a:t>
            </a:r>
            <a:endParaRPr/>
          </a:p>
        </p:txBody>
      </p:sp>
      <p:sp>
        <p:nvSpPr>
          <p:cNvPr id="267" name="Google Shape;267;p31"/>
          <p:cNvSpPr txBox="1"/>
          <p:nvPr/>
        </p:nvSpPr>
        <p:spPr>
          <a:xfrm>
            <a:off x="3560762" y="39830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68" name="Google Shape;268;p31"/>
          <p:cNvSpPr txBox="1"/>
          <p:nvPr/>
        </p:nvSpPr>
        <p:spPr>
          <a:xfrm>
            <a:off x="4017962" y="40592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Optimal Page Replacement</a:t>
            </a:r>
            <a:endParaRPr/>
          </a:p>
        </p:txBody>
      </p:sp>
      <p:pic>
        <p:nvPicPr>
          <p:cNvPr id="274" name="Google Shape;274;p32"/>
          <p:cNvPicPr preferRelativeResize="0"/>
          <p:nvPr/>
        </p:nvPicPr>
        <p:blipFill rotWithShape="1">
          <a:blip r:embed="rId3">
            <a:alphaModFix/>
          </a:blip>
          <a:srcRect b="32074" l="471" r="781" t="32073"/>
          <a:stretch/>
        </p:blipFill>
        <p:spPr>
          <a:xfrm>
            <a:off x="436562" y="1990725"/>
            <a:ext cx="8342312" cy="227171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Least Recently Used (LRU) Algorithm</a:t>
            </a:r>
            <a:endParaRPr/>
          </a:p>
        </p:txBody>
      </p:sp>
      <p:sp>
        <p:nvSpPr>
          <p:cNvPr id="280" name="Google Shape;280;p33"/>
          <p:cNvSpPr txBox="1"/>
          <p:nvPr>
            <p:ph idx="1" type="body"/>
          </p:nvPr>
        </p:nvSpPr>
        <p:spPr>
          <a:xfrm>
            <a:off x="838200" y="1196975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string:  1, 2, 3, 4, 1, 2,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1, 2, </a:t>
            </a:r>
            <a:r>
              <a:rPr b="1" i="0" lang="en-US" sz="1800" u="none">
                <a:solidFill>
                  <a:srgbClr val="0000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1800" u="none">
                <a:solidFill>
                  <a:srgbClr val="66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1800" u="none">
                <a:solidFill>
                  <a:srgbClr val="0099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Counter implementation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page entry has a counter; every time page is referenced through this entry, copy the clock into the counter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page needs to be changed, look at the counters to determine which are to change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4638675" y="172878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00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rgbClr val="0099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282" name="Google Shape;282;p33"/>
          <p:cNvSpPr txBox="1"/>
          <p:nvPr/>
        </p:nvSpPr>
        <p:spPr>
          <a:xfrm>
            <a:off x="4638675" y="218598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83" name="Google Shape;283;p33"/>
          <p:cNvSpPr txBox="1"/>
          <p:nvPr/>
        </p:nvSpPr>
        <p:spPr>
          <a:xfrm>
            <a:off x="4638675" y="264318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84" name="Google Shape;284;p33"/>
          <p:cNvSpPr txBox="1"/>
          <p:nvPr/>
        </p:nvSpPr>
        <p:spPr>
          <a:xfrm>
            <a:off x="4638675" y="310038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85" name="Google Shape;285;p33"/>
          <p:cNvSpPr txBox="1"/>
          <p:nvPr/>
        </p:nvSpPr>
        <p:spPr>
          <a:xfrm>
            <a:off x="2620962" y="17272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86" name="Google Shape;286;p33"/>
          <p:cNvSpPr txBox="1"/>
          <p:nvPr/>
        </p:nvSpPr>
        <p:spPr>
          <a:xfrm>
            <a:off x="2620962" y="21844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87" name="Google Shape;287;p33"/>
          <p:cNvSpPr txBox="1"/>
          <p:nvPr/>
        </p:nvSpPr>
        <p:spPr>
          <a:xfrm>
            <a:off x="2620962" y="26416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88" name="Google Shape;288;p33"/>
          <p:cNvSpPr txBox="1"/>
          <p:nvPr/>
        </p:nvSpPr>
        <p:spPr>
          <a:xfrm>
            <a:off x="2620962" y="30988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89" name="Google Shape;289;p33"/>
          <p:cNvSpPr txBox="1"/>
          <p:nvPr/>
        </p:nvSpPr>
        <p:spPr>
          <a:xfrm>
            <a:off x="3124200" y="17351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90" name="Google Shape;290;p33"/>
          <p:cNvSpPr txBox="1"/>
          <p:nvPr/>
        </p:nvSpPr>
        <p:spPr>
          <a:xfrm>
            <a:off x="3124200" y="21923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91" name="Google Shape;291;p33"/>
          <p:cNvSpPr txBox="1"/>
          <p:nvPr/>
        </p:nvSpPr>
        <p:spPr>
          <a:xfrm>
            <a:off x="3124200" y="26495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292" name="Google Shape;292;p33"/>
          <p:cNvSpPr txBox="1"/>
          <p:nvPr/>
        </p:nvSpPr>
        <p:spPr>
          <a:xfrm>
            <a:off x="3124200" y="31067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93" name="Google Shape;293;p33"/>
          <p:cNvSpPr txBox="1"/>
          <p:nvPr/>
        </p:nvSpPr>
        <p:spPr>
          <a:xfrm>
            <a:off x="3643312" y="17145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94" name="Google Shape;294;p33"/>
          <p:cNvSpPr txBox="1"/>
          <p:nvPr/>
        </p:nvSpPr>
        <p:spPr>
          <a:xfrm>
            <a:off x="3643312" y="21717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95" name="Google Shape;295;p33"/>
          <p:cNvSpPr txBox="1"/>
          <p:nvPr/>
        </p:nvSpPr>
        <p:spPr>
          <a:xfrm>
            <a:off x="3643312" y="26289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296" name="Google Shape;296;p33"/>
          <p:cNvSpPr txBox="1"/>
          <p:nvPr/>
        </p:nvSpPr>
        <p:spPr>
          <a:xfrm>
            <a:off x="3643312" y="3086100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rgbClr val="0000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97" name="Google Shape;297;p33"/>
          <p:cNvSpPr txBox="1"/>
          <p:nvPr/>
        </p:nvSpPr>
        <p:spPr>
          <a:xfrm>
            <a:off x="4146550" y="17224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98" name="Google Shape;298;p33"/>
          <p:cNvSpPr txBox="1"/>
          <p:nvPr/>
        </p:nvSpPr>
        <p:spPr>
          <a:xfrm>
            <a:off x="4146550" y="21796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99" name="Google Shape;299;p33"/>
          <p:cNvSpPr txBox="1"/>
          <p:nvPr/>
        </p:nvSpPr>
        <p:spPr>
          <a:xfrm>
            <a:off x="4146550" y="26368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300" name="Google Shape;300;p33"/>
          <p:cNvSpPr txBox="1"/>
          <p:nvPr/>
        </p:nvSpPr>
        <p:spPr>
          <a:xfrm>
            <a:off x="4146550" y="3094037"/>
            <a:ext cx="3810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LRU Page Replacement</a:t>
            </a:r>
            <a:endParaRPr/>
          </a:p>
        </p:txBody>
      </p:sp>
      <p:pic>
        <p:nvPicPr>
          <p:cNvPr id="306" name="Google Shape;306;p34"/>
          <p:cNvPicPr preferRelativeResize="0"/>
          <p:nvPr/>
        </p:nvPicPr>
        <p:blipFill rotWithShape="1">
          <a:blip r:embed="rId3">
            <a:alphaModFix/>
          </a:blip>
          <a:srcRect b="32361" l="808" r="787" t="32875"/>
          <a:stretch/>
        </p:blipFill>
        <p:spPr>
          <a:xfrm>
            <a:off x="911225" y="1755775"/>
            <a:ext cx="7286625" cy="1930400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12" scaled="0"/>
        </a:gra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5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LRU Algorithm (Cont.)</a:t>
            </a:r>
            <a:endParaRPr/>
          </a:p>
        </p:txBody>
      </p:sp>
      <p:sp>
        <p:nvSpPr>
          <p:cNvPr id="312" name="Google Shape;312;p35"/>
          <p:cNvSpPr txBox="1"/>
          <p:nvPr>
            <p:ph idx="1" type="body"/>
          </p:nvPr>
        </p:nvSpPr>
        <p:spPr>
          <a:xfrm>
            <a:off x="827087" y="1282700"/>
            <a:ext cx="7351800" cy="4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 implementation – keep a stack of page numbers in a double link form: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referenced: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move it to the top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requires 6 pointers to be changed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search for replacement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6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Of A Stack to Record The Most Recent Page References</a:t>
            </a:r>
            <a:endParaRPr/>
          </a:p>
        </p:txBody>
      </p:sp>
      <p:pic>
        <p:nvPicPr>
          <p:cNvPr id="318" name="Google Shape;318;p36"/>
          <p:cNvPicPr preferRelativeResize="0"/>
          <p:nvPr/>
        </p:nvPicPr>
        <p:blipFill rotWithShape="1">
          <a:blip r:embed="rId3">
            <a:alphaModFix/>
          </a:blip>
          <a:srcRect b="4619" l="616" r="830" t="4620"/>
          <a:stretch/>
        </p:blipFill>
        <p:spPr>
          <a:xfrm>
            <a:off x="1581150" y="1914525"/>
            <a:ext cx="5845175" cy="403701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Counting Algorithms</a:t>
            </a:r>
            <a:endParaRPr/>
          </a:p>
        </p:txBody>
      </p:sp>
      <p:sp>
        <p:nvSpPr>
          <p:cNvPr id="324" name="Google Shape;324;p39"/>
          <p:cNvSpPr txBox="1"/>
          <p:nvPr>
            <p:ph idx="1" type="body"/>
          </p:nvPr>
        </p:nvSpPr>
        <p:spPr>
          <a:xfrm>
            <a:off x="827087" y="1282700"/>
            <a:ext cx="6765925" cy="455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 a counter of the number of references that have been made to each page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LFU Algorithm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replaces page with smallest count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MFU Algorithm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based on the argument that the page with the smallest count was probably just brought in and has yet to be used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Allocation of Frames</a:t>
            </a:r>
            <a:endParaRPr/>
          </a:p>
        </p:txBody>
      </p:sp>
      <p:sp>
        <p:nvSpPr>
          <p:cNvPr id="330" name="Google Shape;330;p40"/>
          <p:cNvSpPr txBox="1"/>
          <p:nvPr>
            <p:ph idx="1" type="body"/>
          </p:nvPr>
        </p:nvSpPr>
        <p:spPr>
          <a:xfrm>
            <a:off x="827087" y="1425575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process needs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number of pages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IBM 370 – 6 pages to handle SS MOVE instruction: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 is 6 bytes, might span 2 pages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pages to handle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pages to handle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major allocation schemes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allocation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 allocation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Allocation</a:t>
            </a:r>
            <a:endParaRPr/>
          </a:p>
        </p:txBody>
      </p:sp>
      <p:sp>
        <p:nvSpPr>
          <p:cNvPr id="336" name="Google Shape;336;p41"/>
          <p:cNvSpPr txBox="1"/>
          <p:nvPr>
            <p:ph idx="1" type="body"/>
          </p:nvPr>
        </p:nvSpPr>
        <p:spPr>
          <a:xfrm>
            <a:off x="901700" y="1298575"/>
            <a:ext cx="7551737" cy="384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Equal allocation – For example, if there are 100 frames and 5 processes, give each process 20 frames.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Proportional allocation – Allocate according to the size of process</a:t>
            </a:r>
            <a:endParaRPr/>
          </a:p>
        </p:txBody>
      </p:sp>
      <p:pic>
        <p:nvPicPr>
          <p:cNvPr id="337" name="Google Shape;33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600" y="2312987"/>
            <a:ext cx="2857500" cy="1612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41"/>
          <p:cNvCxnSpPr/>
          <p:nvPr/>
        </p:nvCxnSpPr>
        <p:spPr>
          <a:xfrm>
            <a:off x="1447800" y="2481262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39" name="Google Shape;339;p41"/>
          <p:cNvCxnSpPr/>
          <p:nvPr/>
        </p:nvCxnSpPr>
        <p:spPr>
          <a:xfrm>
            <a:off x="1447800" y="2790825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40" name="Google Shape;340;p41"/>
          <p:cNvCxnSpPr/>
          <p:nvPr/>
        </p:nvCxnSpPr>
        <p:spPr>
          <a:xfrm>
            <a:off x="1447800" y="3157537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41" name="Google Shape;341;p41"/>
          <p:cNvCxnSpPr/>
          <p:nvPr/>
        </p:nvCxnSpPr>
        <p:spPr>
          <a:xfrm>
            <a:off x="1447800" y="36576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342" name="Google Shape;34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4100" y="4000500"/>
            <a:ext cx="18415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 Allocation</a:t>
            </a:r>
            <a:endParaRPr/>
          </a:p>
        </p:txBody>
      </p:sp>
      <p:sp>
        <p:nvSpPr>
          <p:cNvPr id="348" name="Google Shape;348;p42"/>
          <p:cNvSpPr txBox="1"/>
          <p:nvPr>
            <p:ph idx="1" type="body"/>
          </p:nvPr>
        </p:nvSpPr>
        <p:spPr>
          <a:xfrm>
            <a:off x="827087" y="1354137"/>
            <a:ext cx="6532562" cy="434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a proportional allocation scheme using priorities rather than size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process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generates a page fault,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for replacement one of its frames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for replacement a frame from a process with lower priority number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Global vs. Local Allocation</a:t>
            </a:r>
            <a:endParaRPr/>
          </a:p>
        </p:txBody>
      </p:sp>
      <p:sp>
        <p:nvSpPr>
          <p:cNvPr id="354" name="Google Shape;354;p43"/>
          <p:cNvSpPr txBox="1"/>
          <p:nvPr>
            <p:ph idx="1" type="body"/>
          </p:nvPr>
        </p:nvSpPr>
        <p:spPr>
          <a:xfrm>
            <a:off x="827087" y="1382712"/>
            <a:ext cx="6546850" cy="4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Global replacement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process selects a replacement frame from the set of all frames; one process can take a frame from another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 replacement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each process selects from only its own set of allocated frames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Thrashing</a:t>
            </a:r>
            <a:endParaRPr/>
          </a:p>
        </p:txBody>
      </p:sp>
      <p:sp>
        <p:nvSpPr>
          <p:cNvPr id="360" name="Google Shape;360;p44"/>
          <p:cNvSpPr txBox="1"/>
          <p:nvPr>
            <p:ph idx="1" type="body"/>
          </p:nvPr>
        </p:nvSpPr>
        <p:spPr>
          <a:xfrm>
            <a:off x="812800" y="1411287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process does not have “enough” pages, the page-fault rate is very high.  This leads to: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CPU utilization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thinks that it needs to increase the degree of multiprogramming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another process added to the system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Thrashing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≡ a process is busy swapping pages in and out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/>
          <p:nvPr>
            <p:ph type="title"/>
          </p:nvPr>
        </p:nvSpPr>
        <p:spPr>
          <a:xfrm>
            <a:off x="685800" y="228600"/>
            <a:ext cx="727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Thrashing (Cont.)</a:t>
            </a:r>
            <a:endParaRPr/>
          </a:p>
        </p:txBody>
      </p:sp>
      <p:pic>
        <p:nvPicPr>
          <p:cNvPr id="366" name="Google Shape;366;p45"/>
          <p:cNvPicPr preferRelativeResize="0"/>
          <p:nvPr/>
        </p:nvPicPr>
        <p:blipFill rotWithShape="1">
          <a:blip r:embed="rId3">
            <a:alphaModFix/>
          </a:blip>
          <a:srcRect b="12082" l="415" r="856" t="12083"/>
          <a:stretch/>
        </p:blipFill>
        <p:spPr>
          <a:xfrm>
            <a:off x="1503362" y="1768475"/>
            <a:ext cx="5962650" cy="3435350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/>
          <p:nvPr>
            <p:ph type="title"/>
          </p:nvPr>
        </p:nvSpPr>
        <p:spPr>
          <a:xfrm>
            <a:off x="1228725" y="228600"/>
            <a:ext cx="727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Paging and Thrashing </a:t>
            </a:r>
            <a:endParaRPr/>
          </a:p>
        </p:txBody>
      </p:sp>
      <p:sp>
        <p:nvSpPr>
          <p:cNvPr id="372" name="Google Shape;372;p46"/>
          <p:cNvSpPr txBox="1"/>
          <p:nvPr>
            <p:ph idx="1" type="body"/>
          </p:nvPr>
        </p:nvSpPr>
        <p:spPr>
          <a:xfrm>
            <a:off x="990600" y="1524000"/>
            <a:ext cx="7029450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does demand paging work?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Locality model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migrates from one locality to another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Localities may overlap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does thrashing occur?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 size of locality &gt; total memory size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Locality In A Memory-Reference Pattern</a:t>
            </a:r>
            <a:endParaRPr/>
          </a:p>
        </p:txBody>
      </p:sp>
      <p:pic>
        <p:nvPicPr>
          <p:cNvPr id="378" name="Google Shape;378;p47"/>
          <p:cNvPicPr preferRelativeResize="0"/>
          <p:nvPr/>
        </p:nvPicPr>
        <p:blipFill rotWithShape="1">
          <a:blip r:embed="rId3">
            <a:alphaModFix/>
          </a:blip>
          <a:srcRect b="1006" l="21249" r="21250" t="659"/>
          <a:stretch/>
        </p:blipFill>
        <p:spPr>
          <a:xfrm>
            <a:off x="2382837" y="1065212"/>
            <a:ext cx="4154487" cy="532923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Working-Set Model</a:t>
            </a:r>
            <a:endParaRPr/>
          </a:p>
        </p:txBody>
      </p:sp>
      <p:sp>
        <p:nvSpPr>
          <p:cNvPr id="384" name="Google Shape;384;p48"/>
          <p:cNvSpPr txBox="1"/>
          <p:nvPr>
            <p:ph idx="1" type="body"/>
          </p:nvPr>
        </p:nvSpPr>
        <p:spPr>
          <a:xfrm>
            <a:off x="827087" y="1282700"/>
            <a:ext cx="6765925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Δ ≡ working-set window ≡ a fixed number of page references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10,000 instruction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WSS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(working set of Process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number of pages referenced in the most recent Δ (varies in time)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Δ too small will not encompass entire locality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Δ too large will encompass several localities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Δ = ∞ ⇒ will encompass entire program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Σ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WSS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≡ total demand frames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Thrashing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Policy 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m, then suspend one of the processes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Working-set model</a:t>
            </a:r>
            <a:endParaRPr/>
          </a:p>
        </p:txBody>
      </p:sp>
      <p:pic>
        <p:nvPicPr>
          <p:cNvPr id="390" name="Google Shape;390;p49"/>
          <p:cNvPicPr preferRelativeResize="0"/>
          <p:nvPr/>
        </p:nvPicPr>
        <p:blipFill rotWithShape="1">
          <a:blip r:embed="rId3">
            <a:alphaModFix/>
          </a:blip>
          <a:srcRect b="35548" l="450" r="687" t="34947"/>
          <a:stretch/>
        </p:blipFill>
        <p:spPr>
          <a:xfrm>
            <a:off x="920750" y="2133600"/>
            <a:ext cx="7426325" cy="166211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Page-Fault Frequency Scheme</a:t>
            </a:r>
            <a:endParaRPr/>
          </a:p>
        </p:txBody>
      </p:sp>
      <p:sp>
        <p:nvSpPr>
          <p:cNvPr id="396" name="Google Shape;396;p51"/>
          <p:cNvSpPr txBox="1"/>
          <p:nvPr>
            <p:ph idx="1" type="body"/>
          </p:nvPr>
        </p:nvSpPr>
        <p:spPr>
          <a:xfrm>
            <a:off x="762000" y="1328737"/>
            <a:ext cx="702945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Establish “acceptable” page-fault rate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actual rate too low, process loses frame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actual rate too high, process gains frame</a:t>
            </a:r>
            <a:endParaRPr/>
          </a:p>
        </p:txBody>
      </p:sp>
      <p:pic>
        <p:nvPicPr>
          <p:cNvPr id="397" name="Google Shape;397;p51"/>
          <p:cNvPicPr preferRelativeResize="0"/>
          <p:nvPr/>
        </p:nvPicPr>
        <p:blipFill rotWithShape="1">
          <a:blip r:embed="rId3">
            <a:alphaModFix/>
          </a:blip>
          <a:srcRect b="16666" l="900" r="1135" t="16351"/>
          <a:stretch/>
        </p:blipFill>
        <p:spPr>
          <a:xfrm>
            <a:off x="1530350" y="2933700"/>
            <a:ext cx="5886450" cy="301783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Memory-Mapped Files</a:t>
            </a:r>
            <a:endParaRPr/>
          </a:p>
        </p:txBody>
      </p:sp>
      <p:sp>
        <p:nvSpPr>
          <p:cNvPr id="403" name="Google Shape;403;p52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Memory-mapped file I/O allows file I/O to be treated as routine memory access by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disk block to a page in memory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file is initially read using demand paging. A page-sized portion of the file is read from the file system into a physical page. Subsequent reads/writes to/from the file are treated as ordinary memory accesses.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Simplifies file access by treating file I/O through memory rather than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read()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system calls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Also allows several processes to map the same file allowing the pages in memory to be shared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Mapped Files</a:t>
            </a:r>
            <a:endParaRPr/>
          </a:p>
        </p:txBody>
      </p:sp>
      <p:pic>
        <p:nvPicPr>
          <p:cNvPr id="409" name="Google Shape;409;p53"/>
          <p:cNvPicPr preferRelativeResize="0"/>
          <p:nvPr/>
        </p:nvPicPr>
        <p:blipFill rotWithShape="1">
          <a:blip r:embed="rId3">
            <a:alphaModFix/>
          </a:blip>
          <a:srcRect b="639" l="4374" r="4120" t="640"/>
          <a:stretch/>
        </p:blipFill>
        <p:spPr>
          <a:xfrm>
            <a:off x="998537" y="1108075"/>
            <a:ext cx="6383337" cy="516413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Memory-Mapped Shared Memory in Windows</a:t>
            </a:r>
            <a:endParaRPr/>
          </a:p>
        </p:txBody>
      </p:sp>
      <p:pic>
        <p:nvPicPr>
          <p:cNvPr id="415" name="Google Shape;415;p54"/>
          <p:cNvPicPr preferRelativeResize="0"/>
          <p:nvPr/>
        </p:nvPicPr>
        <p:blipFill rotWithShape="1">
          <a:blip r:embed="rId3">
            <a:alphaModFix/>
          </a:blip>
          <a:srcRect b="22834" l="656" r="915" t="23115"/>
          <a:stretch/>
        </p:blipFill>
        <p:spPr>
          <a:xfrm>
            <a:off x="377825" y="2008187"/>
            <a:ext cx="8207375" cy="337978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5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Allocating Kernel Memory</a:t>
            </a:r>
            <a:endParaRPr/>
          </a:p>
        </p:txBody>
      </p:sp>
      <p:sp>
        <p:nvSpPr>
          <p:cNvPr id="421" name="Google Shape;421;p55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Treated differently from user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Often allocated from a free-memory pool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Kernel requests memory for structures of varying sizes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kernel memory needs to be contiguous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6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Buddy System</a:t>
            </a:r>
            <a:endParaRPr/>
          </a:p>
        </p:txBody>
      </p:sp>
      <p:sp>
        <p:nvSpPr>
          <p:cNvPr id="427" name="Google Shape;427;p56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Allocates memory from fixed-size segment consisting of physically-contiguous pages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allocated using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power-of-2 allocator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Satisfies requests in units sized as power of 2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Request rounded up to next highest power of 2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smaller allocation needed than is available, current chunk split into two buddies of next-lower power of 2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Continue until appropriate sized chunk available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7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Buddy System Allocator</a:t>
            </a:r>
            <a:endParaRPr/>
          </a:p>
        </p:txBody>
      </p:sp>
      <p:pic>
        <p:nvPicPr>
          <p:cNvPr id="433" name="Google Shape;433;p57"/>
          <p:cNvPicPr preferRelativeResize="0"/>
          <p:nvPr/>
        </p:nvPicPr>
        <p:blipFill rotWithShape="1">
          <a:blip r:embed="rId3">
            <a:alphaModFix/>
          </a:blip>
          <a:srcRect b="1498" l="7865" r="7864" t="1498"/>
          <a:stretch/>
        </p:blipFill>
        <p:spPr>
          <a:xfrm>
            <a:off x="1914525" y="1657350"/>
            <a:ext cx="5151437" cy="444817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Slab Allocator</a:t>
            </a:r>
            <a:endParaRPr/>
          </a:p>
        </p:txBody>
      </p:sp>
      <p:sp>
        <p:nvSpPr>
          <p:cNvPr id="439" name="Google Shape;439;p58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Alternate strategy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Slab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one or more physically contiguous pages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consists of one or more slabs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cache for each unique kernel data structure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cache filled with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instantiations of the data structure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cache created, filled with objects marked as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structures stored, objects marked as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slab is full of used objects, next object allocated from empty slab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 empty slabs, new slab allocated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Benefits include no fragmentation, fast memory request satisfaction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Slab Allocation</a:t>
            </a:r>
            <a:endParaRPr/>
          </a:p>
        </p:txBody>
      </p:sp>
      <p:pic>
        <p:nvPicPr>
          <p:cNvPr id="445" name="Google Shape;445;p59"/>
          <p:cNvPicPr preferRelativeResize="0"/>
          <p:nvPr/>
        </p:nvPicPr>
        <p:blipFill rotWithShape="1">
          <a:blip r:embed="rId3">
            <a:alphaModFix/>
          </a:blip>
          <a:srcRect b="3633" l="746" r="720" t="3943"/>
          <a:stretch/>
        </p:blipFill>
        <p:spPr>
          <a:xfrm>
            <a:off x="1417637" y="1601787"/>
            <a:ext cx="6130925" cy="4313237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0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Issues -- Prepaging</a:t>
            </a:r>
            <a:endParaRPr/>
          </a:p>
        </p:txBody>
      </p:sp>
      <p:sp>
        <p:nvSpPr>
          <p:cNvPr id="451" name="Google Shape;451;p60"/>
          <p:cNvSpPr txBox="1"/>
          <p:nvPr>
            <p:ph idx="1" type="body"/>
          </p:nvPr>
        </p:nvSpPr>
        <p:spPr>
          <a:xfrm>
            <a:off x="827087" y="1447800"/>
            <a:ext cx="752316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Prepaging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reduce the large number of page faults that occurs at process startup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Prepage all or some of the pages a process will need, before they are referenced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if prepaged pages are unused, I/O and memory was wasted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pages are prepaged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α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the pages is used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cost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* α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save pages faults &gt; or &lt; than the cost of prepaging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* (1- α)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unnecessary pages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α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near zero ⇒ prepaging loses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1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Issues – Page Size</a:t>
            </a:r>
            <a:endParaRPr/>
          </a:p>
        </p:txBody>
      </p:sp>
      <p:sp>
        <p:nvSpPr>
          <p:cNvPr id="457" name="Google Shape;457;p61"/>
          <p:cNvSpPr txBox="1"/>
          <p:nvPr>
            <p:ph idx="1" type="body"/>
          </p:nvPr>
        </p:nvSpPr>
        <p:spPr>
          <a:xfrm>
            <a:off x="827087" y="1358900"/>
            <a:ext cx="6511925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size selection must take into consideration: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fragmentation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size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I/O overhead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locality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2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Issues – TLB Reach </a:t>
            </a:r>
            <a:endParaRPr/>
          </a:p>
        </p:txBody>
      </p:sp>
      <p:sp>
        <p:nvSpPr>
          <p:cNvPr id="463" name="Google Shape;463;p62"/>
          <p:cNvSpPr txBox="1"/>
          <p:nvPr>
            <p:ph idx="1" type="body"/>
          </p:nvPr>
        </p:nvSpPr>
        <p:spPr>
          <a:xfrm>
            <a:off x="827087" y="1470025"/>
            <a:ext cx="6804025" cy="441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TLB Reach - The amount of memory accessible from the TLB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TLB Reach = (TLB Size) X (Page Size)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Ideally, the working set of each process is stored in the TLB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Otherwise there is a high degree of page faults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the Page Size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may lead to an increase in fragmentation as not all applications require a large page size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 Multiple Page Sizes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allows applications that require larger page sizes the opportunity to use them without an increase in fragmentation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3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Issues – Program Structure</a:t>
            </a:r>
            <a:endParaRPr/>
          </a:p>
        </p:txBody>
      </p:sp>
      <p:sp>
        <p:nvSpPr>
          <p:cNvPr id="469" name="Google Shape;469;p63"/>
          <p:cNvSpPr txBox="1"/>
          <p:nvPr>
            <p:ph idx="1" type="body"/>
          </p:nvPr>
        </p:nvSpPr>
        <p:spPr>
          <a:xfrm>
            <a:off x="827087" y="1282700"/>
            <a:ext cx="7548562" cy="499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structure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Int[128,128] data;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row is stored in one page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1 	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for (j = 0; j &lt;128; j++)</a:t>
            </a:r>
            <a:b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for (i = 0; i &lt; 128; i++)</a:t>
            </a:r>
            <a:b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data[i,j] = 0;</a:t>
            </a:r>
            <a:b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128 x 128 = 16,384 page faults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2 	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for (i = 0; i &lt; 128; i++)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for (j = 0; j &lt; 128; j++)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data[i,j] = 0;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128 page faults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4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Issues – I/O interlock</a:t>
            </a:r>
            <a:endParaRPr/>
          </a:p>
        </p:txBody>
      </p:sp>
      <p:sp>
        <p:nvSpPr>
          <p:cNvPr id="475" name="Google Shape;475;p64"/>
          <p:cNvSpPr txBox="1"/>
          <p:nvPr>
            <p:ph idx="1" type="body"/>
          </p:nvPr>
        </p:nvSpPr>
        <p:spPr>
          <a:xfrm>
            <a:off x="827087" y="1409700"/>
            <a:ext cx="6265862" cy="445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I/O Interlock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Pages must sometimes be locked into memory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I/O - Pages that are used for copying a file from a device must be locked from being selected for eviction by a page replacement algorithm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5"/>
          <p:cNvSpPr txBox="1"/>
          <p:nvPr>
            <p:ph type="title"/>
          </p:nvPr>
        </p:nvSpPr>
        <p:spPr>
          <a:xfrm>
            <a:off x="873125" y="0"/>
            <a:ext cx="8134350" cy="844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Reason Why Frames Used For I/O Must Be In Memory</a:t>
            </a:r>
            <a:endParaRPr/>
          </a:p>
        </p:txBody>
      </p:sp>
      <p:pic>
        <p:nvPicPr>
          <p:cNvPr id="481" name="Google Shape;481;p65"/>
          <p:cNvPicPr preferRelativeResize="0"/>
          <p:nvPr/>
        </p:nvPicPr>
        <p:blipFill rotWithShape="1">
          <a:blip r:embed="rId3">
            <a:alphaModFix/>
          </a:blip>
          <a:srcRect b="1449" l="18478" r="18478" t="1177"/>
          <a:stretch/>
        </p:blipFill>
        <p:spPr>
          <a:xfrm>
            <a:off x="2555875" y="1762125"/>
            <a:ext cx="3797300" cy="4398962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6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Examples</a:t>
            </a:r>
            <a:endParaRPr/>
          </a:p>
        </p:txBody>
      </p:sp>
      <p:sp>
        <p:nvSpPr>
          <p:cNvPr id="487" name="Google Shape;487;p66"/>
          <p:cNvSpPr txBox="1"/>
          <p:nvPr>
            <p:ph idx="1" type="body"/>
          </p:nvPr>
        </p:nvSpPr>
        <p:spPr>
          <a:xfrm>
            <a:off x="827087" y="14351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Windows XP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Solaris 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Windows XP</a:t>
            </a:r>
            <a:endParaRPr/>
          </a:p>
        </p:txBody>
      </p:sp>
      <p:sp>
        <p:nvSpPr>
          <p:cNvPr id="493" name="Google Shape;493;p67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demand paging with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clustering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Clustering brings in pages surrounding the faulting page.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Processes are assigned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set minimum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set maximum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set minimum is the minimum number of pages the process is guaranteed to have in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process may be assigned as many pages up to its working set maximum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the amount of free memory in the system falls below a threshold,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automatic working set trimming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performed to restore the amount of free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set trimming removes pages from processes that have pages in excess of their working set minimum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8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Solaris </a:t>
            </a:r>
            <a:endParaRPr/>
          </a:p>
        </p:txBody>
      </p:sp>
      <p:sp>
        <p:nvSpPr>
          <p:cNvPr id="499" name="Google Shape;499;p68"/>
          <p:cNvSpPr txBox="1"/>
          <p:nvPr>
            <p:ph idx="1" type="body"/>
          </p:nvPr>
        </p:nvSpPr>
        <p:spPr>
          <a:xfrm>
            <a:off x="827087" y="12827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Maintains a list of free pages to assign faulting processes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Lotsfree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threshold parameter (amount of free memory) to begin 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Desfree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threshold parameter to increasing 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Minfree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threshold parameter to being swapping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 is performed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pageout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Pageout scans pages using modified clock algorithm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Scanrate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rate at which pages are scanned. This ranges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slowscan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fastscan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Pageout is called more frequently depending upon the amount of free memory available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CCECFF"/>
            </a:gs>
          </a:gsLst>
          <a:lin ang="5400000" scaled="0"/>
        </a:gra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9"/>
          <p:cNvSpPr txBox="1"/>
          <p:nvPr>
            <p:ph type="title"/>
          </p:nvPr>
        </p:nvSpPr>
        <p:spPr>
          <a:xfrm>
            <a:off x="685800" y="228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Solaris 2 Page Scanner</a:t>
            </a:r>
            <a:endParaRPr/>
          </a:p>
        </p:txBody>
      </p:sp>
      <p:pic>
        <p:nvPicPr>
          <p:cNvPr id="505" name="Google Shape;505;p69"/>
          <p:cNvPicPr preferRelativeResize="0"/>
          <p:nvPr/>
        </p:nvPicPr>
        <p:blipFill rotWithShape="1">
          <a:blip r:embed="rId3">
            <a:alphaModFix/>
          </a:blip>
          <a:srcRect b="6059" l="923" r="922" t="6060"/>
          <a:stretch/>
        </p:blipFill>
        <p:spPr>
          <a:xfrm>
            <a:off x="1666875" y="2003425"/>
            <a:ext cx="5545137" cy="3724275"/>
          </a:xfrm>
          <a:prstGeom prst="rect">
            <a:avLst/>
          </a:prstGeom>
          <a:noFill/>
          <a:ln cap="flat" cmpd="dbl" w="38100">
            <a:solidFill>
              <a:srgbClr val="CC66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8F8F8"/>
            </a:gs>
            <a:gs pos="100000">
              <a:srgbClr val="99CCFF"/>
            </a:gs>
          </a:gsLst>
          <a:lin ang="5400000" scaled="0"/>
        </a:gra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0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 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s-w-java">
  <a:themeElements>
    <a:clrScheme name="default">
      <a:dk1>
        <a:srgbClr val="000000"/>
      </a:dk1>
      <a:lt1>
        <a:srgbClr val="FFFF99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FFFF99"/>
      </a:accent3>
      <a:accent4>
        <a:srgbClr val="FFCCCC"/>
      </a:accent4>
      <a:accent5>
        <a:srgbClr val="CCCC00"/>
      </a:accent5>
      <a:accent6>
        <a:srgbClr val="FFFF99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1999-08-03T15:41:59Z</dcterms:created>
  <dc:creator>Marilyn Turnamian</dc:creator>
</cp:coreProperties>
</file>