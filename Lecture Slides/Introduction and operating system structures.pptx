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slide" Target="slides/slide42.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806c1b92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806c1b92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User view and system view</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aa1c8aaf3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8aa1c8aaf3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8aa1c8aaf3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8aa1c8aaf3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8aa1c8aaf3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8aa1c8aaf3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8aa1c8aaf3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8aa1c8aaf3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aa1c8aaf3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aa1c8aaf3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8aa1c8aaf3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8aa1c8aaf3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aa1c8aaf3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8aa1c8aaf3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8aa1c8aaf3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8aa1c8aaf3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06c1b92c3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806c1b92c3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806c1b92c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806c1b92c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06c1b92c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806c1b92c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aa1c8aaf3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aa1c8aaf3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06c1b92c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806c1b92c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Process: execution unit of instruction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8aa1c8aaf3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8aa1c8aaf3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aa1c8aaf3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aa1c8aaf3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06c1b92c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806c1b92c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aa1c8aaf3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aa1c8aaf3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aa1c8aaf3_2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aa1c8aaf3_2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8aa1c8aaf3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8aa1c8aaf3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8aa1c8aaf3_2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8aa1c8aaf3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aa1c8aaf3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8aa1c8aaf3_2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8aa1c8aaf3_2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8aa1c8aaf3_2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344fe0a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8344fe0a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aa1c8aaf3_2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8aa1c8aaf3_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8aa1c8aaf3_2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8aa1c8aaf3_2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8aa1c8aaf3_2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8aa1c8aaf3_2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8aa1c8aaf3_2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8aa1c8aaf3_2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8aa1c8aaf3_2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8aa1c8aaf3_2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8aa1c8aaf3_2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8aa1c8aaf3_2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344fe0ab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8344fe0ab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8aa1c8aaf3_2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8aa1c8aaf3_2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344fe0ab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8344fe0ab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8344fe0ab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8344fe0ab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8344fe0ab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8344fe0ab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8344fe0ab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8344fe0ab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8344fe0ab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8344fe0ab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344fe0ab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8344fe0ab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8344fe0ab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8344fe0ab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8344fe0ab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8344fe0ab8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8344fe0ab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8344fe0ab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2539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Introduction </a:t>
            </a:r>
            <a:endParaRPr/>
          </a:p>
          <a:p>
            <a:pPr indent="0" lvl="0" marL="0" rtl="0" algn="ctr">
              <a:spcBef>
                <a:spcPts val="0"/>
              </a:spcBef>
              <a:spcAft>
                <a:spcPts val="0"/>
              </a:spcAft>
              <a:buNone/>
            </a:pPr>
            <a:r>
              <a:rPr lang="en"/>
              <a:t>a</a:t>
            </a:r>
            <a:r>
              <a:rPr lang="en"/>
              <a:t>nd </a:t>
            </a:r>
            <a:endParaRPr/>
          </a:p>
          <a:p>
            <a:pPr indent="0" lvl="0" marL="0" rtl="0" algn="ctr">
              <a:spcBef>
                <a:spcPts val="0"/>
              </a:spcBef>
              <a:spcAft>
                <a:spcPts val="0"/>
              </a:spcAft>
              <a:buNone/>
            </a:pPr>
            <a:r>
              <a:rPr lang="en"/>
              <a:t>Operating System Structure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title="Screenshot 2025-09-18 at 7.28.36 AM.png"/>
          <p:cNvPicPr preferRelativeResize="0"/>
          <p:nvPr/>
        </p:nvPicPr>
        <p:blipFill>
          <a:blip r:embed="rId3">
            <a:alphaModFix/>
          </a:blip>
          <a:stretch>
            <a:fillRect/>
          </a:stretch>
        </p:blipFill>
        <p:spPr>
          <a:xfrm>
            <a:off x="726749" y="134687"/>
            <a:ext cx="5446249" cy="4664174"/>
          </a:xfrm>
          <a:prstGeom prst="rect">
            <a:avLst/>
          </a:prstGeom>
          <a:noFill/>
          <a:ln>
            <a:noFill/>
          </a:ln>
        </p:spPr>
      </p:pic>
      <p:sp>
        <p:nvSpPr>
          <p:cNvPr id="60" name="Google Shape;60;p14"/>
          <p:cNvSpPr txBox="1"/>
          <p:nvPr/>
        </p:nvSpPr>
        <p:spPr>
          <a:xfrm>
            <a:off x="6368125" y="1763475"/>
            <a:ext cx="23652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AutoNum type="arabicPeriod"/>
            </a:pPr>
            <a:r>
              <a:rPr lang="en" sz="1800">
                <a:solidFill>
                  <a:schemeClr val="dk2"/>
                </a:solidFill>
              </a:rPr>
              <a:t>User View</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n" sz="1800">
                <a:solidFill>
                  <a:schemeClr val="dk2"/>
                </a:solidFill>
              </a:rPr>
              <a:t>System View</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operating system is the one program running at all times on the computer-usually called the </a:t>
            </a:r>
            <a:r>
              <a:rPr b="1" lang="en" sz="1600">
                <a:solidFill>
                  <a:schemeClr val="dk1"/>
                </a:solidFill>
              </a:rPr>
              <a:t>kernel</a:t>
            </a:r>
            <a:r>
              <a:rPr lang="en" sz="1600">
                <a:solidFill>
                  <a:schemeClr val="dk1"/>
                </a:solidFill>
              </a:rPr>
              <a:t>.</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Along with the </a:t>
            </a:r>
            <a:r>
              <a:rPr b="1" lang="en" sz="1600">
                <a:solidFill>
                  <a:schemeClr val="dk1"/>
                </a:solidFill>
              </a:rPr>
              <a:t>kernel</a:t>
            </a:r>
            <a:r>
              <a:rPr lang="en" sz="1600">
                <a:solidFill>
                  <a:schemeClr val="dk1"/>
                </a:solidFill>
              </a:rPr>
              <a:t>, there are two other types of programs: </a:t>
            </a:r>
            <a:r>
              <a:rPr b="1" lang="en" sz="1600">
                <a:solidFill>
                  <a:schemeClr val="dk1"/>
                </a:solidFill>
              </a:rPr>
              <a:t>system program</a:t>
            </a:r>
            <a:r>
              <a:rPr lang="en" sz="1600">
                <a:solidFill>
                  <a:schemeClr val="dk1"/>
                </a:solidFill>
              </a:rPr>
              <a:t>, which are associated with the operating system but are not part of the kernel</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application program</a:t>
            </a:r>
            <a:r>
              <a:rPr lang="en" sz="1600">
                <a:solidFill>
                  <a:schemeClr val="dk1"/>
                </a:solidFill>
              </a:rPr>
              <a:t>, which include all programs not associated with the operation of the system.)</a:t>
            </a:r>
            <a:endParaRPr sz="1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rPr>
              <a:t>For a computer to start running for instance, when it is powered up or rebooted - it needs to have an initial program to run. This initial program, or </a:t>
            </a:r>
            <a:r>
              <a:rPr b="1" lang="en" sz="1100">
                <a:solidFill>
                  <a:schemeClr val="dk1"/>
                </a:solidFill>
              </a:rPr>
              <a:t>bootstrap program</a:t>
            </a:r>
            <a:r>
              <a:rPr lang="en" sz="1100">
                <a:solidFill>
                  <a:schemeClr val="dk1"/>
                </a:solidFill>
              </a:rPr>
              <a:t>, tends to be simple.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Typically, it is stored in </a:t>
            </a:r>
            <a:r>
              <a:rPr b="1" lang="en" sz="1100">
                <a:solidFill>
                  <a:schemeClr val="dk1"/>
                </a:solidFill>
              </a:rPr>
              <a:t>read-only memory (ROM)</a:t>
            </a:r>
            <a:r>
              <a:rPr lang="en" sz="1100">
                <a:solidFill>
                  <a:schemeClr val="dk1"/>
                </a:solidFill>
              </a:rPr>
              <a:t> or electrically erasable programmable read-only memory (EEPROM), known by the general term firmware, within the computer hardware.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It initializes all aspects of the system, from </a:t>
            </a:r>
            <a:r>
              <a:rPr b="1" lang="en" sz="1100">
                <a:solidFill>
                  <a:schemeClr val="dk1"/>
                </a:solidFill>
              </a:rPr>
              <a:t>CPU registers to device controllers to memory contents</a:t>
            </a:r>
            <a:r>
              <a:rPr lang="en" sz="1100">
                <a:solidFill>
                  <a:schemeClr val="dk1"/>
                </a:solidFill>
              </a:rPr>
              <a:t>. The bootstrap program must know how to load the operating system and how to start executing that system.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To accomplish this goal, the bootstrap program must locate and load into memory the operating system kernel. The operating system then starts executing the first process, such as "init," and waits for some event to occur. </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7" title="Screenshot 2025-09-20 at 5.53.46 AM.png"/>
          <p:cNvPicPr preferRelativeResize="0"/>
          <p:nvPr/>
        </p:nvPicPr>
        <p:blipFill>
          <a:blip r:embed="rId3">
            <a:alphaModFix/>
          </a:blip>
          <a:stretch>
            <a:fillRect/>
          </a:stretch>
        </p:blipFill>
        <p:spPr>
          <a:xfrm>
            <a:off x="948423" y="468850"/>
            <a:ext cx="7247152" cy="41252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3" name="Google Shape;8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1100">
                <a:solidFill>
                  <a:schemeClr val="dk1"/>
                </a:solidFill>
              </a:rPr>
              <a:t>The CPU can load instructions only from memory, so any programs to run must be stored there.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General-purpose computers run most of their programs from rewriteable memory, called main memory  (also called random access memory - RAM)</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Main memory commonly is implemented in a semiconductor technology called dynamic random access memory (DRAM).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read-only memory (ROM) can not be changed, only static programs are stored there.</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9" name="Google Shape;89;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A typical instruction-execution cycle, as executed on a system with a </a:t>
            </a:r>
            <a:r>
              <a:rPr b="1" lang="en" sz="1100">
                <a:solidFill>
                  <a:schemeClr val="dk1"/>
                </a:solidFill>
              </a:rPr>
              <a:t>Von Neumann architecture,</a:t>
            </a: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first fetches an instruction from memory and stores that instruction in the instruction register.</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The instruction is then decoded and may cause operands to be fetched from memory and stored in some internal register.</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After the instruction on the operands has been executed, the result may be stored back in memory. </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5" name="Google Shape;9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100">
                <a:solidFill>
                  <a:schemeClr val="dk1"/>
                </a:solidFill>
              </a:rPr>
              <a:t>Ideally, we want the programs and data to reside in main memory permanently. This arrangement usually is not possible for the following two reasons: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Main memory is usually too small to store all needed programs and data permanently.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Main memory is a volatile storage device that loses its contents when power is turned off or otherwise lost.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1" name="Google Shape;10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rPr>
              <a:t>Thus, most computer systems provide secondary storage as an extension of main memory. The main requirement for secondary storage is that it be able to hold large quantities of data permanently.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The most common secondary-storage device is a magnetic disk, which provides storage for both programs and data. Most programs (system and application) are stored on a disk until they are loaded into memory.</a:t>
            </a:r>
            <a:endParaRPr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7" name="Google Shape;10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rPr>
              <a:t>In a larger sense, however, the storage structure that we have described, consisting of registers, main memory, and magnetic disks, is only one of many possible storage systems. Others include cache memory, CD-ROM, magnetic tapes, and so on.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The main differences among the various storage systems lie in </a:t>
            </a:r>
            <a:r>
              <a:rPr b="1" lang="en" sz="1100">
                <a:solidFill>
                  <a:schemeClr val="dk1"/>
                </a:solidFill>
              </a:rPr>
              <a:t>speed, cost, size, and volatility. </a:t>
            </a:r>
            <a:endParaRPr b="1" sz="11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3" title="Screenshot 2025-09-18 at 7.41.36 AM.png"/>
          <p:cNvPicPr preferRelativeResize="0"/>
          <p:nvPr/>
        </p:nvPicPr>
        <p:blipFill>
          <a:blip r:embed="rId3">
            <a:alphaModFix/>
          </a:blip>
          <a:stretch>
            <a:fillRect/>
          </a:stretch>
        </p:blipFill>
        <p:spPr>
          <a:xfrm>
            <a:off x="331825" y="286925"/>
            <a:ext cx="8543902" cy="44857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4" title="Screenshot 2025-09-18 at 7.39.44 AM.png"/>
          <p:cNvPicPr preferRelativeResize="0"/>
          <p:nvPr/>
        </p:nvPicPr>
        <p:blipFill>
          <a:blip r:embed="rId3">
            <a:alphaModFix/>
          </a:blip>
          <a:stretch>
            <a:fillRect/>
          </a:stretch>
        </p:blipFill>
        <p:spPr>
          <a:xfrm>
            <a:off x="526200" y="867749"/>
            <a:ext cx="7866702" cy="25397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5" title="Screenshot 2025-09-18 at 7.36.09 AM.png"/>
          <p:cNvPicPr preferRelativeResize="0"/>
          <p:nvPr/>
        </p:nvPicPr>
        <p:blipFill>
          <a:blip r:embed="rId3">
            <a:alphaModFix/>
          </a:blip>
          <a:stretch>
            <a:fillRect/>
          </a:stretch>
        </p:blipFill>
        <p:spPr>
          <a:xfrm>
            <a:off x="671188" y="306200"/>
            <a:ext cx="7801625" cy="45958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6" title="Screenshot 2025-09-20 at 6.23.53 AM.png"/>
          <p:cNvPicPr preferRelativeResize="0"/>
          <p:nvPr/>
        </p:nvPicPr>
        <p:blipFill>
          <a:blip r:embed="rId3">
            <a:alphaModFix/>
          </a:blip>
          <a:stretch>
            <a:fillRect/>
          </a:stretch>
        </p:blipFill>
        <p:spPr>
          <a:xfrm>
            <a:off x="1420625" y="1074175"/>
            <a:ext cx="5680574" cy="3341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7" title="Screenshot 2025-09-18 at 7.37.33 AM.png"/>
          <p:cNvPicPr preferRelativeResize="0"/>
          <p:nvPr/>
        </p:nvPicPr>
        <p:blipFill>
          <a:blip r:embed="rId3">
            <a:alphaModFix/>
          </a:blip>
          <a:stretch>
            <a:fillRect/>
          </a:stretch>
        </p:blipFill>
        <p:spPr>
          <a:xfrm>
            <a:off x="1854448" y="535325"/>
            <a:ext cx="4863951" cy="38854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8" name="Google Shape;13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rPr>
              <a:t>A program loaded into memory and executing is called a </a:t>
            </a:r>
            <a:r>
              <a:rPr b="1" lang="en" sz="1100">
                <a:solidFill>
                  <a:schemeClr val="dk1"/>
                </a:solidFill>
              </a:rPr>
              <a:t>process</a:t>
            </a:r>
            <a:r>
              <a:rPr lang="e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When a process executes, it typically executes for only a short time before it either finishes or needs to perform I/0.</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Since interactive I/0 typically runs at "people speeds," it may take a long time to complete. Input, for example, may be bounded by the user's typing speed; seven characters per second is fast for people but incredibly slow for computers. Rather than let the CPU sit idle as this interactive input takes place, the operating system will rapidly switch the CPU to the program of some other user. </a:t>
            </a:r>
            <a:endParaRPr sz="11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4" name="Google Shape;144;p29"/>
          <p:cNvSpPr txBox="1"/>
          <p:nvPr>
            <p:ph idx="1" type="body"/>
          </p:nvPr>
        </p:nvSpPr>
        <p:spPr>
          <a:xfrm>
            <a:off x="311700" y="1152475"/>
            <a:ext cx="8520600" cy="167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rPr>
              <a:t>The interrupt-driven nature of an operating system defines that system's general structure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The occurrence of an event is usually signaled by an </a:t>
            </a:r>
            <a:r>
              <a:rPr b="1" lang="en" sz="1100">
                <a:solidFill>
                  <a:schemeClr val="dk1"/>
                </a:solidFill>
              </a:rPr>
              <a:t>interrupt </a:t>
            </a:r>
            <a:r>
              <a:rPr lang="en" sz="1100">
                <a:solidFill>
                  <a:schemeClr val="dk1"/>
                </a:solidFill>
              </a:rPr>
              <a:t>from either the hardware or the software.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Hardware may trigger an interrupt at any time by sending a signal to the CPU, usually by way of the system bus.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Software may trigger an interrupt executing a special operation called a </a:t>
            </a:r>
            <a:r>
              <a:rPr b="1" lang="en" sz="1100">
                <a:solidFill>
                  <a:schemeClr val="dk1"/>
                </a:solidFill>
              </a:rPr>
              <a:t>system call</a:t>
            </a:r>
            <a:r>
              <a:rPr lang="en" sz="1100">
                <a:solidFill>
                  <a:schemeClr val="dk1"/>
                </a:solidFill>
              </a:rPr>
              <a:t> (or </a:t>
            </a:r>
            <a:r>
              <a:rPr b="1" lang="en" sz="1100">
                <a:solidFill>
                  <a:schemeClr val="dk1"/>
                </a:solidFill>
              </a:rPr>
              <a:t>monitor call</a:t>
            </a:r>
            <a:r>
              <a:rPr lang="en" sz="1100">
                <a:solidFill>
                  <a:schemeClr val="dk1"/>
                </a:solidFill>
              </a:rPr>
              <a:t>). </a:t>
            </a:r>
            <a:endParaRPr/>
          </a:p>
        </p:txBody>
      </p:sp>
      <p:pic>
        <p:nvPicPr>
          <p:cNvPr id="145" name="Google Shape;145;p29" title="Screenshot 2025-09-20 at 6.21.50 AM.png"/>
          <p:cNvPicPr preferRelativeResize="0"/>
          <p:nvPr/>
        </p:nvPicPr>
        <p:blipFill>
          <a:blip r:embed="rId3">
            <a:alphaModFix/>
          </a:blip>
          <a:stretch>
            <a:fillRect/>
          </a:stretch>
        </p:blipFill>
        <p:spPr>
          <a:xfrm>
            <a:off x="2027850" y="2827075"/>
            <a:ext cx="3598191" cy="20116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30" title="Screenshot 2025-09-18 at 7.38.20 AM.png"/>
          <p:cNvPicPr preferRelativeResize="0"/>
          <p:nvPr/>
        </p:nvPicPr>
        <p:blipFill>
          <a:blip r:embed="rId3">
            <a:alphaModFix/>
          </a:blip>
          <a:stretch>
            <a:fillRect/>
          </a:stretch>
        </p:blipFill>
        <p:spPr>
          <a:xfrm>
            <a:off x="812250" y="1595551"/>
            <a:ext cx="7902575" cy="3088349"/>
          </a:xfrm>
          <a:prstGeom prst="rect">
            <a:avLst/>
          </a:prstGeom>
          <a:noFill/>
          <a:ln>
            <a:noFill/>
          </a:ln>
        </p:spPr>
      </p:pic>
      <p:sp>
        <p:nvSpPr>
          <p:cNvPr id="151" name="Google Shape;151;p30"/>
          <p:cNvSpPr txBox="1"/>
          <p:nvPr/>
        </p:nvSpPr>
        <p:spPr>
          <a:xfrm>
            <a:off x="993700" y="573825"/>
            <a:ext cx="4030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Dual-Mode Operation</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solidFill>
                  <a:schemeClr val="dk2"/>
                </a:solidFill>
              </a:rPr>
              <a:t>process management</a:t>
            </a:r>
            <a:endParaRPr/>
          </a:p>
        </p:txBody>
      </p:sp>
      <p:sp>
        <p:nvSpPr>
          <p:cNvPr id="157" name="Google Shape;15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Scheduling processes and threads on the CPUs </a:t>
            </a:r>
            <a:endParaRPr/>
          </a:p>
          <a:p>
            <a:pPr indent="0" lvl="0" marL="0" rtl="0" algn="l">
              <a:spcBef>
                <a:spcPts val="1200"/>
              </a:spcBef>
              <a:spcAft>
                <a:spcPts val="0"/>
              </a:spcAft>
              <a:buNone/>
            </a:pPr>
            <a:r>
              <a:rPr lang="en"/>
              <a:t>Creating and deleting both user and system processes </a:t>
            </a:r>
            <a:endParaRPr/>
          </a:p>
          <a:p>
            <a:pPr indent="0" lvl="0" marL="0" rtl="0" algn="l">
              <a:spcBef>
                <a:spcPts val="1200"/>
              </a:spcBef>
              <a:spcAft>
                <a:spcPts val="0"/>
              </a:spcAft>
              <a:buNone/>
            </a:pPr>
            <a:r>
              <a:rPr lang="en"/>
              <a:t>Suspending and resuming processes </a:t>
            </a:r>
            <a:endParaRPr/>
          </a:p>
          <a:p>
            <a:pPr indent="0" lvl="0" marL="0" rtl="0" algn="l">
              <a:spcBef>
                <a:spcPts val="1200"/>
              </a:spcBef>
              <a:spcAft>
                <a:spcPts val="0"/>
              </a:spcAft>
              <a:buNone/>
            </a:pPr>
            <a:r>
              <a:rPr lang="en"/>
              <a:t>Providing mechanisms for process synchronization </a:t>
            </a:r>
            <a:endParaRPr/>
          </a:p>
          <a:p>
            <a:pPr indent="0" lvl="0" marL="0" rtl="0" algn="l">
              <a:spcBef>
                <a:spcPts val="1200"/>
              </a:spcBef>
              <a:spcAft>
                <a:spcPts val="1200"/>
              </a:spcAft>
              <a:buNone/>
            </a:pPr>
            <a:r>
              <a:rPr lang="en"/>
              <a:t>Providing mechanisms for process communication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memory management</a:t>
            </a:r>
            <a:endParaRPr/>
          </a:p>
        </p:txBody>
      </p:sp>
      <p:sp>
        <p:nvSpPr>
          <p:cNvPr id="163" name="Google Shape;16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Keeping track of which parts of memory are currently being used and by whom </a:t>
            </a:r>
            <a:endParaRPr/>
          </a:p>
          <a:p>
            <a:pPr indent="0" lvl="0" marL="0" rtl="0" algn="l">
              <a:spcBef>
                <a:spcPts val="1200"/>
              </a:spcBef>
              <a:spcAft>
                <a:spcPts val="0"/>
              </a:spcAft>
              <a:buNone/>
            </a:pPr>
            <a:r>
              <a:rPr lang="en"/>
              <a:t>Deciding which processes (or parts thereof) and data to move into and out of memory </a:t>
            </a:r>
            <a:endParaRPr/>
          </a:p>
          <a:p>
            <a:pPr indent="0" lvl="0" marL="0" rtl="0" algn="l">
              <a:spcBef>
                <a:spcPts val="1200"/>
              </a:spcBef>
              <a:spcAft>
                <a:spcPts val="1200"/>
              </a:spcAft>
              <a:buNone/>
            </a:pPr>
            <a:r>
              <a:rPr lang="en"/>
              <a:t>Allocating and deallocating memory space as needed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Storage management</a:t>
            </a:r>
            <a:endParaRPr/>
          </a:p>
        </p:txBody>
      </p:sp>
      <p:sp>
        <p:nvSpPr>
          <p:cNvPr id="169" name="Google Shape;169;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Creating and deleting files </a:t>
            </a:r>
            <a:endParaRPr/>
          </a:p>
          <a:p>
            <a:pPr indent="0" lvl="0" marL="0" rtl="0" algn="l">
              <a:spcBef>
                <a:spcPts val="1200"/>
              </a:spcBef>
              <a:spcAft>
                <a:spcPts val="0"/>
              </a:spcAft>
              <a:buNone/>
            </a:pPr>
            <a:r>
              <a:rPr lang="en"/>
              <a:t>Creating and deleting directories to organize files </a:t>
            </a:r>
            <a:endParaRPr/>
          </a:p>
          <a:p>
            <a:pPr indent="0" lvl="0" marL="0" rtl="0" algn="l">
              <a:spcBef>
                <a:spcPts val="1200"/>
              </a:spcBef>
              <a:spcAft>
                <a:spcPts val="0"/>
              </a:spcAft>
              <a:buNone/>
            </a:pPr>
            <a:r>
              <a:rPr lang="en"/>
              <a:t>Supporting primitives for manipulating files and directories </a:t>
            </a:r>
            <a:endParaRPr/>
          </a:p>
          <a:p>
            <a:pPr indent="0" lvl="0" marL="0" rtl="0" algn="l">
              <a:spcBef>
                <a:spcPts val="1200"/>
              </a:spcBef>
              <a:spcAft>
                <a:spcPts val="0"/>
              </a:spcAft>
              <a:buNone/>
            </a:pPr>
            <a:r>
              <a:rPr lang="en"/>
              <a:t>Mapping files onto secondary storage </a:t>
            </a:r>
            <a:endParaRPr/>
          </a:p>
          <a:p>
            <a:pPr indent="0" lvl="0" marL="0" rtl="0" algn="l">
              <a:spcBef>
                <a:spcPts val="1200"/>
              </a:spcBef>
              <a:spcAft>
                <a:spcPts val="1200"/>
              </a:spcAft>
              <a:buNone/>
            </a:pPr>
            <a:r>
              <a:rPr lang="en"/>
              <a:t>Backing up files on stable (nonvolatile) storage media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5" name="Google Shape;175;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6" name="Google Shape;176;p34" title="Screenshot 2025-09-20 at 6.32.31 AM.png"/>
          <p:cNvPicPr preferRelativeResize="0"/>
          <p:nvPr/>
        </p:nvPicPr>
        <p:blipFill>
          <a:blip r:embed="rId3">
            <a:alphaModFix/>
          </a:blip>
          <a:stretch>
            <a:fillRect/>
          </a:stretch>
        </p:blipFill>
        <p:spPr>
          <a:xfrm>
            <a:off x="585418" y="355150"/>
            <a:ext cx="7785359" cy="44332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35" title="Screenshot 2025-09-20 at 7.29.09 AM.png"/>
          <p:cNvPicPr preferRelativeResize="0"/>
          <p:nvPr/>
        </p:nvPicPr>
        <p:blipFill>
          <a:blip r:embed="rId3">
            <a:alphaModFix/>
          </a:blip>
          <a:stretch>
            <a:fillRect/>
          </a:stretch>
        </p:blipFill>
        <p:spPr>
          <a:xfrm>
            <a:off x="1596199" y="293925"/>
            <a:ext cx="5252276" cy="44821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36" title="Screenshot 2025-09-20 at 7.29.45 AM.png"/>
          <p:cNvPicPr preferRelativeResize="0"/>
          <p:nvPr/>
        </p:nvPicPr>
        <p:blipFill>
          <a:blip r:embed="rId3">
            <a:alphaModFix/>
          </a:blip>
          <a:stretch>
            <a:fillRect/>
          </a:stretch>
        </p:blipFill>
        <p:spPr>
          <a:xfrm>
            <a:off x="1609526" y="150137"/>
            <a:ext cx="5863949" cy="48432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7" title="Screenshot 2025-09-25 at 5.13.35 AM.png"/>
          <p:cNvPicPr preferRelativeResize="0"/>
          <p:nvPr/>
        </p:nvPicPr>
        <p:blipFill>
          <a:blip r:embed="rId3">
            <a:alphaModFix/>
          </a:blip>
          <a:stretch>
            <a:fillRect/>
          </a:stretch>
        </p:blipFill>
        <p:spPr>
          <a:xfrm>
            <a:off x="1123450" y="136350"/>
            <a:ext cx="6068398" cy="48010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38" title="Screenshot 2025-09-20 at 7.31.06 AM.png"/>
          <p:cNvPicPr preferRelativeResize="0"/>
          <p:nvPr/>
        </p:nvPicPr>
        <p:blipFill>
          <a:blip r:embed="rId3">
            <a:alphaModFix/>
          </a:blip>
          <a:stretch>
            <a:fillRect/>
          </a:stretch>
        </p:blipFill>
        <p:spPr>
          <a:xfrm>
            <a:off x="1469575" y="811174"/>
            <a:ext cx="5564324" cy="4080525"/>
          </a:xfrm>
          <a:prstGeom prst="rect">
            <a:avLst/>
          </a:prstGeom>
          <a:noFill/>
          <a:ln>
            <a:noFill/>
          </a:ln>
        </p:spPr>
      </p:pic>
      <p:sp>
        <p:nvSpPr>
          <p:cNvPr id="197" name="Google Shape;197;p38"/>
          <p:cNvSpPr txBox="1"/>
          <p:nvPr/>
        </p:nvSpPr>
        <p:spPr>
          <a:xfrm>
            <a:off x="1266625" y="174950"/>
            <a:ext cx="7137900" cy="72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System call: an interface to the services made available by an operating system.</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System Call: Process Control</a:t>
            </a:r>
            <a:endParaRPr/>
          </a:p>
        </p:txBody>
      </p:sp>
      <p:sp>
        <p:nvSpPr>
          <p:cNvPr id="203" name="Google Shape;203;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end, abort</a:t>
            </a:r>
            <a:endParaRPr/>
          </a:p>
          <a:p>
            <a:pPr indent="-342900" lvl="0" marL="457200" rtl="0" algn="l">
              <a:spcBef>
                <a:spcPts val="0"/>
              </a:spcBef>
              <a:spcAft>
                <a:spcPts val="0"/>
              </a:spcAft>
              <a:buSzPts val="1800"/>
              <a:buChar char="-"/>
            </a:pPr>
            <a:r>
              <a:rPr lang="en"/>
              <a:t>load, execute</a:t>
            </a:r>
            <a:endParaRPr/>
          </a:p>
          <a:p>
            <a:pPr indent="-342900" lvl="0" marL="457200" rtl="0" algn="l">
              <a:spcBef>
                <a:spcPts val="0"/>
              </a:spcBef>
              <a:spcAft>
                <a:spcPts val="0"/>
              </a:spcAft>
              <a:buSzPts val="1800"/>
              <a:buChar char="-"/>
            </a:pPr>
            <a:r>
              <a:rPr lang="en"/>
              <a:t>create process, terminate process</a:t>
            </a:r>
            <a:endParaRPr/>
          </a:p>
          <a:p>
            <a:pPr indent="-342900" lvl="0" marL="457200" rtl="0" algn="l">
              <a:spcBef>
                <a:spcPts val="0"/>
              </a:spcBef>
              <a:spcAft>
                <a:spcPts val="0"/>
              </a:spcAft>
              <a:buSzPts val="1800"/>
              <a:buChar char="-"/>
            </a:pPr>
            <a:r>
              <a:rPr lang="en"/>
              <a:t>get process attributes, set process attributes</a:t>
            </a:r>
            <a:endParaRPr/>
          </a:p>
          <a:p>
            <a:pPr indent="-342900" lvl="0" marL="457200" rtl="0" algn="l">
              <a:spcBef>
                <a:spcPts val="0"/>
              </a:spcBef>
              <a:spcAft>
                <a:spcPts val="0"/>
              </a:spcAft>
              <a:buSzPts val="1800"/>
              <a:buChar char="-"/>
            </a:pPr>
            <a:r>
              <a:rPr lang="en"/>
              <a:t>wait for time</a:t>
            </a:r>
            <a:endParaRPr/>
          </a:p>
          <a:p>
            <a:pPr indent="-342900" lvl="0" marL="457200" rtl="0" algn="l">
              <a:spcBef>
                <a:spcPts val="0"/>
              </a:spcBef>
              <a:spcAft>
                <a:spcPts val="0"/>
              </a:spcAft>
              <a:buSzPts val="1800"/>
              <a:buChar char="-"/>
            </a:pPr>
            <a:r>
              <a:rPr lang="en"/>
              <a:t>wait event, signal event</a:t>
            </a:r>
            <a:endParaRPr/>
          </a:p>
          <a:p>
            <a:pPr indent="-342900" lvl="0" marL="457200" rtl="0" algn="l">
              <a:spcBef>
                <a:spcPts val="0"/>
              </a:spcBef>
              <a:spcAft>
                <a:spcPts val="0"/>
              </a:spcAft>
              <a:buSzPts val="1800"/>
              <a:buChar char="-"/>
            </a:pPr>
            <a:r>
              <a:rPr lang="en"/>
              <a:t>allocate and free memory</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lang="en"/>
              <a:t>Windows: CreateProcess(), ExitProcess (), WaitForSingleObject()</a:t>
            </a:r>
            <a:endParaRPr/>
          </a:p>
          <a:p>
            <a:pPr indent="-317500" lvl="1" marL="914400" rtl="0" algn="l">
              <a:spcBef>
                <a:spcPts val="0"/>
              </a:spcBef>
              <a:spcAft>
                <a:spcPts val="0"/>
              </a:spcAft>
              <a:buSzPts val="1400"/>
              <a:buChar char="-"/>
            </a:pPr>
            <a:r>
              <a:rPr lang="en"/>
              <a:t>Unix: fork(), exit(), wait()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Types of System Call: File management </a:t>
            </a:r>
            <a:endParaRPr/>
          </a:p>
        </p:txBody>
      </p:sp>
      <p:sp>
        <p:nvSpPr>
          <p:cNvPr id="209" name="Google Shape;209;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create file, delete file</a:t>
            </a:r>
            <a:endParaRPr/>
          </a:p>
          <a:p>
            <a:pPr indent="-342900" lvl="0" marL="457200" rtl="0" algn="l">
              <a:spcBef>
                <a:spcPts val="0"/>
              </a:spcBef>
              <a:spcAft>
                <a:spcPts val="0"/>
              </a:spcAft>
              <a:buSzPts val="1800"/>
              <a:buChar char="-"/>
            </a:pPr>
            <a:r>
              <a:rPr lang="en"/>
              <a:t>open, close</a:t>
            </a:r>
            <a:endParaRPr/>
          </a:p>
          <a:p>
            <a:pPr indent="-342900" lvl="0" marL="457200" rtl="0" algn="l">
              <a:spcBef>
                <a:spcPts val="0"/>
              </a:spcBef>
              <a:spcAft>
                <a:spcPts val="0"/>
              </a:spcAft>
              <a:buSzPts val="1800"/>
              <a:buChar char="-"/>
            </a:pPr>
            <a:r>
              <a:rPr lang="en"/>
              <a:t>read, write, reposition</a:t>
            </a:r>
            <a:endParaRPr/>
          </a:p>
          <a:p>
            <a:pPr indent="-342900" lvl="0" marL="457200" rtl="0" algn="l">
              <a:spcBef>
                <a:spcPts val="0"/>
              </a:spcBef>
              <a:spcAft>
                <a:spcPts val="0"/>
              </a:spcAft>
              <a:buSzPts val="1800"/>
              <a:buChar char="-"/>
            </a:pPr>
            <a:r>
              <a:rPr lang="en"/>
              <a:t>get file attributes, set file attributes</a:t>
            </a:r>
            <a:endParaRPr/>
          </a:p>
          <a:p>
            <a:pPr indent="-342900" lvl="0" marL="457200" rtl="0" algn="l">
              <a:spcBef>
                <a:spcPts val="0"/>
              </a:spcBef>
              <a:spcAft>
                <a:spcPts val="0"/>
              </a:spcAft>
              <a:buSzPts val="1800"/>
              <a:buChar char="-"/>
            </a:pPr>
            <a:r>
              <a:rPr lang="en"/>
              <a:t>Example: </a:t>
            </a:r>
            <a:endParaRPr/>
          </a:p>
          <a:p>
            <a:pPr indent="-317500" lvl="1" marL="914400" rtl="0" algn="l">
              <a:spcBef>
                <a:spcPts val="0"/>
              </a:spcBef>
              <a:spcAft>
                <a:spcPts val="0"/>
              </a:spcAft>
              <a:buSzPts val="1400"/>
              <a:buChar char="-"/>
            </a:pPr>
            <a:r>
              <a:rPr lang="en"/>
              <a:t>Windows: CreateFile(), ReadFile(), WriteFile (), CloseHandle ()</a:t>
            </a:r>
            <a:endParaRPr/>
          </a:p>
          <a:p>
            <a:pPr indent="-317500" lvl="1" marL="914400" rtl="0" algn="l">
              <a:spcBef>
                <a:spcPts val="0"/>
              </a:spcBef>
              <a:spcAft>
                <a:spcPts val="0"/>
              </a:spcAft>
              <a:buSzPts val="1400"/>
              <a:buChar char="-"/>
            </a:pPr>
            <a:r>
              <a:rPr lang="en"/>
              <a:t>Unix: open() , read() , write() , close()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Types of System Call: Device management </a:t>
            </a:r>
            <a:endParaRPr/>
          </a:p>
        </p:txBody>
      </p:sp>
      <p:sp>
        <p:nvSpPr>
          <p:cNvPr id="215" name="Google Shape;215;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request device, release device</a:t>
            </a:r>
            <a:endParaRPr/>
          </a:p>
          <a:p>
            <a:pPr indent="-342900" lvl="0" marL="457200" rtl="0" algn="l">
              <a:spcBef>
                <a:spcPts val="0"/>
              </a:spcBef>
              <a:spcAft>
                <a:spcPts val="0"/>
              </a:spcAft>
              <a:buSzPts val="1800"/>
              <a:buChar char="-"/>
            </a:pPr>
            <a:r>
              <a:rPr lang="en"/>
              <a:t>read, write, reposition</a:t>
            </a:r>
            <a:endParaRPr/>
          </a:p>
          <a:p>
            <a:pPr indent="-342900" lvl="0" marL="457200" rtl="0" algn="l">
              <a:spcBef>
                <a:spcPts val="0"/>
              </a:spcBef>
              <a:spcAft>
                <a:spcPts val="0"/>
              </a:spcAft>
              <a:buSzPts val="1800"/>
              <a:buChar char="-"/>
            </a:pPr>
            <a:r>
              <a:rPr lang="en"/>
              <a:t>get device attributes, set device attributes</a:t>
            </a:r>
            <a:endParaRPr/>
          </a:p>
          <a:p>
            <a:pPr indent="-342900" lvl="0" marL="457200" rtl="0" algn="l">
              <a:spcBef>
                <a:spcPts val="0"/>
              </a:spcBef>
              <a:spcAft>
                <a:spcPts val="0"/>
              </a:spcAft>
              <a:buSzPts val="1800"/>
              <a:buChar char="-"/>
            </a:pPr>
            <a:r>
              <a:rPr lang="en"/>
              <a:t>logically attach or detach devices</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lang="en"/>
              <a:t>Windows: SetConsoleMode(), ReadConsole(), WriteConsole()</a:t>
            </a:r>
            <a:endParaRPr/>
          </a:p>
          <a:p>
            <a:pPr indent="-317500" lvl="1" marL="914400" rtl="0" algn="l">
              <a:spcBef>
                <a:spcPts val="0"/>
              </a:spcBef>
              <a:spcAft>
                <a:spcPts val="0"/>
              </a:spcAft>
              <a:buSzPts val="1400"/>
              <a:buChar char="-"/>
            </a:pPr>
            <a:r>
              <a:rPr lang="en"/>
              <a:t>Unix: read(), write()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Types of System Call: Information maintenance</a:t>
            </a:r>
            <a:endParaRPr/>
          </a:p>
        </p:txBody>
      </p:sp>
      <p:sp>
        <p:nvSpPr>
          <p:cNvPr id="221" name="Google Shape;221;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get time or date, set time or date</a:t>
            </a:r>
            <a:endParaRPr/>
          </a:p>
          <a:p>
            <a:pPr indent="-342900" lvl="0" marL="457200" rtl="0" algn="l">
              <a:spcBef>
                <a:spcPts val="0"/>
              </a:spcBef>
              <a:spcAft>
                <a:spcPts val="0"/>
              </a:spcAft>
              <a:buSzPts val="1800"/>
              <a:buChar char="-"/>
            </a:pPr>
            <a:r>
              <a:rPr lang="en"/>
              <a:t>get system data, set system data</a:t>
            </a:r>
            <a:endParaRPr/>
          </a:p>
          <a:p>
            <a:pPr indent="-342900" lvl="0" marL="457200" rtl="0" algn="l">
              <a:spcBef>
                <a:spcPts val="0"/>
              </a:spcBef>
              <a:spcAft>
                <a:spcPts val="0"/>
              </a:spcAft>
              <a:buSzPts val="1800"/>
              <a:buChar char="-"/>
            </a:pPr>
            <a:r>
              <a:rPr lang="en"/>
              <a:t>get process, file, or device attributes</a:t>
            </a:r>
            <a:endParaRPr/>
          </a:p>
          <a:p>
            <a:pPr indent="-342900" lvl="0" marL="457200" rtl="0" algn="l">
              <a:spcBef>
                <a:spcPts val="0"/>
              </a:spcBef>
              <a:spcAft>
                <a:spcPts val="0"/>
              </a:spcAft>
              <a:buSzPts val="1800"/>
              <a:buChar char="-"/>
            </a:pPr>
            <a:r>
              <a:rPr lang="en"/>
              <a:t>set process, file, or device attributes</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lang="en"/>
              <a:t>Windows: GetCurrentProcessiD(),  SetTimer(), Sleep()</a:t>
            </a:r>
            <a:endParaRPr/>
          </a:p>
          <a:p>
            <a:pPr indent="-317500" lvl="1" marL="914400" rtl="0" algn="l">
              <a:spcBef>
                <a:spcPts val="0"/>
              </a:spcBef>
              <a:spcAft>
                <a:spcPts val="0"/>
              </a:spcAft>
              <a:buSzPts val="1400"/>
              <a:buChar char="-"/>
            </a:pPr>
            <a:r>
              <a:rPr lang="en"/>
              <a:t>Unix: getpid(), alarm(), sleep()</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Types of System Call: Communications</a:t>
            </a:r>
            <a:endParaRPr/>
          </a:p>
        </p:txBody>
      </p:sp>
      <p:sp>
        <p:nvSpPr>
          <p:cNvPr id="227" name="Google Shape;227;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create, delete communication connection</a:t>
            </a:r>
            <a:endParaRPr/>
          </a:p>
          <a:p>
            <a:pPr indent="-342900" lvl="0" marL="457200" rtl="0" algn="l">
              <a:spcBef>
                <a:spcPts val="0"/>
              </a:spcBef>
              <a:spcAft>
                <a:spcPts val="0"/>
              </a:spcAft>
              <a:buSzPts val="1800"/>
              <a:buChar char="-"/>
            </a:pPr>
            <a:r>
              <a:rPr lang="en"/>
              <a:t>send, receive messages</a:t>
            </a:r>
            <a:endParaRPr/>
          </a:p>
          <a:p>
            <a:pPr indent="-342900" lvl="0" marL="457200" rtl="0" algn="l">
              <a:spcBef>
                <a:spcPts val="0"/>
              </a:spcBef>
              <a:spcAft>
                <a:spcPts val="0"/>
              </a:spcAft>
              <a:buSzPts val="1800"/>
              <a:buChar char="-"/>
            </a:pPr>
            <a:r>
              <a:rPr lang="en"/>
              <a:t>transfer status information</a:t>
            </a:r>
            <a:endParaRPr/>
          </a:p>
          <a:p>
            <a:pPr indent="-342900" lvl="0" marL="457200" rtl="0" algn="l">
              <a:spcBef>
                <a:spcPts val="0"/>
              </a:spcBef>
              <a:spcAft>
                <a:spcPts val="0"/>
              </a:spcAft>
              <a:buSzPts val="1800"/>
              <a:buChar char="-"/>
            </a:pPr>
            <a:r>
              <a:rPr lang="en"/>
              <a:t>attach or detach remote devices</a:t>
            </a:r>
            <a:endParaRPr/>
          </a:p>
          <a:p>
            <a:pPr indent="-342900" lvl="0" marL="457200" rtl="0" algn="l">
              <a:spcBef>
                <a:spcPts val="0"/>
              </a:spcBef>
              <a:spcAft>
                <a:spcPts val="0"/>
              </a:spcAft>
              <a:buSzPts val="1800"/>
              <a:buChar char="-"/>
            </a:pPr>
            <a:r>
              <a:rPr lang="en"/>
              <a:t>Example:</a:t>
            </a:r>
            <a:endParaRPr/>
          </a:p>
          <a:p>
            <a:pPr indent="-317500" lvl="1" marL="914400" rtl="0" algn="l">
              <a:spcBef>
                <a:spcPts val="0"/>
              </a:spcBef>
              <a:spcAft>
                <a:spcPts val="0"/>
              </a:spcAft>
              <a:buSzPts val="1400"/>
              <a:buChar char="-"/>
            </a:pPr>
            <a:r>
              <a:rPr lang="en"/>
              <a:t>Windows: CreatePipe (), CreateFileMapping(), MapViewOfFile ()</a:t>
            </a:r>
            <a:endParaRPr/>
          </a:p>
          <a:p>
            <a:pPr indent="-317500" lvl="1" marL="914400" rtl="0" algn="l">
              <a:spcBef>
                <a:spcPts val="0"/>
              </a:spcBef>
              <a:spcAft>
                <a:spcPts val="0"/>
              </a:spcAft>
              <a:buSzPts val="1400"/>
              <a:buChar char="-"/>
            </a:pPr>
            <a:r>
              <a:rPr lang="en"/>
              <a:t>Unix: pipe(), shmget(), mmap()</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44" title="Screenshot 2025-09-25 at 5.16.01 AM.png"/>
          <p:cNvPicPr preferRelativeResize="0"/>
          <p:nvPr/>
        </p:nvPicPr>
        <p:blipFill>
          <a:blip r:embed="rId3">
            <a:alphaModFix/>
          </a:blip>
          <a:stretch>
            <a:fillRect/>
          </a:stretch>
        </p:blipFill>
        <p:spPr>
          <a:xfrm>
            <a:off x="2266675" y="81325"/>
            <a:ext cx="4777094" cy="483869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45" title="Screenshot 2025-09-20 at 7.52.46 AM.png"/>
          <p:cNvPicPr preferRelativeResize="0"/>
          <p:nvPr/>
        </p:nvPicPr>
        <p:blipFill>
          <a:blip r:embed="rId3">
            <a:alphaModFix/>
          </a:blip>
          <a:stretch>
            <a:fillRect/>
          </a:stretch>
        </p:blipFill>
        <p:spPr>
          <a:xfrm>
            <a:off x="1442425" y="587825"/>
            <a:ext cx="6208699" cy="3995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Operating System Structure</a:t>
            </a:r>
            <a:endParaRPr/>
          </a:p>
        </p:txBody>
      </p:sp>
      <p:sp>
        <p:nvSpPr>
          <p:cNvPr id="243" name="Google Shape;243;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Simple</a:t>
            </a:r>
            <a:endParaRPr/>
          </a:p>
          <a:p>
            <a:pPr indent="-342900" lvl="0" marL="457200" rtl="0" algn="l">
              <a:spcBef>
                <a:spcPts val="0"/>
              </a:spcBef>
              <a:spcAft>
                <a:spcPts val="0"/>
              </a:spcAft>
              <a:buSzPts val="1800"/>
              <a:buChar char="-"/>
            </a:pPr>
            <a:r>
              <a:rPr lang="en"/>
              <a:t>Layered Approach </a:t>
            </a:r>
            <a:endParaRPr/>
          </a:p>
          <a:p>
            <a:pPr indent="-342900" lvl="0" marL="457200" rtl="0" algn="l">
              <a:spcBef>
                <a:spcPts val="0"/>
              </a:spcBef>
              <a:spcAft>
                <a:spcPts val="0"/>
              </a:spcAft>
              <a:buSzPts val="1800"/>
              <a:buChar char="-"/>
            </a:pPr>
            <a:r>
              <a:rPr lang="en"/>
              <a:t>Microkernels </a:t>
            </a:r>
            <a:endParaRPr/>
          </a:p>
          <a:p>
            <a:pPr indent="-342900" lvl="0" marL="457200" rtl="0" algn="l">
              <a:spcBef>
                <a:spcPts val="0"/>
              </a:spcBef>
              <a:spcAft>
                <a:spcPts val="0"/>
              </a:spcAft>
              <a:buSzPts val="1800"/>
              <a:buChar char="-"/>
            </a:pPr>
            <a:r>
              <a:rPr lang="en"/>
              <a:t>Modules</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7"/>
          <p:cNvSpPr txBox="1"/>
          <p:nvPr>
            <p:ph type="title"/>
          </p:nvPr>
        </p:nvSpPr>
        <p:spPr>
          <a:xfrm>
            <a:off x="311700" y="32665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1800">
                <a:solidFill>
                  <a:schemeClr val="dk2"/>
                </a:solidFill>
              </a:rPr>
              <a:t>Simple Structure</a:t>
            </a:r>
            <a:endParaRPr/>
          </a:p>
        </p:txBody>
      </p:sp>
      <p:pic>
        <p:nvPicPr>
          <p:cNvPr id="249" name="Google Shape;249;p47" title="Screenshot 2025-09-25 at 5.47.56 AM.png"/>
          <p:cNvPicPr preferRelativeResize="0"/>
          <p:nvPr/>
        </p:nvPicPr>
        <p:blipFill>
          <a:blip r:embed="rId3">
            <a:alphaModFix/>
          </a:blip>
          <a:stretch>
            <a:fillRect/>
          </a:stretch>
        </p:blipFill>
        <p:spPr>
          <a:xfrm>
            <a:off x="1955874" y="899350"/>
            <a:ext cx="5311999" cy="3773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Layered Approach </a:t>
            </a:r>
            <a:endParaRPr/>
          </a:p>
        </p:txBody>
      </p:sp>
      <p:sp>
        <p:nvSpPr>
          <p:cNvPr id="255" name="Google Shape;255;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6" name="Google Shape;256;p48" title="Screenshot 2025-09-25 at 5.48.42 AM.png"/>
          <p:cNvPicPr preferRelativeResize="0"/>
          <p:nvPr/>
        </p:nvPicPr>
        <p:blipFill>
          <a:blip r:embed="rId3">
            <a:alphaModFix/>
          </a:blip>
          <a:stretch>
            <a:fillRect/>
          </a:stretch>
        </p:blipFill>
        <p:spPr>
          <a:xfrm>
            <a:off x="2619150" y="1152475"/>
            <a:ext cx="3399425" cy="365075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Microkernels</a:t>
            </a:r>
            <a:endParaRPr/>
          </a:p>
        </p:txBody>
      </p:sp>
      <p:sp>
        <p:nvSpPr>
          <p:cNvPr id="262" name="Google Shape;262;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This method structure the operating system by removing all necessary component from kernel and implementing them as system and user level programs</a:t>
            </a:r>
            <a:endParaRPr/>
          </a:p>
          <a:p>
            <a:pPr indent="-342900" lvl="0" marL="457200" rtl="0" algn="l">
              <a:spcBef>
                <a:spcPts val="0"/>
              </a:spcBef>
              <a:spcAft>
                <a:spcPts val="0"/>
              </a:spcAft>
              <a:buSzPts val="1800"/>
              <a:buChar char="-"/>
            </a:pPr>
            <a:r>
              <a:rPr lang="en"/>
              <a:t>The main function of the micro kernel is to provide a communication facility between the client program and the various services that are also running in user space.</a:t>
            </a:r>
            <a:endParaRPr/>
          </a:p>
          <a:p>
            <a:pPr indent="-342900" lvl="0" marL="457200" rtl="0" algn="l">
              <a:spcBef>
                <a:spcPts val="0"/>
              </a:spcBef>
              <a:spcAft>
                <a:spcPts val="0"/>
              </a:spcAft>
              <a:buSzPts val="1800"/>
              <a:buChar char="-"/>
            </a:pPr>
            <a:r>
              <a:rPr lang="en"/>
              <a:t>One benefit of the microkernel approach is ease of extending the operating system. The resulting operating system is easier to port from one hardware design to another. </a:t>
            </a:r>
            <a:endParaRPr/>
          </a:p>
          <a:p>
            <a:pPr indent="-342900" lvl="0" marL="457200" rtl="0" algn="l">
              <a:spcBef>
                <a:spcPts val="0"/>
              </a:spcBef>
              <a:spcAft>
                <a:spcPts val="0"/>
              </a:spcAft>
              <a:buSzPts val="1800"/>
              <a:buChar char="-"/>
            </a:pPr>
            <a:r>
              <a:rPr lang="en"/>
              <a:t>The microkernel also provides more security and reliability, since most services are running as user-rather than kernel-processes.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Modules</a:t>
            </a:r>
            <a:endParaRPr/>
          </a:p>
        </p:txBody>
      </p:sp>
      <p:sp>
        <p:nvSpPr>
          <p:cNvPr id="268" name="Google Shape;268;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69" name="Google Shape;269;p50" title="Screenshot 2025-09-25 at 5.55.17 AM.png"/>
          <p:cNvPicPr preferRelativeResize="0"/>
          <p:nvPr/>
        </p:nvPicPr>
        <p:blipFill>
          <a:blip r:embed="rId3">
            <a:alphaModFix/>
          </a:blip>
          <a:stretch>
            <a:fillRect/>
          </a:stretch>
        </p:blipFill>
        <p:spPr>
          <a:xfrm>
            <a:off x="1646600" y="1152475"/>
            <a:ext cx="5678701" cy="33026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Virtual Machines</a:t>
            </a:r>
            <a:endParaRPr/>
          </a:p>
        </p:txBody>
      </p:sp>
      <p:sp>
        <p:nvSpPr>
          <p:cNvPr id="275" name="Google Shape;275;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layered approach  is taken to its logical conclusion in the concept of a Virtual Machine. The fundamental idea behind a virtual machine is to abstract the hardware of a single computer (the CPU, memory, disk drives, network interface cards, and so forth) into several different execution environments, thereby creating the illusion that each separate execution environment is running its own private computer.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Machines</a:t>
            </a:r>
            <a:endParaRPr/>
          </a:p>
        </p:txBody>
      </p:sp>
      <p:sp>
        <p:nvSpPr>
          <p:cNvPr id="281" name="Google Shape;281;p52"/>
          <p:cNvSpPr txBox="1"/>
          <p:nvPr>
            <p:ph idx="1" type="body"/>
          </p:nvPr>
        </p:nvSpPr>
        <p:spPr>
          <a:xfrm>
            <a:off x="311700" y="1152475"/>
            <a:ext cx="4067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Benefits</a:t>
            </a:r>
            <a:endParaRPr/>
          </a:p>
          <a:p>
            <a:pPr indent="-317500" lvl="1" marL="914400" rtl="0" algn="l">
              <a:spcBef>
                <a:spcPts val="0"/>
              </a:spcBef>
              <a:spcAft>
                <a:spcPts val="0"/>
              </a:spcAft>
              <a:buSzPts val="1400"/>
              <a:buChar char="-"/>
            </a:pPr>
            <a:r>
              <a:rPr lang="en" sz="1100">
                <a:solidFill>
                  <a:schemeClr val="dk1"/>
                </a:solidFill>
              </a:rPr>
              <a:t>Virtual Machines give </a:t>
            </a:r>
            <a:r>
              <a:rPr b="1" lang="en" sz="1100">
                <a:solidFill>
                  <a:schemeClr val="dk1"/>
                </a:solidFill>
              </a:rPr>
              <a:t>security, flexibility, and efficiency</a:t>
            </a:r>
            <a:r>
              <a:rPr lang="en" sz="1100">
                <a:solidFill>
                  <a:schemeClr val="dk1"/>
                </a:solidFill>
              </a:rPr>
              <a:t> → they’re great for cloud, development, and enterprise workloads.</a:t>
            </a:r>
            <a:endParaRPr/>
          </a:p>
          <a:p>
            <a:pPr indent="-342900" lvl="0" marL="457200" rtl="0" algn="l">
              <a:spcBef>
                <a:spcPts val="0"/>
              </a:spcBef>
              <a:spcAft>
                <a:spcPts val="0"/>
              </a:spcAft>
              <a:buSzPts val="1800"/>
              <a:buChar char="-"/>
            </a:pPr>
            <a:r>
              <a:rPr lang="en"/>
              <a:t>Simulation</a:t>
            </a:r>
            <a:endParaRPr/>
          </a:p>
          <a:p>
            <a:pPr indent="-317500" lvl="1" marL="914400" rtl="0" algn="l">
              <a:spcBef>
                <a:spcPts val="0"/>
              </a:spcBef>
              <a:spcAft>
                <a:spcPts val="0"/>
              </a:spcAft>
              <a:buSzPts val="1400"/>
              <a:buChar char="-"/>
            </a:pPr>
            <a:r>
              <a:rPr lang="en" sz="1100">
                <a:solidFill>
                  <a:schemeClr val="dk1"/>
                </a:solidFill>
              </a:rPr>
              <a:t>The VM </a:t>
            </a:r>
            <a:r>
              <a:rPr b="1" lang="en" sz="1100">
                <a:solidFill>
                  <a:schemeClr val="dk1"/>
                </a:solidFill>
              </a:rPr>
              <a:t>imitates hardware in software</a:t>
            </a:r>
            <a:r>
              <a:rPr lang="en" sz="1100">
                <a:solidFill>
                  <a:schemeClr val="dk1"/>
                </a:solidFill>
              </a:rPr>
              <a:t>. It reproduces the behavior of an entire hardware platform so that guest OSes can run unmodified, even if they weren’t designed for the host hardware.</a:t>
            </a:r>
            <a:endParaRPr/>
          </a:p>
          <a:p>
            <a:pPr indent="-342900" lvl="0" marL="457200" rtl="0" algn="l">
              <a:spcBef>
                <a:spcPts val="0"/>
              </a:spcBef>
              <a:spcAft>
                <a:spcPts val="0"/>
              </a:spcAft>
              <a:buSzPts val="1800"/>
              <a:buChar char="-"/>
            </a:pPr>
            <a:r>
              <a:rPr lang="en"/>
              <a:t>Para-virtualization</a:t>
            </a:r>
            <a:endParaRPr/>
          </a:p>
          <a:p>
            <a:pPr indent="-317500" lvl="1" marL="914400" rtl="0" algn="l">
              <a:spcBef>
                <a:spcPts val="0"/>
              </a:spcBef>
              <a:spcAft>
                <a:spcPts val="0"/>
              </a:spcAft>
              <a:buSzPts val="1400"/>
              <a:buChar char="-"/>
            </a:pPr>
            <a:r>
              <a:rPr lang="en" sz="1100">
                <a:solidFill>
                  <a:schemeClr val="dk1"/>
                </a:solidFill>
              </a:rPr>
              <a:t>The guest OS is </a:t>
            </a:r>
            <a:r>
              <a:rPr b="1" lang="en" sz="1100">
                <a:solidFill>
                  <a:schemeClr val="dk1"/>
                </a:solidFill>
              </a:rPr>
              <a:t>modified</a:t>
            </a:r>
            <a:r>
              <a:rPr lang="en" sz="1100">
                <a:solidFill>
                  <a:schemeClr val="dk1"/>
                </a:solidFill>
              </a:rPr>
              <a:t> to be “aware” that it’s running in a virtualized environment.</a:t>
            </a:r>
            <a:endParaRPr/>
          </a:p>
        </p:txBody>
      </p:sp>
      <p:pic>
        <p:nvPicPr>
          <p:cNvPr id="282" name="Google Shape;282;p52" title="Screenshot 2025-09-25 at 5.56.21 AM.png"/>
          <p:cNvPicPr preferRelativeResize="0"/>
          <p:nvPr/>
        </p:nvPicPr>
        <p:blipFill>
          <a:blip r:embed="rId3">
            <a:alphaModFix/>
          </a:blip>
          <a:stretch>
            <a:fillRect/>
          </a:stretch>
        </p:blipFill>
        <p:spPr>
          <a:xfrm>
            <a:off x="4379400" y="1055775"/>
            <a:ext cx="4552050" cy="32424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VMware</a:t>
            </a:r>
            <a:endParaRPr/>
          </a:p>
        </p:txBody>
      </p:sp>
      <p:sp>
        <p:nvSpPr>
          <p:cNvPr id="288" name="Google Shape;288;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9" name="Google Shape;289;p53" title="Screenshot 2025-09-25 at 6.06.02 AM.png"/>
          <p:cNvPicPr preferRelativeResize="0"/>
          <p:nvPr/>
        </p:nvPicPr>
        <p:blipFill>
          <a:blip r:embed="rId3">
            <a:alphaModFix/>
          </a:blip>
          <a:stretch>
            <a:fillRect/>
          </a:stretch>
        </p:blipFill>
        <p:spPr>
          <a:xfrm>
            <a:off x="2673275" y="1152475"/>
            <a:ext cx="4531552" cy="35906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OS debugging</a:t>
            </a:r>
            <a:endParaRPr/>
          </a:p>
        </p:txBody>
      </p:sp>
      <p:sp>
        <p:nvSpPr>
          <p:cNvPr id="295" name="Google Shape;295;p54"/>
          <p:cNvSpPr txBox="1"/>
          <p:nvPr>
            <p:ph idx="1" type="body"/>
          </p:nvPr>
        </p:nvSpPr>
        <p:spPr>
          <a:xfrm>
            <a:off x="311700" y="981325"/>
            <a:ext cx="4980600" cy="35877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Failure Analysis</a:t>
            </a:r>
            <a:endParaRPr/>
          </a:p>
          <a:p>
            <a:pPr indent="-325755" lvl="0" marL="457200" rtl="0" algn="l">
              <a:spcBef>
                <a:spcPts val="0"/>
              </a:spcBef>
              <a:spcAft>
                <a:spcPts val="0"/>
              </a:spcAft>
              <a:buSzPct val="100000"/>
              <a:buChar char="-"/>
            </a:pPr>
            <a:r>
              <a:rPr lang="en"/>
              <a:t>Performance Tuning </a:t>
            </a:r>
            <a:endParaRPr/>
          </a:p>
          <a:p>
            <a:pPr indent="-325755" lvl="0" marL="457200" rtl="0" algn="l">
              <a:spcBef>
                <a:spcPts val="0"/>
              </a:spcBef>
              <a:spcAft>
                <a:spcPts val="0"/>
              </a:spcAft>
              <a:buSzPct val="100000"/>
              <a:buChar char="-"/>
            </a:pPr>
            <a:r>
              <a:rPr lang="en"/>
              <a:t>DTrace</a:t>
            </a:r>
            <a:endParaRPr/>
          </a:p>
          <a:p>
            <a:pPr indent="-304165" lvl="1" marL="914400" rtl="0" algn="l">
              <a:spcBef>
                <a:spcPts val="0"/>
              </a:spcBef>
              <a:spcAft>
                <a:spcPts val="0"/>
              </a:spcAft>
              <a:buSzPct val="100000"/>
              <a:buChar char="-"/>
            </a:pPr>
            <a:r>
              <a:rPr lang="en"/>
              <a:t>DTrace lets you observe the inner workings of the OS and applications in real time.</a:t>
            </a:r>
            <a:endParaRPr/>
          </a:p>
          <a:p>
            <a:pPr indent="-304165" lvl="1" marL="914400" rtl="0" algn="l">
              <a:spcBef>
                <a:spcPts val="0"/>
              </a:spcBef>
              <a:spcAft>
                <a:spcPts val="0"/>
              </a:spcAft>
              <a:buSzPct val="100000"/>
              <a:buChar char="-"/>
            </a:pPr>
            <a:r>
              <a:rPr lang="en"/>
              <a:t>framework and tool for debugging</a:t>
            </a:r>
            <a:endParaRPr/>
          </a:p>
          <a:p>
            <a:pPr indent="0" lvl="0" marL="0" rtl="0" algn="l">
              <a:spcBef>
                <a:spcPts val="1400"/>
              </a:spcBef>
              <a:spcAft>
                <a:spcPts val="0"/>
              </a:spcAft>
              <a:buNone/>
            </a:pPr>
            <a:r>
              <a:rPr b="1" lang="en" sz="1300">
                <a:solidFill>
                  <a:schemeClr val="dk1"/>
                </a:solidFill>
              </a:rPr>
              <a:t>Uses of DTrace in OS:</a:t>
            </a:r>
            <a:endParaRPr b="1" sz="1300">
              <a:solidFill>
                <a:schemeClr val="dk1"/>
              </a:solidFill>
            </a:endParaRPr>
          </a:p>
          <a:p>
            <a:pPr indent="-287972" lvl="0" marL="457200" rtl="0" algn="l">
              <a:spcBef>
                <a:spcPts val="1200"/>
              </a:spcBef>
              <a:spcAft>
                <a:spcPts val="0"/>
              </a:spcAft>
              <a:buClr>
                <a:schemeClr val="dk1"/>
              </a:buClr>
              <a:buSzPct val="100000"/>
              <a:buChar char="●"/>
            </a:pPr>
            <a:r>
              <a:rPr lang="en" sz="1100">
                <a:solidFill>
                  <a:schemeClr val="dk1"/>
                </a:solidFill>
              </a:rPr>
              <a:t>Debugging performance bottlenecks.</a:t>
            </a:r>
            <a:br>
              <a:rPr lang="en"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lang="en" sz="1100">
                <a:solidFill>
                  <a:schemeClr val="dk1"/>
                </a:solidFill>
              </a:rPr>
              <a:t>Monitoring CPU, memory, file system, or network usage.</a:t>
            </a:r>
            <a:br>
              <a:rPr lang="en"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lang="en" sz="1100">
                <a:solidFill>
                  <a:schemeClr val="dk1"/>
                </a:solidFill>
              </a:rPr>
              <a:t>Tracing system calls and kernel events.</a:t>
            </a:r>
            <a:br>
              <a:rPr lang="en"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lang="en" sz="1100">
                <a:solidFill>
                  <a:schemeClr val="dk1"/>
                </a:solidFill>
              </a:rPr>
              <a:t>Observing application behavior without modifying the source code.</a:t>
            </a:r>
            <a:br>
              <a:rPr lang="en"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lang="en" sz="1100">
                <a:solidFill>
                  <a:schemeClr val="dk1"/>
                </a:solidFill>
              </a:rPr>
              <a:t>Troubleshooting issues in production systems.</a:t>
            </a:r>
            <a:endParaRPr sz="1100">
              <a:solidFill>
                <a:schemeClr val="dk1"/>
              </a:solidFill>
            </a:endParaRPr>
          </a:p>
          <a:p>
            <a:pPr indent="0" lvl="0" marL="0" rtl="0" algn="l">
              <a:spcBef>
                <a:spcPts val="1200"/>
              </a:spcBef>
              <a:spcAft>
                <a:spcPts val="1200"/>
              </a:spcAft>
              <a:buNone/>
            </a:pPr>
            <a:r>
              <a:t/>
            </a:r>
            <a:endParaRPr/>
          </a:p>
        </p:txBody>
      </p:sp>
      <p:pic>
        <p:nvPicPr>
          <p:cNvPr id="296" name="Google Shape;296;p54" title="Screenshot 2025-09-25 at 6.09.52 AM.png"/>
          <p:cNvPicPr preferRelativeResize="0"/>
          <p:nvPr/>
        </p:nvPicPr>
        <p:blipFill>
          <a:blip r:embed="rId3">
            <a:alphaModFix/>
          </a:blip>
          <a:stretch>
            <a:fillRect/>
          </a:stretch>
        </p:blipFill>
        <p:spPr>
          <a:xfrm>
            <a:off x="5522500" y="445025"/>
            <a:ext cx="3198674" cy="42839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