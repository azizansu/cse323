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d673f84d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d673f84d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d673f84d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d673f84d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d673f84d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d673f84d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d673f84d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d673f84d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d673f84d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d673f84d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d673f84d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d673f84d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8d673f84d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8d673f84d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8d673f84d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8d673f84d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d673f84d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d673f84d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d673f84d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d673f84d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d673f84d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d673f84d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d673f84d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d673f84d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d673f84d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d673f84d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d673f84d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d673f84d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d673f84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d673f84d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d673f84d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d673f84d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d673f84d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d673f84d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d673f84d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d673f84d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d673f84d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d673f84d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d673f84d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d673f84d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d673f84d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d673f84d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d673f84d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8d673f84d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d673f84d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d673f84d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d673f84d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d673f84d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d673f84d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8d673f84d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8d673f84d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8d673f84d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8d673f84da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8d673f84d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d673f84d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d673f84d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d673f84d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d673f84d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d673f84da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8d673f84d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c4fa8ab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c4fa8ab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c4fa8abd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c4fa8abd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c4fa8ab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c4fa8ab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c4fa8abd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9c4fa8abd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c4fa8abd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c4fa8abd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CPU Scheduling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CPU-I/O Burst Cycle</a:t>
            </a:r>
            <a:endParaRPr/>
          </a:p>
        </p:txBody>
      </p:sp>
      <p:sp>
        <p:nvSpPr>
          <p:cNvPr id="61" name="Google Shape;61;p14"/>
          <p:cNvSpPr txBox="1"/>
          <p:nvPr>
            <p:ph idx="1" type="body"/>
          </p:nvPr>
        </p:nvSpPr>
        <p:spPr>
          <a:xfrm>
            <a:off x="311700" y="1152475"/>
            <a:ext cx="5384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success of CPU scheduling depends on:</a:t>
            </a:r>
            <a:endParaRPr/>
          </a:p>
          <a:p>
            <a:pPr indent="-342900" lvl="0" marL="457200" rtl="0" algn="l">
              <a:spcBef>
                <a:spcPts val="1200"/>
              </a:spcBef>
              <a:spcAft>
                <a:spcPts val="0"/>
              </a:spcAft>
              <a:buSzPts val="1800"/>
              <a:buAutoNum type="arabicPeriod"/>
            </a:pPr>
            <a:r>
              <a:rPr lang="en"/>
              <a:t>process execution consists of a cycle of CPU execution (CPU Burst) and I/0 wait (I/O Burst).</a:t>
            </a:r>
            <a:endParaRPr/>
          </a:p>
          <a:p>
            <a:pPr indent="-342900" lvl="0" marL="457200" rtl="0" algn="l">
              <a:spcBef>
                <a:spcPts val="0"/>
              </a:spcBef>
              <a:spcAft>
                <a:spcPts val="0"/>
              </a:spcAft>
              <a:buSzPts val="1800"/>
              <a:buAutoNum type="arabicPeriod"/>
            </a:pPr>
            <a:r>
              <a:rPr lang="en"/>
              <a:t>Processes alternate between these two states. </a:t>
            </a:r>
            <a:endParaRPr/>
          </a:p>
        </p:txBody>
      </p:sp>
      <p:pic>
        <p:nvPicPr>
          <p:cNvPr id="62" name="Google Shape;62;p14" title="Screenshot 2025-09-27 at 7.26.57 AM.png"/>
          <p:cNvPicPr preferRelativeResize="0"/>
          <p:nvPr/>
        </p:nvPicPr>
        <p:blipFill>
          <a:blip r:embed="rId3">
            <a:alphaModFix/>
          </a:blip>
          <a:stretch>
            <a:fillRect/>
          </a:stretch>
        </p:blipFill>
        <p:spPr>
          <a:xfrm>
            <a:off x="5774225" y="827225"/>
            <a:ext cx="2974110" cy="38209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 Scheduler</a:t>
            </a:r>
            <a:endParaRPr/>
          </a:p>
        </p:txBody>
      </p:sp>
      <p:sp>
        <p:nvSpPr>
          <p:cNvPr id="68" name="Google Shape;68;p15"/>
          <p:cNvSpPr txBox="1"/>
          <p:nvPr>
            <p:ph idx="1" type="body"/>
          </p:nvPr>
        </p:nvSpPr>
        <p:spPr>
          <a:xfrm>
            <a:off x="311700" y="1152475"/>
            <a:ext cx="56295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CPU-scheduling decisions may take place under the following four circumstances:</a:t>
            </a:r>
            <a:endParaRPr/>
          </a:p>
          <a:p>
            <a:pPr indent="-317182" lvl="0" marL="914400" rtl="0" algn="l">
              <a:spcBef>
                <a:spcPts val="1200"/>
              </a:spcBef>
              <a:spcAft>
                <a:spcPts val="0"/>
              </a:spcAft>
              <a:buSzPct val="100000"/>
              <a:buAutoNum type="arabicPeriod"/>
            </a:pPr>
            <a:r>
              <a:rPr lang="en"/>
              <a:t>When a process switches from the running state to the waiting state (for example, as the result of an I/0 request or an invocation of wait for the termination of one of the child processes) </a:t>
            </a:r>
            <a:endParaRPr/>
          </a:p>
          <a:p>
            <a:pPr indent="-317182" lvl="0" marL="914400" rtl="0" algn="l">
              <a:spcBef>
                <a:spcPts val="0"/>
              </a:spcBef>
              <a:spcAft>
                <a:spcPts val="0"/>
              </a:spcAft>
              <a:buSzPct val="100000"/>
              <a:buAutoNum type="arabicPeriod"/>
            </a:pPr>
            <a:r>
              <a:rPr lang="en"/>
              <a:t>When a process switches from the running state to the ready state (for example, when an interrupt occurs) </a:t>
            </a:r>
            <a:endParaRPr/>
          </a:p>
          <a:p>
            <a:pPr indent="-317182" lvl="0" marL="914400" rtl="0" algn="l">
              <a:spcBef>
                <a:spcPts val="0"/>
              </a:spcBef>
              <a:spcAft>
                <a:spcPts val="0"/>
              </a:spcAft>
              <a:buSzPct val="100000"/>
              <a:buAutoNum type="arabicPeriod"/>
            </a:pPr>
            <a:r>
              <a:rPr lang="en"/>
              <a:t>When a process switches from the waiting state to the ready state (for example, at completion of I/0) </a:t>
            </a:r>
            <a:endParaRPr/>
          </a:p>
          <a:p>
            <a:pPr indent="-317182" lvl="0" marL="914400" rtl="0" algn="l">
              <a:spcBef>
                <a:spcPts val="0"/>
              </a:spcBef>
              <a:spcAft>
                <a:spcPts val="0"/>
              </a:spcAft>
              <a:buSzPct val="100000"/>
              <a:buAutoNum type="arabicPeriod"/>
            </a:pPr>
            <a:r>
              <a:rPr lang="en"/>
              <a:t>When a process terminates </a:t>
            </a:r>
            <a:endParaRPr/>
          </a:p>
          <a:p>
            <a:pPr indent="0" lvl="0" marL="0" rtl="0" algn="l">
              <a:spcBef>
                <a:spcPts val="1200"/>
              </a:spcBef>
              <a:spcAft>
                <a:spcPts val="1200"/>
              </a:spcAft>
              <a:buNone/>
            </a:pPr>
            <a:r>
              <a:rPr lang="en"/>
              <a:t>When scheduling takes place only under circumstances 1 and 4, we say that the scheduling scheme is </a:t>
            </a:r>
            <a:r>
              <a:rPr b="1" lang="en"/>
              <a:t>nonpreemptive or cooperative</a:t>
            </a:r>
            <a:r>
              <a:rPr lang="en"/>
              <a:t>; otherwise, it is </a:t>
            </a:r>
            <a:r>
              <a:rPr b="1" lang="en"/>
              <a:t>preemptive</a:t>
            </a:r>
            <a:r>
              <a:rPr lang="en"/>
              <a:t>. </a:t>
            </a:r>
            <a:endParaRPr/>
          </a:p>
        </p:txBody>
      </p:sp>
      <p:pic>
        <p:nvPicPr>
          <p:cNvPr id="69" name="Google Shape;69;p15" title="Screenshot 2025-09-25 at 7.47.11 AM.png"/>
          <p:cNvPicPr preferRelativeResize="0"/>
          <p:nvPr/>
        </p:nvPicPr>
        <p:blipFill>
          <a:blip r:embed="rId3">
            <a:alphaModFix/>
          </a:blip>
          <a:stretch>
            <a:fillRect/>
          </a:stretch>
        </p:blipFill>
        <p:spPr>
          <a:xfrm>
            <a:off x="5790775" y="1721500"/>
            <a:ext cx="3353226" cy="16375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80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Dispatcher</a:t>
            </a:r>
            <a:endParaRPr/>
          </a:p>
        </p:txBody>
      </p:sp>
      <p:sp>
        <p:nvSpPr>
          <p:cNvPr id="75" name="Google Shape;75;p16"/>
          <p:cNvSpPr txBox="1"/>
          <p:nvPr>
            <p:ph idx="1" type="body"/>
          </p:nvPr>
        </p:nvSpPr>
        <p:spPr>
          <a:xfrm>
            <a:off x="311700" y="832750"/>
            <a:ext cx="8520600" cy="373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Another component involved in the CPU-scheduling function is the dispatcher.</a:t>
            </a:r>
            <a:endParaRPr/>
          </a:p>
          <a:p>
            <a:pPr indent="-342900" lvl="0" marL="457200" rtl="0" algn="l">
              <a:spcBef>
                <a:spcPts val="0"/>
              </a:spcBef>
              <a:spcAft>
                <a:spcPts val="0"/>
              </a:spcAft>
              <a:buSzPts val="1800"/>
              <a:buChar char="-"/>
            </a:pPr>
            <a:r>
              <a:rPr lang="en"/>
              <a:t>The dispatcher is the module that gives control of the CPU to the process selected by the short-term scheduler. </a:t>
            </a:r>
            <a:endParaRPr/>
          </a:p>
          <a:p>
            <a:pPr indent="-342900" lvl="0" marL="457200" rtl="0" algn="l">
              <a:spcBef>
                <a:spcPts val="0"/>
              </a:spcBef>
              <a:spcAft>
                <a:spcPts val="0"/>
              </a:spcAft>
              <a:buSzPts val="1800"/>
              <a:buChar char="-"/>
            </a:pPr>
            <a:r>
              <a:rPr lang="en"/>
              <a:t>This function involves the following: </a:t>
            </a:r>
            <a:endParaRPr/>
          </a:p>
          <a:p>
            <a:pPr indent="-317500" lvl="1" marL="914400" rtl="0" algn="l">
              <a:spcBef>
                <a:spcPts val="0"/>
              </a:spcBef>
              <a:spcAft>
                <a:spcPts val="0"/>
              </a:spcAft>
              <a:buSzPts val="1400"/>
              <a:buChar char="-"/>
            </a:pPr>
            <a:r>
              <a:rPr lang="en"/>
              <a:t>Switching context </a:t>
            </a:r>
            <a:endParaRPr/>
          </a:p>
          <a:p>
            <a:pPr indent="-317500" lvl="1" marL="914400" rtl="0" algn="l">
              <a:spcBef>
                <a:spcPts val="0"/>
              </a:spcBef>
              <a:spcAft>
                <a:spcPts val="0"/>
              </a:spcAft>
              <a:buSzPts val="1400"/>
              <a:buChar char="-"/>
            </a:pPr>
            <a:r>
              <a:rPr lang="en"/>
              <a:t>Switching to user mode </a:t>
            </a:r>
            <a:endParaRPr/>
          </a:p>
          <a:p>
            <a:pPr indent="-317500" lvl="1" marL="914400" rtl="0" algn="l">
              <a:spcBef>
                <a:spcPts val="0"/>
              </a:spcBef>
              <a:spcAft>
                <a:spcPts val="0"/>
              </a:spcAft>
              <a:buSzPts val="1400"/>
              <a:buChar char="-"/>
            </a:pPr>
            <a:r>
              <a:rPr lang="en"/>
              <a:t>Jumping to the proper location in the user program to restart that program </a:t>
            </a:r>
            <a:endParaRPr/>
          </a:p>
          <a:p>
            <a:pPr indent="-342900" lvl="0" marL="457200" rtl="0" algn="l">
              <a:spcBef>
                <a:spcPts val="0"/>
              </a:spcBef>
              <a:spcAft>
                <a:spcPts val="0"/>
              </a:spcAft>
              <a:buSzPts val="1800"/>
              <a:buChar char="-"/>
            </a:pPr>
            <a:r>
              <a:rPr lang="en"/>
              <a:t>The dispatcher should be as fast as possible, since it is invoked during every process switch. </a:t>
            </a:r>
            <a:endParaRPr/>
          </a:p>
          <a:p>
            <a:pPr indent="-342900" lvl="0" marL="457200" rtl="0" algn="l">
              <a:spcBef>
                <a:spcPts val="0"/>
              </a:spcBef>
              <a:spcAft>
                <a:spcPts val="0"/>
              </a:spcAft>
              <a:buSzPts val="1800"/>
              <a:buChar char="-"/>
            </a:pPr>
            <a:r>
              <a:rPr lang="en"/>
              <a:t>The time it takes for the dispatcher to stop one process and start another running is known as the </a:t>
            </a:r>
            <a:r>
              <a:rPr b="1" lang="en"/>
              <a:t>dispatch latency</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Scheduling Criteria</a:t>
            </a:r>
            <a:endParaRPr/>
          </a:p>
        </p:txBody>
      </p:sp>
      <p:sp>
        <p:nvSpPr>
          <p:cNvPr id="81" name="Google Shape;81;p17"/>
          <p:cNvSpPr txBox="1"/>
          <p:nvPr>
            <p:ph idx="1" type="body"/>
          </p:nvPr>
        </p:nvSpPr>
        <p:spPr>
          <a:xfrm>
            <a:off x="311700" y="1152475"/>
            <a:ext cx="8638500" cy="38982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b="1" lang="en"/>
              <a:t>CPU utilization: </a:t>
            </a:r>
            <a:r>
              <a:rPr lang="en"/>
              <a:t>to keep the CPU as busy as possible.</a:t>
            </a:r>
            <a:endParaRPr/>
          </a:p>
          <a:p>
            <a:pPr indent="0" lvl="0" marL="457200" rtl="0" algn="l">
              <a:spcBef>
                <a:spcPts val="1200"/>
              </a:spcBef>
              <a:spcAft>
                <a:spcPts val="0"/>
              </a:spcAft>
              <a:buNone/>
            </a:pPr>
            <a:r>
              <a:t/>
            </a:r>
            <a:endParaRPr/>
          </a:p>
          <a:p>
            <a:pPr indent="-317182" lvl="0" marL="457200" rtl="0" algn="l">
              <a:spcBef>
                <a:spcPts val="1200"/>
              </a:spcBef>
              <a:spcAft>
                <a:spcPts val="0"/>
              </a:spcAft>
              <a:buSzPct val="100000"/>
              <a:buChar char="-"/>
            </a:pPr>
            <a:r>
              <a:rPr b="1" lang="en"/>
              <a:t>Throughput:</a:t>
            </a:r>
            <a:r>
              <a:rPr lang="en"/>
              <a:t> number of processes that are completed per time unit</a:t>
            </a:r>
            <a:endParaRPr/>
          </a:p>
          <a:p>
            <a:pPr indent="0" lvl="0" marL="457200" rtl="0" algn="l">
              <a:spcBef>
                <a:spcPts val="1200"/>
              </a:spcBef>
              <a:spcAft>
                <a:spcPts val="0"/>
              </a:spcAft>
              <a:buNone/>
            </a:pPr>
            <a:r>
              <a:t/>
            </a:r>
            <a:endParaRPr/>
          </a:p>
          <a:p>
            <a:pPr indent="-317182" lvl="0" marL="457200" rtl="0" algn="l">
              <a:spcBef>
                <a:spcPts val="1200"/>
              </a:spcBef>
              <a:spcAft>
                <a:spcPts val="0"/>
              </a:spcAft>
              <a:buSzPct val="100000"/>
              <a:buChar char="-"/>
            </a:pPr>
            <a:r>
              <a:rPr b="1" lang="en"/>
              <a:t>Turnaround time:</a:t>
            </a:r>
            <a:r>
              <a:rPr lang="en"/>
              <a:t> The interval from the time of submission of a process to the time of completion. (Turnaround = Finish time – Arrival time)</a:t>
            </a:r>
            <a:endParaRPr/>
          </a:p>
          <a:p>
            <a:pPr indent="0" lvl="0" marL="457200" rtl="0" algn="l">
              <a:spcBef>
                <a:spcPts val="1200"/>
              </a:spcBef>
              <a:spcAft>
                <a:spcPts val="0"/>
              </a:spcAft>
              <a:buNone/>
            </a:pPr>
            <a:r>
              <a:t/>
            </a:r>
            <a:endParaRPr/>
          </a:p>
          <a:p>
            <a:pPr indent="-317182" lvl="0" marL="457200" rtl="0" algn="l">
              <a:spcBef>
                <a:spcPts val="1200"/>
              </a:spcBef>
              <a:spcAft>
                <a:spcPts val="0"/>
              </a:spcAft>
              <a:buSzPct val="100000"/>
              <a:buChar char="-"/>
            </a:pPr>
            <a:r>
              <a:rPr b="1" lang="en"/>
              <a:t>Waiting time:</a:t>
            </a:r>
            <a:r>
              <a:rPr lang="en"/>
              <a:t> Waiting time is the sum of the periods spent waiting in the ready queue. (Waiting time = Turnaround time – Burst time)</a:t>
            </a:r>
            <a:endParaRPr/>
          </a:p>
          <a:p>
            <a:pPr indent="0" lvl="0" marL="457200" rtl="0" algn="l">
              <a:spcBef>
                <a:spcPts val="1200"/>
              </a:spcBef>
              <a:spcAft>
                <a:spcPts val="0"/>
              </a:spcAft>
              <a:buNone/>
            </a:pPr>
            <a:r>
              <a:t/>
            </a:r>
            <a:endParaRPr/>
          </a:p>
          <a:p>
            <a:pPr indent="-317182" lvl="0" marL="457200" rtl="0" algn="l">
              <a:spcBef>
                <a:spcPts val="1200"/>
              </a:spcBef>
              <a:spcAft>
                <a:spcPts val="0"/>
              </a:spcAft>
              <a:buSzPct val="100000"/>
              <a:buChar char="-"/>
            </a:pPr>
            <a:r>
              <a:rPr b="1" lang="en"/>
              <a:t>Response time:</a:t>
            </a:r>
            <a:r>
              <a:rPr lang="en"/>
              <a:t> time from the submission of a request until the first response is produced;  the time it takes to start responding, not the time it takes to output the response.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First-Come, First-Served Scheduling </a:t>
            </a:r>
            <a:endParaRPr/>
          </a:p>
        </p:txBody>
      </p:sp>
      <p:sp>
        <p:nvSpPr>
          <p:cNvPr id="87" name="Google Shape;87;p18"/>
          <p:cNvSpPr txBox="1"/>
          <p:nvPr>
            <p:ph idx="1" type="body"/>
          </p:nvPr>
        </p:nvSpPr>
        <p:spPr>
          <a:xfrm>
            <a:off x="311700" y="1152475"/>
            <a:ext cx="8520600" cy="3935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Gantt Chart: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Avg wait time = ( 0 + 24 + 27 ) / 3 = 17</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Gantt Chart:</a:t>
            </a:r>
            <a:endParaRPr/>
          </a:p>
          <a:p>
            <a:pPr indent="0" lvl="0" marL="0" rtl="0" algn="l">
              <a:spcBef>
                <a:spcPts val="1200"/>
              </a:spcBef>
              <a:spcAft>
                <a:spcPts val="1200"/>
              </a:spcAft>
              <a:buClr>
                <a:schemeClr val="dk1"/>
              </a:buClr>
              <a:buSzPct val="61111"/>
              <a:buFont typeface="Arial"/>
              <a:buNone/>
            </a:pPr>
            <a:r>
              <a:rPr lang="en"/>
              <a:t>Avg time = (6 + 0 + 3)/3 = 3</a:t>
            </a:r>
            <a:endParaRPr/>
          </a:p>
        </p:txBody>
      </p:sp>
      <p:pic>
        <p:nvPicPr>
          <p:cNvPr id="88" name="Google Shape;88;p18" title="Screenshot 2025-09-27 at 7.40.40 AM.png"/>
          <p:cNvPicPr preferRelativeResize="0"/>
          <p:nvPr/>
        </p:nvPicPr>
        <p:blipFill>
          <a:blip r:embed="rId3">
            <a:alphaModFix/>
          </a:blip>
          <a:stretch>
            <a:fillRect/>
          </a:stretch>
        </p:blipFill>
        <p:spPr>
          <a:xfrm>
            <a:off x="1672423" y="1152475"/>
            <a:ext cx="2294051" cy="1419275"/>
          </a:xfrm>
          <a:prstGeom prst="rect">
            <a:avLst/>
          </a:prstGeom>
          <a:noFill/>
          <a:ln>
            <a:noFill/>
          </a:ln>
        </p:spPr>
      </p:pic>
      <p:pic>
        <p:nvPicPr>
          <p:cNvPr id="89" name="Google Shape;89;p18" title="Screenshot 2025-09-27 at 7.41.04 AM.png"/>
          <p:cNvPicPr preferRelativeResize="0"/>
          <p:nvPr/>
        </p:nvPicPr>
        <p:blipFill>
          <a:blip r:embed="rId4">
            <a:alphaModFix/>
          </a:blip>
          <a:stretch>
            <a:fillRect/>
          </a:stretch>
        </p:blipFill>
        <p:spPr>
          <a:xfrm>
            <a:off x="3829326" y="2571750"/>
            <a:ext cx="4402599" cy="730050"/>
          </a:xfrm>
          <a:prstGeom prst="rect">
            <a:avLst/>
          </a:prstGeom>
          <a:noFill/>
          <a:ln>
            <a:noFill/>
          </a:ln>
        </p:spPr>
      </p:pic>
      <p:pic>
        <p:nvPicPr>
          <p:cNvPr id="90" name="Google Shape;90;p18" title="Screenshot 2025-09-27 at 7.43.32 AM.png"/>
          <p:cNvPicPr preferRelativeResize="0"/>
          <p:nvPr/>
        </p:nvPicPr>
        <p:blipFill>
          <a:blip r:embed="rId5">
            <a:alphaModFix/>
          </a:blip>
          <a:stretch>
            <a:fillRect/>
          </a:stretch>
        </p:blipFill>
        <p:spPr>
          <a:xfrm>
            <a:off x="3758250" y="4126524"/>
            <a:ext cx="4473675" cy="639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Shortest-Job-First Scheduling </a:t>
            </a:r>
            <a:endParaRPr/>
          </a:p>
        </p:txBody>
      </p:sp>
      <p:sp>
        <p:nvSpPr>
          <p:cNvPr id="96" name="Google Shape;96;p19"/>
          <p:cNvSpPr txBox="1"/>
          <p:nvPr>
            <p:ph idx="1" type="body"/>
          </p:nvPr>
        </p:nvSpPr>
        <p:spPr>
          <a:xfrm>
            <a:off x="311700" y="1152475"/>
            <a:ext cx="8520600" cy="3842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Gantt chart: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Avg wait time = (3 + 16 + 9 + 0) / 4 = 7 milliseconds</a:t>
            </a:r>
            <a:endParaRPr/>
          </a:p>
          <a:p>
            <a:pPr indent="-342900" lvl="0" marL="457200" rtl="0" algn="l">
              <a:spcBef>
                <a:spcPts val="1200"/>
              </a:spcBef>
              <a:spcAft>
                <a:spcPts val="0"/>
              </a:spcAft>
              <a:buSzPts val="1800"/>
              <a:buChar char="-"/>
            </a:pPr>
            <a:r>
              <a:rPr lang="en"/>
              <a:t>If the next CPU bursts of two processes are the same, FCFS scheduling is used to break the tie.</a:t>
            </a:r>
            <a:endParaRPr/>
          </a:p>
        </p:txBody>
      </p:sp>
      <p:pic>
        <p:nvPicPr>
          <p:cNvPr id="97" name="Google Shape;97;p19" title="Screenshot 2025-10-04 at 4.59.53 AM.png"/>
          <p:cNvPicPr preferRelativeResize="0"/>
          <p:nvPr/>
        </p:nvPicPr>
        <p:blipFill>
          <a:blip r:embed="rId3">
            <a:alphaModFix/>
          </a:blip>
          <a:stretch>
            <a:fillRect/>
          </a:stretch>
        </p:blipFill>
        <p:spPr>
          <a:xfrm>
            <a:off x="2968525" y="1152475"/>
            <a:ext cx="2420125" cy="1665675"/>
          </a:xfrm>
          <a:prstGeom prst="rect">
            <a:avLst/>
          </a:prstGeom>
          <a:noFill/>
          <a:ln>
            <a:noFill/>
          </a:ln>
        </p:spPr>
      </p:pic>
      <p:pic>
        <p:nvPicPr>
          <p:cNvPr id="98" name="Google Shape;98;p19" title="Screenshot 2025-10-04 at 5.01.42 AM.png"/>
          <p:cNvPicPr preferRelativeResize="0"/>
          <p:nvPr/>
        </p:nvPicPr>
        <p:blipFill>
          <a:blip r:embed="rId4">
            <a:alphaModFix/>
          </a:blip>
          <a:stretch>
            <a:fillRect/>
          </a:stretch>
        </p:blipFill>
        <p:spPr>
          <a:xfrm>
            <a:off x="2803850" y="2904125"/>
            <a:ext cx="4863948" cy="790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shortest-remaining-time-first scheduling</a:t>
            </a:r>
            <a:endParaRPr/>
          </a:p>
        </p:txBody>
      </p:sp>
      <p:sp>
        <p:nvSpPr>
          <p:cNvPr id="104" name="Google Shape;104;p20"/>
          <p:cNvSpPr txBox="1"/>
          <p:nvPr>
            <p:ph idx="1" type="body"/>
          </p:nvPr>
        </p:nvSpPr>
        <p:spPr>
          <a:xfrm>
            <a:off x="311700" y="1152475"/>
            <a:ext cx="8520600" cy="3916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Preemptive SJF scheduling is sometimes called shortest-remaining-time-first scheduling. </a:t>
            </a:r>
            <a:endParaRPr/>
          </a:p>
          <a:p>
            <a:pPr indent="-342900" lvl="0" marL="457200" rtl="0" algn="l">
              <a:spcBef>
                <a:spcPts val="0"/>
              </a:spcBef>
              <a:spcAft>
                <a:spcPts val="0"/>
              </a:spcAft>
              <a:buSzPts val="1800"/>
              <a:buChar char="-"/>
            </a:pPr>
            <a:r>
              <a:rPr lang="en"/>
              <a:t>A preemptive SJF algorithm will preempt the currently executing process, whereas a nonpreemptive SJF algorithm will allow the currently running process to finish its CPU burst.</a:t>
            </a:r>
            <a:endParaRPr/>
          </a:p>
        </p:txBody>
      </p:sp>
      <p:pic>
        <p:nvPicPr>
          <p:cNvPr id="105" name="Google Shape;105;p20" title="Screenshot 2025-10-04 at 5.07.39 AM.png"/>
          <p:cNvPicPr preferRelativeResize="0"/>
          <p:nvPr/>
        </p:nvPicPr>
        <p:blipFill>
          <a:blip r:embed="rId3">
            <a:alphaModFix/>
          </a:blip>
          <a:stretch>
            <a:fillRect/>
          </a:stretch>
        </p:blipFill>
        <p:spPr>
          <a:xfrm>
            <a:off x="1606200" y="1152475"/>
            <a:ext cx="5443549" cy="2311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300"/>
              <a:t>Build the SRTF schedule (Gantt chart)</a:t>
            </a:r>
            <a:endParaRPr/>
          </a:p>
        </p:txBody>
      </p:sp>
      <p:sp>
        <p:nvSpPr>
          <p:cNvPr id="111" name="Google Shape;111;p21"/>
          <p:cNvSpPr txBox="1"/>
          <p:nvPr>
            <p:ph idx="1" type="body"/>
          </p:nvPr>
        </p:nvSpPr>
        <p:spPr>
          <a:xfrm>
            <a:off x="311700" y="882000"/>
            <a:ext cx="5500200" cy="4187400"/>
          </a:xfrm>
          <a:prstGeom prst="rect">
            <a:avLst/>
          </a:prstGeom>
        </p:spPr>
        <p:txBody>
          <a:bodyPr anchorCtr="0" anchor="t" bIns="91425" lIns="91425" spcFirstLastPara="1" rIns="91425" wrap="square" tIns="91425">
            <a:normAutofit fontScale="85000" lnSpcReduction="20000"/>
          </a:bodyPr>
          <a:lstStyle/>
          <a:p>
            <a:pPr indent="-287972" lvl="0" marL="457200" rtl="0" algn="l">
              <a:spcBef>
                <a:spcPts val="1200"/>
              </a:spcBef>
              <a:spcAft>
                <a:spcPts val="0"/>
              </a:spcAft>
              <a:buClr>
                <a:schemeClr val="dk1"/>
              </a:buClr>
              <a:buSzPct val="100000"/>
              <a:buChar char="●"/>
            </a:pPr>
            <a:r>
              <a:rPr b="1" lang="en" sz="1100">
                <a:solidFill>
                  <a:schemeClr val="dk1"/>
                </a:solidFill>
              </a:rPr>
              <a:t>Time 0 → 1:</a:t>
            </a:r>
            <a:r>
              <a:rPr lang="en" sz="1100">
                <a:solidFill>
                  <a:schemeClr val="dk1"/>
                </a:solidFill>
              </a:rPr>
              <a:t> Only P1 is available → Run P1 (Remaining = 7).</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Time 1:</a:t>
            </a:r>
            <a:r>
              <a:rPr lang="en" sz="1100">
                <a:solidFill>
                  <a:schemeClr val="dk1"/>
                </a:solidFill>
              </a:rPr>
              <a:t> P2 arrives (burst 4). Compare:</a:t>
            </a:r>
            <a:br>
              <a:rPr lang="en" sz="1100">
                <a:solidFill>
                  <a:schemeClr val="dk1"/>
                </a:solidFill>
              </a:rPr>
            </a:br>
            <a:endParaRPr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P1 has 7 left, P2 has 4 → Preempt P1 → Run P2.</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Time 1 → 5:</a:t>
            </a:r>
            <a:r>
              <a:rPr lang="en" sz="1100">
                <a:solidFill>
                  <a:schemeClr val="dk1"/>
                </a:solidFill>
              </a:rPr>
              <a:t> P2 runs completely (finishes at 5)</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During that time:</a:t>
            </a:r>
            <a:endParaRPr sz="1100">
              <a:solidFill>
                <a:schemeClr val="dk1"/>
              </a:solidFill>
            </a:endParaRPr>
          </a:p>
          <a:p>
            <a:pPr indent="-287972" lvl="0" marL="457200" rtl="0" algn="l">
              <a:spcBef>
                <a:spcPts val="1200"/>
              </a:spcBef>
              <a:spcAft>
                <a:spcPts val="0"/>
              </a:spcAft>
              <a:buClr>
                <a:schemeClr val="dk1"/>
              </a:buClr>
              <a:buSzPct val="100000"/>
              <a:buChar char="●"/>
            </a:pPr>
            <a:r>
              <a:rPr lang="en" sz="1100">
                <a:solidFill>
                  <a:schemeClr val="dk1"/>
                </a:solidFill>
              </a:rPr>
              <a:t>At t=2, P3 arrives (burst 9).</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 sz="1100">
                <a:solidFill>
                  <a:schemeClr val="dk1"/>
                </a:solidFill>
              </a:rPr>
              <a:t>At t=3, P4 arrives (burst 5).</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So by time 5:</a:t>
            </a:r>
            <a:endParaRPr sz="1100">
              <a:solidFill>
                <a:schemeClr val="dk1"/>
              </a:solidFill>
            </a:endParaRPr>
          </a:p>
          <a:p>
            <a:pPr indent="-287972" lvl="0" marL="457200" rtl="0" algn="l">
              <a:spcBef>
                <a:spcPts val="1200"/>
              </a:spcBef>
              <a:spcAft>
                <a:spcPts val="0"/>
              </a:spcAft>
              <a:buClr>
                <a:schemeClr val="dk1"/>
              </a:buClr>
              <a:buSzPct val="100000"/>
              <a:buChar char="●"/>
            </a:pPr>
            <a:r>
              <a:rPr lang="en" sz="1100">
                <a:solidFill>
                  <a:schemeClr val="dk1"/>
                </a:solidFill>
              </a:rPr>
              <a:t>P1 (remaining 7), P3 (9), P4 (5).</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Time 5 → 10:</a:t>
            </a:r>
            <a:r>
              <a:rPr lang="en" sz="1100">
                <a:solidFill>
                  <a:schemeClr val="dk1"/>
                </a:solidFill>
              </a:rPr>
              <a:t> Pick shortest remaining (P4 = 5) → Run P4 fully. P4 finishes at 10.</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Remaining: P1 (7), P3 (9).</a:t>
            </a:r>
            <a:endParaRPr sz="1100">
              <a:solidFill>
                <a:schemeClr val="dk1"/>
              </a:solidFill>
            </a:endParaRPr>
          </a:p>
          <a:p>
            <a:pPr indent="-287972" lvl="0" marL="457200" rtl="0" algn="l">
              <a:spcBef>
                <a:spcPts val="1200"/>
              </a:spcBef>
              <a:spcAft>
                <a:spcPts val="0"/>
              </a:spcAft>
              <a:buClr>
                <a:schemeClr val="dk1"/>
              </a:buClr>
              <a:buSzPct val="100000"/>
              <a:buChar char="●"/>
            </a:pPr>
            <a:r>
              <a:rPr b="1" lang="en" sz="1100">
                <a:solidFill>
                  <a:schemeClr val="dk1"/>
                </a:solidFill>
              </a:rPr>
              <a:t>Time 10 → 17:</a:t>
            </a:r>
            <a:r>
              <a:rPr lang="en" sz="1100">
                <a:solidFill>
                  <a:schemeClr val="dk1"/>
                </a:solidFill>
              </a:rPr>
              <a:t> Next shortest is P1 (7) → Run P1, finishes at 17.</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Remaining: P3 (9).</a:t>
            </a:r>
            <a:endParaRPr sz="1100">
              <a:solidFill>
                <a:schemeClr val="dk1"/>
              </a:solidFill>
            </a:endParaRPr>
          </a:p>
          <a:p>
            <a:pPr indent="-287972" lvl="0" marL="457200" rtl="0" algn="l">
              <a:spcBef>
                <a:spcPts val="1200"/>
              </a:spcBef>
              <a:spcAft>
                <a:spcPts val="0"/>
              </a:spcAft>
              <a:buClr>
                <a:schemeClr val="dk1"/>
              </a:buClr>
              <a:buSzPct val="100000"/>
              <a:buChar char="●"/>
            </a:pPr>
            <a:r>
              <a:rPr b="1" lang="en" sz="1100">
                <a:solidFill>
                  <a:schemeClr val="dk1"/>
                </a:solidFill>
              </a:rPr>
              <a:t>Time 17 → 26:</a:t>
            </a:r>
            <a:r>
              <a:rPr lang="en" sz="1100">
                <a:solidFill>
                  <a:schemeClr val="dk1"/>
                </a:solidFill>
              </a:rPr>
              <a:t> Finally P3 runs (9), finishes at 26.</a:t>
            </a:r>
            <a:endParaRPr/>
          </a:p>
        </p:txBody>
      </p:sp>
      <p:pic>
        <p:nvPicPr>
          <p:cNvPr id="112" name="Google Shape;112;p21" title="Screenshot 2025-10-04 at 5.12.25 AM.png"/>
          <p:cNvPicPr preferRelativeResize="0"/>
          <p:nvPr/>
        </p:nvPicPr>
        <p:blipFill>
          <a:blip r:embed="rId3">
            <a:alphaModFix/>
          </a:blip>
          <a:stretch>
            <a:fillRect/>
          </a:stretch>
        </p:blipFill>
        <p:spPr>
          <a:xfrm>
            <a:off x="4853144" y="4075100"/>
            <a:ext cx="4142304" cy="572700"/>
          </a:xfrm>
          <a:prstGeom prst="rect">
            <a:avLst/>
          </a:prstGeom>
          <a:noFill/>
          <a:ln>
            <a:noFill/>
          </a:ln>
        </p:spPr>
      </p:pic>
      <p:pic>
        <p:nvPicPr>
          <p:cNvPr id="113" name="Google Shape;113;p21" title="Screenshot 2025-10-04 at 5.07.39 AM.png"/>
          <p:cNvPicPr preferRelativeResize="0"/>
          <p:nvPr/>
        </p:nvPicPr>
        <p:blipFill>
          <a:blip r:embed="rId4">
            <a:alphaModFix/>
          </a:blip>
          <a:stretch>
            <a:fillRect/>
          </a:stretch>
        </p:blipFill>
        <p:spPr>
          <a:xfrm>
            <a:off x="5217750" y="1152475"/>
            <a:ext cx="3661025" cy="1554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241400" y="445025"/>
            <a:ext cx="4642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Calculating Waiting time</a:t>
            </a:r>
            <a:endParaRPr/>
          </a:p>
        </p:txBody>
      </p:sp>
      <p:sp>
        <p:nvSpPr>
          <p:cNvPr id="119" name="Google Shape;119;p22"/>
          <p:cNvSpPr txBox="1"/>
          <p:nvPr>
            <p:ph idx="1" type="body"/>
          </p:nvPr>
        </p:nvSpPr>
        <p:spPr>
          <a:xfrm>
            <a:off x="120700" y="1152475"/>
            <a:ext cx="5559000" cy="3898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Waiting time = Turnaround time – Burst time</a:t>
            </a:r>
            <a:endParaRPr b="1" sz="1100">
              <a:solidFill>
                <a:schemeClr val="dk1"/>
              </a:solidFill>
            </a:endParaRPr>
          </a:p>
          <a:p>
            <a:pPr indent="0" lvl="0" marL="0" rtl="0" algn="l">
              <a:spcBef>
                <a:spcPts val="1200"/>
              </a:spcBef>
              <a:spcAft>
                <a:spcPts val="0"/>
              </a:spcAft>
              <a:buNone/>
            </a:pPr>
            <a:r>
              <a:rPr b="1" lang="en" sz="1100">
                <a:solidFill>
                  <a:schemeClr val="dk1"/>
                </a:solidFill>
              </a:rPr>
              <a:t>Where turnaround = Finish time – Arrival time.</a:t>
            </a:r>
            <a:endParaRPr b="1" sz="1100">
              <a:solidFill>
                <a:schemeClr val="dk1"/>
              </a:solidFill>
            </a:endParaRPr>
          </a:p>
          <a:p>
            <a:pPr indent="0" lvl="0" marL="0" rtl="0" algn="l">
              <a:spcBef>
                <a:spcPts val="1200"/>
              </a:spcBef>
              <a:spcAft>
                <a:spcPts val="0"/>
              </a:spcAft>
              <a:buNone/>
            </a:pPr>
            <a:r>
              <a:rPr b="1" lang="en" sz="1100">
                <a:solidFill>
                  <a:schemeClr val="dk1"/>
                </a:solidFill>
              </a:rPr>
              <a:t>P1 -&gt; </a:t>
            </a:r>
            <a:endParaRPr b="1" sz="1100">
              <a:solidFill>
                <a:schemeClr val="dk1"/>
              </a:solidFill>
            </a:endParaRPr>
          </a:p>
          <a:p>
            <a:pPr indent="0" lvl="0" marL="0" rtl="0" algn="l">
              <a:spcBef>
                <a:spcPts val="1200"/>
              </a:spcBef>
              <a:spcAft>
                <a:spcPts val="0"/>
              </a:spcAft>
              <a:buNone/>
            </a:pPr>
            <a:r>
              <a:rPr lang="en" sz="1100">
                <a:solidFill>
                  <a:schemeClr val="dk1"/>
                </a:solidFill>
              </a:rPr>
              <a:t>Finish = 17, Arrival = 0, Burst = 8, Turnaround = 17 – 0 = 17, Waiting = 17 – 8 = </a:t>
            </a:r>
            <a:r>
              <a:rPr b="1" lang="en" sz="1100">
                <a:solidFill>
                  <a:schemeClr val="dk1"/>
                </a:solidFill>
              </a:rPr>
              <a:t>9</a:t>
            </a:r>
            <a:endParaRPr b="1" sz="1100">
              <a:solidFill>
                <a:schemeClr val="dk1"/>
              </a:solidFill>
            </a:endParaRPr>
          </a:p>
          <a:p>
            <a:pPr indent="0" lvl="0" marL="0" rtl="0" algn="l">
              <a:spcBef>
                <a:spcPts val="1200"/>
              </a:spcBef>
              <a:spcAft>
                <a:spcPts val="0"/>
              </a:spcAft>
              <a:buNone/>
            </a:pPr>
            <a:r>
              <a:rPr b="1" lang="en" sz="1100">
                <a:solidFill>
                  <a:schemeClr val="dk1"/>
                </a:solidFill>
              </a:rPr>
              <a:t>P2-&gt; </a:t>
            </a:r>
            <a:endParaRPr b="1" sz="1100">
              <a:solidFill>
                <a:schemeClr val="dk1"/>
              </a:solidFill>
            </a:endParaRPr>
          </a:p>
          <a:p>
            <a:pPr indent="0" lvl="0" marL="0" rtl="0" algn="l">
              <a:spcBef>
                <a:spcPts val="1200"/>
              </a:spcBef>
              <a:spcAft>
                <a:spcPts val="0"/>
              </a:spcAft>
              <a:buNone/>
            </a:pPr>
            <a:r>
              <a:rPr lang="en" sz="1100">
                <a:solidFill>
                  <a:schemeClr val="dk1"/>
                </a:solidFill>
              </a:rPr>
              <a:t>Finish = 5, Arrival = 1, Burst = 4, Turnaround = 5 – 1 = 4, Waiting = 4 – 4 = 0</a:t>
            </a:r>
            <a:endParaRPr sz="1100">
              <a:solidFill>
                <a:schemeClr val="dk1"/>
              </a:solidFill>
            </a:endParaRPr>
          </a:p>
          <a:p>
            <a:pPr indent="0" lvl="0" marL="0" rtl="0" algn="l">
              <a:spcBef>
                <a:spcPts val="1200"/>
              </a:spcBef>
              <a:spcAft>
                <a:spcPts val="0"/>
              </a:spcAft>
              <a:buNone/>
            </a:pPr>
            <a:r>
              <a:rPr b="1" lang="en" sz="1100">
                <a:solidFill>
                  <a:schemeClr val="dk1"/>
                </a:solidFill>
              </a:rPr>
              <a:t>P3-&gt;</a:t>
            </a:r>
            <a:endParaRPr b="1" sz="1100">
              <a:solidFill>
                <a:schemeClr val="dk1"/>
              </a:solidFill>
            </a:endParaRPr>
          </a:p>
          <a:p>
            <a:pPr indent="0" lvl="0" marL="0" rtl="0" algn="l">
              <a:spcBef>
                <a:spcPts val="1200"/>
              </a:spcBef>
              <a:spcAft>
                <a:spcPts val="0"/>
              </a:spcAft>
              <a:buNone/>
            </a:pPr>
            <a:r>
              <a:rPr lang="en" sz="1100">
                <a:solidFill>
                  <a:schemeClr val="dk1"/>
                </a:solidFill>
              </a:rPr>
              <a:t>Finish = 26 Arrival = 2 Burst = 9 Turnaround = 26 – 2 = 24 Waiting = 24 – 9 = 15</a:t>
            </a:r>
            <a:endParaRPr sz="1100">
              <a:solidFill>
                <a:schemeClr val="dk1"/>
              </a:solidFill>
            </a:endParaRPr>
          </a:p>
          <a:p>
            <a:pPr indent="0" lvl="0" marL="0" rtl="0" algn="l">
              <a:spcBef>
                <a:spcPts val="1200"/>
              </a:spcBef>
              <a:spcAft>
                <a:spcPts val="0"/>
              </a:spcAft>
              <a:buNone/>
            </a:pPr>
            <a:r>
              <a:rPr b="1" lang="en" sz="1100">
                <a:solidFill>
                  <a:schemeClr val="dk1"/>
                </a:solidFill>
              </a:rPr>
              <a:t>P4 -&gt;</a:t>
            </a:r>
            <a:endParaRPr b="1" sz="1100">
              <a:solidFill>
                <a:schemeClr val="dk1"/>
              </a:solidFill>
            </a:endParaRPr>
          </a:p>
          <a:p>
            <a:pPr indent="0" lvl="0" marL="0" rtl="0" algn="l">
              <a:spcBef>
                <a:spcPts val="1200"/>
              </a:spcBef>
              <a:spcAft>
                <a:spcPts val="1200"/>
              </a:spcAft>
              <a:buNone/>
            </a:pPr>
            <a:r>
              <a:rPr lang="en" sz="1100">
                <a:solidFill>
                  <a:schemeClr val="dk1"/>
                </a:solidFill>
              </a:rPr>
              <a:t>Finish = 10, Arrival = 3, Burst = 5, Turnaround = 10 – 3 = 7, Waiting = 7 – 5 = 2</a:t>
            </a:r>
            <a:endParaRPr sz="1100">
              <a:solidFill>
                <a:schemeClr val="dk1"/>
              </a:solidFill>
            </a:endParaRPr>
          </a:p>
        </p:txBody>
      </p:sp>
      <p:pic>
        <p:nvPicPr>
          <p:cNvPr id="120" name="Google Shape;120;p22" title="Screenshot 2025-10-04 at 5.12.25 AM.png"/>
          <p:cNvPicPr preferRelativeResize="0"/>
          <p:nvPr/>
        </p:nvPicPr>
        <p:blipFill>
          <a:blip r:embed="rId3">
            <a:alphaModFix/>
          </a:blip>
          <a:stretch>
            <a:fillRect/>
          </a:stretch>
        </p:blipFill>
        <p:spPr>
          <a:xfrm>
            <a:off x="5679750" y="3063200"/>
            <a:ext cx="3362125" cy="464825"/>
          </a:xfrm>
          <a:prstGeom prst="rect">
            <a:avLst/>
          </a:prstGeom>
          <a:noFill/>
          <a:ln>
            <a:noFill/>
          </a:ln>
        </p:spPr>
      </p:pic>
      <p:pic>
        <p:nvPicPr>
          <p:cNvPr id="121" name="Google Shape;121;p22" title="Screenshot 2025-10-04 at 5.07.39 AM.png"/>
          <p:cNvPicPr preferRelativeResize="0"/>
          <p:nvPr/>
        </p:nvPicPr>
        <p:blipFill>
          <a:blip r:embed="rId4">
            <a:alphaModFix/>
          </a:blip>
          <a:stretch>
            <a:fillRect/>
          </a:stretch>
        </p:blipFill>
        <p:spPr>
          <a:xfrm>
            <a:off x="5679750" y="1017725"/>
            <a:ext cx="3226875" cy="1370200"/>
          </a:xfrm>
          <a:prstGeom prst="rect">
            <a:avLst/>
          </a:prstGeom>
          <a:noFill/>
          <a:ln>
            <a:noFill/>
          </a:ln>
        </p:spPr>
      </p:pic>
      <p:sp>
        <p:nvSpPr>
          <p:cNvPr id="122" name="Google Shape;122;p22"/>
          <p:cNvSpPr txBox="1"/>
          <p:nvPr/>
        </p:nvSpPr>
        <p:spPr>
          <a:xfrm>
            <a:off x="5561300" y="3723000"/>
            <a:ext cx="3480600" cy="119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Average Waiting Time</a:t>
            </a:r>
            <a:endParaRPr b="1" sz="1300">
              <a:solidFill>
                <a:schemeClr val="dk1"/>
              </a:solidFill>
            </a:endParaRPr>
          </a:p>
          <a:p>
            <a:pPr indent="0" lvl="0" marL="0" rtl="0" algn="l">
              <a:lnSpc>
                <a:spcPct val="115000"/>
              </a:lnSpc>
              <a:spcBef>
                <a:spcPts val="400"/>
              </a:spcBef>
              <a:spcAft>
                <a:spcPts val="0"/>
              </a:spcAft>
              <a:buNone/>
            </a:pPr>
            <a:r>
              <a:rPr lang="en" sz="1100">
                <a:solidFill>
                  <a:schemeClr val="dk1"/>
                </a:solidFill>
              </a:rPr>
              <a:t>(9+0+15+2) / 4= 6.5 ms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274550" y="166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Scheduling</a:t>
            </a:r>
            <a:endParaRPr/>
          </a:p>
        </p:txBody>
      </p:sp>
      <p:sp>
        <p:nvSpPr>
          <p:cNvPr id="128" name="Google Shape;128;p23"/>
          <p:cNvSpPr txBox="1"/>
          <p:nvPr>
            <p:ph idx="1" type="body"/>
          </p:nvPr>
        </p:nvSpPr>
        <p:spPr>
          <a:xfrm>
            <a:off x="311700" y="696325"/>
            <a:ext cx="8694000" cy="4363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Avg wait time: = ( 0 + 1 + 6 + 16 + 18) / 5 = 8.2 milisec</a:t>
            </a:r>
            <a:endParaRPr/>
          </a:p>
          <a:p>
            <a:pPr indent="0" lvl="0" marL="0" rtl="0" algn="l">
              <a:spcBef>
                <a:spcPts val="1800"/>
              </a:spcBef>
              <a:spcAft>
                <a:spcPts val="0"/>
              </a:spcAft>
              <a:buClr>
                <a:schemeClr val="dk1"/>
              </a:buClr>
              <a:buSzPct val="64705"/>
              <a:buFont typeface="Arial"/>
              <a:buNone/>
            </a:pPr>
            <a:r>
              <a:rPr b="1" lang="en" sz="1700">
                <a:solidFill>
                  <a:schemeClr val="dk1"/>
                </a:solidFill>
              </a:rPr>
              <a:t>Advantages</a:t>
            </a:r>
            <a:endParaRPr b="1" sz="1700">
              <a:solidFill>
                <a:schemeClr val="dk1"/>
              </a:solidFill>
            </a:endParaRPr>
          </a:p>
          <a:p>
            <a:pPr indent="-277495" lvl="0" marL="457200" rtl="0" algn="l">
              <a:spcBef>
                <a:spcPts val="1200"/>
              </a:spcBef>
              <a:spcAft>
                <a:spcPts val="0"/>
              </a:spcAft>
              <a:buClr>
                <a:schemeClr val="dk1"/>
              </a:buClr>
              <a:buSzPct val="100000"/>
              <a:buChar char="●"/>
            </a:pPr>
            <a:r>
              <a:rPr lang="en" sz="1100">
                <a:solidFill>
                  <a:schemeClr val="dk1"/>
                </a:solidFill>
              </a:rPr>
              <a:t>Useful when some processes are more important than others.</a:t>
            </a:r>
            <a:br>
              <a:rPr lang="en" sz="1100">
                <a:solidFill>
                  <a:schemeClr val="dk1"/>
                </a:solidFill>
              </a:rPr>
            </a:br>
            <a:endParaRPr sz="1100">
              <a:solidFill>
                <a:schemeClr val="dk1"/>
              </a:solidFill>
            </a:endParaRPr>
          </a:p>
          <a:p>
            <a:pPr indent="-277495" lvl="0" marL="457200" rtl="0" algn="l">
              <a:spcBef>
                <a:spcPts val="0"/>
              </a:spcBef>
              <a:spcAft>
                <a:spcPts val="0"/>
              </a:spcAft>
              <a:buClr>
                <a:schemeClr val="dk1"/>
              </a:buClr>
              <a:buSzPct val="100000"/>
              <a:buChar char="●"/>
            </a:pPr>
            <a:r>
              <a:rPr lang="en" sz="1100">
                <a:solidFill>
                  <a:schemeClr val="dk1"/>
                </a:solidFill>
              </a:rPr>
              <a:t>Preemptive version ensures urgent jobs are handled quickly.</a:t>
            </a:r>
            <a:endParaRPr sz="1100">
              <a:solidFill>
                <a:schemeClr val="dk1"/>
              </a:solidFill>
            </a:endParaRPr>
          </a:p>
          <a:p>
            <a:pPr indent="0" lvl="0" marL="0" rtl="0" algn="l">
              <a:spcBef>
                <a:spcPts val="1800"/>
              </a:spcBef>
              <a:spcAft>
                <a:spcPts val="0"/>
              </a:spcAft>
              <a:buClr>
                <a:schemeClr val="dk1"/>
              </a:buClr>
              <a:buSzPct val="64705"/>
              <a:buFont typeface="Arial"/>
              <a:buNone/>
            </a:pPr>
            <a:r>
              <a:rPr b="1" lang="en" sz="1700">
                <a:solidFill>
                  <a:schemeClr val="dk1"/>
                </a:solidFill>
              </a:rPr>
              <a:t>Disadvantages</a:t>
            </a:r>
            <a:endParaRPr b="1" sz="1700">
              <a:solidFill>
                <a:schemeClr val="dk1"/>
              </a:solidFill>
            </a:endParaRPr>
          </a:p>
          <a:p>
            <a:pPr indent="-277495" lvl="0" marL="457200" rtl="0" algn="l">
              <a:spcBef>
                <a:spcPts val="1200"/>
              </a:spcBef>
              <a:spcAft>
                <a:spcPts val="0"/>
              </a:spcAft>
              <a:buClr>
                <a:schemeClr val="dk1"/>
              </a:buClr>
              <a:buSzPct val="100000"/>
              <a:buChar char="●"/>
            </a:pPr>
            <a:r>
              <a:rPr b="1" lang="en" sz="1100">
                <a:solidFill>
                  <a:schemeClr val="dk1"/>
                </a:solidFill>
              </a:rPr>
              <a:t>Starvation:</a:t>
            </a:r>
            <a:r>
              <a:rPr lang="en" sz="1100">
                <a:solidFill>
                  <a:schemeClr val="dk1"/>
                </a:solidFill>
              </a:rPr>
              <a:t> Low-priority processes might never get CPU.</a:t>
            </a:r>
            <a:br>
              <a:rPr lang="en" sz="1100">
                <a:solidFill>
                  <a:schemeClr val="dk1"/>
                </a:solidFill>
              </a:rPr>
            </a:br>
            <a:endParaRPr sz="1100">
              <a:solidFill>
                <a:schemeClr val="dk1"/>
              </a:solidFill>
            </a:endParaRPr>
          </a:p>
          <a:p>
            <a:pPr indent="-277495" lvl="0" marL="457200" rtl="0" algn="l">
              <a:spcBef>
                <a:spcPts val="0"/>
              </a:spcBef>
              <a:spcAft>
                <a:spcPts val="0"/>
              </a:spcAft>
              <a:buClr>
                <a:schemeClr val="dk1"/>
              </a:buClr>
              <a:buSzPct val="100000"/>
              <a:buChar char="●"/>
            </a:pPr>
            <a:r>
              <a:rPr b="1" lang="en" sz="1100">
                <a:solidFill>
                  <a:schemeClr val="dk1"/>
                </a:solidFill>
              </a:rPr>
              <a:t>Solution:</a:t>
            </a:r>
            <a:r>
              <a:rPr lang="en" sz="1100">
                <a:solidFill>
                  <a:schemeClr val="dk1"/>
                </a:solidFill>
              </a:rPr>
              <a:t> Use </a:t>
            </a:r>
            <a:r>
              <a:rPr b="1" lang="en" sz="1100">
                <a:solidFill>
                  <a:schemeClr val="dk1"/>
                </a:solidFill>
              </a:rPr>
              <a:t>Aging</a:t>
            </a:r>
            <a:r>
              <a:rPr lang="en" sz="1100">
                <a:solidFill>
                  <a:schemeClr val="dk1"/>
                </a:solidFill>
              </a:rPr>
              <a:t> → Gradually increase priority of waiting processes.</a:t>
            </a:r>
            <a:endParaRPr/>
          </a:p>
        </p:txBody>
      </p:sp>
      <p:pic>
        <p:nvPicPr>
          <p:cNvPr id="129" name="Google Shape;129;p23" title="Screenshot 2025-10-04 at 6.05.08 AM.png"/>
          <p:cNvPicPr preferRelativeResize="0"/>
          <p:nvPr/>
        </p:nvPicPr>
        <p:blipFill>
          <a:blip r:embed="rId3">
            <a:alphaModFix/>
          </a:blip>
          <a:stretch>
            <a:fillRect/>
          </a:stretch>
        </p:blipFill>
        <p:spPr>
          <a:xfrm>
            <a:off x="3321190" y="601650"/>
            <a:ext cx="3299210" cy="1970100"/>
          </a:xfrm>
          <a:prstGeom prst="rect">
            <a:avLst/>
          </a:prstGeom>
          <a:noFill/>
          <a:ln>
            <a:noFill/>
          </a:ln>
        </p:spPr>
      </p:pic>
      <p:pic>
        <p:nvPicPr>
          <p:cNvPr id="130" name="Google Shape;130;p23" title="Screenshot 2025-10-04 at 6.05.40 AM.png"/>
          <p:cNvPicPr preferRelativeResize="0"/>
          <p:nvPr/>
        </p:nvPicPr>
        <p:blipFill>
          <a:blip r:embed="rId4">
            <a:alphaModFix/>
          </a:blip>
          <a:stretch>
            <a:fillRect/>
          </a:stretch>
        </p:blipFill>
        <p:spPr>
          <a:xfrm>
            <a:off x="4334100" y="2516050"/>
            <a:ext cx="4461052" cy="705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Round Robin (RR)</a:t>
            </a:r>
            <a:endParaRPr/>
          </a:p>
        </p:txBody>
      </p:sp>
      <p:sp>
        <p:nvSpPr>
          <p:cNvPr id="136" name="Google Shape;13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process gets a small unit of CPU time (time quantum), usually 10-100 milliseconds. After this time has elapsed, the process is preempted and added to the end of the ready queue.</a:t>
            </a:r>
            <a:endParaRPr/>
          </a:p>
          <a:p>
            <a:pPr indent="-342900" lvl="0" marL="457200" rtl="0" algn="l">
              <a:spcBef>
                <a:spcPts val="0"/>
              </a:spcBef>
              <a:spcAft>
                <a:spcPts val="0"/>
              </a:spcAft>
              <a:buSzPts val="1800"/>
              <a:buChar char="-"/>
            </a:pPr>
            <a:r>
              <a:rPr lang="en"/>
              <a:t>If there are n processes in the ready queue and the time quantum is q, then each process gets 1/n of the CPU time in chunks of at most q time units at once. No process waits more than (n-1)q time units.</a:t>
            </a:r>
            <a:endParaRPr/>
          </a:p>
          <a:p>
            <a:pPr indent="-342900" lvl="0" marL="457200" rtl="0" algn="l">
              <a:spcBef>
                <a:spcPts val="0"/>
              </a:spcBef>
              <a:spcAft>
                <a:spcPts val="0"/>
              </a:spcAft>
              <a:buSzPts val="1800"/>
              <a:buChar char="-"/>
            </a:pPr>
            <a:r>
              <a:rPr lang="en"/>
              <a:t>Performance</a:t>
            </a:r>
            <a:endParaRPr/>
          </a:p>
          <a:p>
            <a:pPr indent="-317500" lvl="1" marL="914400" rtl="0" algn="l">
              <a:spcBef>
                <a:spcPts val="0"/>
              </a:spcBef>
              <a:spcAft>
                <a:spcPts val="0"/>
              </a:spcAft>
              <a:buSzPts val="1400"/>
              <a:buChar char="-"/>
            </a:pPr>
            <a:r>
              <a:rPr lang="en"/>
              <a:t>q large  FIFO</a:t>
            </a:r>
            <a:endParaRPr/>
          </a:p>
          <a:p>
            <a:pPr indent="-317500" lvl="1" marL="914400" rtl="0" algn="l">
              <a:spcBef>
                <a:spcPts val="0"/>
              </a:spcBef>
              <a:spcAft>
                <a:spcPts val="0"/>
              </a:spcAft>
              <a:buSzPts val="1400"/>
              <a:buChar char="-"/>
            </a:pPr>
            <a:r>
              <a:rPr lang="en"/>
              <a:t>q small  q must be large with respect to context switch, otherwise overhead is too high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of RR with Time Quantum = 20</a:t>
            </a:r>
            <a:endParaRPr/>
          </a:p>
        </p:txBody>
      </p:sp>
      <p:sp>
        <p:nvSpPr>
          <p:cNvPr id="142" name="Google Shape;142;p25"/>
          <p:cNvSpPr txBox="1"/>
          <p:nvPr>
            <p:ph idx="1" type="body"/>
          </p:nvPr>
        </p:nvSpPr>
        <p:spPr>
          <a:xfrm>
            <a:off x="311700" y="1152475"/>
            <a:ext cx="8520600" cy="3897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3" name="Google Shape;143;p25" title="Screenshot 2025-10-09 at 5.24.24 AM.png"/>
          <p:cNvPicPr preferRelativeResize="0"/>
          <p:nvPr/>
        </p:nvPicPr>
        <p:blipFill>
          <a:blip r:embed="rId3">
            <a:alphaModFix/>
          </a:blip>
          <a:stretch>
            <a:fillRect/>
          </a:stretch>
        </p:blipFill>
        <p:spPr>
          <a:xfrm>
            <a:off x="2760000" y="1085100"/>
            <a:ext cx="3245075" cy="2402050"/>
          </a:xfrm>
          <a:prstGeom prst="rect">
            <a:avLst/>
          </a:prstGeom>
          <a:noFill/>
          <a:ln>
            <a:noFill/>
          </a:ln>
        </p:spPr>
      </p:pic>
      <p:pic>
        <p:nvPicPr>
          <p:cNvPr id="144" name="Google Shape;144;p25" title="Screenshot 2025-10-09 at 5.24.46 AM.png"/>
          <p:cNvPicPr preferRelativeResize="0"/>
          <p:nvPr/>
        </p:nvPicPr>
        <p:blipFill>
          <a:blip r:embed="rId4">
            <a:alphaModFix/>
          </a:blip>
          <a:stretch>
            <a:fillRect/>
          </a:stretch>
        </p:blipFill>
        <p:spPr>
          <a:xfrm>
            <a:off x="1986550" y="3640599"/>
            <a:ext cx="4791974" cy="1299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0" name="Google Shape;15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1" name="Google Shape;151;p26" title="Screenshot 2025-10-09 at 5.26.04 AM.png"/>
          <p:cNvPicPr preferRelativeResize="0"/>
          <p:nvPr/>
        </p:nvPicPr>
        <p:blipFill>
          <a:blip r:embed="rId3">
            <a:alphaModFix/>
          </a:blip>
          <a:stretch>
            <a:fillRect/>
          </a:stretch>
        </p:blipFill>
        <p:spPr>
          <a:xfrm>
            <a:off x="1197368" y="1152475"/>
            <a:ext cx="6531032" cy="3416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7" name="Google Shape;157;p27"/>
          <p:cNvSpPr txBox="1"/>
          <p:nvPr>
            <p:ph idx="1" type="body"/>
          </p:nvPr>
        </p:nvSpPr>
        <p:spPr>
          <a:xfrm>
            <a:off x="311700" y="1170125"/>
            <a:ext cx="5647200" cy="3602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Turnaround time also depends on the size of the time quantum.</a:t>
            </a:r>
            <a:endParaRPr/>
          </a:p>
          <a:p>
            <a:pPr indent="-342900" lvl="0" marL="457200" rtl="0" algn="l">
              <a:spcBef>
                <a:spcPts val="0"/>
              </a:spcBef>
              <a:spcAft>
                <a:spcPts val="0"/>
              </a:spcAft>
              <a:buSzPts val="1800"/>
              <a:buChar char="-"/>
            </a:pPr>
            <a:r>
              <a:rPr lang="en"/>
              <a:t>In general, the average turnaround time can be improved if most processes finish their next CPU burst in a single time quantum</a:t>
            </a:r>
            <a:endParaRPr/>
          </a:p>
          <a:p>
            <a:pPr indent="-342900" lvl="0" marL="457200" rtl="0" algn="l">
              <a:spcBef>
                <a:spcPts val="0"/>
              </a:spcBef>
              <a:spcAft>
                <a:spcPts val="0"/>
              </a:spcAft>
              <a:buSzPts val="1800"/>
              <a:buChar char="-"/>
            </a:pPr>
            <a:r>
              <a:rPr lang="en"/>
              <a:t>given three processes of 10 time units each and a quantum of 1 time unit, the average turnaround time is 29. If the time quantum is 10, however, the average turnaround time drops to 20.</a:t>
            </a:r>
            <a:endParaRPr/>
          </a:p>
          <a:p>
            <a:pPr indent="-342900" lvl="0" marL="457200" rtl="0" algn="l">
              <a:spcBef>
                <a:spcPts val="0"/>
              </a:spcBef>
              <a:spcAft>
                <a:spcPts val="0"/>
              </a:spcAft>
              <a:buSzPts val="1800"/>
              <a:buChar char="-"/>
            </a:pPr>
            <a:r>
              <a:rPr lang="en"/>
              <a:t>A rule of thumb is that 80 percent of the CPU bursts should be shorter than the time quantum.</a:t>
            </a:r>
            <a:endParaRPr/>
          </a:p>
        </p:txBody>
      </p:sp>
      <p:pic>
        <p:nvPicPr>
          <p:cNvPr id="158" name="Google Shape;158;p27" title="Screenshot 2025-10-09 at 5.31.22 AM.png"/>
          <p:cNvPicPr preferRelativeResize="0"/>
          <p:nvPr/>
        </p:nvPicPr>
        <p:blipFill>
          <a:blip r:embed="rId3">
            <a:alphaModFix/>
          </a:blip>
          <a:stretch>
            <a:fillRect/>
          </a:stretch>
        </p:blipFill>
        <p:spPr>
          <a:xfrm>
            <a:off x="5884800" y="1399675"/>
            <a:ext cx="3154626" cy="2847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Multilevel Queue Scheduling</a:t>
            </a:r>
            <a:endParaRPr/>
          </a:p>
        </p:txBody>
      </p:sp>
      <p:sp>
        <p:nvSpPr>
          <p:cNvPr id="164" name="Google Shape;16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Ready queue is partitioned into separate queues:</a:t>
            </a:r>
            <a:endParaRPr/>
          </a:p>
          <a:p>
            <a:pPr indent="-317500" lvl="1" marL="914400" rtl="0" algn="l">
              <a:spcBef>
                <a:spcPts val="0"/>
              </a:spcBef>
              <a:spcAft>
                <a:spcPts val="0"/>
              </a:spcAft>
              <a:buSzPts val="1400"/>
              <a:buChar char="-"/>
            </a:pPr>
            <a:r>
              <a:rPr lang="en"/>
              <a:t>foreground (interactive)</a:t>
            </a:r>
            <a:endParaRPr/>
          </a:p>
          <a:p>
            <a:pPr indent="-317500" lvl="1" marL="914400" rtl="0" algn="l">
              <a:spcBef>
                <a:spcPts val="0"/>
              </a:spcBef>
              <a:spcAft>
                <a:spcPts val="0"/>
              </a:spcAft>
              <a:buSzPts val="1400"/>
              <a:buChar char="-"/>
            </a:pPr>
            <a:r>
              <a:rPr lang="en"/>
              <a:t>background (batch)</a:t>
            </a:r>
            <a:endParaRPr/>
          </a:p>
          <a:p>
            <a:pPr indent="-342900" lvl="0" marL="457200" rtl="0" algn="l">
              <a:spcBef>
                <a:spcPts val="0"/>
              </a:spcBef>
              <a:spcAft>
                <a:spcPts val="0"/>
              </a:spcAft>
              <a:buSzPts val="1800"/>
              <a:buChar char="-"/>
            </a:pPr>
            <a:r>
              <a:rPr lang="en"/>
              <a:t>Each queue has its own scheduling algorithm</a:t>
            </a:r>
            <a:endParaRPr/>
          </a:p>
          <a:p>
            <a:pPr indent="-317500" lvl="1" marL="914400" rtl="0" algn="l">
              <a:spcBef>
                <a:spcPts val="0"/>
              </a:spcBef>
              <a:spcAft>
                <a:spcPts val="0"/>
              </a:spcAft>
              <a:buSzPts val="1400"/>
              <a:buChar char="-"/>
            </a:pPr>
            <a:r>
              <a:rPr lang="en"/>
              <a:t>foreground – RR</a:t>
            </a:r>
            <a:endParaRPr/>
          </a:p>
          <a:p>
            <a:pPr indent="-317500" lvl="1" marL="914400" rtl="0" algn="l">
              <a:spcBef>
                <a:spcPts val="0"/>
              </a:spcBef>
              <a:spcAft>
                <a:spcPts val="0"/>
              </a:spcAft>
              <a:buSzPts val="1400"/>
              <a:buChar char="-"/>
            </a:pPr>
            <a:r>
              <a:rPr lang="en"/>
              <a:t>background – FCFS</a:t>
            </a:r>
            <a:endParaRPr/>
          </a:p>
          <a:p>
            <a:pPr indent="-342900" lvl="0" marL="457200" rtl="0" algn="l">
              <a:spcBef>
                <a:spcPts val="0"/>
              </a:spcBef>
              <a:spcAft>
                <a:spcPts val="0"/>
              </a:spcAft>
              <a:buSzPts val="1800"/>
              <a:buChar char="-"/>
            </a:pPr>
            <a:r>
              <a:rPr lang="en"/>
              <a:t>Scheduling must be done between the queues</a:t>
            </a:r>
            <a:endParaRPr/>
          </a:p>
          <a:p>
            <a:pPr indent="-317500" lvl="1" marL="914400" rtl="0" algn="l">
              <a:spcBef>
                <a:spcPts val="0"/>
              </a:spcBef>
              <a:spcAft>
                <a:spcPts val="0"/>
              </a:spcAft>
              <a:buSzPts val="1400"/>
              <a:buChar char="-"/>
            </a:pPr>
            <a:r>
              <a:rPr lang="en"/>
              <a:t>Fixed priority scheduling; (i.e., serve all from foreground then from background). Possibility of starvation.</a:t>
            </a:r>
            <a:endParaRPr/>
          </a:p>
          <a:p>
            <a:pPr indent="-317500" lvl="1" marL="914400" rtl="0" algn="l">
              <a:spcBef>
                <a:spcPts val="0"/>
              </a:spcBef>
              <a:spcAft>
                <a:spcPts val="0"/>
              </a:spcAft>
              <a:buSzPts val="1400"/>
              <a:buChar char="-"/>
            </a:pPr>
            <a:r>
              <a:rPr lang="en"/>
              <a:t>Time slice – each queue gets a certain amount of CPU time, which it can schedule amongst its processes; i.e., 80% to foreground in RR 20% to background in FCFS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Multilevel Queue Scheduling</a:t>
            </a:r>
            <a:endParaRPr/>
          </a:p>
        </p:txBody>
      </p:sp>
      <p:sp>
        <p:nvSpPr>
          <p:cNvPr id="170" name="Google Shape;17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1" name="Google Shape;171;p29" title="Screenshot 2025-10-09 at 5.32.23 AM.png"/>
          <p:cNvPicPr preferRelativeResize="0"/>
          <p:nvPr/>
        </p:nvPicPr>
        <p:blipFill>
          <a:blip r:embed="rId3">
            <a:alphaModFix/>
          </a:blip>
          <a:stretch>
            <a:fillRect/>
          </a:stretch>
        </p:blipFill>
        <p:spPr>
          <a:xfrm>
            <a:off x="311701" y="1109525"/>
            <a:ext cx="3535425" cy="3943025"/>
          </a:xfrm>
          <a:prstGeom prst="rect">
            <a:avLst/>
          </a:prstGeom>
          <a:noFill/>
          <a:ln>
            <a:noFill/>
          </a:ln>
        </p:spPr>
      </p:pic>
      <p:pic>
        <p:nvPicPr>
          <p:cNvPr id="172" name="Google Shape;172;p29" title="Screenshot 2025-10-09 at 5.32.45 AM.png"/>
          <p:cNvPicPr preferRelativeResize="0"/>
          <p:nvPr/>
        </p:nvPicPr>
        <p:blipFill>
          <a:blip r:embed="rId4">
            <a:alphaModFix/>
          </a:blip>
          <a:stretch>
            <a:fillRect/>
          </a:stretch>
        </p:blipFill>
        <p:spPr>
          <a:xfrm>
            <a:off x="4272600" y="1310375"/>
            <a:ext cx="4628974" cy="28503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Multilevel Feedback Queue</a:t>
            </a:r>
            <a:endParaRPr/>
          </a:p>
        </p:txBody>
      </p:sp>
      <p:sp>
        <p:nvSpPr>
          <p:cNvPr id="178" name="Google Shape;17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process can move between the various queues; aging can be implemented this way</a:t>
            </a:r>
            <a:endParaRPr/>
          </a:p>
          <a:p>
            <a:pPr indent="-342900" lvl="0" marL="457200" rtl="0" algn="l">
              <a:spcBef>
                <a:spcPts val="0"/>
              </a:spcBef>
              <a:spcAft>
                <a:spcPts val="0"/>
              </a:spcAft>
              <a:buSzPts val="1800"/>
              <a:buChar char="-"/>
            </a:pPr>
            <a:r>
              <a:rPr lang="en"/>
              <a:t>Multilevel-feedback-queue scheduler defined by the following parameters:</a:t>
            </a:r>
            <a:endParaRPr/>
          </a:p>
          <a:p>
            <a:pPr indent="-317500" lvl="1" marL="914400" rtl="0" algn="l">
              <a:spcBef>
                <a:spcPts val="0"/>
              </a:spcBef>
              <a:spcAft>
                <a:spcPts val="0"/>
              </a:spcAft>
              <a:buSzPts val="1400"/>
              <a:buChar char="-"/>
            </a:pPr>
            <a:r>
              <a:rPr lang="en"/>
              <a:t>number of queues</a:t>
            </a:r>
            <a:endParaRPr/>
          </a:p>
          <a:p>
            <a:pPr indent="-317500" lvl="1" marL="914400" rtl="0" algn="l">
              <a:spcBef>
                <a:spcPts val="0"/>
              </a:spcBef>
              <a:spcAft>
                <a:spcPts val="0"/>
              </a:spcAft>
              <a:buSzPts val="1400"/>
              <a:buChar char="-"/>
            </a:pPr>
            <a:r>
              <a:rPr lang="en"/>
              <a:t>scheduling algorithms for each queue</a:t>
            </a:r>
            <a:endParaRPr/>
          </a:p>
          <a:p>
            <a:pPr indent="-317500" lvl="1" marL="914400" rtl="0" algn="l">
              <a:spcBef>
                <a:spcPts val="0"/>
              </a:spcBef>
              <a:spcAft>
                <a:spcPts val="0"/>
              </a:spcAft>
              <a:buSzPts val="1400"/>
              <a:buChar char="-"/>
            </a:pPr>
            <a:r>
              <a:rPr lang="en"/>
              <a:t>method used to determine when to upgrade a process</a:t>
            </a:r>
            <a:endParaRPr/>
          </a:p>
          <a:p>
            <a:pPr indent="-317500" lvl="1" marL="914400" rtl="0" algn="l">
              <a:spcBef>
                <a:spcPts val="0"/>
              </a:spcBef>
              <a:spcAft>
                <a:spcPts val="0"/>
              </a:spcAft>
              <a:buSzPts val="1400"/>
              <a:buChar char="-"/>
            </a:pPr>
            <a:r>
              <a:rPr lang="en"/>
              <a:t>method used to determine when to demote a process</a:t>
            </a:r>
            <a:endParaRPr/>
          </a:p>
          <a:p>
            <a:pPr indent="-317500" lvl="1" marL="914400" rtl="0" algn="l">
              <a:spcBef>
                <a:spcPts val="0"/>
              </a:spcBef>
              <a:spcAft>
                <a:spcPts val="0"/>
              </a:spcAft>
              <a:buSzPts val="1400"/>
              <a:buChar char="-"/>
            </a:pPr>
            <a:r>
              <a:rPr lang="en"/>
              <a:t>method used to determine which queue a process will enter when that process needs service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177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of Multilevel Feedback Queue</a:t>
            </a:r>
            <a:endParaRPr/>
          </a:p>
        </p:txBody>
      </p:sp>
      <p:sp>
        <p:nvSpPr>
          <p:cNvPr id="184" name="Google Shape;184;p31"/>
          <p:cNvSpPr txBox="1"/>
          <p:nvPr>
            <p:ph idx="1" type="body"/>
          </p:nvPr>
        </p:nvSpPr>
        <p:spPr>
          <a:xfrm>
            <a:off x="311700" y="841700"/>
            <a:ext cx="5044500" cy="41226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Three queues:</a:t>
            </a:r>
            <a:endParaRPr/>
          </a:p>
          <a:p>
            <a:pPr indent="-308610" lvl="0" marL="457200" rtl="0" algn="l">
              <a:spcBef>
                <a:spcPts val="1200"/>
              </a:spcBef>
              <a:spcAft>
                <a:spcPts val="0"/>
              </a:spcAft>
              <a:buSzPct val="100000"/>
              <a:buChar char="-"/>
            </a:pPr>
            <a:r>
              <a:rPr lang="en"/>
              <a:t>Q0 – RR with time quantum 8 milliseconds</a:t>
            </a:r>
            <a:endParaRPr/>
          </a:p>
          <a:p>
            <a:pPr indent="-308610" lvl="0" marL="457200" rtl="0" algn="l">
              <a:spcBef>
                <a:spcPts val="0"/>
              </a:spcBef>
              <a:spcAft>
                <a:spcPts val="0"/>
              </a:spcAft>
              <a:buSzPct val="100000"/>
              <a:buChar char="-"/>
            </a:pPr>
            <a:r>
              <a:rPr lang="en"/>
              <a:t>Q1 – RR time quantum 16 milliseconds</a:t>
            </a:r>
            <a:endParaRPr/>
          </a:p>
          <a:p>
            <a:pPr indent="-308610" lvl="0" marL="457200" rtl="0" algn="l">
              <a:spcBef>
                <a:spcPts val="0"/>
              </a:spcBef>
              <a:spcAft>
                <a:spcPts val="0"/>
              </a:spcAft>
              <a:buSzPct val="100000"/>
              <a:buChar char="-"/>
            </a:pPr>
            <a:r>
              <a:rPr lang="en"/>
              <a:t>Q2 – FCFS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Scheduling</a:t>
            </a:r>
            <a:endParaRPr/>
          </a:p>
          <a:p>
            <a:pPr indent="0" lvl="0" marL="0" rtl="0" algn="l">
              <a:spcBef>
                <a:spcPts val="1200"/>
              </a:spcBef>
              <a:spcAft>
                <a:spcPts val="0"/>
              </a:spcAft>
              <a:buNone/>
            </a:pPr>
            <a:r>
              <a:rPr lang="en"/>
              <a:t>-	A new job enters queue Q0 which is served FCFS. When it</a:t>
            </a:r>
            <a:endParaRPr/>
          </a:p>
          <a:p>
            <a:pPr indent="0" lvl="0" marL="0" rtl="0" algn="l">
              <a:spcBef>
                <a:spcPts val="1200"/>
              </a:spcBef>
              <a:spcAft>
                <a:spcPts val="0"/>
              </a:spcAft>
              <a:buNone/>
            </a:pPr>
            <a:r>
              <a:rPr lang="en"/>
              <a:t>gains CPU, job receives 8 milliseconds. If it does not finish in 8</a:t>
            </a:r>
            <a:endParaRPr/>
          </a:p>
          <a:p>
            <a:pPr indent="0" lvl="0" marL="0" rtl="0" algn="l">
              <a:spcBef>
                <a:spcPts val="1200"/>
              </a:spcBef>
              <a:spcAft>
                <a:spcPts val="0"/>
              </a:spcAft>
              <a:buNone/>
            </a:pPr>
            <a:r>
              <a:rPr lang="en"/>
              <a:t>milliseconds, job is moved to queue Q1.</a:t>
            </a:r>
            <a:endParaRPr/>
          </a:p>
          <a:p>
            <a:pPr indent="0" lvl="0" marL="0" rtl="0" algn="l">
              <a:spcBef>
                <a:spcPts val="1200"/>
              </a:spcBef>
              <a:spcAft>
                <a:spcPts val="0"/>
              </a:spcAft>
              <a:buNone/>
            </a:pPr>
            <a:r>
              <a:rPr lang="en"/>
              <a:t>-	At Q1 job is again served FCFS and receives 16 additional</a:t>
            </a:r>
            <a:endParaRPr/>
          </a:p>
          <a:p>
            <a:pPr indent="0" lvl="0" marL="0" rtl="0" algn="l">
              <a:spcBef>
                <a:spcPts val="1200"/>
              </a:spcBef>
              <a:spcAft>
                <a:spcPts val="0"/>
              </a:spcAft>
              <a:buNone/>
            </a:pPr>
            <a:r>
              <a:rPr lang="en"/>
              <a:t>milliseconds. If it still does not complete, it is preempted and</a:t>
            </a:r>
            <a:endParaRPr/>
          </a:p>
          <a:p>
            <a:pPr indent="0" lvl="0" marL="0" rtl="0" algn="l">
              <a:spcBef>
                <a:spcPts val="1200"/>
              </a:spcBef>
              <a:spcAft>
                <a:spcPts val="1200"/>
              </a:spcAft>
              <a:buNone/>
            </a:pPr>
            <a:r>
              <a:rPr lang="en"/>
              <a:t>moved to queue Q2.</a:t>
            </a:r>
            <a:endParaRPr/>
          </a:p>
        </p:txBody>
      </p:sp>
      <p:pic>
        <p:nvPicPr>
          <p:cNvPr id="185" name="Google Shape;185;p31" title="Screenshot 2025-10-09 at 5.41.02 AM.png"/>
          <p:cNvPicPr preferRelativeResize="0"/>
          <p:nvPr/>
        </p:nvPicPr>
        <p:blipFill>
          <a:blip r:embed="rId3">
            <a:alphaModFix/>
          </a:blip>
          <a:stretch>
            <a:fillRect/>
          </a:stretch>
        </p:blipFill>
        <p:spPr>
          <a:xfrm>
            <a:off x="5254675" y="1272538"/>
            <a:ext cx="3794299" cy="2598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1" name="Google Shape;19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(if any) relation holds between the following pairs of algorithm sets? </a:t>
            </a:r>
            <a:endParaRPr/>
          </a:p>
          <a:p>
            <a:pPr indent="-342900" lvl="0" marL="457200" rtl="0" algn="l">
              <a:spcBef>
                <a:spcPts val="1200"/>
              </a:spcBef>
              <a:spcAft>
                <a:spcPts val="0"/>
              </a:spcAft>
              <a:buSzPts val="1800"/>
              <a:buAutoNum type="alphaLcPeriod"/>
            </a:pPr>
            <a:r>
              <a:rPr lang="en"/>
              <a:t>Priority and SJF</a:t>
            </a:r>
            <a:endParaRPr/>
          </a:p>
          <a:p>
            <a:pPr indent="-342900" lvl="0" marL="457200" rtl="0" algn="l">
              <a:spcBef>
                <a:spcPts val="0"/>
              </a:spcBef>
              <a:spcAft>
                <a:spcPts val="0"/>
              </a:spcAft>
              <a:buSzPts val="1800"/>
              <a:buAutoNum type="alphaLcPeriod"/>
            </a:pPr>
            <a:r>
              <a:rPr lang="en"/>
              <a:t>Multilevel feedback queues and FCFS</a:t>
            </a:r>
            <a:endParaRPr/>
          </a:p>
          <a:p>
            <a:pPr indent="-342900" lvl="0" marL="457200" rtl="0" algn="l">
              <a:spcBef>
                <a:spcPts val="0"/>
              </a:spcBef>
              <a:spcAft>
                <a:spcPts val="0"/>
              </a:spcAft>
              <a:buSzPts val="1800"/>
              <a:buAutoNum type="alphaLcPeriod"/>
            </a:pPr>
            <a:r>
              <a:rPr lang="en"/>
              <a:t>Priority and FCFS </a:t>
            </a:r>
            <a:endParaRPr/>
          </a:p>
          <a:p>
            <a:pPr indent="-342900" lvl="0" marL="457200" rtl="0" algn="l">
              <a:spcBef>
                <a:spcPts val="0"/>
              </a:spcBef>
              <a:spcAft>
                <a:spcPts val="0"/>
              </a:spcAft>
              <a:buSzPts val="1800"/>
              <a:buAutoNum type="alphaLcPeriod"/>
            </a:pPr>
            <a:r>
              <a:rPr lang="en"/>
              <a:t>RR and SJF</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Priority and SJF</a:t>
            </a:r>
            <a:endParaRPr/>
          </a:p>
        </p:txBody>
      </p:sp>
      <p:sp>
        <p:nvSpPr>
          <p:cNvPr id="197" name="Google Shape;19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n"/>
              <a:t>SJF (Shortest Job First) selects the process with the shortest next CPU burst time.</a:t>
            </a:r>
            <a:endParaRPr/>
          </a:p>
          <a:p>
            <a:pPr indent="-342900" lvl="0" marL="457200" rtl="0" algn="l">
              <a:spcBef>
                <a:spcPts val="0"/>
              </a:spcBef>
              <a:spcAft>
                <a:spcPts val="0"/>
              </a:spcAft>
              <a:buSzPts val="1800"/>
              <a:buChar char="-"/>
            </a:pPr>
            <a:r>
              <a:rPr lang="en"/>
              <a:t>Priority scheduling selects the process with the highest priority.</a:t>
            </a:r>
            <a:endParaRPr/>
          </a:p>
          <a:p>
            <a:pPr indent="-342900" lvl="0" marL="457200" rtl="0" algn="l">
              <a:spcBef>
                <a:spcPts val="0"/>
              </a:spcBef>
              <a:spcAft>
                <a:spcPts val="0"/>
              </a:spcAft>
              <a:buSzPts val="1800"/>
              <a:buChar char="-"/>
            </a:pPr>
            <a:r>
              <a:rPr lang="en"/>
              <a:t>If we define the priority of a process as the inverse of its next CPU burst time, then SJF becomes a special case of priority scheduling, where “priority” = 1 / (CPU burst time)</a:t>
            </a:r>
            <a:endParaRPr/>
          </a:p>
          <a:p>
            <a:pPr indent="-342900" lvl="0" marL="457200" rtl="0" algn="l">
              <a:spcBef>
                <a:spcPts val="0"/>
              </a:spcBef>
              <a:spcAft>
                <a:spcPts val="0"/>
              </a:spcAft>
              <a:buSzPts val="1800"/>
              <a:buChar char="-"/>
            </a:pPr>
            <a:r>
              <a:rPr lang="en"/>
              <a:t>SJF is a special case (subset) of Priority scheduling.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chemeClr val="dk2"/>
                </a:solidFill>
              </a:rPr>
              <a:t>Multilevel feedback queues and FCFS</a:t>
            </a:r>
            <a:endParaRPr/>
          </a:p>
        </p:txBody>
      </p:sp>
      <p:sp>
        <p:nvSpPr>
          <p:cNvPr id="203" name="Google Shape;20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Multilevel feedback queue (MLFQ) allows multiple queues, each possibly using different scheduling algorithms, and processes can move between queues based on behavior.</a:t>
            </a:r>
            <a:endParaRPr/>
          </a:p>
          <a:p>
            <a:pPr indent="-342900" lvl="0" marL="457200" rtl="0" algn="l">
              <a:spcBef>
                <a:spcPts val="0"/>
              </a:spcBef>
              <a:spcAft>
                <a:spcPts val="0"/>
              </a:spcAft>
              <a:buSzPts val="1800"/>
              <a:buChar char="-"/>
            </a:pPr>
            <a:r>
              <a:rPr lang="en"/>
              <a:t>If we have only one queue, and that queue uses First-Come, First-Served (FCFS) scheduling, then it’s just FCFS.</a:t>
            </a:r>
            <a:endParaRPr/>
          </a:p>
          <a:p>
            <a:pPr indent="-342900" lvl="0" marL="457200" rtl="0" algn="l">
              <a:spcBef>
                <a:spcPts val="0"/>
              </a:spcBef>
              <a:spcAft>
                <a:spcPts val="0"/>
              </a:spcAft>
              <a:buSzPts val="1800"/>
              <a:buChar char="-"/>
            </a:pPr>
            <a:r>
              <a:rPr lang="en"/>
              <a:t>FCFS is a special case (subset) of the multilevel feedback queue scheduling.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and FCFS</a:t>
            </a:r>
            <a:endParaRPr/>
          </a:p>
        </p:txBody>
      </p:sp>
      <p:sp>
        <p:nvSpPr>
          <p:cNvPr id="209" name="Google Shape;20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FCFS schedules strictly by arrival time (the earlier process gets the CPU first).</a:t>
            </a:r>
            <a:endParaRPr/>
          </a:p>
          <a:p>
            <a:pPr indent="-342900" lvl="0" marL="457200" rtl="0" algn="l">
              <a:spcBef>
                <a:spcPts val="0"/>
              </a:spcBef>
              <a:spcAft>
                <a:spcPts val="0"/>
              </a:spcAft>
              <a:buSzPts val="1800"/>
              <a:buChar char="-"/>
            </a:pPr>
            <a:r>
              <a:rPr lang="en"/>
              <a:t>Priority scheduling uses assigned priority values.</a:t>
            </a:r>
            <a:endParaRPr/>
          </a:p>
          <a:p>
            <a:pPr indent="-342900" lvl="0" marL="457200" rtl="0" algn="l">
              <a:spcBef>
                <a:spcPts val="0"/>
              </a:spcBef>
              <a:spcAft>
                <a:spcPts val="0"/>
              </a:spcAft>
              <a:buSzPts val="1800"/>
              <a:buChar char="-"/>
            </a:pPr>
            <a:r>
              <a:rPr lang="en"/>
              <a:t>If all processes are given equal priority, then the scheduling order depends only on arrival time, i.e., FCFS.</a:t>
            </a:r>
            <a:endParaRPr/>
          </a:p>
          <a:p>
            <a:pPr indent="-342900" lvl="0" marL="457200" rtl="0" algn="l">
              <a:spcBef>
                <a:spcPts val="0"/>
              </a:spcBef>
              <a:spcAft>
                <a:spcPts val="0"/>
              </a:spcAft>
              <a:buSzPts val="1800"/>
              <a:buChar char="-"/>
            </a:pPr>
            <a:r>
              <a:rPr lang="en"/>
              <a:t>FCFS is a special case (subset) of priority scheduling (when all priorities are equal).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RR and SJF</a:t>
            </a:r>
            <a:endParaRPr/>
          </a:p>
        </p:txBody>
      </p:sp>
      <p:sp>
        <p:nvSpPr>
          <p:cNvPr id="215" name="Google Shape;21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Round Robin (RR) uses a fixed time quantum, cycling through processes in a queue.</a:t>
            </a:r>
            <a:endParaRPr/>
          </a:p>
          <a:p>
            <a:pPr indent="-342900" lvl="0" marL="457200" rtl="0" algn="l">
              <a:spcBef>
                <a:spcPts val="0"/>
              </a:spcBef>
              <a:spcAft>
                <a:spcPts val="0"/>
              </a:spcAft>
              <a:buSzPts val="1800"/>
              <a:buChar char="-"/>
            </a:pPr>
            <a:r>
              <a:rPr lang="en"/>
              <a:t>SJF uses predicted burst time to choose the shortest job next.</a:t>
            </a:r>
            <a:endParaRPr/>
          </a:p>
          <a:p>
            <a:pPr indent="-342900" lvl="0" marL="457200" rtl="0" algn="l">
              <a:spcBef>
                <a:spcPts val="0"/>
              </a:spcBef>
              <a:spcAft>
                <a:spcPts val="0"/>
              </a:spcAft>
              <a:buSzPts val="1800"/>
              <a:buChar char="-"/>
            </a:pPr>
            <a:r>
              <a:rPr lang="en"/>
              <a:t>RR is time-sliced and fair, independent of job length.</a:t>
            </a:r>
            <a:endParaRPr/>
          </a:p>
          <a:p>
            <a:pPr indent="-342900" lvl="0" marL="457200" rtl="0" algn="l">
              <a:spcBef>
                <a:spcPts val="0"/>
              </a:spcBef>
              <a:spcAft>
                <a:spcPts val="0"/>
              </a:spcAft>
              <a:buSzPts val="1800"/>
              <a:buChar char="-"/>
            </a:pPr>
            <a:r>
              <a:rPr lang="en"/>
              <a:t>SJF is length-based and non-preemptive (or preemptive if it’s SRTF).</a:t>
            </a:r>
            <a:endParaRPr/>
          </a:p>
          <a:p>
            <a:pPr indent="-342900" lvl="0" marL="457200" rtl="0" algn="l">
              <a:spcBef>
                <a:spcPts val="0"/>
              </a:spcBef>
              <a:spcAft>
                <a:spcPts val="0"/>
              </a:spcAft>
              <a:buSzPts val="1800"/>
              <a:buChar char="-"/>
            </a:pPr>
            <a:r>
              <a:rPr lang="en"/>
              <a:t>No direct subset or inclusion relationship between RR and SJF.</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71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MultiProcessor Scheduling</a:t>
            </a:r>
            <a:endParaRPr/>
          </a:p>
        </p:txBody>
      </p:sp>
      <p:sp>
        <p:nvSpPr>
          <p:cNvPr id="221" name="Google Shape;221;p37"/>
          <p:cNvSpPr txBox="1"/>
          <p:nvPr>
            <p:ph idx="1" type="body"/>
          </p:nvPr>
        </p:nvSpPr>
        <p:spPr>
          <a:xfrm>
            <a:off x="311700" y="535625"/>
            <a:ext cx="8520600" cy="455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Asymmetric multiprocessing</a:t>
            </a:r>
            <a:endParaRPr b="1"/>
          </a:p>
          <a:p>
            <a:pPr indent="0" lvl="0" marL="457200" rtl="0" algn="l">
              <a:spcBef>
                <a:spcPts val="1200"/>
              </a:spcBef>
              <a:spcAft>
                <a:spcPts val="0"/>
              </a:spcAft>
              <a:buNone/>
            </a:pPr>
            <a:r>
              <a:rPr lang="en"/>
              <a:t>-	One approach to CPU scheduling in a multiprocessor system has all scheduling decisions, I/O processing, and other system activities handled by a single processor — the master server. The other processors execute only user code.</a:t>
            </a:r>
            <a:endParaRPr/>
          </a:p>
          <a:p>
            <a:pPr indent="0" lvl="0" marL="0" rtl="0" algn="l">
              <a:spcBef>
                <a:spcPts val="1200"/>
              </a:spcBef>
              <a:spcAft>
                <a:spcPts val="0"/>
              </a:spcAft>
              <a:buNone/>
            </a:pPr>
            <a:r>
              <a:rPr b="1" lang="en"/>
              <a:t>Symmetric multiprocessing (SMP)</a:t>
            </a:r>
            <a:endParaRPr b="1"/>
          </a:p>
          <a:p>
            <a:pPr indent="457200" lvl="0" marL="0" rtl="0" algn="l">
              <a:spcBef>
                <a:spcPts val="1200"/>
              </a:spcBef>
              <a:spcAft>
                <a:spcPts val="0"/>
              </a:spcAft>
              <a:buNone/>
            </a:pPr>
            <a:r>
              <a:rPr lang="en"/>
              <a:t>-	Scheduling proceeds by having the scheduler for each processor examine the ready queue and select a thread to run. 2 possible strategies for organizing the threads eligible to be scheduled:</a:t>
            </a:r>
            <a:endParaRPr/>
          </a:p>
          <a:p>
            <a:pPr indent="457200" lvl="0" marL="0" rtl="0" algn="l">
              <a:spcBef>
                <a:spcPts val="1200"/>
              </a:spcBef>
              <a:spcAft>
                <a:spcPts val="0"/>
              </a:spcAft>
              <a:buNone/>
            </a:pPr>
            <a:r>
              <a:rPr lang="en"/>
              <a:t>1. All threads may be in a common ready queue.</a:t>
            </a:r>
            <a:endParaRPr/>
          </a:p>
          <a:p>
            <a:pPr indent="457200" lvl="0" marL="0" rtl="0" algn="l">
              <a:spcBef>
                <a:spcPts val="1200"/>
              </a:spcBef>
              <a:spcAft>
                <a:spcPts val="1200"/>
              </a:spcAft>
              <a:buNone/>
            </a:pPr>
            <a:r>
              <a:rPr lang="en"/>
              <a:t>2. Each processor may have its own private queue of threads.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7" name="Google Shape;227;p38"/>
          <p:cNvSpPr txBox="1"/>
          <p:nvPr>
            <p:ph idx="1" type="body"/>
          </p:nvPr>
        </p:nvSpPr>
        <p:spPr>
          <a:xfrm>
            <a:off x="4572000" y="1152475"/>
            <a:ext cx="4260300" cy="3888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Could have a possible race condition on the shared ready queue and therefore must ensure that two separate processors do not choose to schedule the same thread and that threads are not lost from the queue </a:t>
            </a:r>
            <a:endParaRPr/>
          </a:p>
          <a:p>
            <a:pPr indent="-342900" lvl="0" marL="457200" rtl="0" algn="l">
              <a:spcBef>
                <a:spcPts val="0"/>
              </a:spcBef>
              <a:spcAft>
                <a:spcPts val="0"/>
              </a:spcAft>
              <a:buSzPts val="1800"/>
              <a:buChar char="-"/>
            </a:pPr>
            <a:r>
              <a:rPr lang="en"/>
              <a:t>could use some form of locking to protect the common ready queue from this race condition</a:t>
            </a:r>
            <a:endParaRPr/>
          </a:p>
          <a:p>
            <a:pPr indent="-342900" lvl="0" marL="457200" rtl="0" algn="l">
              <a:spcBef>
                <a:spcPts val="0"/>
              </a:spcBef>
              <a:spcAft>
                <a:spcPts val="0"/>
              </a:spcAft>
              <a:buSzPts val="1800"/>
              <a:buChar char="-"/>
            </a:pPr>
            <a:r>
              <a:rPr lang="en"/>
              <a:t>accessing the shared queue would likely be a performance bottleneck</a:t>
            </a:r>
            <a:endParaRPr/>
          </a:p>
        </p:txBody>
      </p:sp>
      <p:pic>
        <p:nvPicPr>
          <p:cNvPr id="228" name="Google Shape;228;p38" title="Screenshot 2025-10-09 at 6.02.19 AM.png"/>
          <p:cNvPicPr preferRelativeResize="0"/>
          <p:nvPr/>
        </p:nvPicPr>
        <p:blipFill>
          <a:blip r:embed="rId3">
            <a:alphaModFix/>
          </a:blip>
          <a:stretch>
            <a:fillRect/>
          </a:stretch>
        </p:blipFill>
        <p:spPr>
          <a:xfrm>
            <a:off x="311700" y="1578200"/>
            <a:ext cx="4154074" cy="2518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311700" y="167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Load Balancing</a:t>
            </a:r>
            <a:endParaRPr/>
          </a:p>
        </p:txBody>
      </p:sp>
      <p:sp>
        <p:nvSpPr>
          <p:cNvPr id="234" name="Google Shape;234;p39"/>
          <p:cNvSpPr txBox="1"/>
          <p:nvPr>
            <p:ph idx="1" type="body"/>
          </p:nvPr>
        </p:nvSpPr>
        <p:spPr>
          <a:xfrm>
            <a:off x="311700" y="803450"/>
            <a:ext cx="8698500" cy="41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one or more processors may sit idle while other processors have high workloads, along with ready queues of threads awaiting the CPU. Load balancing attempts to keep the workload evenly distributed across all processors in an SMP system.</a:t>
            </a:r>
            <a:endParaRPr/>
          </a:p>
          <a:p>
            <a:pPr indent="-342900" lvl="0" marL="457200" rtl="0" algn="l">
              <a:spcBef>
                <a:spcPts val="1200"/>
              </a:spcBef>
              <a:spcAft>
                <a:spcPts val="0"/>
              </a:spcAft>
              <a:buSzPts val="1800"/>
              <a:buChar char="-"/>
            </a:pPr>
            <a:r>
              <a:rPr lang="en"/>
              <a:t>With </a:t>
            </a:r>
            <a:r>
              <a:rPr b="1" lang="en"/>
              <a:t>push migration,</a:t>
            </a:r>
            <a:r>
              <a:rPr lang="en"/>
              <a:t> a specific task periodically checks the load on each processor and—if it finds an imbalance—evenly distributes the load by moving (or pushing) threads from overloaded to idle or less-busy processors.</a:t>
            </a:r>
            <a:endParaRPr/>
          </a:p>
          <a:p>
            <a:pPr indent="-342900" lvl="0" marL="457200" rtl="0" algn="l">
              <a:spcBef>
                <a:spcPts val="0"/>
              </a:spcBef>
              <a:spcAft>
                <a:spcPts val="0"/>
              </a:spcAft>
              <a:buSzPts val="1800"/>
              <a:buChar char="-"/>
            </a:pPr>
            <a:r>
              <a:rPr b="1" lang="en"/>
              <a:t>Pull migration</a:t>
            </a:r>
            <a:r>
              <a:rPr lang="en"/>
              <a:t> occurs when an idle processor pulls a waiting task from a busy processor</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type="title"/>
          </p:nvPr>
        </p:nvSpPr>
        <p:spPr>
          <a:xfrm>
            <a:off x="311700" y="215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Processor Affinity</a:t>
            </a:r>
            <a:endParaRPr/>
          </a:p>
        </p:txBody>
      </p:sp>
      <p:sp>
        <p:nvSpPr>
          <p:cNvPr id="240" name="Google Shape;240;p40"/>
          <p:cNvSpPr txBox="1"/>
          <p:nvPr>
            <p:ph idx="1" type="body"/>
          </p:nvPr>
        </p:nvSpPr>
        <p:spPr>
          <a:xfrm>
            <a:off x="311700" y="841700"/>
            <a:ext cx="8520600" cy="372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processor affinit: a process has an affinity for the processor on which it is currently running.</a:t>
            </a:r>
            <a:endParaRPr/>
          </a:p>
          <a:p>
            <a:pPr indent="-342900" lvl="0" marL="457200" rtl="0" algn="l">
              <a:spcBef>
                <a:spcPts val="1200"/>
              </a:spcBef>
              <a:spcAft>
                <a:spcPts val="0"/>
              </a:spcAft>
              <a:buSzPts val="1800"/>
              <a:buChar char="-"/>
            </a:pPr>
            <a:r>
              <a:rPr b="1" lang="en"/>
              <a:t>Soft affinit</a:t>
            </a:r>
            <a:r>
              <a:rPr lang="en"/>
              <a:t>: When an operating system has a policy of attempting to keep a process running on the same processor-but not guaranteeing that it will do so —we have a situation known as soft affinit.</a:t>
            </a:r>
            <a:endParaRPr/>
          </a:p>
          <a:p>
            <a:pPr indent="-342900" lvl="0" marL="457200" rtl="0" algn="l">
              <a:spcBef>
                <a:spcPts val="0"/>
              </a:spcBef>
              <a:spcAft>
                <a:spcPts val="0"/>
              </a:spcAft>
              <a:buSzPts val="1800"/>
              <a:buChar char="-"/>
            </a:pPr>
            <a:r>
              <a:rPr b="1" lang="en"/>
              <a:t>Hard affinit:</a:t>
            </a:r>
            <a:r>
              <a:rPr lang="en"/>
              <a:t> some systems provide system calls that support hard affinit, thereby allowing a process to specify a subset of processors which it can run.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Real-Time CPU Scheduling</a:t>
            </a:r>
            <a:endParaRPr/>
          </a:p>
        </p:txBody>
      </p:sp>
      <p:sp>
        <p:nvSpPr>
          <p:cNvPr id="246" name="Google Shape;246;p41"/>
          <p:cNvSpPr txBox="1"/>
          <p:nvPr>
            <p:ph idx="1" type="body"/>
          </p:nvPr>
        </p:nvSpPr>
        <p:spPr>
          <a:xfrm>
            <a:off x="311700" y="1152475"/>
            <a:ext cx="4588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Minimizing Latency</a:t>
            </a:r>
            <a:endParaRPr b="1"/>
          </a:p>
          <a:p>
            <a:pPr indent="0" lvl="0" marL="0" rtl="0" algn="l">
              <a:spcBef>
                <a:spcPts val="1200"/>
              </a:spcBef>
              <a:spcAft>
                <a:spcPts val="1200"/>
              </a:spcAft>
              <a:buNone/>
            </a:pPr>
            <a:r>
              <a:rPr lang="en"/>
              <a:t>When an event occurs, the system must respond to and service it as quickly as possible. We refer to event latency as the amount of time that elapses from when an event occurs to when it is serviced.</a:t>
            </a:r>
            <a:endParaRPr/>
          </a:p>
        </p:txBody>
      </p:sp>
      <p:pic>
        <p:nvPicPr>
          <p:cNvPr id="247" name="Google Shape;247;p41" title="Screenshot 2025-10-09 at 7.31.52 AM.png"/>
          <p:cNvPicPr preferRelativeResize="0"/>
          <p:nvPr/>
        </p:nvPicPr>
        <p:blipFill>
          <a:blip r:embed="rId3">
            <a:alphaModFix/>
          </a:blip>
          <a:stretch>
            <a:fillRect/>
          </a:stretch>
        </p:blipFill>
        <p:spPr>
          <a:xfrm>
            <a:off x="5215124" y="1446075"/>
            <a:ext cx="3617176" cy="29473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3" name="Google Shape;253;p42"/>
          <p:cNvSpPr txBox="1"/>
          <p:nvPr>
            <p:ph idx="1" type="body"/>
          </p:nvPr>
        </p:nvSpPr>
        <p:spPr>
          <a:xfrm>
            <a:off x="311700" y="1152475"/>
            <a:ext cx="4023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types of latencies affect the performance of real-time systems: </a:t>
            </a:r>
            <a:endParaRPr/>
          </a:p>
          <a:p>
            <a:pPr indent="0" lvl="0" marL="0" rtl="0" algn="l">
              <a:spcBef>
                <a:spcPts val="1200"/>
              </a:spcBef>
              <a:spcAft>
                <a:spcPts val="0"/>
              </a:spcAft>
              <a:buNone/>
            </a:pPr>
            <a:r>
              <a:rPr lang="en"/>
              <a:t>1. Interrupt latency</a:t>
            </a:r>
            <a:endParaRPr/>
          </a:p>
          <a:p>
            <a:pPr indent="0" lvl="0" marL="0" rtl="0" algn="l">
              <a:spcBef>
                <a:spcPts val="1200"/>
              </a:spcBef>
              <a:spcAft>
                <a:spcPts val="1200"/>
              </a:spcAft>
              <a:buNone/>
            </a:pPr>
            <a:r>
              <a:rPr lang="en"/>
              <a:t>2. Dispatch latency</a:t>
            </a:r>
            <a:endParaRPr/>
          </a:p>
        </p:txBody>
      </p:sp>
      <p:pic>
        <p:nvPicPr>
          <p:cNvPr id="254" name="Google Shape;254;p42" title="Screenshot 2025-10-09 at 7.34.48 AM.png"/>
          <p:cNvPicPr preferRelativeResize="0"/>
          <p:nvPr/>
        </p:nvPicPr>
        <p:blipFill>
          <a:blip r:embed="rId3">
            <a:alphaModFix/>
          </a:blip>
          <a:stretch>
            <a:fillRect/>
          </a:stretch>
        </p:blipFill>
        <p:spPr>
          <a:xfrm>
            <a:off x="5154700" y="1017725"/>
            <a:ext cx="3677609" cy="382097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0" name="Google Shape;260;p43"/>
          <p:cNvSpPr txBox="1"/>
          <p:nvPr>
            <p:ph idx="1" type="body"/>
          </p:nvPr>
        </p:nvSpPr>
        <p:spPr>
          <a:xfrm>
            <a:off x="311700" y="1152475"/>
            <a:ext cx="463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conflict phase of dispatch latency has two components:</a:t>
            </a:r>
            <a:endParaRPr/>
          </a:p>
          <a:p>
            <a:pPr indent="0" lvl="0" marL="0" rtl="0" algn="l">
              <a:spcBef>
                <a:spcPts val="1200"/>
              </a:spcBef>
              <a:spcAft>
                <a:spcPts val="0"/>
              </a:spcAft>
              <a:buNone/>
            </a:pPr>
            <a:r>
              <a:rPr lang="en"/>
              <a:t>1. Preemption of any process running in the kernel</a:t>
            </a:r>
            <a:endParaRPr/>
          </a:p>
          <a:p>
            <a:pPr indent="0" lvl="0" marL="0" rtl="0" algn="l">
              <a:spcBef>
                <a:spcPts val="1200"/>
              </a:spcBef>
              <a:spcAft>
                <a:spcPts val="1200"/>
              </a:spcAft>
              <a:buNone/>
            </a:pPr>
            <a:r>
              <a:rPr lang="en"/>
              <a:t>2. Release by low-priority processes of resources needed by a high-priority process</a:t>
            </a:r>
            <a:endParaRPr/>
          </a:p>
        </p:txBody>
      </p:sp>
      <p:pic>
        <p:nvPicPr>
          <p:cNvPr id="261" name="Google Shape;261;p43" title="Screenshot 2025-10-09 at 7.36.02 AM.png"/>
          <p:cNvPicPr preferRelativeResize="0"/>
          <p:nvPr/>
        </p:nvPicPr>
        <p:blipFill>
          <a:blip r:embed="rId3">
            <a:alphaModFix/>
          </a:blip>
          <a:stretch>
            <a:fillRect/>
          </a:stretch>
        </p:blipFill>
        <p:spPr>
          <a:xfrm>
            <a:off x="4941900" y="1092200"/>
            <a:ext cx="3890400" cy="326402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4"/>
          <p:cNvSpPr txBox="1"/>
          <p:nvPr>
            <p:ph type="title"/>
          </p:nvPr>
        </p:nvSpPr>
        <p:spPr>
          <a:xfrm>
            <a:off x="311700" y="216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7" name="Google Shape;267;p44"/>
          <p:cNvSpPr txBox="1"/>
          <p:nvPr>
            <p:ph idx="1" type="body"/>
          </p:nvPr>
        </p:nvSpPr>
        <p:spPr>
          <a:xfrm>
            <a:off x="311700" y="1017725"/>
            <a:ext cx="8520600" cy="4015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What is the average turnaround time for these processes with the FCFS scheduling algorithm?</a:t>
            </a:r>
            <a:endParaRPr/>
          </a:p>
          <a:p>
            <a:pPr indent="-342900" lvl="0" marL="457200" rtl="0" algn="l">
              <a:spcBef>
                <a:spcPts val="0"/>
              </a:spcBef>
              <a:spcAft>
                <a:spcPts val="0"/>
              </a:spcAft>
              <a:buSzPts val="1800"/>
              <a:buAutoNum type="arabicPeriod"/>
            </a:pPr>
            <a:r>
              <a:rPr lang="en"/>
              <a:t>What is the average turnaround time for these processes with the SJF scheduling algorithm?</a:t>
            </a:r>
            <a:endParaRPr/>
          </a:p>
        </p:txBody>
      </p:sp>
      <p:pic>
        <p:nvPicPr>
          <p:cNvPr id="268" name="Google Shape;268;p44" title="Screenshot 2025-10-23 at 7.39.52 AM.png"/>
          <p:cNvPicPr preferRelativeResize="0"/>
          <p:nvPr/>
        </p:nvPicPr>
        <p:blipFill>
          <a:blip r:embed="rId3">
            <a:alphaModFix/>
          </a:blip>
          <a:stretch>
            <a:fillRect/>
          </a:stretch>
        </p:blipFill>
        <p:spPr>
          <a:xfrm>
            <a:off x="311700" y="1152476"/>
            <a:ext cx="8520599" cy="2285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chemeClr val="dk2"/>
                </a:solidFill>
              </a:rPr>
              <a:t>FCFS</a:t>
            </a:r>
            <a:endParaRPr/>
          </a:p>
        </p:txBody>
      </p:sp>
      <p:sp>
        <p:nvSpPr>
          <p:cNvPr id="274" name="Google Shape;274;p45"/>
          <p:cNvSpPr txBox="1"/>
          <p:nvPr>
            <p:ph idx="1" type="body"/>
          </p:nvPr>
        </p:nvSpPr>
        <p:spPr>
          <a:xfrm>
            <a:off x="220175" y="1387225"/>
            <a:ext cx="3019800" cy="16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Process P1:</a:t>
            </a:r>
            <a:endParaRPr sz="1200"/>
          </a:p>
          <a:p>
            <a:pPr indent="-304800" lvl="0" marL="457200" rtl="0" algn="l">
              <a:spcBef>
                <a:spcPts val="1200"/>
              </a:spcBef>
              <a:spcAft>
                <a:spcPts val="0"/>
              </a:spcAft>
              <a:buSzPts val="1200"/>
              <a:buChar char="-"/>
            </a:pPr>
            <a:r>
              <a:rPr lang="en" sz="1200"/>
              <a:t>Arrives at 0.0</a:t>
            </a:r>
            <a:endParaRPr sz="1200"/>
          </a:p>
          <a:p>
            <a:pPr indent="-304800" lvl="0" marL="457200" rtl="0" algn="l">
              <a:spcBef>
                <a:spcPts val="0"/>
              </a:spcBef>
              <a:spcAft>
                <a:spcPts val="0"/>
              </a:spcAft>
              <a:buSzPts val="1200"/>
              <a:buChar char="-"/>
            </a:pPr>
            <a:r>
              <a:rPr lang="en" sz="1200"/>
              <a:t>Starts immediately at 0.0</a:t>
            </a:r>
            <a:endParaRPr sz="1200"/>
          </a:p>
          <a:p>
            <a:pPr indent="-304800" lvl="0" marL="457200" rtl="0" algn="l">
              <a:spcBef>
                <a:spcPts val="0"/>
              </a:spcBef>
              <a:spcAft>
                <a:spcPts val="0"/>
              </a:spcAft>
              <a:buSzPts val="1200"/>
              <a:buChar char="-"/>
            </a:pPr>
            <a:r>
              <a:rPr lang="en" sz="1200"/>
              <a:t>Burst time = 8</a:t>
            </a:r>
            <a:endParaRPr sz="1200"/>
          </a:p>
          <a:p>
            <a:pPr indent="-304800" lvl="0" marL="457200" rtl="0" algn="l">
              <a:spcBef>
                <a:spcPts val="0"/>
              </a:spcBef>
              <a:spcAft>
                <a:spcPts val="0"/>
              </a:spcAft>
              <a:buSzPts val="1200"/>
              <a:buChar char="-"/>
            </a:pPr>
            <a:r>
              <a:rPr lang="en" sz="1200"/>
              <a:t>Finishes at 0.0 + 8 = 8.0</a:t>
            </a:r>
            <a:endParaRPr sz="1200"/>
          </a:p>
        </p:txBody>
      </p:sp>
      <p:sp>
        <p:nvSpPr>
          <p:cNvPr id="275" name="Google Shape;275;p45"/>
          <p:cNvSpPr txBox="1"/>
          <p:nvPr>
            <p:ph idx="1" type="body"/>
          </p:nvPr>
        </p:nvSpPr>
        <p:spPr>
          <a:xfrm>
            <a:off x="3301688" y="1292725"/>
            <a:ext cx="2812500" cy="16878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Process P2:</a:t>
            </a:r>
            <a:endParaRPr/>
          </a:p>
          <a:p>
            <a:pPr indent="-308610" lvl="0" marL="457200" rtl="0" algn="l">
              <a:spcBef>
                <a:spcPts val="1200"/>
              </a:spcBef>
              <a:spcAft>
                <a:spcPts val="0"/>
              </a:spcAft>
              <a:buSzPct val="100000"/>
              <a:buChar char="-"/>
            </a:pPr>
            <a:r>
              <a:rPr lang="en"/>
              <a:t>Arrives at 0.4, but P1 is still running</a:t>
            </a:r>
            <a:endParaRPr/>
          </a:p>
          <a:p>
            <a:pPr indent="-308610" lvl="0" marL="457200" rtl="0" algn="l">
              <a:spcBef>
                <a:spcPts val="0"/>
              </a:spcBef>
              <a:spcAft>
                <a:spcPts val="0"/>
              </a:spcAft>
              <a:buSzPct val="100000"/>
              <a:buChar char="-"/>
            </a:pPr>
            <a:r>
              <a:rPr lang="en"/>
              <a:t>Starts at 8.0 (after P1 finishes)</a:t>
            </a:r>
            <a:endParaRPr/>
          </a:p>
          <a:p>
            <a:pPr indent="-308610" lvl="0" marL="457200" rtl="0" algn="l">
              <a:spcBef>
                <a:spcPts val="0"/>
              </a:spcBef>
              <a:spcAft>
                <a:spcPts val="0"/>
              </a:spcAft>
              <a:buSzPct val="100000"/>
              <a:buChar char="-"/>
            </a:pPr>
            <a:r>
              <a:rPr lang="en"/>
              <a:t>Burst time = 4</a:t>
            </a:r>
            <a:endParaRPr/>
          </a:p>
          <a:p>
            <a:pPr indent="-308610" lvl="0" marL="457200" rtl="0" algn="l">
              <a:spcBef>
                <a:spcPts val="0"/>
              </a:spcBef>
              <a:spcAft>
                <a:spcPts val="0"/>
              </a:spcAft>
              <a:buSzPct val="100000"/>
              <a:buChar char="-"/>
            </a:pPr>
            <a:r>
              <a:rPr lang="en"/>
              <a:t>Finishes at 8.0 + 4 = 12.0</a:t>
            </a:r>
            <a:endParaRPr/>
          </a:p>
        </p:txBody>
      </p:sp>
      <p:sp>
        <p:nvSpPr>
          <p:cNvPr id="276" name="Google Shape;276;p45"/>
          <p:cNvSpPr txBox="1"/>
          <p:nvPr>
            <p:ph idx="1" type="body"/>
          </p:nvPr>
        </p:nvSpPr>
        <p:spPr>
          <a:xfrm>
            <a:off x="6331500" y="1292725"/>
            <a:ext cx="2812500" cy="1827900"/>
          </a:xfrm>
          <a:prstGeom prst="rect">
            <a:avLst/>
          </a:prstGeom>
        </p:spPr>
        <p:txBody>
          <a:bodyPr anchorCtr="0" anchor="t" bIns="91425" lIns="91425" spcFirstLastPara="1" rIns="91425" wrap="square" tIns="91425">
            <a:normAutofit fontScale="40000"/>
          </a:bodyPr>
          <a:lstStyle/>
          <a:p>
            <a:pPr indent="0" lvl="0" marL="0" rtl="0" algn="l">
              <a:spcBef>
                <a:spcPts val="1200"/>
              </a:spcBef>
              <a:spcAft>
                <a:spcPts val="0"/>
              </a:spcAft>
              <a:buNone/>
            </a:pPr>
            <a:r>
              <a:rPr lang="en" sz="3000">
                <a:solidFill>
                  <a:schemeClr val="dk1"/>
                </a:solidFill>
              </a:rPr>
              <a:t>Process P3:</a:t>
            </a:r>
            <a:endParaRPr sz="3000">
              <a:solidFill>
                <a:schemeClr val="dk1"/>
              </a:solidFill>
            </a:endParaRPr>
          </a:p>
          <a:p>
            <a:pPr indent="-304800" lvl="0" marL="457200" rtl="0" algn="l">
              <a:spcBef>
                <a:spcPts val="1200"/>
              </a:spcBef>
              <a:spcAft>
                <a:spcPts val="0"/>
              </a:spcAft>
              <a:buClr>
                <a:schemeClr val="dk1"/>
              </a:buClr>
              <a:buSzPct val="100000"/>
              <a:buChar char="-"/>
            </a:pPr>
            <a:r>
              <a:rPr lang="en" sz="3000">
                <a:solidFill>
                  <a:schemeClr val="dk1"/>
                </a:solidFill>
              </a:rPr>
              <a:t>Arrives at 1.0, but both P1 and P2 are ahead in queue</a:t>
            </a:r>
            <a:endParaRPr sz="3000">
              <a:solidFill>
                <a:schemeClr val="dk1"/>
              </a:solidFill>
            </a:endParaRPr>
          </a:p>
          <a:p>
            <a:pPr indent="-304800" lvl="0" marL="457200" rtl="0" algn="l">
              <a:spcBef>
                <a:spcPts val="0"/>
              </a:spcBef>
              <a:spcAft>
                <a:spcPts val="0"/>
              </a:spcAft>
              <a:buClr>
                <a:schemeClr val="dk1"/>
              </a:buClr>
              <a:buSzPct val="100000"/>
              <a:buChar char="-"/>
            </a:pPr>
            <a:r>
              <a:rPr lang="en" sz="3000">
                <a:solidFill>
                  <a:schemeClr val="dk1"/>
                </a:solidFill>
              </a:rPr>
              <a:t>Starts at 12.0</a:t>
            </a:r>
            <a:endParaRPr sz="3000">
              <a:solidFill>
                <a:schemeClr val="dk1"/>
              </a:solidFill>
            </a:endParaRPr>
          </a:p>
          <a:p>
            <a:pPr indent="-304800" lvl="0" marL="457200" rtl="0" algn="l">
              <a:spcBef>
                <a:spcPts val="0"/>
              </a:spcBef>
              <a:spcAft>
                <a:spcPts val="0"/>
              </a:spcAft>
              <a:buClr>
                <a:schemeClr val="dk1"/>
              </a:buClr>
              <a:buSzPct val="100000"/>
              <a:buChar char="-"/>
            </a:pPr>
            <a:r>
              <a:rPr lang="en" sz="3000">
                <a:solidFill>
                  <a:schemeClr val="dk1"/>
                </a:solidFill>
              </a:rPr>
              <a:t>Burst time = 1</a:t>
            </a:r>
            <a:endParaRPr sz="3000">
              <a:solidFill>
                <a:schemeClr val="dk1"/>
              </a:solidFill>
            </a:endParaRPr>
          </a:p>
          <a:p>
            <a:pPr indent="-304800" lvl="0" marL="457200" rtl="0" algn="l">
              <a:spcBef>
                <a:spcPts val="0"/>
              </a:spcBef>
              <a:spcAft>
                <a:spcPts val="0"/>
              </a:spcAft>
              <a:buClr>
                <a:schemeClr val="dk1"/>
              </a:buClr>
              <a:buSzPct val="100000"/>
              <a:buChar char="-"/>
            </a:pPr>
            <a:r>
              <a:rPr lang="en" sz="3000">
                <a:solidFill>
                  <a:schemeClr val="dk1"/>
                </a:solidFill>
              </a:rPr>
              <a:t>Finishes at 12.0 + 1 = 13.0</a:t>
            </a:r>
            <a:endParaRPr sz="3000">
              <a:solidFill>
                <a:schemeClr val="dk1"/>
              </a:solidFill>
            </a:endParaRPr>
          </a:p>
          <a:p>
            <a:pPr indent="0" lvl="0" marL="0" rtl="0" algn="l">
              <a:spcBef>
                <a:spcPts val="200"/>
              </a:spcBef>
              <a:spcAft>
                <a:spcPts val="1200"/>
              </a:spcAft>
              <a:buNone/>
            </a:pPr>
            <a:r>
              <a:t/>
            </a:r>
            <a:endParaRPr/>
          </a:p>
        </p:txBody>
      </p:sp>
      <p:sp>
        <p:nvSpPr>
          <p:cNvPr id="277" name="Google Shape;277;p45"/>
          <p:cNvSpPr txBox="1"/>
          <p:nvPr/>
        </p:nvSpPr>
        <p:spPr>
          <a:xfrm>
            <a:off x="338625" y="3120625"/>
            <a:ext cx="8475000" cy="19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Turnaround Time = Finish Time − Arrival Time</a:t>
            </a:r>
            <a:endParaRPr sz="1800">
              <a:solidFill>
                <a:schemeClr val="dk2"/>
              </a:solidFill>
            </a:endParaRPr>
          </a:p>
          <a:p>
            <a:pPr indent="0" lvl="0" marL="0" rtl="0" algn="l">
              <a:spcBef>
                <a:spcPts val="0"/>
              </a:spcBef>
              <a:spcAft>
                <a:spcPts val="0"/>
              </a:spcAft>
              <a:buNone/>
            </a:pPr>
            <a:r>
              <a:rPr lang="en" sz="1800">
                <a:solidFill>
                  <a:schemeClr val="dk2"/>
                </a:solidFill>
              </a:rPr>
              <a:t>P1 = 8 - 0 = 8</a:t>
            </a:r>
            <a:endParaRPr sz="1800">
              <a:solidFill>
                <a:schemeClr val="dk2"/>
              </a:solidFill>
            </a:endParaRPr>
          </a:p>
          <a:p>
            <a:pPr indent="0" lvl="0" marL="0" rtl="0" algn="l">
              <a:spcBef>
                <a:spcPts val="0"/>
              </a:spcBef>
              <a:spcAft>
                <a:spcPts val="0"/>
              </a:spcAft>
              <a:buNone/>
            </a:pPr>
            <a:r>
              <a:rPr lang="en" sz="1800">
                <a:solidFill>
                  <a:schemeClr val="dk2"/>
                </a:solidFill>
              </a:rPr>
              <a:t>P2 = 12 - 0.4 =11.6</a:t>
            </a:r>
            <a:endParaRPr sz="1800">
              <a:solidFill>
                <a:schemeClr val="dk2"/>
              </a:solidFill>
            </a:endParaRPr>
          </a:p>
          <a:p>
            <a:pPr indent="0" lvl="0" marL="0" rtl="0" algn="l">
              <a:spcBef>
                <a:spcPts val="0"/>
              </a:spcBef>
              <a:spcAft>
                <a:spcPts val="0"/>
              </a:spcAft>
              <a:buNone/>
            </a:pPr>
            <a:r>
              <a:rPr lang="en" sz="1800">
                <a:solidFill>
                  <a:schemeClr val="dk2"/>
                </a:solidFill>
              </a:rPr>
              <a:t>P3 = 13 - 1 = 12</a:t>
            </a:r>
            <a:endParaRPr sz="1800">
              <a:solidFill>
                <a:schemeClr val="dk2"/>
              </a:solidFill>
            </a:endParaRPr>
          </a:p>
          <a:p>
            <a:pPr indent="0" lvl="0" marL="0" rtl="0" algn="l">
              <a:spcBef>
                <a:spcPts val="0"/>
              </a:spcBef>
              <a:spcAft>
                <a:spcPts val="0"/>
              </a:spcAft>
              <a:buNone/>
            </a:pPr>
            <a:r>
              <a:rPr lang="en" sz="1800">
                <a:solidFill>
                  <a:schemeClr val="dk2"/>
                </a:solidFill>
              </a:rPr>
              <a:t>Average Turnaround = (8.0+11.6+12.0) / 3 = 10.533</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3" name="Google Shape;28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RR (quantum = 2)</a:t>
            </a:r>
            <a:endParaRPr/>
          </a:p>
          <a:p>
            <a:pPr indent="0" lvl="0" marL="0" rtl="0" algn="l">
              <a:spcBef>
                <a:spcPts val="1200"/>
              </a:spcBef>
              <a:spcAft>
                <a:spcPts val="1200"/>
              </a:spcAft>
              <a:buNone/>
            </a:pPr>
            <a:r>
              <a:t/>
            </a:r>
            <a:endParaRPr/>
          </a:p>
        </p:txBody>
      </p:sp>
      <p:pic>
        <p:nvPicPr>
          <p:cNvPr id="284" name="Google Shape;284;p46" title="Screenshot 2025-10-23 at 7.51.09 AM.png"/>
          <p:cNvPicPr preferRelativeResize="0"/>
          <p:nvPr/>
        </p:nvPicPr>
        <p:blipFill>
          <a:blip r:embed="rId3">
            <a:alphaModFix/>
          </a:blip>
          <a:stretch>
            <a:fillRect/>
          </a:stretch>
        </p:blipFill>
        <p:spPr>
          <a:xfrm>
            <a:off x="823700" y="1017725"/>
            <a:ext cx="7109400" cy="2798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RR (quantum = 2)</a:t>
            </a:r>
            <a:endParaRPr/>
          </a:p>
        </p:txBody>
      </p:sp>
      <p:sp>
        <p:nvSpPr>
          <p:cNvPr id="290" name="Google Shape;290;p47"/>
          <p:cNvSpPr txBox="1"/>
          <p:nvPr>
            <p:ph idx="1" type="body"/>
          </p:nvPr>
        </p:nvSpPr>
        <p:spPr>
          <a:xfrm>
            <a:off x="311700" y="1152475"/>
            <a:ext cx="4602900" cy="3908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Ready queue initially: P1, P2, P3, P4, P5. Quantum = 2; run in cyclic order until completion.</a:t>
            </a:r>
            <a:endParaRPr/>
          </a:p>
          <a:p>
            <a:pPr indent="0" lvl="0" marL="0" rtl="0" algn="l">
              <a:spcBef>
                <a:spcPts val="1200"/>
              </a:spcBef>
              <a:spcAft>
                <a:spcPts val="1200"/>
              </a:spcAft>
              <a:buNone/>
            </a:pPr>
            <a:r>
              <a:rPr lang="en"/>
              <a:t>P1 [0–2] (completes)</a:t>
            </a:r>
            <a:br>
              <a:rPr lang="en"/>
            </a:br>
            <a:r>
              <a:rPr lang="en"/>
              <a:t>P2 [2–3] (completes)</a:t>
            </a:r>
            <a:br>
              <a:rPr lang="en"/>
            </a:br>
            <a:r>
              <a:rPr lang="en"/>
              <a:t>P3 [3–5] (rem 6)</a:t>
            </a:r>
            <a:br>
              <a:rPr lang="en"/>
            </a:br>
            <a:r>
              <a:rPr lang="en"/>
              <a:t>P4 [5–7] (rem 2)</a:t>
            </a:r>
            <a:br>
              <a:rPr lang="en"/>
            </a:br>
            <a:r>
              <a:rPr lang="en"/>
              <a:t>P5 [7–9] (rem 3)</a:t>
            </a:r>
            <a:br>
              <a:rPr lang="en"/>
            </a:br>
            <a:r>
              <a:rPr lang="en"/>
              <a:t>P3 [9–11] (rem 4)</a:t>
            </a:r>
            <a:br>
              <a:rPr lang="en"/>
            </a:br>
            <a:r>
              <a:rPr lang="en"/>
              <a:t>P4 [11–13] (completes)</a:t>
            </a:r>
            <a:br>
              <a:rPr lang="en"/>
            </a:br>
            <a:r>
              <a:rPr lang="en"/>
              <a:t>P5 [13–15] (rem 1)</a:t>
            </a:r>
            <a:br>
              <a:rPr lang="en"/>
            </a:br>
            <a:r>
              <a:rPr lang="en"/>
              <a:t>P3 [15–17] (rem 2)</a:t>
            </a:r>
            <a:br>
              <a:rPr lang="en"/>
            </a:br>
            <a:r>
              <a:rPr lang="en"/>
              <a:t>P5 [17–18] (completes)</a:t>
            </a:r>
            <a:br>
              <a:rPr lang="en"/>
            </a:br>
            <a:r>
              <a:rPr lang="en"/>
              <a:t>P3 [18–20] (completes)</a:t>
            </a:r>
            <a:endParaRPr/>
          </a:p>
        </p:txBody>
      </p:sp>
      <p:pic>
        <p:nvPicPr>
          <p:cNvPr id="291" name="Google Shape;291;p47" title="Screenshot 2025-10-23 at 7.51.09 AM.png"/>
          <p:cNvPicPr preferRelativeResize="0"/>
          <p:nvPr/>
        </p:nvPicPr>
        <p:blipFill>
          <a:blip r:embed="rId3">
            <a:alphaModFix/>
          </a:blip>
          <a:stretch>
            <a:fillRect/>
          </a:stretch>
        </p:blipFill>
        <p:spPr>
          <a:xfrm>
            <a:off x="4572000" y="1017725"/>
            <a:ext cx="4208175" cy="1656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chemeClr val="dk2"/>
                </a:solidFill>
              </a:rPr>
              <a:t>SJF (nonpreemptive shortest-job-first)</a:t>
            </a:r>
            <a:endParaRPr/>
          </a:p>
        </p:txBody>
      </p:sp>
      <p:sp>
        <p:nvSpPr>
          <p:cNvPr id="297" name="Google Shape;297;p48"/>
          <p:cNvSpPr txBox="1"/>
          <p:nvPr>
            <p:ph idx="1" type="body"/>
          </p:nvPr>
        </p:nvSpPr>
        <p:spPr>
          <a:xfrm>
            <a:off x="311700" y="1152475"/>
            <a:ext cx="4602900" cy="390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Order by burst length: </a:t>
            </a:r>
            <a:endParaRPr/>
          </a:p>
          <a:p>
            <a:pPr indent="0" lvl="0" marL="0" rtl="0" algn="l">
              <a:spcBef>
                <a:spcPts val="1200"/>
              </a:spcBef>
              <a:spcAft>
                <a:spcPts val="0"/>
              </a:spcAft>
              <a:buNone/>
            </a:pPr>
            <a:r>
              <a:rPr lang="en"/>
              <a:t>P2</a:t>
            </a:r>
            <a:r>
              <a:rPr lang="en"/>
              <a:t>(1); </a:t>
            </a:r>
            <a:r>
              <a:rPr lang="en"/>
              <a:t>P1</a:t>
            </a:r>
            <a:r>
              <a:rPr lang="en"/>
              <a:t>(2); </a:t>
            </a:r>
            <a:r>
              <a:rPr lang="en"/>
              <a:t>P4(4); P5(5); P3(8)</a:t>
            </a:r>
            <a:endParaRPr/>
          </a:p>
          <a:p>
            <a:pPr indent="0" lvl="0" marL="0" rtl="0" algn="l">
              <a:spcBef>
                <a:spcPts val="1200"/>
              </a:spcBef>
              <a:spcAft>
                <a:spcPts val="0"/>
              </a:spcAft>
              <a:buNone/>
            </a:pPr>
            <a:r>
              <a:rPr lang="en"/>
              <a:t>Intervals: </a:t>
            </a:r>
            <a:endParaRPr/>
          </a:p>
          <a:p>
            <a:pPr indent="-342900" lvl="0" marL="457200" rtl="0" algn="l">
              <a:spcBef>
                <a:spcPts val="1200"/>
              </a:spcBef>
              <a:spcAft>
                <a:spcPts val="0"/>
              </a:spcAft>
              <a:buSzPts val="1800"/>
              <a:buChar char="-"/>
            </a:pPr>
            <a:r>
              <a:rPr lang="en"/>
              <a:t>P2 [0–1], </a:t>
            </a:r>
            <a:endParaRPr/>
          </a:p>
          <a:p>
            <a:pPr indent="-342900" lvl="0" marL="457200" rtl="0" algn="l">
              <a:spcBef>
                <a:spcPts val="0"/>
              </a:spcBef>
              <a:spcAft>
                <a:spcPts val="0"/>
              </a:spcAft>
              <a:buSzPts val="1800"/>
              <a:buChar char="-"/>
            </a:pPr>
            <a:r>
              <a:rPr lang="en"/>
              <a:t>P1 [1–3], </a:t>
            </a:r>
            <a:endParaRPr/>
          </a:p>
          <a:p>
            <a:pPr indent="-342900" lvl="0" marL="457200" rtl="0" algn="l">
              <a:spcBef>
                <a:spcPts val="0"/>
              </a:spcBef>
              <a:spcAft>
                <a:spcPts val="0"/>
              </a:spcAft>
              <a:buSzPts val="1800"/>
              <a:buChar char="-"/>
            </a:pPr>
            <a:r>
              <a:rPr lang="en"/>
              <a:t>P4 [3–7], </a:t>
            </a:r>
            <a:endParaRPr/>
          </a:p>
          <a:p>
            <a:pPr indent="-342900" lvl="0" marL="457200" rtl="0" algn="l">
              <a:spcBef>
                <a:spcPts val="0"/>
              </a:spcBef>
              <a:spcAft>
                <a:spcPts val="0"/>
              </a:spcAft>
              <a:buSzPts val="1800"/>
              <a:buChar char="-"/>
            </a:pPr>
            <a:r>
              <a:rPr lang="en"/>
              <a:t>P5 [7–12], </a:t>
            </a:r>
            <a:endParaRPr/>
          </a:p>
          <a:p>
            <a:pPr indent="-342900" lvl="0" marL="457200" rtl="0" algn="l">
              <a:spcBef>
                <a:spcPts val="0"/>
              </a:spcBef>
              <a:spcAft>
                <a:spcPts val="0"/>
              </a:spcAft>
              <a:buSzPts val="1800"/>
              <a:buChar char="-"/>
            </a:pPr>
            <a:r>
              <a:rPr lang="en"/>
              <a:t>P3 [12–20]</a:t>
            </a:r>
            <a:endParaRPr/>
          </a:p>
        </p:txBody>
      </p:sp>
      <p:pic>
        <p:nvPicPr>
          <p:cNvPr id="298" name="Google Shape;298;p48" title="Screenshot 2025-10-23 at 7.51.09 AM.png"/>
          <p:cNvPicPr preferRelativeResize="0"/>
          <p:nvPr/>
        </p:nvPicPr>
        <p:blipFill>
          <a:blip r:embed="rId3">
            <a:alphaModFix/>
          </a:blip>
          <a:stretch>
            <a:fillRect/>
          </a:stretch>
        </p:blipFill>
        <p:spPr>
          <a:xfrm>
            <a:off x="4572000" y="1017725"/>
            <a:ext cx="4208175" cy="1656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