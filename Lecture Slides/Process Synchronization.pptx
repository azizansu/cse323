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5143500" cx="9144000"/>
  <p:notesSz cx="6858000" cy="9144000"/>
  <p:embeddedFontLst>
    <p:embeddedFont>
      <p:font typeface="Roboto Mono"/>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165D865-4BFA-4EEE-A9B8-7328B0EABF65}">
  <a:tblStyle styleId="{1165D865-4BFA-4EEE-A9B8-7328B0EABF6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RobotoMono-bold.fntdata"/><Relationship Id="rId10" Type="http://schemas.openxmlformats.org/officeDocument/2006/relationships/slide" Target="slides/slide4.xml"/><Relationship Id="rId54" Type="http://schemas.openxmlformats.org/officeDocument/2006/relationships/font" Target="fonts/RobotoMono-regular.fntdata"/><Relationship Id="rId13" Type="http://schemas.openxmlformats.org/officeDocument/2006/relationships/slide" Target="slides/slide7.xml"/><Relationship Id="rId57" Type="http://schemas.openxmlformats.org/officeDocument/2006/relationships/font" Target="fonts/RobotoMono-boldItalic.fntdata"/><Relationship Id="rId12" Type="http://schemas.openxmlformats.org/officeDocument/2006/relationships/slide" Target="slides/slide6.xml"/><Relationship Id="rId56" Type="http://schemas.openxmlformats.org/officeDocument/2006/relationships/font" Target="fonts/RobotoMono-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d67bdfd0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d67bdfd0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8d67bdfd0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8d67bdfd0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8d67bdfd0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8d67bdfd0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8d67bdfd0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8d67bdfd0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8d67bdfd0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8d67bdfd0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8d67bdfd01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8d67bdfd01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8d67bdfd01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8d67bdfd01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8d67bdfd01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8d67bdfd0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8d67bdfd01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8d67bdfd01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8d67bdfd01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8d67bdfd01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8d67bdfd01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8d67bdfd01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8d67bdfd01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8d67bdfd01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8d67bdfd01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8d67bdfd01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8d67bdfd01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8d67bdfd01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8d67bdfd01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8d67bdfd01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8d67bdfd01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8d67bdfd01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8d67bdfd01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8d67bdfd01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8d67bdfd01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8d67bdfd01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8d67bdfd01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8d67bdfd01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8d67bdfd01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8d67bdfd01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8d67bdfd01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8d67bdfd01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8d67bdfd01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8d67bdfd01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8d67bdfd01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8d67bdfd01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8d67bdfd01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8d67bdfd01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8d67bdfd01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8d67bdfd01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8e2554024f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8e2554024f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8e2554024f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8e2554024f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8e2554024f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8e2554024f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8e2554024f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8e2554024f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8e2554024f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8e2554024f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8d67bdfd01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8d67bdfd01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8d67bdfd01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8d67bdfd01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8e2554024f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8e2554024f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8e2554024f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8e2554024f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8e2554024f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8e2554024f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8e2554024f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8e2554024f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8e2554024f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8e2554024f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8e2554024f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8e2554024f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8d67bdfd01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8d67bdfd01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8d67bdfd01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8d67bdfd01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8d67bdfd01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8d67bdfd01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8d67bdfd01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8d67bdfd01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8d67bdfd01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8d67bdfd01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8d67bdfd01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8d67bdfd01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8e255402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8e255402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8d67bdfd01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8d67bdfd01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3.png"/><Relationship Id="rId4" Type="http://schemas.openxmlformats.org/officeDocument/2006/relationships/image" Target="../media/image32.png"/><Relationship Id="rId5"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7.png"/><Relationship Id="rId4"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hyperlink" Target="https://www.placementpreparation.io/blog/operating-system-project-ideas-for-beginners/#basic-file-compression-too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Process Synchronization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Process Synchronization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2" name="Google Shape;62;p14" title="Screenshot 2025-10-11 at 7.48.57 AM.png"/>
          <p:cNvPicPr preferRelativeResize="0"/>
          <p:nvPr/>
        </p:nvPicPr>
        <p:blipFill>
          <a:blip r:embed="rId3">
            <a:alphaModFix/>
          </a:blip>
          <a:stretch>
            <a:fillRect/>
          </a:stretch>
        </p:blipFill>
        <p:spPr>
          <a:xfrm>
            <a:off x="311700" y="1490187"/>
            <a:ext cx="4257024" cy="2163125"/>
          </a:xfrm>
          <a:prstGeom prst="rect">
            <a:avLst/>
          </a:prstGeom>
          <a:noFill/>
          <a:ln>
            <a:noFill/>
          </a:ln>
        </p:spPr>
      </p:pic>
      <p:pic>
        <p:nvPicPr>
          <p:cNvPr id="63" name="Google Shape;63;p14" title="Screenshot 2025-10-11 at 7.49.31 AM.png"/>
          <p:cNvPicPr preferRelativeResize="0"/>
          <p:nvPr/>
        </p:nvPicPr>
        <p:blipFill>
          <a:blip r:embed="rId4">
            <a:alphaModFix/>
          </a:blip>
          <a:stretch>
            <a:fillRect/>
          </a:stretch>
        </p:blipFill>
        <p:spPr>
          <a:xfrm>
            <a:off x="4683675" y="1490175"/>
            <a:ext cx="4253369" cy="2163150"/>
          </a:xfrm>
          <a:prstGeom prst="rect">
            <a:avLst/>
          </a:prstGeom>
          <a:noFill/>
          <a:ln>
            <a:noFill/>
          </a:ln>
        </p:spPr>
      </p:pic>
      <p:pic>
        <p:nvPicPr>
          <p:cNvPr id="64" name="Google Shape;64;p14" title="Screenshot 2025-10-11 at 7.50.15 AM.png"/>
          <p:cNvPicPr preferRelativeResize="0"/>
          <p:nvPr/>
        </p:nvPicPr>
        <p:blipFill>
          <a:blip r:embed="rId5">
            <a:alphaModFix/>
          </a:blip>
          <a:stretch>
            <a:fillRect/>
          </a:stretch>
        </p:blipFill>
        <p:spPr>
          <a:xfrm>
            <a:off x="623450" y="3578025"/>
            <a:ext cx="2311950" cy="990850"/>
          </a:xfrm>
          <a:prstGeom prst="rect">
            <a:avLst/>
          </a:prstGeom>
          <a:noFill/>
          <a:ln>
            <a:noFill/>
          </a:ln>
        </p:spPr>
      </p:pic>
      <p:pic>
        <p:nvPicPr>
          <p:cNvPr id="65" name="Google Shape;65;p14" title="Screenshot 2025-10-11 at 7.51.05 AM.png"/>
          <p:cNvPicPr preferRelativeResize="0"/>
          <p:nvPr/>
        </p:nvPicPr>
        <p:blipFill>
          <a:blip r:embed="rId6">
            <a:alphaModFix/>
          </a:blip>
          <a:stretch>
            <a:fillRect/>
          </a:stretch>
        </p:blipFill>
        <p:spPr>
          <a:xfrm>
            <a:off x="5513675" y="3604773"/>
            <a:ext cx="2126700" cy="937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1" name="Google Shape;71;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2" name="Google Shape;72;p15" title="Screenshot 2025-10-11 at 7.48.57 AM.png"/>
          <p:cNvPicPr preferRelativeResize="0"/>
          <p:nvPr/>
        </p:nvPicPr>
        <p:blipFill>
          <a:blip r:embed="rId3">
            <a:alphaModFix/>
          </a:blip>
          <a:stretch>
            <a:fillRect/>
          </a:stretch>
        </p:blipFill>
        <p:spPr>
          <a:xfrm>
            <a:off x="360450" y="1170924"/>
            <a:ext cx="3154530" cy="1602925"/>
          </a:xfrm>
          <a:prstGeom prst="rect">
            <a:avLst/>
          </a:prstGeom>
          <a:noFill/>
          <a:ln>
            <a:noFill/>
          </a:ln>
        </p:spPr>
      </p:pic>
      <p:pic>
        <p:nvPicPr>
          <p:cNvPr id="73" name="Google Shape;73;p15" title="Screenshot 2025-10-11 at 7.49.31 AM.png"/>
          <p:cNvPicPr preferRelativeResize="0"/>
          <p:nvPr/>
        </p:nvPicPr>
        <p:blipFill>
          <a:blip r:embed="rId4">
            <a:alphaModFix/>
          </a:blip>
          <a:stretch>
            <a:fillRect/>
          </a:stretch>
        </p:blipFill>
        <p:spPr>
          <a:xfrm>
            <a:off x="409126" y="3078025"/>
            <a:ext cx="2913700" cy="1481815"/>
          </a:xfrm>
          <a:prstGeom prst="rect">
            <a:avLst/>
          </a:prstGeom>
          <a:noFill/>
          <a:ln>
            <a:noFill/>
          </a:ln>
        </p:spPr>
      </p:pic>
      <p:pic>
        <p:nvPicPr>
          <p:cNvPr id="74" name="Google Shape;74;p15" title="Screenshot 2025-10-11 at 7.51.52 AM.png"/>
          <p:cNvPicPr preferRelativeResize="0"/>
          <p:nvPr/>
        </p:nvPicPr>
        <p:blipFill>
          <a:blip r:embed="rId5">
            <a:alphaModFix/>
          </a:blip>
          <a:stretch>
            <a:fillRect/>
          </a:stretch>
        </p:blipFill>
        <p:spPr>
          <a:xfrm>
            <a:off x="3322825" y="1845550"/>
            <a:ext cx="5509474" cy="1602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Critical-Section Problem</a:t>
            </a:r>
            <a:endParaRPr/>
          </a:p>
        </p:txBody>
      </p:sp>
      <p:sp>
        <p:nvSpPr>
          <p:cNvPr id="80" name="Google Shape;80;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 </a:t>
            </a:r>
            <a:r>
              <a:rPr b="1" lang="en"/>
              <a:t>Mutual exclusion</a:t>
            </a:r>
            <a:r>
              <a:rPr lang="en"/>
              <a:t>. If process Pi is executing in its critical section, then no other processes can be executing in their critical sections.</a:t>
            </a:r>
            <a:endParaRPr/>
          </a:p>
          <a:p>
            <a:pPr indent="0" lvl="0" marL="0" rtl="0" algn="l">
              <a:spcBef>
                <a:spcPts val="1200"/>
              </a:spcBef>
              <a:spcAft>
                <a:spcPts val="0"/>
              </a:spcAft>
              <a:buNone/>
            </a:pPr>
            <a:r>
              <a:rPr lang="en"/>
              <a:t>2. </a:t>
            </a:r>
            <a:r>
              <a:rPr b="1" lang="en"/>
              <a:t>Progress.</a:t>
            </a:r>
            <a:r>
              <a:rPr lang="en"/>
              <a:t> If no process is executing in its critical section and some processes wish to enter their critical sections, then only those processes that are not executing in their remainder sections can participate in deciding which will enter its critical section next, and this selection cannot be postponed indefinitely.</a:t>
            </a:r>
            <a:endParaRPr/>
          </a:p>
          <a:p>
            <a:pPr indent="0" lvl="0" marL="0" rtl="0" algn="l">
              <a:spcBef>
                <a:spcPts val="1200"/>
              </a:spcBef>
              <a:spcAft>
                <a:spcPts val="1200"/>
              </a:spcAft>
              <a:buNone/>
            </a:pPr>
            <a:r>
              <a:rPr b="1" lang="en"/>
              <a:t>3. Bounded waiting.</a:t>
            </a:r>
            <a:r>
              <a:rPr lang="en"/>
              <a:t> There exists a bound, or limit, on the number of times that other processes are allowed to enter their critical sections after a process has made a request to enter its critical section and before that request is granted.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6" name="Google Shape;86;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7" name="Google Shape;87;p17" title="Screenshot 2025-10-11 at 7.53.42 AM.png"/>
          <p:cNvPicPr preferRelativeResize="0"/>
          <p:nvPr/>
        </p:nvPicPr>
        <p:blipFill>
          <a:blip r:embed="rId3">
            <a:alphaModFix/>
          </a:blip>
          <a:stretch>
            <a:fillRect/>
          </a:stretch>
        </p:blipFill>
        <p:spPr>
          <a:xfrm>
            <a:off x="2551575" y="1152475"/>
            <a:ext cx="4039373" cy="33578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Peterson’s Solution</a:t>
            </a:r>
            <a:endParaRPr/>
          </a:p>
        </p:txBody>
      </p:sp>
      <p:sp>
        <p:nvSpPr>
          <p:cNvPr id="93" name="Google Shape;93;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4" name="Google Shape;94;p18" title="Screenshot 2025-10-11 at 7.54.37 AM.png"/>
          <p:cNvPicPr preferRelativeResize="0"/>
          <p:nvPr/>
        </p:nvPicPr>
        <p:blipFill>
          <a:blip r:embed="rId3">
            <a:alphaModFix/>
          </a:blip>
          <a:stretch>
            <a:fillRect/>
          </a:stretch>
        </p:blipFill>
        <p:spPr>
          <a:xfrm>
            <a:off x="311700" y="1152475"/>
            <a:ext cx="5255799" cy="1010125"/>
          </a:xfrm>
          <a:prstGeom prst="rect">
            <a:avLst/>
          </a:prstGeom>
          <a:noFill/>
          <a:ln>
            <a:noFill/>
          </a:ln>
        </p:spPr>
      </p:pic>
      <p:pic>
        <p:nvPicPr>
          <p:cNvPr id="95" name="Google Shape;95;p18" title="Screenshot 2025-10-11 at 7.55.23 AM.png"/>
          <p:cNvPicPr preferRelativeResize="0"/>
          <p:nvPr/>
        </p:nvPicPr>
        <p:blipFill>
          <a:blip r:embed="rId4">
            <a:alphaModFix/>
          </a:blip>
          <a:stretch>
            <a:fillRect/>
          </a:stretch>
        </p:blipFill>
        <p:spPr>
          <a:xfrm>
            <a:off x="3704920" y="1490950"/>
            <a:ext cx="4882425" cy="2844125"/>
          </a:xfrm>
          <a:prstGeom prst="rect">
            <a:avLst/>
          </a:prstGeom>
          <a:noFill/>
          <a:ln>
            <a:noFill/>
          </a:ln>
        </p:spPr>
      </p:pic>
      <p:sp>
        <p:nvSpPr>
          <p:cNvPr id="96" name="Google Shape;96;p18"/>
          <p:cNvSpPr txBox="1"/>
          <p:nvPr/>
        </p:nvSpPr>
        <p:spPr>
          <a:xfrm>
            <a:off x="399400" y="2601175"/>
            <a:ext cx="3146400" cy="19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We now prove that this solution is correct. We need to show that:</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Mutual exclusion is preserved.</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The progress requirement is satisfied. </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The bounded-waiting requirement is met.</a:t>
            </a:r>
            <a:endParaRPr sz="12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2" name="Google Shape;10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3" name="Google Shape;103;p19" title="Screenshot 2025-10-11 at 7.57.04 AM.png"/>
          <p:cNvPicPr preferRelativeResize="0"/>
          <p:nvPr/>
        </p:nvPicPr>
        <p:blipFill>
          <a:blip r:embed="rId3">
            <a:alphaModFix/>
          </a:blip>
          <a:stretch>
            <a:fillRect/>
          </a:stretch>
        </p:blipFill>
        <p:spPr>
          <a:xfrm>
            <a:off x="1043375" y="1152474"/>
            <a:ext cx="6441326" cy="33231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9" name="Google Shape;10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0" name="Google Shape;110;p20" title="Screenshot 2025-10-11 at 7.57.26 AM.png"/>
          <p:cNvPicPr preferRelativeResize="0"/>
          <p:nvPr/>
        </p:nvPicPr>
        <p:blipFill>
          <a:blip r:embed="rId3">
            <a:alphaModFix/>
          </a:blip>
          <a:stretch>
            <a:fillRect/>
          </a:stretch>
        </p:blipFill>
        <p:spPr>
          <a:xfrm>
            <a:off x="694000" y="1304977"/>
            <a:ext cx="7375202" cy="2844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Memory Barriers</a:t>
            </a:r>
            <a:endParaRPr/>
          </a:p>
        </p:txBody>
      </p:sp>
      <p:sp>
        <p:nvSpPr>
          <p:cNvPr id="116" name="Google Shape;11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 </a:t>
            </a:r>
            <a:r>
              <a:rPr b="1" lang="en"/>
              <a:t>Strongly ordered,</a:t>
            </a:r>
            <a:r>
              <a:rPr lang="en"/>
              <a:t> where a memory modification on one processor is immediately visible to all other processors.</a:t>
            </a:r>
            <a:endParaRPr/>
          </a:p>
          <a:p>
            <a:pPr indent="0" lvl="0" marL="0" rtl="0" algn="l">
              <a:spcBef>
                <a:spcPts val="1200"/>
              </a:spcBef>
              <a:spcAft>
                <a:spcPts val="1200"/>
              </a:spcAft>
              <a:buNone/>
            </a:pPr>
            <a:r>
              <a:rPr lang="en"/>
              <a:t>2. </a:t>
            </a:r>
            <a:r>
              <a:rPr b="1" lang="en"/>
              <a:t>Weakly ordered,</a:t>
            </a:r>
            <a:r>
              <a:rPr lang="en"/>
              <a:t> where modifications to memory on one processor may not be immediately visible to other processors.</a:t>
            </a:r>
            <a:endParaRPr/>
          </a:p>
        </p:txBody>
      </p:sp>
      <p:pic>
        <p:nvPicPr>
          <p:cNvPr id="117" name="Google Shape;117;p21" title="Screenshot 2025-10-11 at 7.58.27 AM.png"/>
          <p:cNvPicPr preferRelativeResize="0"/>
          <p:nvPr/>
        </p:nvPicPr>
        <p:blipFill>
          <a:blip r:embed="rId3">
            <a:alphaModFix/>
          </a:blip>
          <a:stretch>
            <a:fillRect/>
          </a:stretch>
        </p:blipFill>
        <p:spPr>
          <a:xfrm>
            <a:off x="1773788" y="2678904"/>
            <a:ext cx="5421074" cy="22391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test_and_set()</a:t>
            </a:r>
            <a:endParaRPr/>
          </a:p>
        </p:txBody>
      </p:sp>
      <p:sp>
        <p:nvSpPr>
          <p:cNvPr id="123" name="Google Shape;12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4" name="Google Shape;124;p22" title="Screenshot 2025-10-11 at 7.59.13 AM.png"/>
          <p:cNvPicPr preferRelativeResize="0"/>
          <p:nvPr/>
        </p:nvPicPr>
        <p:blipFill>
          <a:blip r:embed="rId3">
            <a:alphaModFix/>
          </a:blip>
          <a:stretch>
            <a:fillRect/>
          </a:stretch>
        </p:blipFill>
        <p:spPr>
          <a:xfrm>
            <a:off x="175300" y="1075905"/>
            <a:ext cx="4260299" cy="1739370"/>
          </a:xfrm>
          <a:prstGeom prst="rect">
            <a:avLst/>
          </a:prstGeom>
          <a:noFill/>
          <a:ln>
            <a:noFill/>
          </a:ln>
        </p:spPr>
      </p:pic>
      <p:pic>
        <p:nvPicPr>
          <p:cNvPr id="125" name="Google Shape;125;p22" title="Screenshot 2025-10-11 at 7.59.47 AM.png"/>
          <p:cNvPicPr preferRelativeResize="0"/>
          <p:nvPr/>
        </p:nvPicPr>
        <p:blipFill>
          <a:blip r:embed="rId4">
            <a:alphaModFix/>
          </a:blip>
          <a:stretch>
            <a:fillRect/>
          </a:stretch>
        </p:blipFill>
        <p:spPr>
          <a:xfrm>
            <a:off x="4178975" y="2107251"/>
            <a:ext cx="4815651" cy="24616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test_and_set()</a:t>
            </a:r>
            <a:endParaRPr/>
          </a:p>
        </p:txBody>
      </p:sp>
      <p:sp>
        <p:nvSpPr>
          <p:cNvPr id="131" name="Google Shape;131;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graphicFrame>
        <p:nvGraphicFramePr>
          <p:cNvPr id="132" name="Google Shape;132;p23"/>
          <p:cNvGraphicFramePr/>
          <p:nvPr/>
        </p:nvGraphicFramePr>
        <p:xfrm>
          <a:off x="952500" y="1809750"/>
          <a:ext cx="3000000" cy="3000000"/>
        </p:xfrm>
        <a:graphic>
          <a:graphicData uri="http://schemas.openxmlformats.org/drawingml/2006/table">
            <a:tbl>
              <a:tblPr>
                <a:noFill/>
                <a:tableStyleId>{1165D865-4BFA-4EEE-A9B8-7328B0EABF65}</a:tableStyleId>
              </a:tblPr>
              <a:tblGrid>
                <a:gridCol w="1960100"/>
                <a:gridCol w="5278900"/>
              </a:tblGrid>
              <a:tr h="381000">
                <a:tc>
                  <a:txBody>
                    <a:bodyPr/>
                    <a:lstStyle/>
                    <a:p>
                      <a:pPr indent="0" lvl="0" marL="0" rtl="0" algn="l">
                        <a:spcBef>
                          <a:spcPts val="0"/>
                        </a:spcBef>
                        <a:spcAft>
                          <a:spcPts val="0"/>
                        </a:spcAft>
                        <a:buNone/>
                      </a:pPr>
                      <a:r>
                        <a:rPr lang="en"/>
                        <a:t>Property</a:t>
                      </a:r>
                      <a:endParaRPr/>
                    </a:p>
                  </a:txBody>
                  <a:tcPr marT="91425" marB="91425" marR="91425" marL="91425"/>
                </a:tc>
                <a:tc>
                  <a:txBody>
                    <a:bodyPr/>
                    <a:lstStyle/>
                    <a:p>
                      <a:pPr indent="0" lvl="0" marL="0" rtl="0" algn="l">
                        <a:spcBef>
                          <a:spcPts val="0"/>
                        </a:spcBef>
                        <a:spcAft>
                          <a:spcPts val="0"/>
                        </a:spcAft>
                        <a:buNone/>
                      </a:pPr>
                      <a:r>
                        <a:rPr lang="en"/>
                        <a:t>Description</a:t>
                      </a:r>
                      <a:endParaRPr/>
                    </a:p>
                  </a:txBody>
                  <a:tcPr marT="91425" marB="91425" marR="91425" marL="91425"/>
                </a:tc>
              </a:tr>
              <a:tr h="381000">
                <a:tc>
                  <a:txBody>
                    <a:bodyPr/>
                    <a:lstStyle/>
                    <a:p>
                      <a:pPr indent="0" lvl="0" marL="0" rtl="0" algn="l">
                        <a:spcBef>
                          <a:spcPts val="0"/>
                        </a:spcBef>
                        <a:spcAft>
                          <a:spcPts val="0"/>
                        </a:spcAft>
                        <a:buNone/>
                      </a:pPr>
                      <a:r>
                        <a:rPr lang="en"/>
                        <a:t>Mutual Exclusion</a:t>
                      </a:r>
                      <a:endParaRPr/>
                    </a:p>
                  </a:txBody>
                  <a:tcPr marT="91425" marB="91425" marR="91425" marL="91425"/>
                </a:tc>
                <a:tc>
                  <a:txBody>
                    <a:bodyPr/>
                    <a:lstStyle/>
                    <a:p>
                      <a:pPr indent="0" lvl="0" marL="0" rtl="0" algn="l">
                        <a:spcBef>
                          <a:spcPts val="0"/>
                        </a:spcBef>
                        <a:spcAft>
                          <a:spcPts val="0"/>
                        </a:spcAft>
                        <a:buNone/>
                      </a:pPr>
                      <a:r>
                        <a:rPr lang="en"/>
                        <a:t>Achieved (only one process can set lock to true first)</a:t>
                      </a:r>
                      <a:endParaRPr/>
                    </a:p>
                  </a:txBody>
                  <a:tcPr marT="91425" marB="91425" marR="91425" marL="91425"/>
                </a:tc>
              </a:tr>
              <a:tr h="381000">
                <a:tc>
                  <a:txBody>
                    <a:bodyPr/>
                    <a:lstStyle/>
                    <a:p>
                      <a:pPr indent="0" lvl="0" marL="0" rtl="0" algn="l">
                        <a:spcBef>
                          <a:spcPts val="0"/>
                        </a:spcBef>
                        <a:spcAft>
                          <a:spcPts val="0"/>
                        </a:spcAft>
                        <a:buNone/>
                      </a:pPr>
                      <a:r>
                        <a:rPr lang="en"/>
                        <a:t>Progress</a:t>
                      </a:r>
                      <a:endParaRPr/>
                    </a:p>
                  </a:txBody>
                  <a:tcPr marT="91425" marB="91425" marR="91425" marL="91425"/>
                </a:tc>
                <a:tc>
                  <a:txBody>
                    <a:bodyPr/>
                    <a:lstStyle/>
                    <a:p>
                      <a:pPr indent="0" lvl="0" marL="0" rtl="0" algn="l">
                        <a:spcBef>
                          <a:spcPts val="0"/>
                        </a:spcBef>
                        <a:spcAft>
                          <a:spcPts val="0"/>
                        </a:spcAft>
                        <a:buNone/>
                      </a:pPr>
                      <a:r>
                        <a:rPr lang="en"/>
                        <a:t>As soon as lock is false, one waiting process can enter.</a:t>
                      </a:r>
                      <a:endParaRPr/>
                    </a:p>
                  </a:txBody>
                  <a:tcPr marT="91425" marB="91425" marR="91425" marL="91425"/>
                </a:tc>
              </a:tr>
              <a:tr h="381000">
                <a:tc>
                  <a:txBody>
                    <a:bodyPr/>
                    <a:lstStyle/>
                    <a:p>
                      <a:pPr indent="0" lvl="0" marL="0" rtl="0" algn="l">
                        <a:spcBef>
                          <a:spcPts val="0"/>
                        </a:spcBef>
                        <a:spcAft>
                          <a:spcPts val="0"/>
                        </a:spcAft>
                        <a:buNone/>
                      </a:pPr>
                      <a:r>
                        <a:rPr lang="en"/>
                        <a:t>Bounded Waiting</a:t>
                      </a:r>
                      <a:endParaRPr/>
                    </a:p>
                  </a:txBody>
                  <a:tcPr marT="91425" marB="91425" marR="91425" marL="91425"/>
                </a:tc>
                <a:tc>
                  <a:txBody>
                    <a:bodyPr/>
                    <a:lstStyle/>
                    <a:p>
                      <a:pPr indent="0" lvl="0" marL="0" rtl="0" algn="l">
                        <a:spcBef>
                          <a:spcPts val="0"/>
                        </a:spcBef>
                        <a:spcAft>
                          <a:spcPts val="0"/>
                        </a:spcAft>
                        <a:buNone/>
                      </a:pPr>
                      <a:r>
                        <a:rPr lang="en"/>
                        <a:t>Not guaranteed; a process could theoretically spin forever if unlucky</a:t>
                      </a:r>
                      <a:endParaRPr/>
                    </a:p>
                  </a:txBody>
                  <a:tcPr marT="91425" marB="91425" marR="91425" marL="91425"/>
                </a:tc>
              </a:tr>
              <a:tr h="381000">
                <a:tc>
                  <a:txBody>
                    <a:bodyPr/>
                    <a:lstStyle/>
                    <a:p>
                      <a:pPr indent="0" lvl="0" marL="0" rtl="0" algn="l">
                        <a:spcBef>
                          <a:spcPts val="0"/>
                        </a:spcBef>
                        <a:spcAft>
                          <a:spcPts val="0"/>
                        </a:spcAft>
                        <a:buNone/>
                      </a:pPr>
                      <a:r>
                        <a:rPr lang="en"/>
                        <a:t>Busy Waiting</a:t>
                      </a:r>
                      <a:endParaRPr/>
                    </a:p>
                  </a:txBody>
                  <a:tcPr marT="91425" marB="91425" marR="91425" marL="91425"/>
                </a:tc>
                <a:tc>
                  <a:txBody>
                    <a:bodyPr/>
                    <a:lstStyle/>
                    <a:p>
                      <a:pPr indent="0" lvl="0" marL="0" rtl="0" algn="l">
                        <a:spcBef>
                          <a:spcPts val="0"/>
                        </a:spcBef>
                        <a:spcAft>
                          <a:spcPts val="0"/>
                        </a:spcAft>
                        <a:buNone/>
                      </a:pPr>
                      <a:r>
                        <a:rPr lang="en"/>
                        <a:t>Yes — wastes CPU time in the while loop.</a:t>
                      </a:r>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compare_and_swap()</a:t>
            </a:r>
            <a:endParaRPr/>
          </a:p>
        </p:txBody>
      </p:sp>
      <p:sp>
        <p:nvSpPr>
          <p:cNvPr id="138" name="Google Shape;138;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9" name="Google Shape;139;p24" title="Screenshot 2025-10-11 at 8.00.52 AM.png"/>
          <p:cNvPicPr preferRelativeResize="0"/>
          <p:nvPr/>
        </p:nvPicPr>
        <p:blipFill>
          <a:blip r:embed="rId3">
            <a:alphaModFix/>
          </a:blip>
          <a:stretch>
            <a:fillRect/>
          </a:stretch>
        </p:blipFill>
        <p:spPr>
          <a:xfrm>
            <a:off x="311700" y="1152475"/>
            <a:ext cx="4180574" cy="1902325"/>
          </a:xfrm>
          <a:prstGeom prst="rect">
            <a:avLst/>
          </a:prstGeom>
          <a:noFill/>
          <a:ln>
            <a:noFill/>
          </a:ln>
        </p:spPr>
      </p:pic>
      <p:pic>
        <p:nvPicPr>
          <p:cNvPr id="140" name="Google Shape;140;p24" title="Screenshot 2025-10-11 at 8.01.19 AM.png"/>
          <p:cNvPicPr preferRelativeResize="0"/>
          <p:nvPr/>
        </p:nvPicPr>
        <p:blipFill>
          <a:blip r:embed="rId4">
            <a:alphaModFix/>
          </a:blip>
          <a:stretch>
            <a:fillRect/>
          </a:stretch>
        </p:blipFill>
        <p:spPr>
          <a:xfrm>
            <a:off x="4755291" y="2415525"/>
            <a:ext cx="3908834" cy="1902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compare_and_swap()</a:t>
            </a:r>
            <a:endParaRPr/>
          </a:p>
        </p:txBody>
      </p:sp>
      <p:sp>
        <p:nvSpPr>
          <p:cNvPr id="146" name="Google Shape;146;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graphicFrame>
        <p:nvGraphicFramePr>
          <p:cNvPr id="147" name="Google Shape;147;p25"/>
          <p:cNvGraphicFramePr/>
          <p:nvPr/>
        </p:nvGraphicFramePr>
        <p:xfrm>
          <a:off x="952500" y="1809750"/>
          <a:ext cx="3000000" cy="3000000"/>
        </p:xfrm>
        <a:graphic>
          <a:graphicData uri="http://schemas.openxmlformats.org/drawingml/2006/table">
            <a:tbl>
              <a:tblPr>
                <a:noFill/>
                <a:tableStyleId>{1165D865-4BFA-4EEE-A9B8-7328B0EABF65}</a:tableStyleId>
              </a:tblPr>
              <a:tblGrid>
                <a:gridCol w="1960100"/>
                <a:gridCol w="5278900"/>
              </a:tblGrid>
              <a:tr h="381000">
                <a:tc>
                  <a:txBody>
                    <a:bodyPr/>
                    <a:lstStyle/>
                    <a:p>
                      <a:pPr indent="0" lvl="0" marL="0" rtl="0" algn="l">
                        <a:spcBef>
                          <a:spcPts val="0"/>
                        </a:spcBef>
                        <a:spcAft>
                          <a:spcPts val="0"/>
                        </a:spcAft>
                        <a:buNone/>
                      </a:pPr>
                      <a:r>
                        <a:rPr lang="en"/>
                        <a:t>Property</a:t>
                      </a:r>
                      <a:endParaRPr/>
                    </a:p>
                  </a:txBody>
                  <a:tcPr marT="91425" marB="91425" marR="91425" marL="91425"/>
                </a:tc>
                <a:tc>
                  <a:txBody>
                    <a:bodyPr/>
                    <a:lstStyle/>
                    <a:p>
                      <a:pPr indent="0" lvl="0" marL="0" rtl="0" algn="l">
                        <a:spcBef>
                          <a:spcPts val="0"/>
                        </a:spcBef>
                        <a:spcAft>
                          <a:spcPts val="0"/>
                        </a:spcAft>
                        <a:buNone/>
                      </a:pPr>
                      <a:r>
                        <a:rPr lang="en"/>
                        <a:t>Description</a:t>
                      </a:r>
                      <a:endParaRPr/>
                    </a:p>
                  </a:txBody>
                  <a:tcPr marT="91425" marB="91425" marR="91425" marL="91425"/>
                </a:tc>
              </a:tr>
              <a:tr h="381000">
                <a:tc>
                  <a:txBody>
                    <a:bodyPr/>
                    <a:lstStyle/>
                    <a:p>
                      <a:pPr indent="0" lvl="0" marL="0" rtl="0" algn="l">
                        <a:spcBef>
                          <a:spcPts val="0"/>
                        </a:spcBef>
                        <a:spcAft>
                          <a:spcPts val="0"/>
                        </a:spcAft>
                        <a:buNone/>
                      </a:pPr>
                      <a:r>
                        <a:rPr lang="en"/>
                        <a:t>Mutual Exclusion</a:t>
                      </a:r>
                      <a:endParaRPr/>
                    </a:p>
                  </a:txBody>
                  <a:tcPr marT="91425" marB="91425" marR="91425" marL="91425"/>
                </a:tc>
                <a:tc>
                  <a:txBody>
                    <a:bodyPr/>
                    <a:lstStyle/>
                    <a:p>
                      <a:pPr indent="0" lvl="0" marL="0" rtl="0" algn="l">
                        <a:spcBef>
                          <a:spcPts val="0"/>
                        </a:spcBef>
                        <a:spcAft>
                          <a:spcPts val="0"/>
                        </a:spcAft>
                        <a:buNone/>
                      </a:pPr>
                      <a:r>
                        <a:rPr lang="en"/>
                        <a:t>Yes — only one process sets lock to 1 successfully.</a:t>
                      </a:r>
                      <a:endParaRPr/>
                    </a:p>
                  </a:txBody>
                  <a:tcPr marT="91425" marB="91425" marR="91425" marL="91425"/>
                </a:tc>
              </a:tr>
              <a:tr h="381000">
                <a:tc>
                  <a:txBody>
                    <a:bodyPr/>
                    <a:lstStyle/>
                    <a:p>
                      <a:pPr indent="0" lvl="0" marL="0" rtl="0" algn="l">
                        <a:spcBef>
                          <a:spcPts val="0"/>
                        </a:spcBef>
                        <a:spcAft>
                          <a:spcPts val="0"/>
                        </a:spcAft>
                        <a:buNone/>
                      </a:pPr>
                      <a:r>
                        <a:rPr lang="en"/>
                        <a:t>Progress</a:t>
                      </a:r>
                      <a:endParaRPr/>
                    </a:p>
                  </a:txBody>
                  <a:tcPr marT="91425" marB="91425" marR="91425" marL="91425"/>
                </a:tc>
                <a:tc>
                  <a:txBody>
                    <a:bodyPr/>
                    <a:lstStyle/>
                    <a:p>
                      <a:pPr indent="0" lvl="0" marL="0" rtl="0" algn="l">
                        <a:spcBef>
                          <a:spcPts val="0"/>
                        </a:spcBef>
                        <a:spcAft>
                          <a:spcPts val="0"/>
                        </a:spcAft>
                        <a:buNone/>
                      </a:pPr>
                      <a:r>
                        <a:rPr lang="en"/>
                        <a:t>Yes — as soon as lock = 0, one waiting process will enter.</a:t>
                      </a:r>
                      <a:endParaRPr/>
                    </a:p>
                  </a:txBody>
                  <a:tcPr marT="91425" marB="91425" marR="91425" marL="91425"/>
                </a:tc>
              </a:tr>
              <a:tr h="381000">
                <a:tc>
                  <a:txBody>
                    <a:bodyPr/>
                    <a:lstStyle/>
                    <a:p>
                      <a:pPr indent="0" lvl="0" marL="0" rtl="0" algn="l">
                        <a:spcBef>
                          <a:spcPts val="0"/>
                        </a:spcBef>
                        <a:spcAft>
                          <a:spcPts val="0"/>
                        </a:spcAft>
                        <a:buNone/>
                      </a:pPr>
                      <a:r>
                        <a:rPr lang="en"/>
                        <a:t>Bounded Waiting</a:t>
                      </a:r>
                      <a:endParaRPr/>
                    </a:p>
                  </a:txBody>
                  <a:tcPr marT="91425" marB="91425" marR="91425" marL="91425"/>
                </a:tc>
                <a:tc>
                  <a:txBody>
                    <a:bodyPr/>
                    <a:lstStyle/>
                    <a:p>
                      <a:pPr indent="0" lvl="0" marL="0" rtl="0" algn="l">
                        <a:spcBef>
                          <a:spcPts val="0"/>
                        </a:spcBef>
                        <a:spcAft>
                          <a:spcPts val="0"/>
                        </a:spcAft>
                        <a:buNone/>
                      </a:pPr>
                      <a:r>
                        <a:rPr lang="en"/>
                        <a:t>Not guaranteed; a process could theoretically spin forever if unlucky</a:t>
                      </a:r>
                      <a:endParaRPr/>
                    </a:p>
                  </a:txBody>
                  <a:tcPr marT="91425" marB="91425" marR="91425" marL="91425"/>
                </a:tc>
              </a:tr>
              <a:tr h="381000">
                <a:tc>
                  <a:txBody>
                    <a:bodyPr/>
                    <a:lstStyle/>
                    <a:p>
                      <a:pPr indent="0" lvl="0" marL="0" rtl="0" algn="l">
                        <a:spcBef>
                          <a:spcPts val="0"/>
                        </a:spcBef>
                        <a:spcAft>
                          <a:spcPts val="0"/>
                        </a:spcAft>
                        <a:buNone/>
                      </a:pPr>
                      <a:r>
                        <a:rPr lang="en"/>
                        <a:t>Busy Waiting</a:t>
                      </a:r>
                      <a:endParaRPr/>
                    </a:p>
                  </a:txBody>
                  <a:tcPr marT="91425" marB="91425" marR="91425" marL="91425"/>
                </a:tc>
                <a:tc>
                  <a:txBody>
                    <a:bodyPr/>
                    <a:lstStyle/>
                    <a:p>
                      <a:pPr indent="0" lvl="0" marL="0" rtl="0" algn="l">
                        <a:spcBef>
                          <a:spcPts val="0"/>
                        </a:spcBef>
                        <a:spcAft>
                          <a:spcPts val="0"/>
                        </a:spcAft>
                        <a:buNone/>
                      </a:pPr>
                      <a:r>
                        <a:rPr lang="en"/>
                        <a:t>Yes — still spins in while loop.</a:t>
                      </a:r>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Atomic variable</a:t>
            </a:r>
            <a:endParaRPr/>
          </a:p>
        </p:txBody>
      </p:sp>
      <p:sp>
        <p:nvSpPr>
          <p:cNvPr id="153" name="Google Shape;15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Atomic variables can be used in to ensure mutual exclusion in situations where there may be a data race on a single variable while it is being updated, as when a counter is incremented.</a:t>
            </a:r>
            <a:endParaRPr/>
          </a:p>
          <a:p>
            <a:pPr indent="-342900" lvl="0" marL="457200" rtl="0" algn="l">
              <a:spcBef>
                <a:spcPts val="1200"/>
              </a:spcBef>
              <a:spcAft>
                <a:spcPts val="0"/>
              </a:spcAft>
              <a:buSzPts val="1800"/>
              <a:buChar char="-"/>
            </a:pPr>
            <a:r>
              <a:rPr lang="en"/>
              <a:t>Counter</a:t>
            </a:r>
            <a:endParaRPr/>
          </a:p>
          <a:p>
            <a:pPr indent="-342900" lvl="0" marL="457200" rtl="0" algn="l">
              <a:spcBef>
                <a:spcPts val="0"/>
              </a:spcBef>
              <a:spcAft>
                <a:spcPts val="0"/>
              </a:spcAft>
              <a:buSzPts val="1800"/>
              <a:buChar char="-"/>
            </a:pPr>
            <a:r>
              <a:rPr lang="en"/>
              <a:t>Integer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Mutex Locks</a:t>
            </a:r>
            <a:endParaRPr/>
          </a:p>
        </p:txBody>
      </p:sp>
      <p:sp>
        <p:nvSpPr>
          <p:cNvPr id="159" name="Google Shape;15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operating-system designers build higher-level software tools to solve the critical-section problem. The simplest of these tools is the mutex lock.</a:t>
            </a:r>
            <a:endParaRPr/>
          </a:p>
        </p:txBody>
      </p:sp>
      <p:pic>
        <p:nvPicPr>
          <p:cNvPr id="160" name="Google Shape;160;p27" title="Screenshot 2025-10-11 at 8.03.25 AM.png"/>
          <p:cNvPicPr preferRelativeResize="0"/>
          <p:nvPr/>
        </p:nvPicPr>
        <p:blipFill>
          <a:blip r:embed="rId3">
            <a:alphaModFix/>
          </a:blip>
          <a:stretch>
            <a:fillRect/>
          </a:stretch>
        </p:blipFill>
        <p:spPr>
          <a:xfrm>
            <a:off x="2368100" y="2006325"/>
            <a:ext cx="4454174" cy="23091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acquire() and release() functions</a:t>
            </a:r>
            <a:endParaRPr/>
          </a:p>
        </p:txBody>
      </p:sp>
      <p:sp>
        <p:nvSpPr>
          <p:cNvPr id="166" name="Google Shape;16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7" name="Google Shape;167;p28" title="Screenshot 2025-10-11 at 8.03.52 AM.png"/>
          <p:cNvPicPr preferRelativeResize="0"/>
          <p:nvPr/>
        </p:nvPicPr>
        <p:blipFill>
          <a:blip r:embed="rId3">
            <a:alphaModFix/>
          </a:blip>
          <a:stretch>
            <a:fillRect/>
          </a:stretch>
        </p:blipFill>
        <p:spPr>
          <a:xfrm>
            <a:off x="1613300" y="1298549"/>
            <a:ext cx="4666901" cy="27831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Semaphores</a:t>
            </a:r>
            <a:endParaRPr/>
          </a:p>
        </p:txBody>
      </p:sp>
      <p:sp>
        <p:nvSpPr>
          <p:cNvPr id="173" name="Google Shape;173;p29"/>
          <p:cNvSpPr txBox="1"/>
          <p:nvPr>
            <p:ph idx="1" type="body"/>
          </p:nvPr>
        </p:nvSpPr>
        <p:spPr>
          <a:xfrm>
            <a:off x="311700" y="1152475"/>
            <a:ext cx="8520600" cy="392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more robust tool that can behave similarly to a mutex lock but can also provide more sophisticated ways for processes to synchronize their activities.</a:t>
            </a:r>
            <a:endParaRPr/>
          </a:p>
          <a:p>
            <a:pPr indent="0" lvl="0" marL="0" rtl="0" algn="l">
              <a:spcBef>
                <a:spcPts val="1200"/>
              </a:spcBef>
              <a:spcAft>
                <a:spcPts val="1200"/>
              </a:spcAft>
              <a:buNone/>
            </a:pPr>
            <a:r>
              <a:rPr lang="en"/>
              <a:t>A semaphore S is an integer variable that, apart from initialization, is accessed only through two standard atomic operations: wait() and signal().</a:t>
            </a:r>
            <a:endParaRPr/>
          </a:p>
        </p:txBody>
      </p:sp>
      <p:pic>
        <p:nvPicPr>
          <p:cNvPr id="174" name="Google Shape;174;p29" title="Screenshot 2025-10-11 at 8.08.55 AM.png"/>
          <p:cNvPicPr preferRelativeResize="0"/>
          <p:nvPr/>
        </p:nvPicPr>
        <p:blipFill>
          <a:blip r:embed="rId3">
            <a:alphaModFix/>
          </a:blip>
          <a:stretch>
            <a:fillRect/>
          </a:stretch>
        </p:blipFill>
        <p:spPr>
          <a:xfrm>
            <a:off x="346275" y="3009725"/>
            <a:ext cx="3766175" cy="2063450"/>
          </a:xfrm>
          <a:prstGeom prst="rect">
            <a:avLst/>
          </a:prstGeom>
          <a:noFill/>
          <a:ln>
            <a:noFill/>
          </a:ln>
        </p:spPr>
      </p:pic>
      <p:pic>
        <p:nvPicPr>
          <p:cNvPr id="175" name="Google Shape;175;p29" title="Screenshot 2025-10-11 at 8.09.09 AM.png"/>
          <p:cNvPicPr preferRelativeResize="0"/>
          <p:nvPr/>
        </p:nvPicPr>
        <p:blipFill>
          <a:blip r:embed="rId4">
            <a:alphaModFix/>
          </a:blip>
          <a:stretch>
            <a:fillRect/>
          </a:stretch>
        </p:blipFill>
        <p:spPr>
          <a:xfrm>
            <a:off x="4830025" y="3009725"/>
            <a:ext cx="3181350" cy="1771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Semaphore Usage</a:t>
            </a:r>
            <a:endParaRPr/>
          </a:p>
        </p:txBody>
      </p:sp>
      <p:sp>
        <p:nvSpPr>
          <p:cNvPr id="181" name="Google Shape;18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process P1, we insert the statements: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In process P2, we insert the statements:</a:t>
            </a:r>
            <a:endParaRPr/>
          </a:p>
          <a:p>
            <a:pPr indent="0" lvl="0" marL="0" rtl="0" algn="l">
              <a:spcBef>
                <a:spcPts val="1200"/>
              </a:spcBef>
              <a:spcAft>
                <a:spcPts val="1200"/>
              </a:spcAft>
              <a:buNone/>
            </a:pPr>
            <a:r>
              <a:t/>
            </a:r>
            <a:endParaRPr/>
          </a:p>
        </p:txBody>
      </p:sp>
      <p:pic>
        <p:nvPicPr>
          <p:cNvPr id="182" name="Google Shape;182;p30" title="Screenshot 2025-10-11 at 8.09.47 AM.png"/>
          <p:cNvPicPr preferRelativeResize="0"/>
          <p:nvPr/>
        </p:nvPicPr>
        <p:blipFill>
          <a:blip r:embed="rId3">
            <a:alphaModFix/>
          </a:blip>
          <a:stretch>
            <a:fillRect/>
          </a:stretch>
        </p:blipFill>
        <p:spPr>
          <a:xfrm>
            <a:off x="409402" y="1641025"/>
            <a:ext cx="1762394" cy="855025"/>
          </a:xfrm>
          <a:prstGeom prst="rect">
            <a:avLst/>
          </a:prstGeom>
          <a:noFill/>
          <a:ln>
            <a:noFill/>
          </a:ln>
        </p:spPr>
      </p:pic>
      <p:pic>
        <p:nvPicPr>
          <p:cNvPr id="183" name="Google Shape;183;p30" title="Screenshot 2025-10-11 at 8.10.52 AM.png"/>
          <p:cNvPicPr preferRelativeResize="0"/>
          <p:nvPr/>
        </p:nvPicPr>
        <p:blipFill>
          <a:blip r:embed="rId4">
            <a:alphaModFix/>
          </a:blip>
          <a:stretch>
            <a:fillRect/>
          </a:stretch>
        </p:blipFill>
        <p:spPr>
          <a:xfrm>
            <a:off x="409388" y="3074075"/>
            <a:ext cx="2239912" cy="8550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89" name="Google Shape;189;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graphicFrame>
        <p:nvGraphicFramePr>
          <p:cNvPr id="190" name="Google Shape;190;p31"/>
          <p:cNvGraphicFramePr/>
          <p:nvPr/>
        </p:nvGraphicFramePr>
        <p:xfrm>
          <a:off x="952500" y="1809750"/>
          <a:ext cx="3000000" cy="3000000"/>
        </p:xfrm>
        <a:graphic>
          <a:graphicData uri="http://schemas.openxmlformats.org/drawingml/2006/table">
            <a:tbl>
              <a:tblPr>
                <a:noFill/>
                <a:tableStyleId>{1165D865-4BFA-4EEE-A9B8-7328B0EABF65}</a:tableStyleId>
              </a:tblPr>
              <a:tblGrid>
                <a:gridCol w="1447800"/>
                <a:gridCol w="1447800"/>
                <a:gridCol w="1603375"/>
                <a:gridCol w="1292225"/>
              </a:tblGrid>
              <a:tr h="381000">
                <a:tc>
                  <a:txBody>
                    <a:bodyPr/>
                    <a:lstStyle/>
                    <a:p>
                      <a:pPr indent="0" lvl="0" marL="0" rtl="0" algn="l">
                        <a:spcBef>
                          <a:spcPts val="0"/>
                        </a:spcBef>
                        <a:spcAft>
                          <a:spcPts val="0"/>
                        </a:spcAft>
                        <a:buNone/>
                      </a:pPr>
                      <a:r>
                        <a:rPr lang="en"/>
                        <a:t>Mechanism</a:t>
                      </a:r>
                      <a:endParaRPr/>
                    </a:p>
                  </a:txBody>
                  <a:tcPr marT="91425" marB="91425" marR="91425" marL="91425"/>
                </a:tc>
                <a:tc>
                  <a:txBody>
                    <a:bodyPr/>
                    <a:lstStyle/>
                    <a:p>
                      <a:pPr indent="0" lvl="0" marL="0" rtl="0" algn="l">
                        <a:spcBef>
                          <a:spcPts val="0"/>
                        </a:spcBef>
                        <a:spcAft>
                          <a:spcPts val="0"/>
                        </a:spcAft>
                        <a:buNone/>
                      </a:pPr>
                      <a:r>
                        <a:rPr lang="en"/>
                        <a:t>Allows How Many states?</a:t>
                      </a:r>
                      <a:endParaRPr/>
                    </a:p>
                  </a:txBody>
                  <a:tcPr marT="91425" marB="91425" marR="91425" marL="91425"/>
                </a:tc>
                <a:tc>
                  <a:txBody>
                    <a:bodyPr/>
                    <a:lstStyle/>
                    <a:p>
                      <a:pPr indent="0" lvl="0" marL="0" rtl="0" algn="l">
                        <a:spcBef>
                          <a:spcPts val="0"/>
                        </a:spcBef>
                        <a:spcAft>
                          <a:spcPts val="0"/>
                        </a:spcAft>
                        <a:buNone/>
                      </a:pPr>
                      <a:r>
                        <a:rPr lang="en"/>
                        <a:t>Wait Type</a:t>
                      </a:r>
                      <a:endParaRPr/>
                    </a:p>
                  </a:txBody>
                  <a:tcPr marT="91425" marB="91425" marR="91425" marL="91425"/>
                </a:tc>
                <a:tc>
                  <a:txBody>
                    <a:bodyPr/>
                    <a:lstStyle/>
                    <a:p>
                      <a:pPr indent="0" lvl="0" marL="0" rtl="0" algn="l">
                        <a:spcBef>
                          <a:spcPts val="0"/>
                        </a:spcBef>
                        <a:spcAft>
                          <a:spcPts val="0"/>
                        </a:spcAft>
                        <a:buNone/>
                      </a:pPr>
                      <a:r>
                        <a:rPr lang="en"/>
                        <a:t>Managed By</a:t>
                      </a:r>
                      <a:endParaRPr/>
                    </a:p>
                  </a:txBody>
                  <a:tcPr marT="91425" marB="91425" marR="91425" marL="91425"/>
                </a:tc>
              </a:tr>
              <a:tr h="381000">
                <a:tc>
                  <a:txBody>
                    <a:bodyPr/>
                    <a:lstStyle/>
                    <a:p>
                      <a:pPr indent="0" lvl="0" marL="0" rtl="0" algn="l">
                        <a:spcBef>
                          <a:spcPts val="0"/>
                        </a:spcBef>
                        <a:spcAft>
                          <a:spcPts val="0"/>
                        </a:spcAft>
                        <a:buNone/>
                      </a:pPr>
                      <a:r>
                        <a:rPr lang="en"/>
                        <a:t>Spinlock</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Busy-wait</a:t>
                      </a:r>
                      <a:endParaRPr/>
                    </a:p>
                  </a:txBody>
                  <a:tcPr marT="91425" marB="91425" marR="91425" marL="91425"/>
                </a:tc>
                <a:tc>
                  <a:txBody>
                    <a:bodyPr/>
                    <a:lstStyle/>
                    <a:p>
                      <a:pPr indent="0" lvl="0" marL="0" rtl="0" algn="l">
                        <a:spcBef>
                          <a:spcPts val="0"/>
                        </a:spcBef>
                        <a:spcAft>
                          <a:spcPts val="0"/>
                        </a:spcAft>
                        <a:buNone/>
                      </a:pPr>
                      <a:r>
                        <a:rPr lang="en"/>
                        <a:t>CPU (hardware)</a:t>
                      </a:r>
                      <a:endParaRPr/>
                    </a:p>
                  </a:txBody>
                  <a:tcPr marT="91425" marB="91425" marR="91425" marL="91425"/>
                </a:tc>
              </a:tr>
              <a:tr h="381000">
                <a:tc>
                  <a:txBody>
                    <a:bodyPr/>
                    <a:lstStyle/>
                    <a:p>
                      <a:pPr indent="0" lvl="0" marL="0" rtl="0" algn="l">
                        <a:spcBef>
                          <a:spcPts val="0"/>
                        </a:spcBef>
                        <a:spcAft>
                          <a:spcPts val="0"/>
                        </a:spcAft>
                        <a:buNone/>
                      </a:pPr>
                      <a:r>
                        <a:rPr lang="en"/>
                        <a:t>Mutex</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Blocking (sleep)</a:t>
                      </a:r>
                      <a:endParaRPr/>
                    </a:p>
                  </a:txBody>
                  <a:tcPr marT="91425" marB="91425" marR="91425" marL="91425"/>
                </a:tc>
                <a:tc>
                  <a:txBody>
                    <a:bodyPr/>
                    <a:lstStyle/>
                    <a:p>
                      <a:pPr indent="0" lvl="0" marL="0" rtl="0" algn="l">
                        <a:spcBef>
                          <a:spcPts val="0"/>
                        </a:spcBef>
                        <a:spcAft>
                          <a:spcPts val="0"/>
                        </a:spcAft>
                        <a:buNone/>
                      </a:pPr>
                      <a:r>
                        <a:rPr lang="en"/>
                        <a:t>OS kernel</a:t>
                      </a:r>
                      <a:endParaRPr/>
                    </a:p>
                  </a:txBody>
                  <a:tcPr marT="91425" marB="91425" marR="91425" marL="91425"/>
                </a:tc>
              </a:tr>
              <a:tr h="381000">
                <a:tc>
                  <a:txBody>
                    <a:bodyPr/>
                    <a:lstStyle/>
                    <a:p>
                      <a:pPr indent="0" lvl="0" marL="0" rtl="0" algn="l">
                        <a:spcBef>
                          <a:spcPts val="0"/>
                        </a:spcBef>
                        <a:spcAft>
                          <a:spcPts val="0"/>
                        </a:spcAft>
                        <a:buNone/>
                      </a:pPr>
                      <a:r>
                        <a:rPr lang="en"/>
                        <a:t>Semaphore</a:t>
                      </a:r>
                      <a:endParaRPr/>
                    </a:p>
                  </a:txBody>
                  <a:tcPr marT="91425" marB="91425" marR="91425" marL="91425"/>
                </a:tc>
                <a:tc>
                  <a:txBody>
                    <a:bodyPr/>
                    <a:lstStyle/>
                    <a:p>
                      <a:pPr indent="0" lvl="0" marL="0" rtl="0" algn="l">
                        <a:spcBef>
                          <a:spcPts val="0"/>
                        </a:spcBef>
                        <a:spcAft>
                          <a:spcPts val="0"/>
                        </a:spcAft>
                        <a:buNone/>
                      </a:pPr>
                      <a:r>
                        <a:rPr lang="en"/>
                        <a:t>N</a:t>
                      </a:r>
                      <a:endParaRPr/>
                    </a:p>
                  </a:txBody>
                  <a:tcPr marT="91425" marB="91425" marR="91425" marL="91425"/>
                </a:tc>
                <a:tc>
                  <a:txBody>
                    <a:bodyPr/>
                    <a:lstStyle/>
                    <a:p>
                      <a:pPr indent="0" lvl="0" marL="0" rtl="0" algn="l">
                        <a:spcBef>
                          <a:spcPts val="0"/>
                        </a:spcBef>
                        <a:spcAft>
                          <a:spcPts val="0"/>
                        </a:spcAft>
                        <a:buNone/>
                      </a:pPr>
                      <a:r>
                        <a:rPr lang="en"/>
                        <a:t>Blocking (sleep)</a:t>
                      </a:r>
                      <a:endParaRPr/>
                    </a:p>
                  </a:txBody>
                  <a:tcPr marT="91425" marB="91425" marR="91425" marL="91425"/>
                </a:tc>
                <a:tc>
                  <a:txBody>
                    <a:bodyPr/>
                    <a:lstStyle/>
                    <a:p>
                      <a:pPr indent="0" lvl="0" marL="0" rtl="0" algn="l">
                        <a:spcBef>
                          <a:spcPts val="0"/>
                        </a:spcBef>
                        <a:spcAft>
                          <a:spcPts val="0"/>
                        </a:spcAft>
                        <a:buNone/>
                      </a:pPr>
                      <a:r>
                        <a:rPr lang="en"/>
                        <a:t>OS kernel</a:t>
                      </a:r>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Monitors: high-level language constructs</a:t>
            </a:r>
            <a:endParaRPr/>
          </a:p>
        </p:txBody>
      </p:sp>
      <p:sp>
        <p:nvSpPr>
          <p:cNvPr id="196" name="Google Shape;196;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Although semaphores provide a convenient and effective mechanism for process synchronization, using them incorrectly can result in timing errors that are difficult to detect:</a:t>
            </a:r>
            <a:endParaRPr/>
          </a:p>
          <a:p>
            <a:pPr indent="0" lvl="0" marL="0" rtl="0" algn="l">
              <a:spcBef>
                <a:spcPts val="1200"/>
              </a:spcBef>
              <a:spcAft>
                <a:spcPts val="1200"/>
              </a:spcAft>
              <a:buNone/>
            </a:pPr>
            <a:r>
              <a:rPr lang="en"/>
              <a:t>Examples: </a:t>
            </a:r>
            <a:endParaRPr/>
          </a:p>
        </p:txBody>
      </p:sp>
      <p:pic>
        <p:nvPicPr>
          <p:cNvPr id="197" name="Google Shape;197;p32" title="Screenshot 2025-10-11 at 8.11.30 AM.png"/>
          <p:cNvPicPr preferRelativeResize="0"/>
          <p:nvPr/>
        </p:nvPicPr>
        <p:blipFill>
          <a:blip r:embed="rId3">
            <a:alphaModFix/>
          </a:blip>
          <a:stretch>
            <a:fillRect/>
          </a:stretch>
        </p:blipFill>
        <p:spPr>
          <a:xfrm>
            <a:off x="1815247" y="2347025"/>
            <a:ext cx="2221003" cy="1419275"/>
          </a:xfrm>
          <a:prstGeom prst="rect">
            <a:avLst/>
          </a:prstGeom>
          <a:noFill/>
          <a:ln>
            <a:noFill/>
          </a:ln>
        </p:spPr>
      </p:pic>
      <p:pic>
        <p:nvPicPr>
          <p:cNvPr id="198" name="Google Shape;198;p32" title="Screenshot 2025-10-11 at 8.11.44 AM.png"/>
          <p:cNvPicPr preferRelativeResize="0"/>
          <p:nvPr/>
        </p:nvPicPr>
        <p:blipFill>
          <a:blip r:embed="rId4">
            <a:alphaModFix/>
          </a:blip>
          <a:stretch>
            <a:fillRect/>
          </a:stretch>
        </p:blipFill>
        <p:spPr>
          <a:xfrm>
            <a:off x="4851800" y="2347013"/>
            <a:ext cx="1878150" cy="1570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Monitors</a:t>
            </a:r>
            <a:endParaRPr/>
          </a:p>
        </p:txBody>
      </p:sp>
      <p:sp>
        <p:nvSpPr>
          <p:cNvPr id="204" name="Google Shape;204;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5" name="Google Shape;205;p33" title="Screenshot 2025-10-11 at 8.12.14 AM.png"/>
          <p:cNvPicPr preferRelativeResize="0"/>
          <p:nvPr/>
        </p:nvPicPr>
        <p:blipFill>
          <a:blip r:embed="rId3">
            <a:alphaModFix/>
          </a:blip>
          <a:stretch>
            <a:fillRect/>
          </a:stretch>
        </p:blipFill>
        <p:spPr>
          <a:xfrm>
            <a:off x="2571753" y="1152475"/>
            <a:ext cx="4133450" cy="36951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Monitors</a:t>
            </a:r>
            <a:endParaRPr/>
          </a:p>
        </p:txBody>
      </p:sp>
      <p:sp>
        <p:nvSpPr>
          <p:cNvPr id="211" name="Google Shape;211;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2" name="Google Shape;212;p34" title="Screenshot 2025-10-11 at 8.13.45 AM.png"/>
          <p:cNvPicPr preferRelativeResize="0"/>
          <p:nvPr/>
        </p:nvPicPr>
        <p:blipFill>
          <a:blip r:embed="rId3">
            <a:alphaModFix/>
          </a:blip>
          <a:stretch>
            <a:fillRect/>
          </a:stretch>
        </p:blipFill>
        <p:spPr>
          <a:xfrm>
            <a:off x="311700" y="1763200"/>
            <a:ext cx="4518526" cy="1958025"/>
          </a:xfrm>
          <a:prstGeom prst="rect">
            <a:avLst/>
          </a:prstGeom>
          <a:noFill/>
          <a:ln>
            <a:noFill/>
          </a:ln>
        </p:spPr>
      </p:pic>
      <p:pic>
        <p:nvPicPr>
          <p:cNvPr id="213" name="Google Shape;213;p34" title="Screenshot 2025-10-11 at 8.14.04 AM.png"/>
          <p:cNvPicPr preferRelativeResize="0"/>
          <p:nvPr/>
        </p:nvPicPr>
        <p:blipFill>
          <a:blip r:embed="rId4">
            <a:alphaModFix/>
          </a:blip>
          <a:stretch>
            <a:fillRect/>
          </a:stretch>
        </p:blipFill>
        <p:spPr>
          <a:xfrm>
            <a:off x="5440824" y="1126688"/>
            <a:ext cx="3391476" cy="346797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9" name="Google Shape;219;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0" name="Google Shape;220;p35" title="Screenshot 2025-10-11 at 8.12.50 AM.png"/>
          <p:cNvPicPr preferRelativeResize="0"/>
          <p:nvPr/>
        </p:nvPicPr>
        <p:blipFill>
          <a:blip r:embed="rId3">
            <a:alphaModFix/>
          </a:blip>
          <a:stretch>
            <a:fillRect/>
          </a:stretch>
        </p:blipFill>
        <p:spPr>
          <a:xfrm>
            <a:off x="1876852" y="694625"/>
            <a:ext cx="5010474" cy="412065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Monitors</a:t>
            </a:r>
            <a:endParaRPr/>
          </a:p>
        </p:txBody>
      </p:sp>
      <p:sp>
        <p:nvSpPr>
          <p:cNvPr id="226" name="Google Shape;226;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High-level synchronization construct</a:t>
            </a:r>
            <a:endParaRPr/>
          </a:p>
          <a:p>
            <a:pPr indent="-342900" lvl="0" marL="457200" rtl="0" algn="l">
              <a:spcBef>
                <a:spcPts val="0"/>
              </a:spcBef>
              <a:spcAft>
                <a:spcPts val="0"/>
              </a:spcAft>
              <a:buSzPts val="1800"/>
              <a:buChar char="-"/>
            </a:pPr>
            <a:r>
              <a:rPr lang="en"/>
              <a:t>Mutual exclusion + condition synchronization</a:t>
            </a:r>
            <a:endParaRPr/>
          </a:p>
          <a:p>
            <a:pPr indent="-342900" lvl="0" marL="457200" rtl="0" algn="l">
              <a:spcBef>
                <a:spcPts val="0"/>
              </a:spcBef>
              <a:spcAft>
                <a:spcPts val="0"/>
              </a:spcAft>
              <a:buSzPts val="1800"/>
              <a:buChar char="-"/>
            </a:pPr>
            <a:r>
              <a:rPr lang="en"/>
              <a:t>Shared data, monitor procedures, condition variables</a:t>
            </a:r>
            <a:endParaRPr/>
          </a:p>
          <a:p>
            <a:pPr indent="-342900" lvl="0" marL="457200" rtl="0" algn="l">
              <a:spcBef>
                <a:spcPts val="0"/>
              </a:spcBef>
              <a:spcAft>
                <a:spcPts val="0"/>
              </a:spcAft>
              <a:buSzPts val="1800"/>
              <a:buChar char="-"/>
            </a:pPr>
            <a:r>
              <a:rPr lang="en"/>
              <a:t>Mutual Exclusion: Automatic — only one thread active inside</a:t>
            </a:r>
            <a:endParaRPr/>
          </a:p>
          <a:p>
            <a:pPr indent="-342900" lvl="0" marL="457200" rtl="0" algn="l">
              <a:spcBef>
                <a:spcPts val="0"/>
              </a:spcBef>
              <a:spcAft>
                <a:spcPts val="0"/>
              </a:spcAft>
              <a:buSzPts val="1800"/>
              <a:buChar char="-"/>
            </a:pPr>
            <a:r>
              <a:rPr lang="en"/>
              <a:t>Condition Variables: Allow waiting/signaling within the monitor</a:t>
            </a:r>
            <a:endParaRPr/>
          </a:p>
          <a:p>
            <a:pPr indent="-342900" lvl="0" marL="457200" rtl="0" algn="l">
              <a:spcBef>
                <a:spcPts val="0"/>
              </a:spcBef>
              <a:spcAft>
                <a:spcPts val="0"/>
              </a:spcAft>
              <a:buSzPts val="1800"/>
              <a:buChar char="-"/>
            </a:pPr>
            <a:r>
              <a:rPr lang="en"/>
              <a:t>Languages Supporting Monitors: Java, C#, Modula-3, Concurrent Pascal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7"/>
          <p:cNvSpPr txBox="1"/>
          <p:nvPr>
            <p:ph type="title"/>
          </p:nvPr>
        </p:nvSpPr>
        <p:spPr>
          <a:xfrm>
            <a:off x="311700" y="445025"/>
            <a:ext cx="8520600" cy="885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Bounded-Buffer Problem (Producer–Consumer Problem)</a:t>
            </a:r>
            <a:endParaRPr/>
          </a:p>
        </p:txBody>
      </p:sp>
      <p:sp>
        <p:nvSpPr>
          <p:cNvPr id="232" name="Google Shape;232;p37"/>
          <p:cNvSpPr txBox="1"/>
          <p:nvPr>
            <p:ph idx="1" type="body"/>
          </p:nvPr>
        </p:nvSpPr>
        <p:spPr>
          <a:xfrm>
            <a:off x="311700" y="1740175"/>
            <a:ext cx="8520600" cy="2434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There’s a buffer (shared memory area) with limited size N.</a:t>
            </a:r>
            <a:endParaRPr/>
          </a:p>
          <a:p>
            <a:pPr indent="-342900" lvl="0" marL="457200" rtl="0" algn="l">
              <a:spcBef>
                <a:spcPts val="0"/>
              </a:spcBef>
              <a:spcAft>
                <a:spcPts val="0"/>
              </a:spcAft>
              <a:buSzPts val="1800"/>
              <a:buChar char="-"/>
            </a:pPr>
            <a:r>
              <a:rPr lang="en"/>
              <a:t>Producer threads generate data items and put them into the buffer.</a:t>
            </a:r>
            <a:endParaRPr/>
          </a:p>
          <a:p>
            <a:pPr indent="-342900" lvl="0" marL="457200" rtl="0" algn="l">
              <a:spcBef>
                <a:spcPts val="0"/>
              </a:spcBef>
              <a:spcAft>
                <a:spcPts val="0"/>
              </a:spcAft>
              <a:buSzPts val="1800"/>
              <a:buChar char="-"/>
            </a:pPr>
            <a:r>
              <a:rPr lang="en"/>
              <a:t>Consumer threads remove items from the buffer and process them.</a:t>
            </a:r>
            <a:endParaRPr/>
          </a:p>
          <a:p>
            <a:pPr indent="-342900" lvl="0" marL="457200" rtl="0" algn="l">
              <a:spcBef>
                <a:spcPts val="0"/>
              </a:spcBef>
              <a:spcAft>
                <a:spcPts val="0"/>
              </a:spcAft>
              <a:buSzPts val="1800"/>
              <a:buChar char="-"/>
            </a:pPr>
            <a:r>
              <a:rPr lang="en"/>
              <a:t>Synchronization is needed so that:</a:t>
            </a:r>
            <a:endParaRPr/>
          </a:p>
          <a:p>
            <a:pPr indent="-317500" lvl="1" marL="914400" rtl="0" algn="l">
              <a:spcBef>
                <a:spcPts val="0"/>
              </a:spcBef>
              <a:spcAft>
                <a:spcPts val="0"/>
              </a:spcAft>
              <a:buSzPts val="1400"/>
              <a:buChar char="-"/>
            </a:pPr>
            <a:r>
              <a:rPr lang="en"/>
              <a:t>Producers don’t add items when the buffer is full.</a:t>
            </a:r>
            <a:endParaRPr/>
          </a:p>
          <a:p>
            <a:pPr indent="-317500" lvl="1" marL="914400" rtl="0" algn="l">
              <a:spcBef>
                <a:spcPts val="0"/>
              </a:spcBef>
              <a:spcAft>
                <a:spcPts val="0"/>
              </a:spcAft>
              <a:buSzPts val="1400"/>
              <a:buChar char="-"/>
            </a:pPr>
            <a:r>
              <a:rPr lang="en"/>
              <a:t>Consumers don’t remove items when the buffer is empty.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Pseudocode for addressing </a:t>
            </a:r>
            <a:r>
              <a:rPr lang="en"/>
              <a:t>Bounded-Buffer Problem</a:t>
            </a:r>
            <a:endParaRPr/>
          </a:p>
        </p:txBody>
      </p:sp>
      <p:sp>
        <p:nvSpPr>
          <p:cNvPr id="238" name="Google Shape;238;p38"/>
          <p:cNvSpPr txBox="1"/>
          <p:nvPr>
            <p:ph idx="1" type="body"/>
          </p:nvPr>
        </p:nvSpPr>
        <p:spPr>
          <a:xfrm>
            <a:off x="311700" y="1159473"/>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t>semaphore mutex = 1;</a:t>
            </a:r>
            <a:endParaRPr sz="1400"/>
          </a:p>
          <a:p>
            <a:pPr indent="0" lvl="0" marL="0" rtl="0" algn="l">
              <a:spcBef>
                <a:spcPts val="1200"/>
              </a:spcBef>
              <a:spcAft>
                <a:spcPts val="0"/>
              </a:spcAft>
              <a:buNone/>
            </a:pPr>
            <a:r>
              <a:rPr lang="en" sz="1400"/>
              <a:t>semaphore empty = N;</a:t>
            </a:r>
            <a:endParaRPr sz="1400"/>
          </a:p>
          <a:p>
            <a:pPr indent="0" lvl="0" marL="0" rtl="0" algn="l">
              <a:spcBef>
                <a:spcPts val="1200"/>
              </a:spcBef>
              <a:spcAft>
                <a:spcPts val="1200"/>
              </a:spcAft>
              <a:buNone/>
            </a:pPr>
            <a:r>
              <a:rPr lang="en" sz="1400"/>
              <a:t>semaphore full = 0;</a:t>
            </a:r>
            <a:endParaRPr sz="1400"/>
          </a:p>
        </p:txBody>
      </p:sp>
      <p:pic>
        <p:nvPicPr>
          <p:cNvPr id="239" name="Google Shape;239;p38" title="Screenshot 2025-10-16 at 6.00.09 AM.png"/>
          <p:cNvPicPr preferRelativeResize="0"/>
          <p:nvPr/>
        </p:nvPicPr>
        <p:blipFill>
          <a:blip r:embed="rId3">
            <a:alphaModFix/>
          </a:blip>
          <a:stretch>
            <a:fillRect/>
          </a:stretch>
        </p:blipFill>
        <p:spPr>
          <a:xfrm>
            <a:off x="397575" y="2336675"/>
            <a:ext cx="3475475" cy="2586400"/>
          </a:xfrm>
          <a:prstGeom prst="rect">
            <a:avLst/>
          </a:prstGeom>
          <a:noFill/>
          <a:ln>
            <a:noFill/>
          </a:ln>
        </p:spPr>
      </p:pic>
      <p:pic>
        <p:nvPicPr>
          <p:cNvPr id="240" name="Google Shape;240;p38" title="Screenshot 2025-10-16 at 6.00.53 AM.png"/>
          <p:cNvPicPr preferRelativeResize="0"/>
          <p:nvPr/>
        </p:nvPicPr>
        <p:blipFill>
          <a:blip r:embed="rId4">
            <a:alphaModFix/>
          </a:blip>
          <a:stretch>
            <a:fillRect/>
          </a:stretch>
        </p:blipFill>
        <p:spPr>
          <a:xfrm>
            <a:off x="4416425" y="1849175"/>
            <a:ext cx="4233801" cy="28837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6" name="Google Shape;246;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800"/>
              <a:t>Initial states are empty = 3, full = 0, mutex = 1</a:t>
            </a:r>
            <a:endParaRPr sz="800"/>
          </a:p>
          <a:p>
            <a:pPr indent="0" lvl="0" marL="0" rtl="0" algn="l">
              <a:spcBef>
                <a:spcPts val="1200"/>
              </a:spcBef>
              <a:spcAft>
                <a:spcPts val="0"/>
              </a:spcAft>
              <a:buClr>
                <a:schemeClr val="dk1"/>
              </a:buClr>
              <a:buSzPts val="1100"/>
              <a:buFont typeface="Arial"/>
              <a:buNone/>
            </a:pPr>
            <a:r>
              <a:rPr lang="en" sz="800"/>
              <a:t>buffer = [ _ , _ , _ ]</a:t>
            </a:r>
            <a:endParaRPr sz="800"/>
          </a:p>
          <a:p>
            <a:pPr indent="0" lvl="0" marL="0" rtl="0" algn="l">
              <a:spcBef>
                <a:spcPts val="1200"/>
              </a:spcBef>
              <a:spcAft>
                <a:spcPts val="1200"/>
              </a:spcAft>
              <a:buNone/>
            </a:pPr>
            <a:r>
              <a:rPr lang="en"/>
              <a:t>Step 1: Producer P1 produces an item</a:t>
            </a:r>
            <a:endParaRPr/>
          </a:p>
        </p:txBody>
      </p:sp>
      <p:graphicFrame>
        <p:nvGraphicFramePr>
          <p:cNvPr id="247" name="Google Shape;247;p39"/>
          <p:cNvGraphicFramePr/>
          <p:nvPr/>
        </p:nvGraphicFramePr>
        <p:xfrm>
          <a:off x="392675" y="2361050"/>
          <a:ext cx="3000000" cy="3000000"/>
        </p:xfrm>
        <a:graphic>
          <a:graphicData uri="http://schemas.openxmlformats.org/drawingml/2006/table">
            <a:tbl>
              <a:tblPr>
                <a:noFill/>
                <a:tableStyleId>{1165D865-4BFA-4EEE-A9B8-7328B0EABF65}</a:tableStyleId>
              </a:tblPr>
              <a:tblGrid>
                <a:gridCol w="1090400"/>
                <a:gridCol w="481575"/>
                <a:gridCol w="382850"/>
                <a:gridCol w="524800"/>
                <a:gridCol w="2281725"/>
              </a:tblGrid>
              <a:tr h="381000">
                <a:tc>
                  <a:txBody>
                    <a:bodyPr/>
                    <a:lstStyle/>
                    <a:p>
                      <a:pPr indent="0" lvl="0" marL="0" rtl="0" algn="l">
                        <a:spcBef>
                          <a:spcPts val="0"/>
                        </a:spcBef>
                        <a:spcAft>
                          <a:spcPts val="0"/>
                        </a:spcAft>
                        <a:buNone/>
                      </a:pPr>
                      <a:r>
                        <a:rPr lang="en" sz="800"/>
                        <a:t>Action</a:t>
                      </a:r>
                      <a:endParaRPr sz="800"/>
                    </a:p>
                  </a:txBody>
                  <a:tcPr marT="91425" marB="91425" marR="91425" marL="91425"/>
                </a:tc>
                <a:tc>
                  <a:txBody>
                    <a:bodyPr/>
                    <a:lstStyle/>
                    <a:p>
                      <a:pPr indent="0" lvl="0" marL="0" rtl="0" algn="l">
                        <a:spcBef>
                          <a:spcPts val="0"/>
                        </a:spcBef>
                        <a:spcAft>
                          <a:spcPts val="0"/>
                        </a:spcAft>
                        <a:buNone/>
                      </a:pPr>
                      <a:r>
                        <a:rPr lang="en" sz="800"/>
                        <a:t>empty</a:t>
                      </a:r>
                      <a:endParaRPr sz="800"/>
                    </a:p>
                  </a:txBody>
                  <a:tcPr marT="91425" marB="91425" marR="91425" marL="91425"/>
                </a:tc>
                <a:tc>
                  <a:txBody>
                    <a:bodyPr/>
                    <a:lstStyle/>
                    <a:p>
                      <a:pPr indent="0" lvl="0" marL="0" rtl="0" algn="l">
                        <a:spcBef>
                          <a:spcPts val="0"/>
                        </a:spcBef>
                        <a:spcAft>
                          <a:spcPts val="0"/>
                        </a:spcAft>
                        <a:buNone/>
                      </a:pPr>
                      <a:r>
                        <a:rPr lang="en" sz="800"/>
                        <a:t>full</a:t>
                      </a:r>
                      <a:endParaRPr sz="800"/>
                    </a:p>
                  </a:txBody>
                  <a:tcPr marT="91425" marB="91425" marR="91425" marL="91425"/>
                </a:tc>
                <a:tc>
                  <a:txBody>
                    <a:bodyPr/>
                    <a:lstStyle/>
                    <a:p>
                      <a:pPr indent="0" lvl="0" marL="0" rtl="0" algn="l">
                        <a:spcBef>
                          <a:spcPts val="0"/>
                        </a:spcBef>
                        <a:spcAft>
                          <a:spcPts val="0"/>
                        </a:spcAft>
                        <a:buNone/>
                      </a:pPr>
                      <a:r>
                        <a:rPr lang="en" sz="800"/>
                        <a:t>mutex</a:t>
                      </a:r>
                      <a:endParaRPr sz="800"/>
                    </a:p>
                  </a:txBody>
                  <a:tcPr marT="91425" marB="91425" marR="91425" marL="91425"/>
                </a:tc>
                <a:tc>
                  <a:txBody>
                    <a:bodyPr/>
                    <a:lstStyle/>
                    <a:p>
                      <a:pPr indent="0" lvl="0" marL="0" rtl="0" algn="l">
                        <a:spcBef>
                          <a:spcPts val="0"/>
                        </a:spcBef>
                        <a:spcAft>
                          <a:spcPts val="0"/>
                        </a:spcAft>
                        <a:buNone/>
                      </a:pPr>
                      <a:r>
                        <a:rPr lang="en" sz="800"/>
                        <a:t>Buffer</a:t>
                      </a:r>
                      <a:endParaRPr sz="800"/>
                    </a:p>
                  </a:txBody>
                  <a:tcPr marT="91425" marB="91425" marR="91425" marL="91425"/>
                </a:tc>
              </a:tr>
              <a:tr h="381000">
                <a:tc>
                  <a:txBody>
                    <a:bodyPr/>
                    <a:lstStyle/>
                    <a:p>
                      <a:pPr indent="0" lvl="0" marL="0" rtl="0" algn="l">
                        <a:spcBef>
                          <a:spcPts val="0"/>
                        </a:spcBef>
                        <a:spcAft>
                          <a:spcPts val="0"/>
                        </a:spcAft>
                        <a:buNone/>
                      </a:pPr>
                      <a:r>
                        <a:rPr lang="en" sz="800"/>
                        <a:t>P1: wait(empty)</a:t>
                      </a:r>
                      <a:endParaRPr sz="800"/>
                    </a:p>
                  </a:txBody>
                  <a:tcPr marT="91425" marB="91425" marR="91425" marL="91425"/>
                </a:tc>
                <a:tc>
                  <a:txBody>
                    <a:bodyPr/>
                    <a:lstStyle/>
                    <a:p>
                      <a:pPr indent="0" lvl="0" marL="0" rtl="0" algn="l">
                        <a:spcBef>
                          <a:spcPts val="0"/>
                        </a:spcBef>
                        <a:spcAft>
                          <a:spcPts val="0"/>
                        </a:spcAft>
                        <a:buNone/>
                      </a:pPr>
                      <a:r>
                        <a:rPr lang="en" sz="800"/>
                        <a:t>2</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 _ , _ , _ ]</a:t>
                      </a:r>
                      <a:endParaRPr sz="800"/>
                    </a:p>
                  </a:txBody>
                  <a:tcPr marT="91425" marB="91425" marR="91425" marL="91425"/>
                </a:tc>
              </a:tr>
              <a:tr h="381000">
                <a:tc>
                  <a:txBody>
                    <a:bodyPr/>
                    <a:lstStyle/>
                    <a:p>
                      <a:pPr indent="0" lvl="0" marL="0" rtl="0" algn="l">
                        <a:spcBef>
                          <a:spcPts val="0"/>
                        </a:spcBef>
                        <a:spcAft>
                          <a:spcPts val="0"/>
                        </a:spcAft>
                        <a:buNone/>
                      </a:pPr>
                      <a:r>
                        <a:rPr lang="en" sz="800"/>
                        <a:t>P1: wait(mutex)</a:t>
                      </a:r>
                      <a:endParaRPr sz="800"/>
                    </a:p>
                  </a:txBody>
                  <a:tcPr marT="91425" marB="91425" marR="91425" marL="91425"/>
                </a:tc>
                <a:tc>
                  <a:txBody>
                    <a:bodyPr/>
                    <a:lstStyle/>
                    <a:p>
                      <a:pPr indent="0" lvl="0" marL="0" rtl="0" algn="l">
                        <a:spcBef>
                          <a:spcPts val="0"/>
                        </a:spcBef>
                        <a:spcAft>
                          <a:spcPts val="0"/>
                        </a:spcAft>
                        <a:buNone/>
                      </a:pPr>
                      <a:r>
                        <a:rPr lang="en" sz="800"/>
                        <a:t>2</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enters critical section</a:t>
                      </a:r>
                      <a:endParaRPr sz="800"/>
                    </a:p>
                  </a:txBody>
                  <a:tcPr marT="91425" marB="91425" marR="91425" marL="91425"/>
                </a:tc>
              </a:tr>
              <a:tr h="381000">
                <a:tc>
                  <a:txBody>
                    <a:bodyPr/>
                    <a:lstStyle/>
                    <a:p>
                      <a:pPr indent="0" lvl="0" marL="0" rtl="0" algn="l">
                        <a:spcBef>
                          <a:spcPts val="0"/>
                        </a:spcBef>
                        <a:spcAft>
                          <a:spcPts val="0"/>
                        </a:spcAft>
                        <a:buNone/>
                      </a:pPr>
                      <a:r>
                        <a:rPr lang="en" sz="800"/>
                        <a:t>P1: insert_item(X1)</a:t>
                      </a:r>
                      <a:endParaRPr sz="800"/>
                    </a:p>
                  </a:txBody>
                  <a:tcPr marT="91425" marB="91425" marR="91425" marL="91425"/>
                </a:tc>
                <a:tc>
                  <a:txBody>
                    <a:bodyPr/>
                    <a:lstStyle/>
                    <a:p>
                      <a:pPr indent="0" lvl="0" marL="0" rtl="0" algn="l">
                        <a:spcBef>
                          <a:spcPts val="0"/>
                        </a:spcBef>
                        <a:spcAft>
                          <a:spcPts val="0"/>
                        </a:spcAft>
                        <a:buNone/>
                      </a:pPr>
                      <a:r>
                        <a:rPr lang="en" sz="800"/>
                        <a:t>2</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 X1 , _ , _ ]</a:t>
                      </a:r>
                      <a:endParaRPr sz="800"/>
                    </a:p>
                  </a:txBody>
                  <a:tcPr marT="91425" marB="91425" marR="91425" marL="91425"/>
                </a:tc>
              </a:tr>
              <a:tr h="381000">
                <a:tc>
                  <a:txBody>
                    <a:bodyPr/>
                    <a:lstStyle/>
                    <a:p>
                      <a:pPr indent="0" lvl="0" marL="0" rtl="0" algn="l">
                        <a:spcBef>
                          <a:spcPts val="0"/>
                        </a:spcBef>
                        <a:spcAft>
                          <a:spcPts val="0"/>
                        </a:spcAft>
                        <a:buNone/>
                      </a:pPr>
                      <a:r>
                        <a:rPr lang="en" sz="800"/>
                        <a:t>P1: signal(mutex)</a:t>
                      </a:r>
                      <a:endParaRPr sz="800"/>
                    </a:p>
                  </a:txBody>
                  <a:tcPr marT="91425" marB="91425" marR="91425" marL="91425"/>
                </a:tc>
                <a:tc>
                  <a:txBody>
                    <a:bodyPr/>
                    <a:lstStyle/>
                    <a:p>
                      <a:pPr indent="0" lvl="0" marL="0" rtl="0" algn="l">
                        <a:spcBef>
                          <a:spcPts val="0"/>
                        </a:spcBef>
                        <a:spcAft>
                          <a:spcPts val="0"/>
                        </a:spcAft>
                        <a:buNone/>
                      </a:pPr>
                      <a:r>
                        <a:rPr lang="en" sz="800"/>
                        <a:t>2</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leaves CS</a:t>
                      </a:r>
                      <a:endParaRPr sz="800"/>
                    </a:p>
                  </a:txBody>
                  <a:tcPr marT="91425" marB="91425" marR="91425" marL="91425"/>
                </a:tc>
              </a:tr>
              <a:tr h="381000">
                <a:tc>
                  <a:txBody>
                    <a:bodyPr/>
                    <a:lstStyle/>
                    <a:p>
                      <a:pPr indent="0" lvl="0" marL="0" rtl="0" algn="l">
                        <a:spcBef>
                          <a:spcPts val="0"/>
                        </a:spcBef>
                        <a:spcAft>
                          <a:spcPts val="0"/>
                        </a:spcAft>
                        <a:buNone/>
                      </a:pPr>
                      <a:r>
                        <a:rPr lang="en" sz="800"/>
                        <a:t>P1: signal(full)</a:t>
                      </a:r>
                      <a:endParaRPr sz="800"/>
                    </a:p>
                  </a:txBody>
                  <a:tcPr marT="91425" marB="91425" marR="91425" marL="91425"/>
                </a:tc>
                <a:tc>
                  <a:txBody>
                    <a:bodyPr/>
                    <a:lstStyle/>
                    <a:p>
                      <a:pPr indent="0" lvl="0" marL="0" rtl="0" algn="l">
                        <a:spcBef>
                          <a:spcPts val="0"/>
                        </a:spcBef>
                        <a:spcAft>
                          <a:spcPts val="0"/>
                        </a:spcAft>
                        <a:buNone/>
                      </a:pPr>
                      <a:r>
                        <a:rPr lang="en" sz="800"/>
                        <a:t>2</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buffer now has one full slot</a:t>
                      </a:r>
                      <a:endParaRPr sz="800"/>
                    </a:p>
                  </a:txBody>
                  <a:tcPr marT="91425" marB="91425" marR="91425" marL="91425"/>
                </a:tc>
              </a:tr>
            </a:tbl>
          </a:graphicData>
        </a:graphic>
      </p:graphicFrame>
      <p:pic>
        <p:nvPicPr>
          <p:cNvPr id="248" name="Google Shape;248;p39" title="Screenshot 2025-10-16 at 6.00.09 AM.png"/>
          <p:cNvPicPr preferRelativeResize="0"/>
          <p:nvPr/>
        </p:nvPicPr>
        <p:blipFill>
          <a:blip r:embed="rId3">
            <a:alphaModFix/>
          </a:blip>
          <a:stretch>
            <a:fillRect/>
          </a:stretch>
        </p:blipFill>
        <p:spPr>
          <a:xfrm>
            <a:off x="5356825" y="1748850"/>
            <a:ext cx="3475475" cy="25864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54" name="Google Shape;254;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Step 2: Producer P2 produces another item</a:t>
            </a:r>
            <a:endParaRPr/>
          </a:p>
          <a:p>
            <a:pPr indent="0" lvl="0" marL="0" rtl="0" algn="l">
              <a:spcBef>
                <a:spcPts val="1200"/>
              </a:spcBef>
              <a:spcAft>
                <a:spcPts val="1200"/>
              </a:spcAft>
              <a:buClr>
                <a:schemeClr val="dk1"/>
              </a:buClr>
              <a:buSzPts val="1100"/>
              <a:buFont typeface="Arial"/>
              <a:buNone/>
            </a:pPr>
            <a:r>
              <a:rPr lang="en" sz="800"/>
              <a:t>current</a:t>
            </a:r>
            <a:r>
              <a:rPr lang="en" sz="800"/>
              <a:t> states are empty = 2, full = 1, mutex = 1</a:t>
            </a:r>
            <a:endParaRPr/>
          </a:p>
        </p:txBody>
      </p:sp>
      <p:graphicFrame>
        <p:nvGraphicFramePr>
          <p:cNvPr id="255" name="Google Shape;255;p40"/>
          <p:cNvGraphicFramePr/>
          <p:nvPr/>
        </p:nvGraphicFramePr>
        <p:xfrm>
          <a:off x="311700" y="1911600"/>
          <a:ext cx="3000000" cy="3000000"/>
        </p:xfrm>
        <a:graphic>
          <a:graphicData uri="http://schemas.openxmlformats.org/drawingml/2006/table">
            <a:tbl>
              <a:tblPr>
                <a:noFill/>
                <a:tableStyleId>{1165D865-4BFA-4EEE-A9B8-7328B0EABF65}</a:tableStyleId>
              </a:tblPr>
              <a:tblGrid>
                <a:gridCol w="979900"/>
                <a:gridCol w="583875"/>
                <a:gridCol w="382850"/>
                <a:gridCol w="564800"/>
                <a:gridCol w="2184300"/>
              </a:tblGrid>
              <a:tr h="381000">
                <a:tc>
                  <a:txBody>
                    <a:bodyPr/>
                    <a:lstStyle/>
                    <a:p>
                      <a:pPr indent="0" lvl="0" marL="0" rtl="0" algn="l">
                        <a:spcBef>
                          <a:spcPts val="0"/>
                        </a:spcBef>
                        <a:spcAft>
                          <a:spcPts val="0"/>
                        </a:spcAft>
                        <a:buNone/>
                      </a:pPr>
                      <a:r>
                        <a:rPr lang="en" sz="800"/>
                        <a:t>Action</a:t>
                      </a:r>
                      <a:endParaRPr sz="800"/>
                    </a:p>
                  </a:txBody>
                  <a:tcPr marT="91425" marB="91425" marR="91425" marL="91425"/>
                </a:tc>
                <a:tc>
                  <a:txBody>
                    <a:bodyPr/>
                    <a:lstStyle/>
                    <a:p>
                      <a:pPr indent="0" lvl="0" marL="0" rtl="0" algn="l">
                        <a:spcBef>
                          <a:spcPts val="0"/>
                        </a:spcBef>
                        <a:spcAft>
                          <a:spcPts val="0"/>
                        </a:spcAft>
                        <a:buNone/>
                      </a:pPr>
                      <a:r>
                        <a:rPr lang="en" sz="800"/>
                        <a:t>empty</a:t>
                      </a:r>
                      <a:endParaRPr sz="800"/>
                    </a:p>
                  </a:txBody>
                  <a:tcPr marT="91425" marB="91425" marR="91425" marL="91425"/>
                </a:tc>
                <a:tc>
                  <a:txBody>
                    <a:bodyPr/>
                    <a:lstStyle/>
                    <a:p>
                      <a:pPr indent="0" lvl="0" marL="0" rtl="0" algn="l">
                        <a:spcBef>
                          <a:spcPts val="0"/>
                        </a:spcBef>
                        <a:spcAft>
                          <a:spcPts val="0"/>
                        </a:spcAft>
                        <a:buNone/>
                      </a:pPr>
                      <a:r>
                        <a:rPr lang="en" sz="800"/>
                        <a:t>full</a:t>
                      </a:r>
                      <a:endParaRPr sz="800"/>
                    </a:p>
                  </a:txBody>
                  <a:tcPr marT="91425" marB="91425" marR="91425" marL="91425"/>
                </a:tc>
                <a:tc>
                  <a:txBody>
                    <a:bodyPr/>
                    <a:lstStyle/>
                    <a:p>
                      <a:pPr indent="0" lvl="0" marL="0" rtl="0" algn="l">
                        <a:spcBef>
                          <a:spcPts val="0"/>
                        </a:spcBef>
                        <a:spcAft>
                          <a:spcPts val="0"/>
                        </a:spcAft>
                        <a:buNone/>
                      </a:pPr>
                      <a:r>
                        <a:rPr lang="en" sz="800"/>
                        <a:t>mutex</a:t>
                      </a:r>
                      <a:endParaRPr sz="800"/>
                    </a:p>
                  </a:txBody>
                  <a:tcPr marT="91425" marB="91425" marR="91425" marL="91425"/>
                </a:tc>
                <a:tc>
                  <a:txBody>
                    <a:bodyPr/>
                    <a:lstStyle/>
                    <a:p>
                      <a:pPr indent="0" lvl="0" marL="0" rtl="0" algn="l">
                        <a:spcBef>
                          <a:spcPts val="0"/>
                        </a:spcBef>
                        <a:spcAft>
                          <a:spcPts val="0"/>
                        </a:spcAft>
                        <a:buNone/>
                      </a:pPr>
                      <a:r>
                        <a:rPr lang="en" sz="800"/>
                        <a:t>Buffer</a:t>
                      </a:r>
                      <a:endParaRPr sz="800"/>
                    </a:p>
                  </a:txBody>
                  <a:tcPr marT="91425" marB="91425" marR="91425" marL="91425"/>
                </a:tc>
              </a:tr>
              <a:tr h="381000">
                <a:tc>
                  <a:txBody>
                    <a:bodyPr/>
                    <a:lstStyle/>
                    <a:p>
                      <a:pPr indent="0" lvl="0" marL="0" rtl="0" algn="l">
                        <a:spcBef>
                          <a:spcPts val="0"/>
                        </a:spcBef>
                        <a:spcAft>
                          <a:spcPts val="0"/>
                        </a:spcAft>
                        <a:buNone/>
                      </a:pPr>
                      <a:r>
                        <a:rPr lang="en" sz="800"/>
                        <a:t>P2: wait(empty)</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800">
                          <a:solidFill>
                            <a:schemeClr val="dk1"/>
                          </a:solidFill>
                        </a:rPr>
                        <a:t>[ X1 , _ , _ ]</a:t>
                      </a:r>
                      <a:endParaRPr sz="800"/>
                    </a:p>
                  </a:txBody>
                  <a:tcPr marT="91425" marB="91425" marR="91425" marL="91425"/>
                </a:tc>
              </a:tr>
              <a:tr h="381000">
                <a:tc>
                  <a:txBody>
                    <a:bodyPr/>
                    <a:lstStyle/>
                    <a:p>
                      <a:pPr indent="0" lvl="0" marL="0" rtl="0" algn="l">
                        <a:spcBef>
                          <a:spcPts val="0"/>
                        </a:spcBef>
                        <a:spcAft>
                          <a:spcPts val="0"/>
                        </a:spcAft>
                        <a:buNone/>
                      </a:pPr>
                      <a:r>
                        <a:rPr lang="en" sz="800"/>
                        <a:t>P2: wait(mutex)</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enters critical section</a:t>
                      </a:r>
                      <a:endParaRPr sz="800"/>
                    </a:p>
                  </a:txBody>
                  <a:tcPr marT="91425" marB="91425" marR="91425" marL="91425"/>
                </a:tc>
              </a:tr>
              <a:tr h="381000">
                <a:tc>
                  <a:txBody>
                    <a:bodyPr/>
                    <a:lstStyle/>
                    <a:p>
                      <a:pPr indent="0" lvl="0" marL="0" rtl="0" algn="l">
                        <a:spcBef>
                          <a:spcPts val="0"/>
                        </a:spcBef>
                        <a:spcAft>
                          <a:spcPts val="0"/>
                        </a:spcAft>
                        <a:buNone/>
                      </a:pPr>
                      <a:r>
                        <a:rPr lang="en" sz="800"/>
                        <a:t>P2: insert_item(X2)</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 X1 , X2 , _ ]</a:t>
                      </a:r>
                      <a:endParaRPr sz="800"/>
                    </a:p>
                  </a:txBody>
                  <a:tcPr marT="91425" marB="91425" marR="91425" marL="91425"/>
                </a:tc>
              </a:tr>
              <a:tr h="381000">
                <a:tc>
                  <a:txBody>
                    <a:bodyPr/>
                    <a:lstStyle/>
                    <a:p>
                      <a:pPr indent="0" lvl="0" marL="0" rtl="0" algn="l">
                        <a:spcBef>
                          <a:spcPts val="0"/>
                        </a:spcBef>
                        <a:spcAft>
                          <a:spcPts val="0"/>
                        </a:spcAft>
                        <a:buNone/>
                      </a:pPr>
                      <a:r>
                        <a:rPr lang="en" sz="800"/>
                        <a:t>P2: signal(mutex)</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leaves CS</a:t>
                      </a:r>
                      <a:endParaRPr sz="800"/>
                    </a:p>
                  </a:txBody>
                  <a:tcPr marT="91425" marB="91425" marR="91425" marL="91425"/>
                </a:tc>
              </a:tr>
              <a:tr h="381000">
                <a:tc>
                  <a:txBody>
                    <a:bodyPr/>
                    <a:lstStyle/>
                    <a:p>
                      <a:pPr indent="0" lvl="0" marL="0" rtl="0" algn="l">
                        <a:spcBef>
                          <a:spcPts val="0"/>
                        </a:spcBef>
                        <a:spcAft>
                          <a:spcPts val="0"/>
                        </a:spcAft>
                        <a:buNone/>
                      </a:pPr>
                      <a:r>
                        <a:rPr lang="en" sz="800"/>
                        <a:t>P2: signal(full)</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2</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800">
                          <a:solidFill>
                            <a:schemeClr val="dk1"/>
                          </a:solidFill>
                        </a:rPr>
                        <a:t>[ X1 , X2 , _ ]</a:t>
                      </a:r>
                      <a:endParaRPr sz="800"/>
                    </a:p>
                  </a:txBody>
                  <a:tcPr marT="91425" marB="91425" marR="91425" marL="91425"/>
                </a:tc>
              </a:tr>
            </a:tbl>
          </a:graphicData>
        </a:graphic>
      </p:graphicFrame>
      <p:pic>
        <p:nvPicPr>
          <p:cNvPr id="256" name="Google Shape;256;p40" title="Screenshot 2025-10-16 at 6.00.09 AM.png"/>
          <p:cNvPicPr preferRelativeResize="0"/>
          <p:nvPr/>
        </p:nvPicPr>
        <p:blipFill>
          <a:blip r:embed="rId3">
            <a:alphaModFix/>
          </a:blip>
          <a:stretch>
            <a:fillRect/>
          </a:stretch>
        </p:blipFill>
        <p:spPr>
          <a:xfrm>
            <a:off x="5356825" y="1748850"/>
            <a:ext cx="3475475" cy="2586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62" name="Google Shape;262;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a:t>
            </a:r>
            <a:r>
              <a:rPr lang="en"/>
              <a:t>Step 3: Consumer C1 starts consuming</a:t>
            </a:r>
            <a:endParaRPr/>
          </a:p>
          <a:p>
            <a:pPr indent="0" lvl="0" marL="0" rtl="0" algn="l">
              <a:spcBef>
                <a:spcPts val="1200"/>
              </a:spcBef>
              <a:spcAft>
                <a:spcPts val="1200"/>
              </a:spcAft>
              <a:buClr>
                <a:schemeClr val="dk1"/>
              </a:buClr>
              <a:buSzPts val="1100"/>
              <a:buFont typeface="Arial"/>
              <a:buNone/>
            </a:pPr>
            <a:r>
              <a:rPr lang="en" sz="800"/>
              <a:t>current states are empty = 1, full = 2, mutex = 1</a:t>
            </a:r>
            <a:endParaRPr/>
          </a:p>
        </p:txBody>
      </p:sp>
      <p:graphicFrame>
        <p:nvGraphicFramePr>
          <p:cNvPr id="263" name="Google Shape;263;p41"/>
          <p:cNvGraphicFramePr/>
          <p:nvPr/>
        </p:nvGraphicFramePr>
        <p:xfrm>
          <a:off x="311700" y="1911600"/>
          <a:ext cx="3000000" cy="3000000"/>
        </p:xfrm>
        <a:graphic>
          <a:graphicData uri="http://schemas.openxmlformats.org/drawingml/2006/table">
            <a:tbl>
              <a:tblPr>
                <a:noFill/>
                <a:tableStyleId>{1165D865-4BFA-4EEE-A9B8-7328B0EABF65}</a:tableStyleId>
              </a:tblPr>
              <a:tblGrid>
                <a:gridCol w="1026525"/>
                <a:gridCol w="510525"/>
                <a:gridCol w="480725"/>
                <a:gridCol w="689125"/>
                <a:gridCol w="2425725"/>
              </a:tblGrid>
              <a:tr h="381000">
                <a:tc>
                  <a:txBody>
                    <a:bodyPr/>
                    <a:lstStyle/>
                    <a:p>
                      <a:pPr indent="0" lvl="0" marL="0" rtl="0" algn="l">
                        <a:spcBef>
                          <a:spcPts val="0"/>
                        </a:spcBef>
                        <a:spcAft>
                          <a:spcPts val="0"/>
                        </a:spcAft>
                        <a:buNone/>
                      </a:pPr>
                      <a:r>
                        <a:rPr lang="en" sz="800"/>
                        <a:t>Action</a:t>
                      </a:r>
                      <a:endParaRPr sz="800"/>
                    </a:p>
                  </a:txBody>
                  <a:tcPr marT="91425" marB="91425" marR="91425" marL="91425"/>
                </a:tc>
                <a:tc>
                  <a:txBody>
                    <a:bodyPr/>
                    <a:lstStyle/>
                    <a:p>
                      <a:pPr indent="0" lvl="0" marL="0" rtl="0" algn="l">
                        <a:spcBef>
                          <a:spcPts val="0"/>
                        </a:spcBef>
                        <a:spcAft>
                          <a:spcPts val="0"/>
                        </a:spcAft>
                        <a:buNone/>
                      </a:pPr>
                      <a:r>
                        <a:rPr lang="en" sz="800"/>
                        <a:t>empty</a:t>
                      </a:r>
                      <a:endParaRPr sz="800"/>
                    </a:p>
                  </a:txBody>
                  <a:tcPr marT="91425" marB="91425" marR="91425" marL="91425"/>
                </a:tc>
                <a:tc>
                  <a:txBody>
                    <a:bodyPr/>
                    <a:lstStyle/>
                    <a:p>
                      <a:pPr indent="0" lvl="0" marL="0" rtl="0" algn="l">
                        <a:spcBef>
                          <a:spcPts val="0"/>
                        </a:spcBef>
                        <a:spcAft>
                          <a:spcPts val="0"/>
                        </a:spcAft>
                        <a:buNone/>
                      </a:pPr>
                      <a:r>
                        <a:rPr lang="en" sz="800"/>
                        <a:t>full</a:t>
                      </a:r>
                      <a:endParaRPr sz="800"/>
                    </a:p>
                  </a:txBody>
                  <a:tcPr marT="91425" marB="91425" marR="91425" marL="91425"/>
                </a:tc>
                <a:tc>
                  <a:txBody>
                    <a:bodyPr/>
                    <a:lstStyle/>
                    <a:p>
                      <a:pPr indent="0" lvl="0" marL="0" rtl="0" algn="l">
                        <a:spcBef>
                          <a:spcPts val="0"/>
                        </a:spcBef>
                        <a:spcAft>
                          <a:spcPts val="0"/>
                        </a:spcAft>
                        <a:buNone/>
                      </a:pPr>
                      <a:r>
                        <a:rPr lang="en" sz="800"/>
                        <a:t>mutex</a:t>
                      </a:r>
                      <a:endParaRPr sz="800"/>
                    </a:p>
                  </a:txBody>
                  <a:tcPr marT="91425" marB="91425" marR="91425" marL="91425"/>
                </a:tc>
                <a:tc>
                  <a:txBody>
                    <a:bodyPr/>
                    <a:lstStyle/>
                    <a:p>
                      <a:pPr indent="0" lvl="0" marL="0" rtl="0" algn="l">
                        <a:spcBef>
                          <a:spcPts val="0"/>
                        </a:spcBef>
                        <a:spcAft>
                          <a:spcPts val="0"/>
                        </a:spcAft>
                        <a:buNone/>
                      </a:pPr>
                      <a:r>
                        <a:rPr lang="en" sz="800"/>
                        <a:t>Buffer</a:t>
                      </a:r>
                      <a:endParaRPr sz="800"/>
                    </a:p>
                  </a:txBody>
                  <a:tcPr marT="91425" marB="91425" marR="91425" marL="91425"/>
                </a:tc>
              </a:tr>
              <a:tr h="381000">
                <a:tc>
                  <a:txBody>
                    <a:bodyPr/>
                    <a:lstStyle/>
                    <a:p>
                      <a:pPr indent="0" lvl="0" marL="0" rtl="0" algn="l">
                        <a:spcBef>
                          <a:spcPts val="0"/>
                        </a:spcBef>
                        <a:spcAft>
                          <a:spcPts val="0"/>
                        </a:spcAft>
                        <a:buNone/>
                      </a:pPr>
                      <a:r>
                        <a:rPr lang="en" sz="800"/>
                        <a:t>C1: wait(full)</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solidFill>
                            <a:schemeClr val="dk1"/>
                          </a:solidFill>
                        </a:rPr>
                        <a:t>checks full slot</a:t>
                      </a:r>
                      <a:endParaRPr sz="800"/>
                    </a:p>
                  </a:txBody>
                  <a:tcPr marT="91425" marB="91425" marR="91425" marL="91425"/>
                </a:tc>
              </a:tr>
              <a:tr h="381000">
                <a:tc>
                  <a:txBody>
                    <a:bodyPr/>
                    <a:lstStyle/>
                    <a:p>
                      <a:pPr indent="0" lvl="0" marL="0" rtl="0" algn="l">
                        <a:spcBef>
                          <a:spcPts val="0"/>
                        </a:spcBef>
                        <a:spcAft>
                          <a:spcPts val="0"/>
                        </a:spcAft>
                        <a:buNone/>
                      </a:pPr>
                      <a:r>
                        <a:rPr lang="en" sz="800"/>
                        <a:t>C1: wait(mutex)</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enters CS</a:t>
                      </a:r>
                      <a:endParaRPr sz="800"/>
                    </a:p>
                  </a:txBody>
                  <a:tcPr marT="91425" marB="91425" marR="91425" marL="91425"/>
                </a:tc>
              </a:tr>
              <a:tr h="381000">
                <a:tc>
                  <a:txBody>
                    <a:bodyPr/>
                    <a:lstStyle/>
                    <a:p>
                      <a:pPr indent="0" lvl="0" marL="0" rtl="0" algn="l">
                        <a:spcBef>
                          <a:spcPts val="0"/>
                        </a:spcBef>
                        <a:spcAft>
                          <a:spcPts val="0"/>
                        </a:spcAft>
                        <a:buNone/>
                      </a:pPr>
                      <a:r>
                        <a:rPr lang="en" sz="800"/>
                        <a:t>C1: remove_item(X1)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 _ , X2 , _ ]</a:t>
                      </a:r>
                      <a:endParaRPr sz="800"/>
                    </a:p>
                  </a:txBody>
                  <a:tcPr marT="91425" marB="91425" marR="91425" marL="91425"/>
                </a:tc>
              </a:tr>
              <a:tr h="381000">
                <a:tc>
                  <a:txBody>
                    <a:bodyPr/>
                    <a:lstStyle/>
                    <a:p>
                      <a:pPr indent="0" lvl="0" marL="0" rtl="0" algn="l">
                        <a:spcBef>
                          <a:spcPts val="0"/>
                        </a:spcBef>
                        <a:spcAft>
                          <a:spcPts val="0"/>
                        </a:spcAft>
                        <a:buNone/>
                      </a:pPr>
                      <a:r>
                        <a:rPr lang="en" sz="800"/>
                        <a:t>C1: signal(mutex)</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leaves CS</a:t>
                      </a:r>
                      <a:endParaRPr sz="800"/>
                    </a:p>
                  </a:txBody>
                  <a:tcPr marT="91425" marB="91425" marR="91425" marL="91425"/>
                </a:tc>
              </a:tr>
              <a:tr h="381000">
                <a:tc>
                  <a:txBody>
                    <a:bodyPr/>
                    <a:lstStyle/>
                    <a:p>
                      <a:pPr indent="0" lvl="0" marL="0" rtl="0" algn="l">
                        <a:spcBef>
                          <a:spcPts val="0"/>
                        </a:spcBef>
                        <a:spcAft>
                          <a:spcPts val="0"/>
                        </a:spcAft>
                        <a:buNone/>
                      </a:pPr>
                      <a:r>
                        <a:rPr lang="en" sz="800"/>
                        <a:t>C1: signal(empty)</a:t>
                      </a:r>
                      <a:endParaRPr sz="800"/>
                    </a:p>
                  </a:txBody>
                  <a:tcPr marT="91425" marB="91425" marR="91425" marL="91425"/>
                </a:tc>
                <a:tc>
                  <a:txBody>
                    <a:bodyPr/>
                    <a:lstStyle/>
                    <a:p>
                      <a:pPr indent="0" lvl="0" marL="0" rtl="0" algn="l">
                        <a:spcBef>
                          <a:spcPts val="0"/>
                        </a:spcBef>
                        <a:spcAft>
                          <a:spcPts val="0"/>
                        </a:spcAft>
                        <a:buNone/>
                      </a:pPr>
                      <a:r>
                        <a:rPr lang="en" sz="800"/>
                        <a:t>2</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solidFill>
                            <a:schemeClr val="dk1"/>
                          </a:solidFill>
                        </a:rPr>
                        <a:t>one slot freed</a:t>
                      </a:r>
                      <a:endParaRPr sz="800"/>
                    </a:p>
                  </a:txBody>
                  <a:tcPr marT="91425" marB="91425" marR="91425" marL="91425"/>
                </a:tc>
              </a:tr>
            </a:tbl>
          </a:graphicData>
        </a:graphic>
      </p:graphicFrame>
      <p:pic>
        <p:nvPicPr>
          <p:cNvPr id="264" name="Google Shape;264;p41" title="Screenshot 2025-10-16 at 6.00.53 AM.png"/>
          <p:cNvPicPr preferRelativeResize="0"/>
          <p:nvPr/>
        </p:nvPicPr>
        <p:blipFill>
          <a:blip r:embed="rId3">
            <a:alphaModFix/>
          </a:blip>
          <a:stretch>
            <a:fillRect/>
          </a:stretch>
        </p:blipFill>
        <p:spPr>
          <a:xfrm>
            <a:off x="5667863" y="1863175"/>
            <a:ext cx="3423236" cy="23316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70" name="Google Shape;270;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Step 4: Producer P1 produces another item</a:t>
            </a:r>
            <a:endParaRPr/>
          </a:p>
          <a:p>
            <a:pPr indent="0" lvl="0" marL="0" rtl="0" algn="l">
              <a:spcBef>
                <a:spcPts val="1200"/>
              </a:spcBef>
              <a:spcAft>
                <a:spcPts val="1200"/>
              </a:spcAft>
              <a:buClr>
                <a:schemeClr val="dk1"/>
              </a:buClr>
              <a:buSzPts val="1100"/>
              <a:buFont typeface="Arial"/>
              <a:buNone/>
            </a:pPr>
            <a:r>
              <a:rPr lang="en" sz="800"/>
              <a:t>current states are empty = 2, full = 1, mutex = 1</a:t>
            </a:r>
            <a:endParaRPr/>
          </a:p>
        </p:txBody>
      </p:sp>
      <p:graphicFrame>
        <p:nvGraphicFramePr>
          <p:cNvPr id="271" name="Google Shape;271;p42"/>
          <p:cNvGraphicFramePr/>
          <p:nvPr/>
        </p:nvGraphicFramePr>
        <p:xfrm>
          <a:off x="311700" y="1911600"/>
          <a:ext cx="3000000" cy="3000000"/>
        </p:xfrm>
        <a:graphic>
          <a:graphicData uri="http://schemas.openxmlformats.org/drawingml/2006/table">
            <a:tbl>
              <a:tblPr>
                <a:noFill/>
                <a:tableStyleId>{1165D865-4BFA-4EEE-A9B8-7328B0EABF65}</a:tableStyleId>
              </a:tblPr>
              <a:tblGrid>
                <a:gridCol w="1297125"/>
                <a:gridCol w="398375"/>
                <a:gridCol w="441625"/>
                <a:gridCol w="465650"/>
                <a:gridCol w="2368875"/>
              </a:tblGrid>
              <a:tr h="381000">
                <a:tc>
                  <a:txBody>
                    <a:bodyPr/>
                    <a:lstStyle/>
                    <a:p>
                      <a:pPr indent="0" lvl="0" marL="0" rtl="0" algn="l">
                        <a:spcBef>
                          <a:spcPts val="0"/>
                        </a:spcBef>
                        <a:spcAft>
                          <a:spcPts val="0"/>
                        </a:spcAft>
                        <a:buNone/>
                      </a:pPr>
                      <a:r>
                        <a:rPr lang="en" sz="800"/>
                        <a:t>Action</a:t>
                      </a:r>
                      <a:endParaRPr sz="800"/>
                    </a:p>
                  </a:txBody>
                  <a:tcPr marT="91425" marB="91425" marR="91425" marL="91425"/>
                </a:tc>
                <a:tc>
                  <a:txBody>
                    <a:bodyPr/>
                    <a:lstStyle/>
                    <a:p>
                      <a:pPr indent="0" lvl="0" marL="0" rtl="0" algn="l">
                        <a:spcBef>
                          <a:spcPts val="0"/>
                        </a:spcBef>
                        <a:spcAft>
                          <a:spcPts val="0"/>
                        </a:spcAft>
                        <a:buNone/>
                      </a:pPr>
                      <a:r>
                        <a:rPr lang="en" sz="800"/>
                        <a:t>empty</a:t>
                      </a:r>
                      <a:endParaRPr sz="800"/>
                    </a:p>
                  </a:txBody>
                  <a:tcPr marT="91425" marB="91425" marR="91425" marL="91425"/>
                </a:tc>
                <a:tc>
                  <a:txBody>
                    <a:bodyPr/>
                    <a:lstStyle/>
                    <a:p>
                      <a:pPr indent="0" lvl="0" marL="0" rtl="0" algn="l">
                        <a:spcBef>
                          <a:spcPts val="0"/>
                        </a:spcBef>
                        <a:spcAft>
                          <a:spcPts val="0"/>
                        </a:spcAft>
                        <a:buNone/>
                      </a:pPr>
                      <a:r>
                        <a:rPr lang="en" sz="800"/>
                        <a:t>full</a:t>
                      </a:r>
                      <a:endParaRPr sz="800"/>
                    </a:p>
                  </a:txBody>
                  <a:tcPr marT="91425" marB="91425" marR="91425" marL="91425"/>
                </a:tc>
                <a:tc>
                  <a:txBody>
                    <a:bodyPr/>
                    <a:lstStyle/>
                    <a:p>
                      <a:pPr indent="0" lvl="0" marL="0" rtl="0" algn="l">
                        <a:spcBef>
                          <a:spcPts val="0"/>
                        </a:spcBef>
                        <a:spcAft>
                          <a:spcPts val="0"/>
                        </a:spcAft>
                        <a:buNone/>
                      </a:pPr>
                      <a:r>
                        <a:rPr lang="en" sz="800"/>
                        <a:t>mutex</a:t>
                      </a:r>
                      <a:endParaRPr sz="800"/>
                    </a:p>
                  </a:txBody>
                  <a:tcPr marT="91425" marB="91425" marR="91425" marL="91425"/>
                </a:tc>
                <a:tc>
                  <a:txBody>
                    <a:bodyPr/>
                    <a:lstStyle/>
                    <a:p>
                      <a:pPr indent="0" lvl="0" marL="0" rtl="0" algn="l">
                        <a:spcBef>
                          <a:spcPts val="0"/>
                        </a:spcBef>
                        <a:spcAft>
                          <a:spcPts val="0"/>
                        </a:spcAft>
                        <a:buNone/>
                      </a:pPr>
                      <a:r>
                        <a:rPr lang="en" sz="800"/>
                        <a:t>Buffer</a:t>
                      </a:r>
                      <a:endParaRPr sz="800"/>
                    </a:p>
                  </a:txBody>
                  <a:tcPr marT="91425" marB="91425" marR="91425" marL="91425"/>
                </a:tc>
              </a:tr>
              <a:tr h="381000">
                <a:tc>
                  <a:txBody>
                    <a:bodyPr/>
                    <a:lstStyle/>
                    <a:p>
                      <a:pPr indent="0" lvl="0" marL="0" rtl="0" algn="l">
                        <a:spcBef>
                          <a:spcPts val="0"/>
                        </a:spcBef>
                        <a:spcAft>
                          <a:spcPts val="0"/>
                        </a:spcAft>
                        <a:buNone/>
                      </a:pPr>
                      <a:r>
                        <a:rPr lang="en" sz="800"/>
                        <a:t>P1: wait(empty)</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solidFill>
                            <a:schemeClr val="dk1"/>
                          </a:solidFill>
                        </a:rPr>
                        <a:t>[ _ , X2 , _ ]</a:t>
                      </a:r>
                      <a:endParaRPr sz="800"/>
                    </a:p>
                  </a:txBody>
                  <a:tcPr marT="91425" marB="91425" marR="91425" marL="91425"/>
                </a:tc>
              </a:tr>
              <a:tr h="381000">
                <a:tc>
                  <a:txBody>
                    <a:bodyPr/>
                    <a:lstStyle/>
                    <a:p>
                      <a:pPr indent="0" lvl="0" marL="0" rtl="0" algn="l">
                        <a:spcBef>
                          <a:spcPts val="0"/>
                        </a:spcBef>
                        <a:spcAft>
                          <a:spcPts val="0"/>
                        </a:spcAft>
                        <a:buNone/>
                      </a:pPr>
                      <a:r>
                        <a:rPr lang="en" sz="800"/>
                        <a:t>P1: wait(mutex)</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enters CS</a:t>
                      </a:r>
                      <a:endParaRPr sz="800"/>
                    </a:p>
                  </a:txBody>
                  <a:tcPr marT="91425" marB="91425" marR="91425" marL="91425"/>
                </a:tc>
              </a:tr>
              <a:tr h="381000">
                <a:tc>
                  <a:txBody>
                    <a:bodyPr/>
                    <a:lstStyle/>
                    <a:p>
                      <a:pPr indent="0" lvl="0" marL="0" rtl="0" algn="l">
                        <a:spcBef>
                          <a:spcPts val="0"/>
                        </a:spcBef>
                        <a:spcAft>
                          <a:spcPts val="0"/>
                        </a:spcAft>
                        <a:buNone/>
                      </a:pPr>
                      <a:r>
                        <a:rPr lang="en" sz="800"/>
                        <a:t>P1: insert_item(X3)</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 X3 , X2 , _ ]</a:t>
                      </a:r>
                      <a:endParaRPr sz="800"/>
                    </a:p>
                  </a:txBody>
                  <a:tcPr marT="91425" marB="91425" marR="91425" marL="91425"/>
                </a:tc>
              </a:tr>
              <a:tr h="381000">
                <a:tc>
                  <a:txBody>
                    <a:bodyPr/>
                    <a:lstStyle/>
                    <a:p>
                      <a:pPr indent="0" lvl="0" marL="0" rtl="0" algn="l">
                        <a:spcBef>
                          <a:spcPts val="0"/>
                        </a:spcBef>
                        <a:spcAft>
                          <a:spcPts val="0"/>
                        </a:spcAft>
                        <a:buNone/>
                      </a:pPr>
                      <a:r>
                        <a:rPr lang="en" sz="800"/>
                        <a:t>P1: signal(mutex)</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leaves CS</a:t>
                      </a:r>
                      <a:endParaRPr sz="800"/>
                    </a:p>
                  </a:txBody>
                  <a:tcPr marT="91425" marB="91425" marR="91425" marL="91425"/>
                </a:tc>
              </a:tr>
              <a:tr h="381000">
                <a:tc>
                  <a:txBody>
                    <a:bodyPr/>
                    <a:lstStyle/>
                    <a:p>
                      <a:pPr indent="0" lvl="0" marL="0" rtl="0" algn="l">
                        <a:spcBef>
                          <a:spcPts val="0"/>
                        </a:spcBef>
                        <a:spcAft>
                          <a:spcPts val="0"/>
                        </a:spcAft>
                        <a:buNone/>
                      </a:pPr>
                      <a:r>
                        <a:rPr lang="en" sz="800"/>
                        <a:t>P1: signal(full)</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2</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solidFill>
                            <a:schemeClr val="dk1"/>
                          </a:solidFill>
                        </a:rPr>
                        <a:t>[ X3 , X2 , _ ]</a:t>
                      </a:r>
                      <a:endParaRPr sz="800"/>
                    </a:p>
                  </a:txBody>
                  <a:tcPr marT="91425" marB="91425" marR="91425" marL="91425"/>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77" name="Google Shape;277;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Step 5: Consumer C1 consumes again</a:t>
            </a:r>
            <a:endParaRPr/>
          </a:p>
          <a:p>
            <a:pPr indent="0" lvl="0" marL="0" rtl="0" algn="l">
              <a:spcBef>
                <a:spcPts val="1200"/>
              </a:spcBef>
              <a:spcAft>
                <a:spcPts val="1200"/>
              </a:spcAft>
              <a:buClr>
                <a:schemeClr val="dk1"/>
              </a:buClr>
              <a:buSzPts val="1100"/>
              <a:buFont typeface="Arial"/>
              <a:buNone/>
            </a:pPr>
            <a:r>
              <a:rPr lang="en" sz="800"/>
              <a:t>current states are empty = 1, full = 2, mutex = 1</a:t>
            </a:r>
            <a:endParaRPr/>
          </a:p>
        </p:txBody>
      </p:sp>
      <p:graphicFrame>
        <p:nvGraphicFramePr>
          <p:cNvPr id="278" name="Google Shape;278;p43"/>
          <p:cNvGraphicFramePr/>
          <p:nvPr/>
        </p:nvGraphicFramePr>
        <p:xfrm>
          <a:off x="311700" y="1911600"/>
          <a:ext cx="3000000" cy="3000000"/>
        </p:xfrm>
        <a:graphic>
          <a:graphicData uri="http://schemas.openxmlformats.org/drawingml/2006/table">
            <a:tbl>
              <a:tblPr>
                <a:noFill/>
                <a:tableStyleId>{1165D865-4BFA-4EEE-A9B8-7328B0EABF65}</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n" sz="800"/>
                        <a:t>Action</a:t>
                      </a:r>
                      <a:endParaRPr sz="800"/>
                    </a:p>
                  </a:txBody>
                  <a:tcPr marT="91425" marB="91425" marR="91425" marL="91425"/>
                </a:tc>
                <a:tc>
                  <a:txBody>
                    <a:bodyPr/>
                    <a:lstStyle/>
                    <a:p>
                      <a:pPr indent="0" lvl="0" marL="0" rtl="0" algn="l">
                        <a:spcBef>
                          <a:spcPts val="0"/>
                        </a:spcBef>
                        <a:spcAft>
                          <a:spcPts val="0"/>
                        </a:spcAft>
                        <a:buNone/>
                      </a:pPr>
                      <a:r>
                        <a:rPr lang="en" sz="800"/>
                        <a:t>empty</a:t>
                      </a:r>
                      <a:endParaRPr sz="800"/>
                    </a:p>
                  </a:txBody>
                  <a:tcPr marT="91425" marB="91425" marR="91425" marL="91425"/>
                </a:tc>
                <a:tc>
                  <a:txBody>
                    <a:bodyPr/>
                    <a:lstStyle/>
                    <a:p>
                      <a:pPr indent="0" lvl="0" marL="0" rtl="0" algn="l">
                        <a:spcBef>
                          <a:spcPts val="0"/>
                        </a:spcBef>
                        <a:spcAft>
                          <a:spcPts val="0"/>
                        </a:spcAft>
                        <a:buNone/>
                      </a:pPr>
                      <a:r>
                        <a:rPr lang="en" sz="800"/>
                        <a:t>full</a:t>
                      </a:r>
                      <a:endParaRPr sz="800"/>
                    </a:p>
                  </a:txBody>
                  <a:tcPr marT="91425" marB="91425" marR="91425" marL="91425"/>
                </a:tc>
                <a:tc>
                  <a:txBody>
                    <a:bodyPr/>
                    <a:lstStyle/>
                    <a:p>
                      <a:pPr indent="0" lvl="0" marL="0" rtl="0" algn="l">
                        <a:spcBef>
                          <a:spcPts val="0"/>
                        </a:spcBef>
                        <a:spcAft>
                          <a:spcPts val="0"/>
                        </a:spcAft>
                        <a:buNone/>
                      </a:pPr>
                      <a:r>
                        <a:rPr lang="en" sz="800"/>
                        <a:t>mutex</a:t>
                      </a:r>
                      <a:endParaRPr sz="800"/>
                    </a:p>
                  </a:txBody>
                  <a:tcPr marT="91425" marB="91425" marR="91425" marL="91425"/>
                </a:tc>
                <a:tc>
                  <a:txBody>
                    <a:bodyPr/>
                    <a:lstStyle/>
                    <a:p>
                      <a:pPr indent="0" lvl="0" marL="0" rtl="0" algn="l">
                        <a:spcBef>
                          <a:spcPts val="0"/>
                        </a:spcBef>
                        <a:spcAft>
                          <a:spcPts val="0"/>
                        </a:spcAft>
                        <a:buNone/>
                      </a:pPr>
                      <a:r>
                        <a:rPr lang="en" sz="800"/>
                        <a:t>Buffer</a:t>
                      </a:r>
                      <a:endParaRPr sz="800"/>
                    </a:p>
                  </a:txBody>
                  <a:tcPr marT="91425" marB="91425" marR="91425" marL="91425"/>
                </a:tc>
              </a:tr>
              <a:tr h="381000">
                <a:tc>
                  <a:txBody>
                    <a:bodyPr/>
                    <a:lstStyle/>
                    <a:p>
                      <a:pPr indent="0" lvl="0" marL="0" rtl="0" algn="l">
                        <a:spcBef>
                          <a:spcPts val="0"/>
                        </a:spcBef>
                        <a:spcAft>
                          <a:spcPts val="0"/>
                        </a:spcAft>
                        <a:buNone/>
                      </a:pPr>
                      <a:r>
                        <a:rPr lang="en" sz="800"/>
                        <a:t>C1: wait(full)</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solidFill>
                            <a:schemeClr val="dk1"/>
                          </a:solidFill>
                        </a:rPr>
                        <a:t>has full slot</a:t>
                      </a:r>
                      <a:endParaRPr sz="800"/>
                    </a:p>
                  </a:txBody>
                  <a:tcPr marT="91425" marB="91425" marR="91425" marL="91425"/>
                </a:tc>
              </a:tr>
              <a:tr h="381000">
                <a:tc>
                  <a:txBody>
                    <a:bodyPr/>
                    <a:lstStyle/>
                    <a:p>
                      <a:pPr indent="0" lvl="0" marL="0" rtl="0" algn="l">
                        <a:spcBef>
                          <a:spcPts val="0"/>
                        </a:spcBef>
                        <a:spcAft>
                          <a:spcPts val="0"/>
                        </a:spcAft>
                        <a:buNone/>
                      </a:pPr>
                      <a:r>
                        <a:rPr lang="en" sz="800"/>
                        <a:t>C1: wait(mutex)</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enters CS</a:t>
                      </a:r>
                      <a:endParaRPr sz="800"/>
                    </a:p>
                  </a:txBody>
                  <a:tcPr marT="91425" marB="91425" marR="91425" marL="91425"/>
                </a:tc>
              </a:tr>
              <a:tr h="381000">
                <a:tc>
                  <a:txBody>
                    <a:bodyPr/>
                    <a:lstStyle/>
                    <a:p>
                      <a:pPr indent="0" lvl="0" marL="0" rtl="0" algn="l">
                        <a:spcBef>
                          <a:spcPts val="0"/>
                        </a:spcBef>
                        <a:spcAft>
                          <a:spcPts val="0"/>
                        </a:spcAft>
                        <a:buNone/>
                      </a:pPr>
                      <a:r>
                        <a:rPr lang="en" sz="800"/>
                        <a:t>C1: remove_item(X2)</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 X3 , _ , _ ]</a:t>
                      </a:r>
                      <a:endParaRPr sz="800"/>
                    </a:p>
                  </a:txBody>
                  <a:tcPr marT="91425" marB="91425" marR="91425" marL="91425"/>
                </a:tc>
              </a:tr>
              <a:tr h="381000">
                <a:tc>
                  <a:txBody>
                    <a:bodyPr/>
                    <a:lstStyle/>
                    <a:p>
                      <a:pPr indent="0" lvl="0" marL="0" rtl="0" algn="l">
                        <a:spcBef>
                          <a:spcPts val="0"/>
                        </a:spcBef>
                        <a:spcAft>
                          <a:spcPts val="0"/>
                        </a:spcAft>
                        <a:buNone/>
                      </a:pPr>
                      <a:r>
                        <a:rPr lang="en" sz="800"/>
                        <a:t>C1: signal(mutex)</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leaves CS</a:t>
                      </a:r>
                      <a:endParaRPr sz="800"/>
                    </a:p>
                  </a:txBody>
                  <a:tcPr marT="91425" marB="91425" marR="91425" marL="91425"/>
                </a:tc>
              </a:tr>
              <a:tr h="381000">
                <a:tc>
                  <a:txBody>
                    <a:bodyPr/>
                    <a:lstStyle/>
                    <a:p>
                      <a:pPr indent="0" lvl="0" marL="0" rtl="0" algn="l">
                        <a:spcBef>
                          <a:spcPts val="0"/>
                        </a:spcBef>
                        <a:spcAft>
                          <a:spcPts val="0"/>
                        </a:spcAft>
                        <a:buNone/>
                      </a:pPr>
                      <a:r>
                        <a:rPr lang="en" sz="800"/>
                        <a:t>C1: signal(empty)</a:t>
                      </a:r>
                      <a:endParaRPr sz="800"/>
                    </a:p>
                  </a:txBody>
                  <a:tcPr marT="91425" marB="91425" marR="91425" marL="91425"/>
                </a:tc>
                <a:tc>
                  <a:txBody>
                    <a:bodyPr/>
                    <a:lstStyle/>
                    <a:p>
                      <a:pPr indent="0" lvl="0" marL="0" rtl="0" algn="l">
                        <a:spcBef>
                          <a:spcPts val="0"/>
                        </a:spcBef>
                        <a:spcAft>
                          <a:spcPts val="0"/>
                        </a:spcAft>
                        <a:buNone/>
                      </a:pPr>
                      <a:r>
                        <a:rPr lang="en" sz="800"/>
                        <a:t>2</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solidFill>
                            <a:schemeClr val="dk1"/>
                          </a:solidFill>
                        </a:rPr>
                        <a:t>frees one slot</a:t>
                      </a:r>
                      <a:endParaRPr sz="800"/>
                    </a:p>
                  </a:txBody>
                  <a:tcPr marT="91425" marB="91425" marR="91425" marL="91425"/>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Readers–Writers Problem</a:t>
            </a:r>
            <a:endParaRPr/>
          </a:p>
        </p:txBody>
      </p:sp>
      <p:sp>
        <p:nvSpPr>
          <p:cNvPr id="284" name="Google Shape;284;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shared database (like a file or table):</a:t>
            </a:r>
            <a:endParaRPr/>
          </a:p>
          <a:p>
            <a:pPr indent="-342900" lvl="0" marL="457200" rtl="0" algn="l">
              <a:spcBef>
                <a:spcPts val="1200"/>
              </a:spcBef>
              <a:spcAft>
                <a:spcPts val="0"/>
              </a:spcAft>
              <a:buSzPts val="1800"/>
              <a:buChar char="-"/>
            </a:pPr>
            <a:r>
              <a:rPr lang="en"/>
              <a:t>Readers only read the data.</a:t>
            </a:r>
            <a:endParaRPr/>
          </a:p>
          <a:p>
            <a:pPr indent="-342900" lvl="0" marL="457200" rtl="0" algn="l">
              <a:spcBef>
                <a:spcPts val="0"/>
              </a:spcBef>
              <a:spcAft>
                <a:spcPts val="0"/>
              </a:spcAft>
              <a:buSzPts val="1800"/>
              <a:buChar char="-"/>
            </a:pPr>
            <a:r>
              <a:rPr lang="en"/>
              <a:t>Writers modify the data.</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We must ensure:</a:t>
            </a:r>
            <a:endParaRPr/>
          </a:p>
          <a:p>
            <a:pPr indent="-342900" lvl="0" marL="457200" rtl="0" algn="l">
              <a:spcBef>
                <a:spcPts val="1200"/>
              </a:spcBef>
              <a:spcAft>
                <a:spcPts val="0"/>
              </a:spcAft>
              <a:buSzPts val="1800"/>
              <a:buChar char="-"/>
            </a:pPr>
            <a:r>
              <a:rPr lang="en"/>
              <a:t>No writer is writing while any reader is reading.</a:t>
            </a:r>
            <a:endParaRPr/>
          </a:p>
          <a:p>
            <a:pPr indent="-342900" lvl="0" marL="457200" rtl="0" algn="l">
              <a:spcBef>
                <a:spcPts val="0"/>
              </a:spcBef>
              <a:spcAft>
                <a:spcPts val="0"/>
              </a:spcAft>
              <a:buSzPts val="1800"/>
              <a:buChar char="-"/>
            </a:pPr>
            <a:r>
              <a:rPr lang="en"/>
              <a:t>Multiple readers can read simultaneously (no conflict).</a:t>
            </a:r>
            <a:endParaRPr/>
          </a:p>
          <a:p>
            <a:pPr indent="-342900" lvl="0" marL="457200" rtl="0" algn="l">
              <a:spcBef>
                <a:spcPts val="0"/>
              </a:spcBef>
              <a:spcAft>
                <a:spcPts val="0"/>
              </a:spcAft>
              <a:buSzPts val="1800"/>
              <a:buChar char="-"/>
            </a:pPr>
            <a:r>
              <a:rPr lang="en"/>
              <a:t>But only one writer can write at a time.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Pseudocode for addressing Readers–Writers Problem</a:t>
            </a:r>
            <a:endParaRPr/>
          </a:p>
        </p:txBody>
      </p:sp>
      <p:sp>
        <p:nvSpPr>
          <p:cNvPr id="290" name="Google Shape;290;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91" name="Google Shape;291;p45" title="Screenshot 2025-10-16 at 6.04.18 AM.png"/>
          <p:cNvPicPr preferRelativeResize="0"/>
          <p:nvPr/>
        </p:nvPicPr>
        <p:blipFill>
          <a:blip r:embed="rId3">
            <a:alphaModFix/>
          </a:blip>
          <a:stretch>
            <a:fillRect/>
          </a:stretch>
        </p:blipFill>
        <p:spPr>
          <a:xfrm>
            <a:off x="311700" y="1152474"/>
            <a:ext cx="4882575" cy="758200"/>
          </a:xfrm>
          <a:prstGeom prst="rect">
            <a:avLst/>
          </a:prstGeom>
          <a:noFill/>
          <a:ln>
            <a:noFill/>
          </a:ln>
        </p:spPr>
      </p:pic>
      <p:pic>
        <p:nvPicPr>
          <p:cNvPr id="292" name="Google Shape;292;p45" title="Screenshot 2025-10-16 at 6.04.56 AM.png"/>
          <p:cNvPicPr preferRelativeResize="0"/>
          <p:nvPr/>
        </p:nvPicPr>
        <p:blipFill>
          <a:blip r:embed="rId4">
            <a:alphaModFix/>
          </a:blip>
          <a:stretch>
            <a:fillRect/>
          </a:stretch>
        </p:blipFill>
        <p:spPr>
          <a:xfrm>
            <a:off x="5263425" y="1152475"/>
            <a:ext cx="3415300" cy="3514500"/>
          </a:xfrm>
          <a:prstGeom prst="rect">
            <a:avLst/>
          </a:prstGeom>
          <a:noFill/>
          <a:ln>
            <a:noFill/>
          </a:ln>
        </p:spPr>
      </p:pic>
      <p:pic>
        <p:nvPicPr>
          <p:cNvPr id="293" name="Google Shape;293;p45" title="Screenshot 2025-10-16 at 6.05.46 AM.png"/>
          <p:cNvPicPr preferRelativeResize="0"/>
          <p:nvPr/>
        </p:nvPicPr>
        <p:blipFill>
          <a:blip r:embed="rId5">
            <a:alphaModFix/>
          </a:blip>
          <a:stretch>
            <a:fillRect/>
          </a:stretch>
        </p:blipFill>
        <p:spPr>
          <a:xfrm>
            <a:off x="531525" y="2045425"/>
            <a:ext cx="4040476" cy="24352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99" name="Google Shape;299;p46"/>
          <p:cNvSpPr txBox="1"/>
          <p:nvPr>
            <p:ph idx="1" type="body"/>
          </p:nvPr>
        </p:nvSpPr>
        <p:spPr>
          <a:xfrm>
            <a:off x="311700" y="1152475"/>
            <a:ext cx="8520600" cy="3900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sz="1600"/>
              <a:t>Step 1: R2 starts reading</a:t>
            </a:r>
            <a:endParaRPr b="1" sz="1600"/>
          </a:p>
          <a:p>
            <a:pPr indent="0" lvl="0" marL="0" rtl="0" algn="l">
              <a:spcBef>
                <a:spcPts val="1200"/>
              </a:spcBef>
              <a:spcAft>
                <a:spcPts val="0"/>
              </a:spcAft>
              <a:buNone/>
            </a:pPr>
            <a:r>
              <a:rPr lang="en" sz="850"/>
              <a:t>Initial states are readcount = 0, mutex = 1, wrt = 1</a:t>
            </a:r>
            <a:endParaRPr sz="85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Now R1 is reading, writers are blocked (wrt = 0).</a:t>
            </a:r>
            <a:endParaRPr/>
          </a:p>
          <a:p>
            <a:pPr indent="0" lvl="0" marL="0" rtl="0" algn="l">
              <a:spcBef>
                <a:spcPts val="1200"/>
              </a:spcBef>
              <a:spcAft>
                <a:spcPts val="1200"/>
              </a:spcAft>
              <a:buNone/>
            </a:pPr>
            <a:r>
              <a:t/>
            </a:r>
            <a:endParaRPr/>
          </a:p>
        </p:txBody>
      </p:sp>
      <p:graphicFrame>
        <p:nvGraphicFramePr>
          <p:cNvPr id="300" name="Google Shape;300;p46"/>
          <p:cNvGraphicFramePr/>
          <p:nvPr/>
        </p:nvGraphicFramePr>
        <p:xfrm>
          <a:off x="409700" y="1893725"/>
          <a:ext cx="3000000" cy="3000000"/>
        </p:xfrm>
        <a:graphic>
          <a:graphicData uri="http://schemas.openxmlformats.org/drawingml/2006/table">
            <a:tbl>
              <a:tblPr>
                <a:noFill/>
                <a:tableStyleId>{1165D865-4BFA-4EEE-A9B8-7328B0EABF65}</a:tableStyleId>
              </a:tblPr>
              <a:tblGrid>
                <a:gridCol w="613150"/>
                <a:gridCol w="1114050"/>
                <a:gridCol w="709800"/>
                <a:gridCol w="585750"/>
                <a:gridCol w="522825"/>
                <a:gridCol w="1681250"/>
              </a:tblGrid>
              <a:tr h="381000">
                <a:tc>
                  <a:txBody>
                    <a:bodyPr/>
                    <a:lstStyle/>
                    <a:p>
                      <a:pPr indent="0" lvl="0" marL="0" rtl="0" algn="l">
                        <a:spcBef>
                          <a:spcPts val="0"/>
                        </a:spcBef>
                        <a:spcAft>
                          <a:spcPts val="0"/>
                        </a:spcAft>
                        <a:buNone/>
                      </a:pPr>
                      <a:r>
                        <a:rPr lang="en" sz="800"/>
                        <a:t>Step</a:t>
                      </a:r>
                      <a:endParaRPr sz="800"/>
                    </a:p>
                  </a:txBody>
                  <a:tcPr marT="91425" marB="91425" marR="91425" marL="91425"/>
                </a:tc>
                <a:tc>
                  <a:txBody>
                    <a:bodyPr/>
                    <a:lstStyle/>
                    <a:p>
                      <a:pPr indent="0" lvl="0" marL="0" rtl="0" algn="l">
                        <a:spcBef>
                          <a:spcPts val="0"/>
                        </a:spcBef>
                        <a:spcAft>
                          <a:spcPts val="0"/>
                        </a:spcAft>
                        <a:buNone/>
                      </a:pPr>
                      <a:r>
                        <a:rPr lang="en" sz="800"/>
                        <a:t>Action</a:t>
                      </a:r>
                      <a:endParaRPr sz="800"/>
                    </a:p>
                  </a:txBody>
                  <a:tcPr marT="91425" marB="91425" marR="91425" marL="91425"/>
                </a:tc>
                <a:tc>
                  <a:txBody>
                    <a:bodyPr/>
                    <a:lstStyle/>
                    <a:p>
                      <a:pPr indent="0" lvl="0" marL="0" rtl="0" algn="l">
                        <a:spcBef>
                          <a:spcPts val="0"/>
                        </a:spcBef>
                        <a:spcAft>
                          <a:spcPts val="0"/>
                        </a:spcAft>
                        <a:buNone/>
                      </a:pPr>
                      <a:r>
                        <a:rPr lang="en" sz="800"/>
                        <a:t>readcount</a:t>
                      </a:r>
                      <a:endParaRPr sz="800"/>
                    </a:p>
                  </a:txBody>
                  <a:tcPr marT="91425" marB="91425" marR="91425" marL="91425"/>
                </a:tc>
                <a:tc>
                  <a:txBody>
                    <a:bodyPr/>
                    <a:lstStyle/>
                    <a:p>
                      <a:pPr indent="0" lvl="0" marL="0" rtl="0" algn="l">
                        <a:spcBef>
                          <a:spcPts val="0"/>
                        </a:spcBef>
                        <a:spcAft>
                          <a:spcPts val="0"/>
                        </a:spcAft>
                        <a:buNone/>
                      </a:pPr>
                      <a:r>
                        <a:rPr lang="en" sz="800"/>
                        <a:t>mutex</a:t>
                      </a:r>
                      <a:endParaRPr sz="800"/>
                    </a:p>
                  </a:txBody>
                  <a:tcPr marT="91425" marB="91425" marR="91425" marL="91425"/>
                </a:tc>
                <a:tc>
                  <a:txBody>
                    <a:bodyPr/>
                    <a:lstStyle/>
                    <a:p>
                      <a:pPr indent="0" lvl="0" marL="0" rtl="0" algn="l">
                        <a:spcBef>
                          <a:spcPts val="0"/>
                        </a:spcBef>
                        <a:spcAft>
                          <a:spcPts val="0"/>
                        </a:spcAft>
                        <a:buNone/>
                      </a:pPr>
                      <a:r>
                        <a:rPr lang="en" sz="800"/>
                        <a:t>wrt</a:t>
                      </a:r>
                      <a:endParaRPr sz="800"/>
                    </a:p>
                  </a:txBody>
                  <a:tcPr marT="91425" marB="91425" marR="91425" marL="91425"/>
                </a:tc>
                <a:tc>
                  <a:txBody>
                    <a:bodyPr/>
                    <a:lstStyle/>
                    <a:p>
                      <a:pPr indent="0" lvl="0" marL="0" rtl="0" algn="l">
                        <a:spcBef>
                          <a:spcPts val="0"/>
                        </a:spcBef>
                        <a:spcAft>
                          <a:spcPts val="0"/>
                        </a:spcAft>
                        <a:buNone/>
                      </a:pPr>
                      <a:r>
                        <a:rPr lang="en" sz="800"/>
                        <a:t>Notes</a:t>
                      </a:r>
                      <a:endParaRPr sz="800"/>
                    </a:p>
                  </a:txBody>
                  <a:tcPr marT="91425" marB="91425" marR="91425" marL="91425"/>
                </a:tc>
              </a:tr>
              <a:tr h="367000">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R1 executes wait(mutex)</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enters mutex</a:t>
                      </a:r>
                      <a:endParaRPr sz="800"/>
                    </a:p>
                  </a:txBody>
                  <a:tcPr marT="91425" marB="91425" marR="91425" marL="91425"/>
                </a:tc>
              </a:tr>
              <a:tr h="381000">
                <a:tc>
                  <a:txBody>
                    <a:bodyPr/>
                    <a:lstStyle/>
                    <a:p>
                      <a:pPr indent="0" lvl="0" marL="0" rtl="0" algn="l">
                        <a:spcBef>
                          <a:spcPts val="0"/>
                        </a:spcBef>
                        <a:spcAft>
                          <a:spcPts val="0"/>
                        </a:spcAft>
                        <a:buNone/>
                      </a:pPr>
                      <a:r>
                        <a:rPr lang="en" sz="800"/>
                        <a:t>2</a:t>
                      </a:r>
                      <a:endParaRPr sz="800"/>
                    </a:p>
                  </a:txBody>
                  <a:tcPr marT="91425" marB="91425" marR="91425" marL="91425"/>
                </a:tc>
                <a:tc>
                  <a:txBody>
                    <a:bodyPr/>
                    <a:lstStyle/>
                    <a:p>
                      <a:pPr indent="0" lvl="0" marL="0" rtl="0" algn="l">
                        <a:spcBef>
                          <a:spcPts val="0"/>
                        </a:spcBef>
                        <a:spcAft>
                          <a:spcPts val="0"/>
                        </a:spcAft>
                        <a:buNone/>
                      </a:pPr>
                      <a:r>
                        <a:rPr lang="en" sz="800"/>
                        <a:t>R1 increments readcount = 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first reader</a:t>
                      </a:r>
                      <a:endParaRPr sz="800"/>
                    </a:p>
                  </a:txBody>
                  <a:tcPr marT="91425" marB="91425" marR="91425" marL="91425"/>
                </a:tc>
              </a:tr>
              <a:tr h="381000">
                <a:tc>
                  <a:txBody>
                    <a:bodyPr/>
                    <a:lstStyle/>
                    <a:p>
                      <a:pPr indent="0" lvl="0" marL="0" rtl="0" algn="l">
                        <a:spcBef>
                          <a:spcPts val="0"/>
                        </a:spcBef>
                        <a:spcAft>
                          <a:spcPts val="0"/>
                        </a:spcAft>
                        <a:buNone/>
                      </a:pPr>
                      <a:r>
                        <a:rPr lang="en" sz="800"/>
                        <a:t>3</a:t>
                      </a:r>
                      <a:endParaRPr sz="800"/>
                    </a:p>
                  </a:txBody>
                  <a:tcPr marT="91425" marB="91425" marR="91425" marL="91425"/>
                </a:tc>
                <a:tc>
                  <a:txBody>
                    <a:bodyPr/>
                    <a:lstStyle/>
                    <a:p>
                      <a:pPr indent="0" lvl="0" marL="0" rtl="0" algn="l">
                        <a:spcBef>
                          <a:spcPts val="0"/>
                        </a:spcBef>
                        <a:spcAft>
                          <a:spcPts val="0"/>
                        </a:spcAft>
                        <a:buNone/>
                      </a:pPr>
                      <a:r>
                        <a:rPr lang="en" sz="800"/>
                        <a:t>Since readcount == 1, R1 executes wait(wrt)</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locks writers</a:t>
                      </a:r>
                      <a:endParaRPr sz="800"/>
                    </a:p>
                  </a:txBody>
                  <a:tcPr marT="91425" marB="91425" marR="91425" marL="91425"/>
                </a:tc>
              </a:tr>
              <a:tr h="381000">
                <a:tc>
                  <a:txBody>
                    <a:bodyPr/>
                    <a:lstStyle/>
                    <a:p>
                      <a:pPr indent="0" lvl="0" marL="0" rtl="0" algn="l">
                        <a:spcBef>
                          <a:spcPts val="0"/>
                        </a:spcBef>
                        <a:spcAft>
                          <a:spcPts val="0"/>
                        </a:spcAft>
                        <a:buNone/>
                      </a:pPr>
                      <a:r>
                        <a:rPr lang="en" sz="800"/>
                        <a:t>4</a:t>
                      </a:r>
                      <a:endParaRPr sz="800"/>
                    </a:p>
                  </a:txBody>
                  <a:tcPr marT="91425" marB="91425" marR="91425" marL="91425"/>
                </a:tc>
                <a:tc>
                  <a:txBody>
                    <a:bodyPr/>
                    <a:lstStyle/>
                    <a:p>
                      <a:pPr indent="0" lvl="0" marL="0" rtl="0" algn="l">
                        <a:spcBef>
                          <a:spcPts val="0"/>
                        </a:spcBef>
                        <a:spcAft>
                          <a:spcPts val="0"/>
                        </a:spcAft>
                        <a:buNone/>
                      </a:pPr>
                      <a:r>
                        <a:rPr lang="en" sz="800"/>
                        <a:t>R1 executes signal(mutex)</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leaves mutex</a:t>
                      </a:r>
                      <a:endParaRPr sz="800"/>
                    </a:p>
                  </a:txBody>
                  <a:tcPr marT="91425" marB="91425" marR="91425" marL="91425"/>
                </a:tc>
              </a:tr>
            </a:tbl>
          </a:graphicData>
        </a:graphic>
      </p:graphicFrame>
      <p:pic>
        <p:nvPicPr>
          <p:cNvPr id="301" name="Google Shape;301;p46" title="Screenshot 2025-10-16 at 6.04.56 AM.png"/>
          <p:cNvPicPr preferRelativeResize="0"/>
          <p:nvPr/>
        </p:nvPicPr>
        <p:blipFill>
          <a:blip r:embed="rId3">
            <a:alphaModFix/>
          </a:blip>
          <a:stretch>
            <a:fillRect/>
          </a:stretch>
        </p:blipFill>
        <p:spPr>
          <a:xfrm>
            <a:off x="6010469" y="1544750"/>
            <a:ext cx="2461707" cy="25332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07" name="Google Shape;307;p47"/>
          <p:cNvSpPr txBox="1"/>
          <p:nvPr>
            <p:ph idx="1" type="body"/>
          </p:nvPr>
        </p:nvSpPr>
        <p:spPr>
          <a:xfrm>
            <a:off x="311700" y="1152475"/>
            <a:ext cx="8520600" cy="388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800"/>
          </a:p>
          <a:p>
            <a:pPr indent="0" lvl="0" marL="0" rtl="0" algn="l">
              <a:spcBef>
                <a:spcPts val="1200"/>
              </a:spcBef>
              <a:spcAft>
                <a:spcPts val="0"/>
              </a:spcAft>
              <a:buNone/>
            </a:pPr>
            <a:r>
              <a:rPr b="1" lang="en" sz="800"/>
              <a:t>Step 1: R2 starts reading</a:t>
            </a:r>
            <a:endParaRPr b="1" sz="800"/>
          </a:p>
          <a:p>
            <a:pPr indent="0" lvl="0" marL="0" rtl="0" algn="l">
              <a:spcBef>
                <a:spcPts val="1200"/>
              </a:spcBef>
              <a:spcAft>
                <a:spcPts val="0"/>
              </a:spcAft>
              <a:buClr>
                <a:schemeClr val="dk1"/>
              </a:buClr>
              <a:buSzPts val="1100"/>
              <a:buFont typeface="Arial"/>
              <a:buNone/>
            </a:pPr>
            <a:r>
              <a:rPr lang="en" sz="850"/>
              <a:t>current states are readcount = 1, mutex = 1, wrt = 0</a:t>
            </a:r>
            <a:endParaRPr b="1" sz="8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Both R1 and R2 are reading.</a:t>
            </a:r>
            <a:endParaRPr/>
          </a:p>
          <a:p>
            <a:pPr indent="0" lvl="0" marL="0" rtl="0" algn="l">
              <a:spcBef>
                <a:spcPts val="1200"/>
              </a:spcBef>
              <a:spcAft>
                <a:spcPts val="1200"/>
              </a:spcAft>
              <a:buNone/>
            </a:pPr>
            <a:r>
              <a:rPr lang="en"/>
              <a:t>Writers still blocked (wrt = 0).</a:t>
            </a:r>
            <a:endParaRPr/>
          </a:p>
        </p:txBody>
      </p:sp>
      <p:graphicFrame>
        <p:nvGraphicFramePr>
          <p:cNvPr id="308" name="Google Shape;308;p47"/>
          <p:cNvGraphicFramePr/>
          <p:nvPr/>
        </p:nvGraphicFramePr>
        <p:xfrm>
          <a:off x="402675" y="2229650"/>
          <a:ext cx="3000000" cy="3000000"/>
        </p:xfrm>
        <a:graphic>
          <a:graphicData uri="http://schemas.openxmlformats.org/drawingml/2006/table">
            <a:tbl>
              <a:tblPr>
                <a:noFill/>
                <a:tableStyleId>{1165D865-4BFA-4EEE-A9B8-7328B0EABF65}</a:tableStyleId>
              </a:tblPr>
              <a:tblGrid>
                <a:gridCol w="551875"/>
                <a:gridCol w="1002725"/>
                <a:gridCol w="787525"/>
                <a:gridCol w="480800"/>
                <a:gridCol w="536825"/>
                <a:gridCol w="1385300"/>
              </a:tblGrid>
              <a:tr h="381000">
                <a:tc>
                  <a:txBody>
                    <a:bodyPr/>
                    <a:lstStyle/>
                    <a:p>
                      <a:pPr indent="0" lvl="0" marL="0" rtl="0" algn="l">
                        <a:spcBef>
                          <a:spcPts val="0"/>
                        </a:spcBef>
                        <a:spcAft>
                          <a:spcPts val="0"/>
                        </a:spcAft>
                        <a:buNone/>
                      </a:pPr>
                      <a:r>
                        <a:rPr lang="en" sz="800"/>
                        <a:t>Step</a:t>
                      </a:r>
                      <a:endParaRPr sz="800"/>
                    </a:p>
                  </a:txBody>
                  <a:tcPr marT="91425" marB="91425" marR="91425" marL="91425"/>
                </a:tc>
                <a:tc>
                  <a:txBody>
                    <a:bodyPr/>
                    <a:lstStyle/>
                    <a:p>
                      <a:pPr indent="0" lvl="0" marL="0" rtl="0" algn="l">
                        <a:spcBef>
                          <a:spcPts val="0"/>
                        </a:spcBef>
                        <a:spcAft>
                          <a:spcPts val="0"/>
                        </a:spcAft>
                        <a:buNone/>
                      </a:pPr>
                      <a:r>
                        <a:rPr lang="en" sz="800"/>
                        <a:t>Action</a:t>
                      </a:r>
                      <a:endParaRPr sz="800"/>
                    </a:p>
                  </a:txBody>
                  <a:tcPr marT="91425" marB="91425" marR="91425" marL="91425"/>
                </a:tc>
                <a:tc>
                  <a:txBody>
                    <a:bodyPr/>
                    <a:lstStyle/>
                    <a:p>
                      <a:pPr indent="0" lvl="0" marL="0" rtl="0" algn="l">
                        <a:spcBef>
                          <a:spcPts val="0"/>
                        </a:spcBef>
                        <a:spcAft>
                          <a:spcPts val="0"/>
                        </a:spcAft>
                        <a:buNone/>
                      </a:pPr>
                      <a:r>
                        <a:rPr lang="en" sz="800"/>
                        <a:t>readcount</a:t>
                      </a:r>
                      <a:endParaRPr sz="800"/>
                    </a:p>
                  </a:txBody>
                  <a:tcPr marT="91425" marB="91425" marR="91425" marL="91425"/>
                </a:tc>
                <a:tc>
                  <a:txBody>
                    <a:bodyPr/>
                    <a:lstStyle/>
                    <a:p>
                      <a:pPr indent="0" lvl="0" marL="0" rtl="0" algn="l">
                        <a:spcBef>
                          <a:spcPts val="0"/>
                        </a:spcBef>
                        <a:spcAft>
                          <a:spcPts val="0"/>
                        </a:spcAft>
                        <a:buNone/>
                      </a:pPr>
                      <a:r>
                        <a:rPr lang="en" sz="800"/>
                        <a:t>mutex</a:t>
                      </a:r>
                      <a:endParaRPr sz="800"/>
                    </a:p>
                  </a:txBody>
                  <a:tcPr marT="91425" marB="91425" marR="91425" marL="91425"/>
                </a:tc>
                <a:tc>
                  <a:txBody>
                    <a:bodyPr/>
                    <a:lstStyle/>
                    <a:p>
                      <a:pPr indent="0" lvl="0" marL="0" rtl="0" algn="l">
                        <a:spcBef>
                          <a:spcPts val="0"/>
                        </a:spcBef>
                        <a:spcAft>
                          <a:spcPts val="0"/>
                        </a:spcAft>
                        <a:buNone/>
                      </a:pPr>
                      <a:r>
                        <a:rPr lang="en" sz="800"/>
                        <a:t>wrt</a:t>
                      </a:r>
                      <a:endParaRPr sz="800"/>
                    </a:p>
                  </a:txBody>
                  <a:tcPr marT="91425" marB="91425" marR="91425" marL="91425"/>
                </a:tc>
                <a:tc>
                  <a:txBody>
                    <a:bodyPr/>
                    <a:lstStyle/>
                    <a:p>
                      <a:pPr indent="0" lvl="0" marL="0" rtl="0" algn="l">
                        <a:spcBef>
                          <a:spcPts val="0"/>
                        </a:spcBef>
                        <a:spcAft>
                          <a:spcPts val="0"/>
                        </a:spcAft>
                        <a:buNone/>
                      </a:pPr>
                      <a:r>
                        <a:rPr lang="en" sz="800"/>
                        <a:t>Notes</a:t>
                      </a:r>
                      <a:endParaRPr sz="800"/>
                    </a:p>
                  </a:txBody>
                  <a:tcPr marT="91425" marB="91425" marR="91425" marL="91425"/>
                </a:tc>
              </a:tr>
              <a:tr h="381000">
                <a:tc>
                  <a:txBody>
                    <a:bodyPr/>
                    <a:lstStyle/>
                    <a:p>
                      <a:pPr indent="0" lvl="0" marL="0" rtl="0" algn="l">
                        <a:spcBef>
                          <a:spcPts val="0"/>
                        </a:spcBef>
                        <a:spcAft>
                          <a:spcPts val="0"/>
                        </a:spcAft>
                        <a:buNone/>
                      </a:pPr>
                      <a:r>
                        <a:rPr lang="en" sz="800"/>
                        <a:t>5</a:t>
                      </a:r>
                      <a:endParaRPr sz="800"/>
                    </a:p>
                  </a:txBody>
                  <a:tcPr marT="91425" marB="91425" marR="91425" marL="91425"/>
                </a:tc>
                <a:tc>
                  <a:txBody>
                    <a:bodyPr/>
                    <a:lstStyle/>
                    <a:p>
                      <a:pPr indent="0" lvl="0" marL="0" rtl="0" algn="l">
                        <a:spcBef>
                          <a:spcPts val="0"/>
                        </a:spcBef>
                        <a:spcAft>
                          <a:spcPts val="0"/>
                        </a:spcAft>
                        <a:buNone/>
                      </a:pPr>
                      <a:r>
                        <a:rPr lang="en" sz="800"/>
                        <a:t>R2 executes wait(mutex)</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enters mutex</a:t>
                      </a:r>
                      <a:endParaRPr sz="800"/>
                    </a:p>
                  </a:txBody>
                  <a:tcPr marT="91425" marB="91425" marR="91425" marL="91425"/>
                </a:tc>
              </a:tr>
              <a:tr h="381000">
                <a:tc>
                  <a:txBody>
                    <a:bodyPr/>
                    <a:lstStyle/>
                    <a:p>
                      <a:pPr indent="0" lvl="0" marL="0" rtl="0" algn="l">
                        <a:spcBef>
                          <a:spcPts val="0"/>
                        </a:spcBef>
                        <a:spcAft>
                          <a:spcPts val="0"/>
                        </a:spcAft>
                        <a:buNone/>
                      </a:pPr>
                      <a:r>
                        <a:rPr lang="en" sz="800"/>
                        <a:t>6</a:t>
                      </a:r>
                      <a:endParaRPr sz="800"/>
                    </a:p>
                  </a:txBody>
                  <a:tcPr marT="91425" marB="91425" marR="91425" marL="91425"/>
                </a:tc>
                <a:tc>
                  <a:txBody>
                    <a:bodyPr/>
                    <a:lstStyle/>
                    <a:p>
                      <a:pPr indent="0" lvl="0" marL="0" rtl="0" algn="l">
                        <a:spcBef>
                          <a:spcPts val="0"/>
                        </a:spcBef>
                        <a:spcAft>
                          <a:spcPts val="0"/>
                        </a:spcAft>
                        <a:buNone/>
                      </a:pPr>
                      <a:r>
                        <a:rPr lang="en" sz="800"/>
                        <a:t>R2 increments readcount = 2</a:t>
                      </a:r>
                      <a:endParaRPr sz="800"/>
                    </a:p>
                  </a:txBody>
                  <a:tcPr marT="91425" marB="91425" marR="91425" marL="91425"/>
                </a:tc>
                <a:tc>
                  <a:txBody>
                    <a:bodyPr/>
                    <a:lstStyle/>
                    <a:p>
                      <a:pPr indent="0" lvl="0" marL="0" rtl="0" algn="l">
                        <a:spcBef>
                          <a:spcPts val="0"/>
                        </a:spcBef>
                        <a:spcAft>
                          <a:spcPts val="0"/>
                        </a:spcAft>
                        <a:buNone/>
                      </a:pPr>
                      <a:r>
                        <a:rPr lang="en" sz="800"/>
                        <a:t>2</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not first reader, no wait(wrt)</a:t>
                      </a:r>
                      <a:endParaRPr sz="800"/>
                    </a:p>
                  </a:txBody>
                  <a:tcPr marT="91425" marB="91425" marR="91425" marL="91425"/>
                </a:tc>
              </a:tr>
              <a:tr h="381000">
                <a:tc>
                  <a:txBody>
                    <a:bodyPr/>
                    <a:lstStyle/>
                    <a:p>
                      <a:pPr indent="0" lvl="0" marL="0" rtl="0" algn="l">
                        <a:spcBef>
                          <a:spcPts val="0"/>
                        </a:spcBef>
                        <a:spcAft>
                          <a:spcPts val="0"/>
                        </a:spcAft>
                        <a:buNone/>
                      </a:pPr>
                      <a:r>
                        <a:rPr lang="en" sz="800"/>
                        <a:t>7</a:t>
                      </a:r>
                      <a:endParaRPr sz="800"/>
                    </a:p>
                  </a:txBody>
                  <a:tcPr marT="91425" marB="91425" marR="91425" marL="91425"/>
                </a:tc>
                <a:tc>
                  <a:txBody>
                    <a:bodyPr/>
                    <a:lstStyle/>
                    <a:p>
                      <a:pPr indent="0" lvl="0" marL="0" rtl="0" algn="l">
                        <a:spcBef>
                          <a:spcPts val="0"/>
                        </a:spcBef>
                        <a:spcAft>
                          <a:spcPts val="0"/>
                        </a:spcAft>
                        <a:buNone/>
                      </a:pPr>
                      <a:r>
                        <a:rPr lang="en" sz="800"/>
                        <a:t>R2 increments readcount = 2</a:t>
                      </a:r>
                      <a:endParaRPr sz="800"/>
                    </a:p>
                  </a:txBody>
                  <a:tcPr marT="91425" marB="91425" marR="91425" marL="91425"/>
                </a:tc>
                <a:tc>
                  <a:txBody>
                    <a:bodyPr/>
                    <a:lstStyle/>
                    <a:p>
                      <a:pPr indent="0" lvl="0" marL="0" rtl="0" algn="l">
                        <a:spcBef>
                          <a:spcPts val="0"/>
                        </a:spcBef>
                        <a:spcAft>
                          <a:spcPts val="0"/>
                        </a:spcAft>
                        <a:buNone/>
                      </a:pPr>
                      <a:r>
                        <a:rPr lang="en" sz="800"/>
                        <a:t>2</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leaves mutex</a:t>
                      </a:r>
                      <a:endParaRPr sz="800"/>
                    </a:p>
                  </a:txBody>
                  <a:tcPr marT="91425" marB="91425" marR="91425" marL="91425"/>
                </a:tc>
              </a:tr>
            </a:tbl>
          </a:graphicData>
        </a:graphic>
      </p:graphicFrame>
      <p:pic>
        <p:nvPicPr>
          <p:cNvPr id="309" name="Google Shape;309;p47" title="Screenshot 2025-10-16 at 6.04.56 AM.png"/>
          <p:cNvPicPr preferRelativeResize="0"/>
          <p:nvPr/>
        </p:nvPicPr>
        <p:blipFill>
          <a:blip r:embed="rId3">
            <a:alphaModFix/>
          </a:blip>
          <a:stretch>
            <a:fillRect/>
          </a:stretch>
        </p:blipFill>
        <p:spPr>
          <a:xfrm>
            <a:off x="6010469" y="1544750"/>
            <a:ext cx="2461707" cy="253322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15" name="Google Shape;315;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sz="800"/>
          </a:p>
          <a:p>
            <a:pPr indent="0" lvl="0" marL="0" rtl="0" algn="l">
              <a:spcBef>
                <a:spcPts val="1200"/>
              </a:spcBef>
              <a:spcAft>
                <a:spcPts val="0"/>
              </a:spcAft>
              <a:buNone/>
            </a:pPr>
            <a:r>
              <a:rPr lang="en"/>
              <a:t>Step 3: W1 tries to write</a:t>
            </a:r>
            <a:endParaRPr/>
          </a:p>
          <a:p>
            <a:pPr indent="0" lvl="0" marL="0" rtl="0" algn="l">
              <a:spcBef>
                <a:spcPts val="1200"/>
              </a:spcBef>
              <a:spcAft>
                <a:spcPts val="0"/>
              </a:spcAft>
              <a:buClr>
                <a:schemeClr val="dk1"/>
              </a:buClr>
              <a:buSzPts val="1100"/>
              <a:buFont typeface="Arial"/>
              <a:buNone/>
            </a:pPr>
            <a:r>
              <a:rPr lang="en" sz="850"/>
              <a:t>current states are readcount = 2, mutex = 1, wrt = 0</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Writer is blocked until all readers finish.</a:t>
            </a:r>
            <a:endParaRPr/>
          </a:p>
        </p:txBody>
      </p:sp>
      <p:graphicFrame>
        <p:nvGraphicFramePr>
          <p:cNvPr id="316" name="Google Shape;316;p48"/>
          <p:cNvGraphicFramePr/>
          <p:nvPr/>
        </p:nvGraphicFramePr>
        <p:xfrm>
          <a:off x="409675" y="2724275"/>
          <a:ext cx="3000000" cy="3000000"/>
        </p:xfrm>
        <a:graphic>
          <a:graphicData uri="http://schemas.openxmlformats.org/drawingml/2006/table">
            <a:tbl>
              <a:tblPr>
                <a:noFill/>
                <a:tableStyleId>{1165D865-4BFA-4EEE-A9B8-7328B0EABF65}</a:tableStyleId>
              </a:tblPr>
              <a:tblGrid>
                <a:gridCol w="462025"/>
                <a:gridCol w="647500"/>
                <a:gridCol w="561100"/>
                <a:gridCol w="522800"/>
                <a:gridCol w="449100"/>
                <a:gridCol w="1592175"/>
              </a:tblGrid>
              <a:tr h="100000">
                <a:tc>
                  <a:txBody>
                    <a:bodyPr/>
                    <a:lstStyle/>
                    <a:p>
                      <a:pPr indent="0" lvl="0" marL="0" rtl="0" algn="l">
                        <a:spcBef>
                          <a:spcPts val="0"/>
                        </a:spcBef>
                        <a:spcAft>
                          <a:spcPts val="0"/>
                        </a:spcAft>
                        <a:buNone/>
                      </a:pPr>
                      <a:r>
                        <a:rPr lang="en" sz="800"/>
                        <a:t>Step</a:t>
                      </a:r>
                      <a:endParaRPr sz="800"/>
                    </a:p>
                  </a:txBody>
                  <a:tcPr marT="91425" marB="91425" marR="91425" marL="91425"/>
                </a:tc>
                <a:tc>
                  <a:txBody>
                    <a:bodyPr/>
                    <a:lstStyle/>
                    <a:p>
                      <a:pPr indent="0" lvl="0" marL="0" rtl="0" algn="l">
                        <a:spcBef>
                          <a:spcPts val="0"/>
                        </a:spcBef>
                        <a:spcAft>
                          <a:spcPts val="0"/>
                        </a:spcAft>
                        <a:buNone/>
                      </a:pPr>
                      <a:r>
                        <a:rPr lang="en" sz="800"/>
                        <a:t>Action</a:t>
                      </a:r>
                      <a:endParaRPr sz="800"/>
                    </a:p>
                  </a:txBody>
                  <a:tcPr marT="91425" marB="91425" marR="91425" marL="91425"/>
                </a:tc>
                <a:tc>
                  <a:txBody>
                    <a:bodyPr/>
                    <a:lstStyle/>
                    <a:p>
                      <a:pPr indent="0" lvl="0" marL="0" rtl="0" algn="l">
                        <a:spcBef>
                          <a:spcPts val="0"/>
                        </a:spcBef>
                        <a:spcAft>
                          <a:spcPts val="0"/>
                        </a:spcAft>
                        <a:buNone/>
                      </a:pPr>
                      <a:r>
                        <a:rPr lang="en" sz="800"/>
                        <a:t>readcount</a:t>
                      </a:r>
                      <a:endParaRPr sz="800"/>
                    </a:p>
                  </a:txBody>
                  <a:tcPr marT="91425" marB="91425" marR="91425" marL="91425"/>
                </a:tc>
                <a:tc>
                  <a:txBody>
                    <a:bodyPr/>
                    <a:lstStyle/>
                    <a:p>
                      <a:pPr indent="0" lvl="0" marL="0" rtl="0" algn="l">
                        <a:spcBef>
                          <a:spcPts val="0"/>
                        </a:spcBef>
                        <a:spcAft>
                          <a:spcPts val="0"/>
                        </a:spcAft>
                        <a:buNone/>
                      </a:pPr>
                      <a:r>
                        <a:rPr lang="en" sz="800"/>
                        <a:t>mutex</a:t>
                      </a:r>
                      <a:endParaRPr sz="800"/>
                    </a:p>
                  </a:txBody>
                  <a:tcPr marT="91425" marB="91425" marR="91425" marL="91425"/>
                </a:tc>
                <a:tc>
                  <a:txBody>
                    <a:bodyPr/>
                    <a:lstStyle/>
                    <a:p>
                      <a:pPr indent="0" lvl="0" marL="0" rtl="0" algn="l">
                        <a:spcBef>
                          <a:spcPts val="0"/>
                        </a:spcBef>
                        <a:spcAft>
                          <a:spcPts val="0"/>
                        </a:spcAft>
                        <a:buNone/>
                      </a:pPr>
                      <a:r>
                        <a:rPr lang="en" sz="800"/>
                        <a:t>wrt</a:t>
                      </a:r>
                      <a:endParaRPr sz="800"/>
                    </a:p>
                  </a:txBody>
                  <a:tcPr marT="91425" marB="91425" marR="91425" marL="91425"/>
                </a:tc>
                <a:tc>
                  <a:txBody>
                    <a:bodyPr/>
                    <a:lstStyle/>
                    <a:p>
                      <a:pPr indent="0" lvl="0" marL="0" rtl="0" algn="l">
                        <a:spcBef>
                          <a:spcPts val="0"/>
                        </a:spcBef>
                        <a:spcAft>
                          <a:spcPts val="0"/>
                        </a:spcAft>
                        <a:buNone/>
                      </a:pPr>
                      <a:r>
                        <a:rPr lang="en" sz="800"/>
                        <a:t>Notes</a:t>
                      </a:r>
                      <a:endParaRPr sz="800"/>
                    </a:p>
                  </a:txBody>
                  <a:tcPr marT="91425" marB="91425" marR="91425" marL="91425"/>
                </a:tc>
              </a:tr>
              <a:tr h="381000">
                <a:tc>
                  <a:txBody>
                    <a:bodyPr/>
                    <a:lstStyle/>
                    <a:p>
                      <a:pPr indent="0" lvl="0" marL="0" rtl="0" algn="l">
                        <a:spcBef>
                          <a:spcPts val="0"/>
                        </a:spcBef>
                        <a:spcAft>
                          <a:spcPts val="0"/>
                        </a:spcAft>
                        <a:buNone/>
                      </a:pPr>
                      <a:r>
                        <a:rPr lang="en" sz="800"/>
                        <a:t>8</a:t>
                      </a:r>
                      <a:endParaRPr sz="800"/>
                    </a:p>
                  </a:txBody>
                  <a:tcPr marT="91425" marB="91425" marR="91425" marL="91425"/>
                </a:tc>
                <a:tc>
                  <a:txBody>
                    <a:bodyPr/>
                    <a:lstStyle/>
                    <a:p>
                      <a:pPr indent="0" lvl="0" marL="0" rtl="0" algn="l">
                        <a:spcBef>
                          <a:spcPts val="0"/>
                        </a:spcBef>
                        <a:spcAft>
                          <a:spcPts val="0"/>
                        </a:spcAft>
                        <a:buNone/>
                      </a:pPr>
                      <a:r>
                        <a:rPr lang="en" sz="800"/>
                        <a:t>W1 executes wait(wrt)</a:t>
                      </a:r>
                      <a:endParaRPr sz="800"/>
                    </a:p>
                  </a:txBody>
                  <a:tcPr marT="91425" marB="91425" marR="91425" marL="91425"/>
                </a:tc>
                <a:tc>
                  <a:txBody>
                    <a:bodyPr/>
                    <a:lstStyle/>
                    <a:p>
                      <a:pPr indent="0" lvl="0" marL="0" rtl="0" algn="l">
                        <a:spcBef>
                          <a:spcPts val="0"/>
                        </a:spcBef>
                        <a:spcAft>
                          <a:spcPts val="0"/>
                        </a:spcAft>
                        <a:buNone/>
                      </a:pPr>
                      <a:r>
                        <a:rPr lang="en" sz="800"/>
                        <a:t>2</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must wait (blocked)</a:t>
                      </a:r>
                      <a:endParaRPr sz="800"/>
                    </a:p>
                  </a:txBody>
                  <a:tcPr marT="91425" marB="91425" marR="91425" marL="91425"/>
                </a:tc>
              </a:tr>
            </a:tbl>
          </a:graphicData>
        </a:graphic>
      </p:graphicFrame>
      <p:pic>
        <p:nvPicPr>
          <p:cNvPr id="317" name="Google Shape;317;p48" title="Screenshot 2025-10-16 at 6.05.46 AM.png"/>
          <p:cNvPicPr preferRelativeResize="0"/>
          <p:nvPr/>
        </p:nvPicPr>
        <p:blipFill>
          <a:blip r:embed="rId3">
            <a:alphaModFix/>
          </a:blip>
          <a:stretch>
            <a:fillRect/>
          </a:stretch>
        </p:blipFill>
        <p:spPr>
          <a:xfrm>
            <a:off x="5458375" y="1539075"/>
            <a:ext cx="2983475" cy="17981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23" name="Google Shape;323;p49"/>
          <p:cNvSpPr txBox="1"/>
          <p:nvPr>
            <p:ph idx="1" type="body"/>
          </p:nvPr>
        </p:nvSpPr>
        <p:spPr>
          <a:xfrm>
            <a:off x="311700" y="1152475"/>
            <a:ext cx="8520600" cy="3844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800"/>
              <a:t>Step 4: R1 finishes reading</a:t>
            </a:r>
            <a:endParaRPr b="1" sz="800"/>
          </a:p>
          <a:p>
            <a:pPr indent="0" lvl="0" marL="0" rtl="0" algn="l">
              <a:spcBef>
                <a:spcPts val="1200"/>
              </a:spcBef>
              <a:spcAft>
                <a:spcPts val="0"/>
              </a:spcAft>
              <a:buClr>
                <a:schemeClr val="dk1"/>
              </a:buClr>
              <a:buSzPts val="1100"/>
              <a:buFont typeface="Arial"/>
              <a:buNone/>
            </a:pPr>
            <a:r>
              <a:rPr lang="en" sz="850"/>
              <a:t>current states are readcount = 2, mutex = 1, wrt = 0</a:t>
            </a:r>
            <a:endParaRPr b="1" sz="800"/>
          </a:p>
          <a:p>
            <a:pPr indent="0" lvl="0" marL="0" rtl="0" algn="l">
              <a:spcBef>
                <a:spcPts val="1200"/>
              </a:spcBef>
              <a:spcAft>
                <a:spcPts val="0"/>
              </a:spcAft>
              <a:buNone/>
            </a:pPr>
            <a:r>
              <a:t/>
            </a:r>
            <a:endParaRPr b="1" sz="8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R2 still reading; W1 still waiting.</a:t>
            </a:r>
            <a:endParaRPr/>
          </a:p>
        </p:txBody>
      </p:sp>
      <p:graphicFrame>
        <p:nvGraphicFramePr>
          <p:cNvPr id="324" name="Google Shape;324;p49"/>
          <p:cNvGraphicFramePr/>
          <p:nvPr/>
        </p:nvGraphicFramePr>
        <p:xfrm>
          <a:off x="402675" y="1844750"/>
          <a:ext cx="3000000" cy="3000000"/>
        </p:xfrm>
        <a:graphic>
          <a:graphicData uri="http://schemas.openxmlformats.org/drawingml/2006/table">
            <a:tbl>
              <a:tblPr>
                <a:noFill/>
                <a:tableStyleId>{1165D865-4BFA-4EEE-A9B8-7328B0EABF65}</a:tableStyleId>
              </a:tblPr>
              <a:tblGrid>
                <a:gridCol w="597425"/>
                <a:gridCol w="1085475"/>
                <a:gridCol w="416825"/>
                <a:gridCol w="382850"/>
                <a:gridCol w="382850"/>
                <a:gridCol w="1427900"/>
              </a:tblGrid>
              <a:tr h="381000">
                <a:tc>
                  <a:txBody>
                    <a:bodyPr/>
                    <a:lstStyle/>
                    <a:p>
                      <a:pPr indent="0" lvl="0" marL="0" rtl="0" algn="l">
                        <a:spcBef>
                          <a:spcPts val="0"/>
                        </a:spcBef>
                        <a:spcAft>
                          <a:spcPts val="0"/>
                        </a:spcAft>
                        <a:buNone/>
                      </a:pPr>
                      <a:r>
                        <a:rPr lang="en" sz="800"/>
                        <a:t>Step</a:t>
                      </a:r>
                      <a:endParaRPr sz="800"/>
                    </a:p>
                  </a:txBody>
                  <a:tcPr marT="91425" marB="91425" marR="91425" marL="91425"/>
                </a:tc>
                <a:tc>
                  <a:txBody>
                    <a:bodyPr/>
                    <a:lstStyle/>
                    <a:p>
                      <a:pPr indent="0" lvl="0" marL="0" rtl="0" algn="l">
                        <a:spcBef>
                          <a:spcPts val="0"/>
                        </a:spcBef>
                        <a:spcAft>
                          <a:spcPts val="0"/>
                        </a:spcAft>
                        <a:buNone/>
                      </a:pPr>
                      <a:r>
                        <a:rPr lang="en" sz="800"/>
                        <a:t>Action</a:t>
                      </a:r>
                      <a:endParaRPr sz="800"/>
                    </a:p>
                  </a:txBody>
                  <a:tcPr marT="91425" marB="91425" marR="91425" marL="91425"/>
                </a:tc>
                <a:tc>
                  <a:txBody>
                    <a:bodyPr/>
                    <a:lstStyle/>
                    <a:p>
                      <a:pPr indent="0" lvl="0" marL="0" rtl="0" algn="l">
                        <a:spcBef>
                          <a:spcPts val="0"/>
                        </a:spcBef>
                        <a:spcAft>
                          <a:spcPts val="0"/>
                        </a:spcAft>
                        <a:buNone/>
                      </a:pPr>
                      <a:r>
                        <a:rPr lang="en" sz="800"/>
                        <a:t>readcount</a:t>
                      </a:r>
                      <a:endParaRPr sz="800"/>
                    </a:p>
                  </a:txBody>
                  <a:tcPr marT="91425" marB="91425" marR="91425" marL="91425"/>
                </a:tc>
                <a:tc>
                  <a:txBody>
                    <a:bodyPr/>
                    <a:lstStyle/>
                    <a:p>
                      <a:pPr indent="0" lvl="0" marL="0" rtl="0" algn="l">
                        <a:spcBef>
                          <a:spcPts val="0"/>
                        </a:spcBef>
                        <a:spcAft>
                          <a:spcPts val="0"/>
                        </a:spcAft>
                        <a:buNone/>
                      </a:pPr>
                      <a:r>
                        <a:rPr lang="en" sz="800"/>
                        <a:t>mutex</a:t>
                      </a:r>
                      <a:endParaRPr sz="800"/>
                    </a:p>
                  </a:txBody>
                  <a:tcPr marT="91425" marB="91425" marR="91425" marL="91425"/>
                </a:tc>
                <a:tc>
                  <a:txBody>
                    <a:bodyPr/>
                    <a:lstStyle/>
                    <a:p>
                      <a:pPr indent="0" lvl="0" marL="0" rtl="0" algn="l">
                        <a:spcBef>
                          <a:spcPts val="0"/>
                        </a:spcBef>
                        <a:spcAft>
                          <a:spcPts val="0"/>
                        </a:spcAft>
                        <a:buNone/>
                      </a:pPr>
                      <a:r>
                        <a:rPr lang="en" sz="800"/>
                        <a:t>wrt</a:t>
                      </a:r>
                      <a:endParaRPr sz="800"/>
                    </a:p>
                  </a:txBody>
                  <a:tcPr marT="91425" marB="91425" marR="91425" marL="91425"/>
                </a:tc>
                <a:tc>
                  <a:txBody>
                    <a:bodyPr/>
                    <a:lstStyle/>
                    <a:p>
                      <a:pPr indent="0" lvl="0" marL="0" rtl="0" algn="l">
                        <a:spcBef>
                          <a:spcPts val="0"/>
                        </a:spcBef>
                        <a:spcAft>
                          <a:spcPts val="0"/>
                        </a:spcAft>
                        <a:buNone/>
                      </a:pPr>
                      <a:r>
                        <a:rPr lang="en" sz="800"/>
                        <a:t>Notes</a:t>
                      </a:r>
                      <a:endParaRPr sz="800"/>
                    </a:p>
                  </a:txBody>
                  <a:tcPr marT="91425" marB="91425" marR="91425" marL="91425"/>
                </a:tc>
              </a:tr>
              <a:tr h="381000">
                <a:tc>
                  <a:txBody>
                    <a:bodyPr/>
                    <a:lstStyle/>
                    <a:p>
                      <a:pPr indent="0" lvl="0" marL="0" rtl="0" algn="l">
                        <a:spcBef>
                          <a:spcPts val="0"/>
                        </a:spcBef>
                        <a:spcAft>
                          <a:spcPts val="0"/>
                        </a:spcAft>
                        <a:buNone/>
                      </a:pPr>
                      <a:r>
                        <a:rPr lang="en" sz="800"/>
                        <a:t>9</a:t>
                      </a:r>
                      <a:endParaRPr sz="800"/>
                    </a:p>
                  </a:txBody>
                  <a:tcPr marT="91425" marB="91425" marR="91425" marL="91425"/>
                </a:tc>
                <a:tc>
                  <a:txBody>
                    <a:bodyPr/>
                    <a:lstStyle/>
                    <a:p>
                      <a:pPr indent="0" lvl="0" marL="0" rtl="0" algn="l">
                        <a:spcBef>
                          <a:spcPts val="0"/>
                        </a:spcBef>
                        <a:spcAft>
                          <a:spcPts val="0"/>
                        </a:spcAft>
                        <a:buNone/>
                      </a:pPr>
                      <a:r>
                        <a:rPr lang="en" sz="800"/>
                        <a:t>R1 executes wait(mutex)</a:t>
                      </a:r>
                      <a:endParaRPr sz="800"/>
                    </a:p>
                  </a:txBody>
                  <a:tcPr marT="91425" marB="91425" marR="91425" marL="91425"/>
                </a:tc>
                <a:tc>
                  <a:txBody>
                    <a:bodyPr/>
                    <a:lstStyle/>
                    <a:p>
                      <a:pPr indent="0" lvl="0" marL="0" rtl="0" algn="l">
                        <a:spcBef>
                          <a:spcPts val="0"/>
                        </a:spcBef>
                        <a:spcAft>
                          <a:spcPts val="0"/>
                        </a:spcAft>
                        <a:buNone/>
                      </a:pPr>
                      <a:r>
                        <a:rPr lang="en" sz="800"/>
                        <a:t>2</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enters mutex</a:t>
                      </a:r>
                      <a:endParaRPr sz="800"/>
                    </a:p>
                  </a:txBody>
                  <a:tcPr marT="91425" marB="91425" marR="91425" marL="91425"/>
                </a:tc>
              </a:tr>
              <a:tr h="381000">
                <a:tc>
                  <a:txBody>
                    <a:bodyPr/>
                    <a:lstStyle/>
                    <a:p>
                      <a:pPr indent="0" lvl="0" marL="0" rtl="0" algn="l">
                        <a:spcBef>
                          <a:spcPts val="0"/>
                        </a:spcBef>
                        <a:spcAft>
                          <a:spcPts val="0"/>
                        </a:spcAft>
                        <a:buNone/>
                      </a:pPr>
                      <a:r>
                        <a:rPr lang="en" sz="800"/>
                        <a:t>10</a:t>
                      </a:r>
                      <a:endParaRPr sz="800"/>
                    </a:p>
                  </a:txBody>
                  <a:tcPr marT="91425" marB="91425" marR="91425" marL="91425"/>
                </a:tc>
                <a:tc>
                  <a:txBody>
                    <a:bodyPr/>
                    <a:lstStyle/>
                    <a:p>
                      <a:pPr indent="0" lvl="0" marL="0" rtl="0" algn="l">
                        <a:spcBef>
                          <a:spcPts val="0"/>
                        </a:spcBef>
                        <a:spcAft>
                          <a:spcPts val="0"/>
                        </a:spcAft>
                        <a:buNone/>
                      </a:pPr>
                      <a:r>
                        <a:rPr lang="en" sz="800"/>
                        <a:t>R1 decrements readcount = 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still one reader left</a:t>
                      </a:r>
                      <a:endParaRPr sz="800"/>
                    </a:p>
                  </a:txBody>
                  <a:tcPr marT="91425" marB="91425" marR="91425" marL="91425"/>
                </a:tc>
              </a:tr>
              <a:tr h="381000">
                <a:tc>
                  <a:txBody>
                    <a:bodyPr/>
                    <a:lstStyle/>
                    <a:p>
                      <a:pPr indent="0" lvl="0" marL="0" rtl="0" algn="l">
                        <a:spcBef>
                          <a:spcPts val="0"/>
                        </a:spcBef>
                        <a:spcAft>
                          <a:spcPts val="0"/>
                        </a:spcAft>
                        <a:buNone/>
                      </a:pPr>
                      <a:r>
                        <a:rPr lang="en" sz="800"/>
                        <a:t>11</a:t>
                      </a:r>
                      <a:endParaRPr sz="800"/>
                    </a:p>
                  </a:txBody>
                  <a:tcPr marT="91425" marB="91425" marR="91425" marL="91425"/>
                </a:tc>
                <a:tc>
                  <a:txBody>
                    <a:bodyPr/>
                    <a:lstStyle/>
                    <a:p>
                      <a:pPr indent="0" lvl="0" marL="0" rtl="0" algn="l">
                        <a:spcBef>
                          <a:spcPts val="0"/>
                        </a:spcBef>
                        <a:spcAft>
                          <a:spcPts val="0"/>
                        </a:spcAft>
                        <a:buNone/>
                      </a:pPr>
                      <a:r>
                        <a:rPr lang="en" sz="800"/>
                        <a:t>No signal(wrt) (not last reader)</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writers still blocked</a:t>
                      </a:r>
                      <a:endParaRPr sz="800"/>
                    </a:p>
                  </a:txBody>
                  <a:tcPr marT="91425" marB="91425" marR="91425" marL="91425"/>
                </a:tc>
              </a:tr>
              <a:tr h="381000">
                <a:tc>
                  <a:txBody>
                    <a:bodyPr/>
                    <a:lstStyle/>
                    <a:p>
                      <a:pPr indent="0" lvl="0" marL="0" rtl="0" algn="l">
                        <a:spcBef>
                          <a:spcPts val="0"/>
                        </a:spcBef>
                        <a:spcAft>
                          <a:spcPts val="0"/>
                        </a:spcAft>
                        <a:buNone/>
                      </a:pPr>
                      <a:r>
                        <a:rPr lang="en" sz="800"/>
                        <a:t>12</a:t>
                      </a:r>
                      <a:endParaRPr sz="800"/>
                    </a:p>
                  </a:txBody>
                  <a:tcPr marT="91425" marB="91425" marR="91425" marL="91425"/>
                </a:tc>
                <a:tc>
                  <a:txBody>
                    <a:bodyPr/>
                    <a:lstStyle/>
                    <a:p>
                      <a:pPr indent="0" lvl="0" marL="0" rtl="0" algn="l">
                        <a:spcBef>
                          <a:spcPts val="0"/>
                        </a:spcBef>
                        <a:spcAft>
                          <a:spcPts val="0"/>
                        </a:spcAft>
                        <a:buNone/>
                      </a:pPr>
                      <a:r>
                        <a:rPr lang="en" sz="800"/>
                        <a:t>R1 executes signal(mutex)</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leaves mutex</a:t>
                      </a:r>
                      <a:endParaRPr sz="800"/>
                    </a:p>
                  </a:txBody>
                  <a:tcPr marT="91425" marB="91425" marR="91425" marL="91425"/>
                </a:tc>
              </a:tr>
            </a:tbl>
          </a:graphicData>
        </a:graphic>
      </p:graphicFrame>
      <p:pic>
        <p:nvPicPr>
          <p:cNvPr id="325" name="Google Shape;325;p49" title="Screenshot 2025-10-16 at 6.04.56 AM.png"/>
          <p:cNvPicPr preferRelativeResize="0"/>
          <p:nvPr/>
        </p:nvPicPr>
        <p:blipFill>
          <a:blip r:embed="rId3">
            <a:alphaModFix/>
          </a:blip>
          <a:stretch>
            <a:fillRect/>
          </a:stretch>
        </p:blipFill>
        <p:spPr>
          <a:xfrm>
            <a:off x="6010469" y="1544750"/>
            <a:ext cx="2461707" cy="253322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31" name="Google Shape;331;p50"/>
          <p:cNvSpPr txBox="1"/>
          <p:nvPr>
            <p:ph idx="1" type="body"/>
          </p:nvPr>
        </p:nvSpPr>
        <p:spPr>
          <a:xfrm>
            <a:off x="311700" y="1152475"/>
            <a:ext cx="8520600" cy="3844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800"/>
              <a:t>Step 5: R2 finishes reading; </a:t>
            </a:r>
            <a:endParaRPr sz="800"/>
          </a:p>
          <a:p>
            <a:pPr indent="0" lvl="0" marL="0" rtl="0" algn="l">
              <a:spcBef>
                <a:spcPts val="1200"/>
              </a:spcBef>
              <a:spcAft>
                <a:spcPts val="0"/>
              </a:spcAft>
              <a:buNone/>
            </a:pPr>
            <a:r>
              <a:rPr lang="en" sz="800"/>
              <a:t>Current</a:t>
            </a:r>
            <a:r>
              <a:rPr lang="en" sz="800"/>
              <a:t> states are </a:t>
            </a:r>
            <a:r>
              <a:rPr lang="en" sz="800">
                <a:solidFill>
                  <a:schemeClr val="dk1"/>
                </a:solidFill>
              </a:rPr>
              <a:t>readcount = 1; mutex = 1; wrt = 0 </a:t>
            </a:r>
            <a:endParaRPr sz="8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No readers left — now W1 can proceed.</a:t>
            </a:r>
            <a:endParaRPr/>
          </a:p>
        </p:txBody>
      </p:sp>
      <p:graphicFrame>
        <p:nvGraphicFramePr>
          <p:cNvPr id="332" name="Google Shape;332;p50"/>
          <p:cNvGraphicFramePr/>
          <p:nvPr/>
        </p:nvGraphicFramePr>
        <p:xfrm>
          <a:off x="406600" y="1844750"/>
          <a:ext cx="3000000" cy="3000000"/>
        </p:xfrm>
        <a:graphic>
          <a:graphicData uri="http://schemas.openxmlformats.org/drawingml/2006/table">
            <a:tbl>
              <a:tblPr>
                <a:noFill/>
                <a:tableStyleId>{1165D865-4BFA-4EEE-A9B8-7328B0EABF65}</a:tableStyleId>
              </a:tblPr>
              <a:tblGrid>
                <a:gridCol w="575050"/>
                <a:gridCol w="1044850"/>
                <a:gridCol w="387150"/>
                <a:gridCol w="382850"/>
                <a:gridCol w="382850"/>
                <a:gridCol w="2288375"/>
              </a:tblGrid>
              <a:tr h="381000">
                <a:tc>
                  <a:txBody>
                    <a:bodyPr/>
                    <a:lstStyle/>
                    <a:p>
                      <a:pPr indent="0" lvl="0" marL="0" rtl="0" algn="l">
                        <a:spcBef>
                          <a:spcPts val="0"/>
                        </a:spcBef>
                        <a:spcAft>
                          <a:spcPts val="0"/>
                        </a:spcAft>
                        <a:buNone/>
                      </a:pPr>
                      <a:r>
                        <a:rPr lang="en" sz="800"/>
                        <a:t>Step</a:t>
                      </a:r>
                      <a:endParaRPr sz="800"/>
                    </a:p>
                  </a:txBody>
                  <a:tcPr marT="91425" marB="91425" marR="91425" marL="91425"/>
                </a:tc>
                <a:tc>
                  <a:txBody>
                    <a:bodyPr/>
                    <a:lstStyle/>
                    <a:p>
                      <a:pPr indent="0" lvl="0" marL="0" rtl="0" algn="l">
                        <a:spcBef>
                          <a:spcPts val="0"/>
                        </a:spcBef>
                        <a:spcAft>
                          <a:spcPts val="0"/>
                        </a:spcAft>
                        <a:buNone/>
                      </a:pPr>
                      <a:r>
                        <a:rPr lang="en" sz="800"/>
                        <a:t>Action</a:t>
                      </a:r>
                      <a:endParaRPr sz="800"/>
                    </a:p>
                  </a:txBody>
                  <a:tcPr marT="91425" marB="91425" marR="91425" marL="91425"/>
                </a:tc>
                <a:tc>
                  <a:txBody>
                    <a:bodyPr/>
                    <a:lstStyle/>
                    <a:p>
                      <a:pPr indent="0" lvl="0" marL="0" rtl="0" algn="l">
                        <a:spcBef>
                          <a:spcPts val="0"/>
                        </a:spcBef>
                        <a:spcAft>
                          <a:spcPts val="0"/>
                        </a:spcAft>
                        <a:buNone/>
                      </a:pPr>
                      <a:r>
                        <a:rPr lang="en" sz="800"/>
                        <a:t>r</a:t>
                      </a:r>
                      <a:r>
                        <a:rPr lang="en" sz="800"/>
                        <a:t>ead</a:t>
                      </a:r>
                      <a:endParaRPr sz="800"/>
                    </a:p>
                    <a:p>
                      <a:pPr indent="0" lvl="0" marL="0" rtl="0" algn="l">
                        <a:spcBef>
                          <a:spcPts val="0"/>
                        </a:spcBef>
                        <a:spcAft>
                          <a:spcPts val="0"/>
                        </a:spcAft>
                        <a:buNone/>
                      </a:pPr>
                      <a:r>
                        <a:rPr lang="en" sz="800"/>
                        <a:t>count</a:t>
                      </a:r>
                      <a:endParaRPr sz="800"/>
                    </a:p>
                  </a:txBody>
                  <a:tcPr marT="91425" marB="91425" marR="91425" marL="91425"/>
                </a:tc>
                <a:tc>
                  <a:txBody>
                    <a:bodyPr/>
                    <a:lstStyle/>
                    <a:p>
                      <a:pPr indent="0" lvl="0" marL="0" rtl="0" algn="l">
                        <a:spcBef>
                          <a:spcPts val="0"/>
                        </a:spcBef>
                        <a:spcAft>
                          <a:spcPts val="0"/>
                        </a:spcAft>
                        <a:buNone/>
                      </a:pPr>
                      <a:r>
                        <a:rPr lang="en" sz="800"/>
                        <a:t>mutex</a:t>
                      </a:r>
                      <a:endParaRPr sz="800"/>
                    </a:p>
                  </a:txBody>
                  <a:tcPr marT="91425" marB="91425" marR="91425" marL="91425"/>
                </a:tc>
                <a:tc>
                  <a:txBody>
                    <a:bodyPr/>
                    <a:lstStyle/>
                    <a:p>
                      <a:pPr indent="0" lvl="0" marL="0" rtl="0" algn="l">
                        <a:spcBef>
                          <a:spcPts val="0"/>
                        </a:spcBef>
                        <a:spcAft>
                          <a:spcPts val="0"/>
                        </a:spcAft>
                        <a:buNone/>
                      </a:pPr>
                      <a:r>
                        <a:rPr lang="en" sz="800"/>
                        <a:t>wrt</a:t>
                      </a:r>
                      <a:endParaRPr sz="800"/>
                    </a:p>
                  </a:txBody>
                  <a:tcPr marT="91425" marB="91425" marR="91425" marL="91425"/>
                </a:tc>
                <a:tc>
                  <a:txBody>
                    <a:bodyPr/>
                    <a:lstStyle/>
                    <a:p>
                      <a:pPr indent="0" lvl="0" marL="0" rtl="0" algn="l">
                        <a:spcBef>
                          <a:spcPts val="0"/>
                        </a:spcBef>
                        <a:spcAft>
                          <a:spcPts val="0"/>
                        </a:spcAft>
                        <a:buNone/>
                      </a:pPr>
                      <a:r>
                        <a:rPr lang="en" sz="800"/>
                        <a:t>Notes</a:t>
                      </a:r>
                      <a:endParaRPr sz="800"/>
                    </a:p>
                  </a:txBody>
                  <a:tcPr marT="91425" marB="91425" marR="91425" marL="91425"/>
                </a:tc>
              </a:tr>
              <a:tr h="381000">
                <a:tc>
                  <a:txBody>
                    <a:bodyPr/>
                    <a:lstStyle/>
                    <a:p>
                      <a:pPr indent="0" lvl="0" marL="0" rtl="0" algn="l">
                        <a:spcBef>
                          <a:spcPts val="0"/>
                        </a:spcBef>
                        <a:spcAft>
                          <a:spcPts val="0"/>
                        </a:spcAft>
                        <a:buNone/>
                      </a:pPr>
                      <a:r>
                        <a:rPr lang="en" sz="800"/>
                        <a:t>13</a:t>
                      </a:r>
                      <a:endParaRPr sz="800"/>
                    </a:p>
                  </a:txBody>
                  <a:tcPr marT="91425" marB="91425" marR="91425" marL="91425"/>
                </a:tc>
                <a:tc>
                  <a:txBody>
                    <a:bodyPr/>
                    <a:lstStyle/>
                    <a:p>
                      <a:pPr indent="0" lvl="0" marL="0" rtl="0" algn="l">
                        <a:spcBef>
                          <a:spcPts val="0"/>
                        </a:spcBef>
                        <a:spcAft>
                          <a:spcPts val="0"/>
                        </a:spcAft>
                        <a:buNone/>
                      </a:pPr>
                      <a:r>
                        <a:rPr lang="en" sz="800"/>
                        <a:t>R2 executes wait(mutex)</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enters mutex</a:t>
                      </a:r>
                      <a:endParaRPr sz="800"/>
                    </a:p>
                  </a:txBody>
                  <a:tcPr marT="91425" marB="91425" marR="91425" marL="91425"/>
                </a:tc>
              </a:tr>
              <a:tr h="381000">
                <a:tc>
                  <a:txBody>
                    <a:bodyPr/>
                    <a:lstStyle/>
                    <a:p>
                      <a:pPr indent="0" lvl="0" marL="0" rtl="0" algn="l">
                        <a:spcBef>
                          <a:spcPts val="0"/>
                        </a:spcBef>
                        <a:spcAft>
                          <a:spcPts val="0"/>
                        </a:spcAft>
                        <a:buNone/>
                      </a:pPr>
                      <a:r>
                        <a:rPr lang="en" sz="800"/>
                        <a:t>14</a:t>
                      </a:r>
                      <a:endParaRPr sz="800"/>
                    </a:p>
                  </a:txBody>
                  <a:tcPr marT="91425" marB="91425" marR="91425" marL="91425"/>
                </a:tc>
                <a:tc>
                  <a:txBody>
                    <a:bodyPr/>
                    <a:lstStyle/>
                    <a:p>
                      <a:pPr indent="0" lvl="0" marL="0" rtl="0" algn="l">
                        <a:spcBef>
                          <a:spcPts val="0"/>
                        </a:spcBef>
                        <a:spcAft>
                          <a:spcPts val="0"/>
                        </a:spcAft>
                        <a:buNone/>
                      </a:pPr>
                      <a:r>
                        <a:rPr lang="en" sz="800"/>
                        <a:t>R2 decrements readcount = 0</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last reader</a:t>
                      </a:r>
                      <a:endParaRPr sz="800"/>
                    </a:p>
                  </a:txBody>
                  <a:tcPr marT="91425" marB="91425" marR="91425" marL="91425"/>
                </a:tc>
              </a:tr>
              <a:tr h="381000">
                <a:tc>
                  <a:txBody>
                    <a:bodyPr/>
                    <a:lstStyle/>
                    <a:p>
                      <a:pPr indent="0" lvl="0" marL="0" rtl="0" algn="l">
                        <a:spcBef>
                          <a:spcPts val="0"/>
                        </a:spcBef>
                        <a:spcAft>
                          <a:spcPts val="0"/>
                        </a:spcAft>
                        <a:buNone/>
                      </a:pPr>
                      <a:r>
                        <a:rPr lang="en" sz="800"/>
                        <a:t>15</a:t>
                      </a:r>
                      <a:endParaRPr sz="800"/>
                    </a:p>
                  </a:txBody>
                  <a:tcPr marT="91425" marB="91425" marR="91425" marL="91425"/>
                </a:tc>
                <a:tc>
                  <a:txBody>
                    <a:bodyPr/>
                    <a:lstStyle/>
                    <a:p>
                      <a:pPr indent="0" lvl="0" marL="0" rtl="0" algn="l">
                        <a:spcBef>
                          <a:spcPts val="0"/>
                        </a:spcBef>
                        <a:spcAft>
                          <a:spcPts val="0"/>
                        </a:spcAft>
                        <a:buNone/>
                      </a:pPr>
                      <a:r>
                        <a:rPr lang="en" sz="800"/>
                        <a:t>Since readcount == 0, R2 executes signal(wrt)</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writers unblocked</a:t>
                      </a:r>
                      <a:endParaRPr sz="800"/>
                    </a:p>
                  </a:txBody>
                  <a:tcPr marT="91425" marB="91425" marR="91425" marL="91425"/>
                </a:tc>
              </a:tr>
              <a:tr h="381000">
                <a:tc>
                  <a:txBody>
                    <a:bodyPr/>
                    <a:lstStyle/>
                    <a:p>
                      <a:pPr indent="0" lvl="0" marL="0" rtl="0" algn="l">
                        <a:spcBef>
                          <a:spcPts val="0"/>
                        </a:spcBef>
                        <a:spcAft>
                          <a:spcPts val="0"/>
                        </a:spcAft>
                        <a:buNone/>
                      </a:pPr>
                      <a:r>
                        <a:rPr lang="en" sz="800"/>
                        <a:t>16</a:t>
                      </a:r>
                      <a:endParaRPr sz="800"/>
                    </a:p>
                  </a:txBody>
                  <a:tcPr marT="91425" marB="91425" marR="91425" marL="91425"/>
                </a:tc>
                <a:tc>
                  <a:txBody>
                    <a:bodyPr/>
                    <a:lstStyle/>
                    <a:p>
                      <a:pPr indent="0" lvl="0" marL="0" rtl="0" algn="l">
                        <a:spcBef>
                          <a:spcPts val="0"/>
                        </a:spcBef>
                        <a:spcAft>
                          <a:spcPts val="0"/>
                        </a:spcAft>
                        <a:buNone/>
                      </a:pPr>
                      <a:r>
                        <a:rPr lang="en" sz="800"/>
                        <a:t>R2 executes signal(mutex)</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leaves mutex</a:t>
                      </a:r>
                      <a:endParaRPr sz="800"/>
                    </a:p>
                  </a:txBody>
                  <a:tcPr marT="91425" marB="91425" marR="91425" marL="91425"/>
                </a:tc>
              </a:tr>
            </a:tbl>
          </a:graphicData>
        </a:graphic>
      </p:graphicFrame>
      <p:pic>
        <p:nvPicPr>
          <p:cNvPr id="333" name="Google Shape;333;p50" title="Screenshot 2025-10-16 at 6.04.56 AM.png"/>
          <p:cNvPicPr preferRelativeResize="0"/>
          <p:nvPr/>
        </p:nvPicPr>
        <p:blipFill>
          <a:blip r:embed="rId3">
            <a:alphaModFix/>
          </a:blip>
          <a:stretch>
            <a:fillRect/>
          </a:stretch>
        </p:blipFill>
        <p:spPr>
          <a:xfrm>
            <a:off x="6010469" y="1544750"/>
            <a:ext cx="2461707" cy="253322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39" name="Google Shape;339;p51"/>
          <p:cNvSpPr txBox="1"/>
          <p:nvPr>
            <p:ph idx="1" type="body"/>
          </p:nvPr>
        </p:nvSpPr>
        <p:spPr>
          <a:xfrm>
            <a:off x="311700" y="1152475"/>
            <a:ext cx="8520600" cy="3844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800"/>
              <a:t>Step 6: W1 writes</a:t>
            </a:r>
            <a:endParaRPr sz="800"/>
          </a:p>
          <a:p>
            <a:pPr indent="0" lvl="0" marL="0" rtl="0" algn="l">
              <a:spcBef>
                <a:spcPts val="1200"/>
              </a:spcBef>
              <a:spcAft>
                <a:spcPts val="0"/>
              </a:spcAft>
              <a:buClr>
                <a:schemeClr val="dk1"/>
              </a:buClr>
              <a:buSzPts val="1100"/>
              <a:buFont typeface="Arial"/>
              <a:buNone/>
            </a:pPr>
            <a:r>
              <a:rPr lang="en" sz="850"/>
              <a:t>current states are readcount = 0, mutex = 1, wrt = 1</a:t>
            </a:r>
            <a:endParaRPr sz="800"/>
          </a:p>
          <a:p>
            <a:pPr indent="0" lvl="0" marL="0" rtl="0" algn="l">
              <a:spcBef>
                <a:spcPts val="1200"/>
              </a:spcBef>
              <a:spcAft>
                <a:spcPts val="0"/>
              </a:spcAft>
              <a:buNone/>
            </a:pPr>
            <a:r>
              <a:t/>
            </a:r>
            <a:endParaRPr sz="8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Writer done.</a:t>
            </a:r>
            <a:endParaRPr/>
          </a:p>
          <a:p>
            <a:pPr indent="0" lvl="0" marL="0" rtl="0" algn="l">
              <a:spcBef>
                <a:spcPts val="1200"/>
              </a:spcBef>
              <a:spcAft>
                <a:spcPts val="1200"/>
              </a:spcAft>
              <a:buNone/>
            </a:pPr>
            <a:r>
              <a:rPr lang="en"/>
              <a:t>Now other readers/writers may proceed.</a:t>
            </a:r>
            <a:endParaRPr/>
          </a:p>
        </p:txBody>
      </p:sp>
      <p:graphicFrame>
        <p:nvGraphicFramePr>
          <p:cNvPr id="340" name="Google Shape;340;p51"/>
          <p:cNvGraphicFramePr/>
          <p:nvPr/>
        </p:nvGraphicFramePr>
        <p:xfrm>
          <a:off x="374700" y="1998700"/>
          <a:ext cx="3000000" cy="3000000"/>
        </p:xfrm>
        <a:graphic>
          <a:graphicData uri="http://schemas.openxmlformats.org/drawingml/2006/table">
            <a:tbl>
              <a:tblPr>
                <a:noFill/>
                <a:tableStyleId>{1165D865-4BFA-4EEE-A9B8-7328B0EABF65}</a:tableStyleId>
              </a:tblPr>
              <a:tblGrid>
                <a:gridCol w="617300"/>
                <a:gridCol w="1121600"/>
                <a:gridCol w="471050"/>
                <a:gridCol w="382850"/>
                <a:gridCol w="382850"/>
                <a:gridCol w="1371225"/>
              </a:tblGrid>
              <a:tr h="381000">
                <a:tc>
                  <a:txBody>
                    <a:bodyPr/>
                    <a:lstStyle/>
                    <a:p>
                      <a:pPr indent="0" lvl="0" marL="0" rtl="0" algn="l">
                        <a:spcBef>
                          <a:spcPts val="0"/>
                        </a:spcBef>
                        <a:spcAft>
                          <a:spcPts val="0"/>
                        </a:spcAft>
                        <a:buNone/>
                      </a:pPr>
                      <a:r>
                        <a:rPr lang="en" sz="800"/>
                        <a:t>Step</a:t>
                      </a:r>
                      <a:endParaRPr sz="800"/>
                    </a:p>
                  </a:txBody>
                  <a:tcPr marT="91425" marB="91425" marR="91425" marL="91425"/>
                </a:tc>
                <a:tc>
                  <a:txBody>
                    <a:bodyPr/>
                    <a:lstStyle/>
                    <a:p>
                      <a:pPr indent="0" lvl="0" marL="0" rtl="0" algn="l">
                        <a:spcBef>
                          <a:spcPts val="0"/>
                        </a:spcBef>
                        <a:spcAft>
                          <a:spcPts val="0"/>
                        </a:spcAft>
                        <a:buNone/>
                      </a:pPr>
                      <a:r>
                        <a:rPr lang="en" sz="800"/>
                        <a:t>Action</a:t>
                      </a:r>
                      <a:endParaRPr sz="800"/>
                    </a:p>
                  </a:txBody>
                  <a:tcPr marT="91425" marB="91425" marR="91425" marL="91425"/>
                </a:tc>
                <a:tc>
                  <a:txBody>
                    <a:bodyPr/>
                    <a:lstStyle/>
                    <a:p>
                      <a:pPr indent="0" lvl="0" marL="0" rtl="0" algn="l">
                        <a:spcBef>
                          <a:spcPts val="0"/>
                        </a:spcBef>
                        <a:spcAft>
                          <a:spcPts val="0"/>
                        </a:spcAft>
                        <a:buNone/>
                      </a:pPr>
                      <a:r>
                        <a:rPr lang="en" sz="800"/>
                        <a:t>readcount</a:t>
                      </a:r>
                      <a:endParaRPr sz="800"/>
                    </a:p>
                  </a:txBody>
                  <a:tcPr marT="91425" marB="91425" marR="91425" marL="91425"/>
                </a:tc>
                <a:tc>
                  <a:txBody>
                    <a:bodyPr/>
                    <a:lstStyle/>
                    <a:p>
                      <a:pPr indent="0" lvl="0" marL="0" rtl="0" algn="l">
                        <a:spcBef>
                          <a:spcPts val="0"/>
                        </a:spcBef>
                        <a:spcAft>
                          <a:spcPts val="0"/>
                        </a:spcAft>
                        <a:buNone/>
                      </a:pPr>
                      <a:r>
                        <a:rPr lang="en" sz="800"/>
                        <a:t>mutex</a:t>
                      </a:r>
                      <a:endParaRPr sz="800"/>
                    </a:p>
                  </a:txBody>
                  <a:tcPr marT="91425" marB="91425" marR="91425" marL="91425"/>
                </a:tc>
                <a:tc>
                  <a:txBody>
                    <a:bodyPr/>
                    <a:lstStyle/>
                    <a:p>
                      <a:pPr indent="0" lvl="0" marL="0" rtl="0" algn="l">
                        <a:spcBef>
                          <a:spcPts val="0"/>
                        </a:spcBef>
                        <a:spcAft>
                          <a:spcPts val="0"/>
                        </a:spcAft>
                        <a:buNone/>
                      </a:pPr>
                      <a:r>
                        <a:rPr lang="en" sz="800"/>
                        <a:t>wrt</a:t>
                      </a:r>
                      <a:endParaRPr sz="800"/>
                    </a:p>
                  </a:txBody>
                  <a:tcPr marT="91425" marB="91425" marR="91425" marL="91425"/>
                </a:tc>
                <a:tc>
                  <a:txBody>
                    <a:bodyPr/>
                    <a:lstStyle/>
                    <a:p>
                      <a:pPr indent="0" lvl="0" marL="0" rtl="0" algn="l">
                        <a:spcBef>
                          <a:spcPts val="0"/>
                        </a:spcBef>
                        <a:spcAft>
                          <a:spcPts val="0"/>
                        </a:spcAft>
                        <a:buNone/>
                      </a:pPr>
                      <a:r>
                        <a:rPr lang="en" sz="800"/>
                        <a:t>Notes</a:t>
                      </a:r>
                      <a:endParaRPr sz="800"/>
                    </a:p>
                  </a:txBody>
                  <a:tcPr marT="91425" marB="91425" marR="91425" marL="91425"/>
                </a:tc>
              </a:tr>
              <a:tr h="381000">
                <a:tc>
                  <a:txBody>
                    <a:bodyPr/>
                    <a:lstStyle/>
                    <a:p>
                      <a:pPr indent="0" lvl="0" marL="0" rtl="0" algn="l">
                        <a:spcBef>
                          <a:spcPts val="0"/>
                        </a:spcBef>
                        <a:spcAft>
                          <a:spcPts val="0"/>
                        </a:spcAft>
                        <a:buNone/>
                      </a:pPr>
                      <a:r>
                        <a:rPr lang="en" sz="800"/>
                        <a:t>17</a:t>
                      </a:r>
                      <a:endParaRPr sz="800"/>
                    </a:p>
                  </a:txBody>
                  <a:tcPr marT="91425" marB="91425" marR="91425" marL="91425"/>
                </a:tc>
                <a:tc>
                  <a:txBody>
                    <a:bodyPr/>
                    <a:lstStyle/>
                    <a:p>
                      <a:pPr indent="0" lvl="0" marL="0" rtl="0" algn="l">
                        <a:spcBef>
                          <a:spcPts val="0"/>
                        </a:spcBef>
                        <a:spcAft>
                          <a:spcPts val="0"/>
                        </a:spcAft>
                        <a:buNone/>
                      </a:pPr>
                      <a:r>
                        <a:rPr lang="en" sz="800"/>
                        <a:t>W1 (previously blocked) now executes wait(wrt)</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gains exclusive access</a:t>
                      </a:r>
                      <a:endParaRPr sz="800"/>
                    </a:p>
                  </a:txBody>
                  <a:tcPr marT="91425" marB="91425" marR="91425" marL="91425"/>
                </a:tc>
              </a:tr>
              <a:tr h="381000">
                <a:tc>
                  <a:txBody>
                    <a:bodyPr/>
                    <a:lstStyle/>
                    <a:p>
                      <a:pPr indent="0" lvl="0" marL="0" rtl="0" algn="l">
                        <a:spcBef>
                          <a:spcPts val="0"/>
                        </a:spcBef>
                        <a:spcAft>
                          <a:spcPts val="0"/>
                        </a:spcAft>
                        <a:buNone/>
                      </a:pPr>
                      <a:r>
                        <a:rPr lang="en" sz="800"/>
                        <a:t>18</a:t>
                      </a:r>
                      <a:endParaRPr sz="800"/>
                    </a:p>
                  </a:txBody>
                  <a:tcPr marT="91425" marB="91425" marR="91425" marL="91425"/>
                </a:tc>
                <a:tc>
                  <a:txBody>
                    <a:bodyPr/>
                    <a:lstStyle/>
                    <a:p>
                      <a:pPr indent="0" lvl="0" marL="0" rtl="0" algn="l">
                        <a:spcBef>
                          <a:spcPts val="0"/>
                        </a:spcBef>
                        <a:spcAft>
                          <a:spcPts val="0"/>
                        </a:spcAft>
                        <a:buNone/>
                      </a:pPr>
                      <a:r>
                        <a:rPr lang="en" sz="800"/>
                        <a:t>W1 writes data</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critical section</a:t>
                      </a:r>
                      <a:endParaRPr sz="800"/>
                    </a:p>
                  </a:txBody>
                  <a:tcPr marT="91425" marB="91425" marR="91425" marL="91425"/>
                </a:tc>
              </a:tr>
              <a:tr h="381000">
                <a:tc>
                  <a:txBody>
                    <a:bodyPr/>
                    <a:lstStyle/>
                    <a:p>
                      <a:pPr indent="0" lvl="0" marL="0" rtl="0" algn="l">
                        <a:spcBef>
                          <a:spcPts val="0"/>
                        </a:spcBef>
                        <a:spcAft>
                          <a:spcPts val="0"/>
                        </a:spcAft>
                        <a:buNone/>
                      </a:pPr>
                      <a:r>
                        <a:rPr lang="en" sz="800"/>
                        <a:t>19</a:t>
                      </a:r>
                      <a:endParaRPr sz="800"/>
                    </a:p>
                  </a:txBody>
                  <a:tcPr marT="91425" marB="91425" marR="91425" marL="91425"/>
                </a:tc>
                <a:tc>
                  <a:txBody>
                    <a:bodyPr/>
                    <a:lstStyle/>
                    <a:p>
                      <a:pPr indent="0" lvl="0" marL="0" rtl="0" algn="l">
                        <a:spcBef>
                          <a:spcPts val="0"/>
                        </a:spcBef>
                        <a:spcAft>
                          <a:spcPts val="0"/>
                        </a:spcAft>
                        <a:buNone/>
                      </a:pPr>
                      <a:r>
                        <a:rPr lang="en" sz="800"/>
                        <a:t>W1 executes signal(wrt)</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releases lock</a:t>
                      </a:r>
                      <a:endParaRPr sz="800"/>
                    </a:p>
                  </a:txBody>
                  <a:tcPr marT="91425" marB="91425" marR="91425" marL="91425"/>
                </a:tc>
              </a:tr>
            </a:tbl>
          </a:graphicData>
        </a:graphic>
      </p:graphicFrame>
      <p:pic>
        <p:nvPicPr>
          <p:cNvPr id="341" name="Google Shape;341;p51" title="Screenshot 2025-10-16 at 6.05.46 AM.png"/>
          <p:cNvPicPr preferRelativeResize="0"/>
          <p:nvPr/>
        </p:nvPicPr>
        <p:blipFill>
          <a:blip r:embed="rId3">
            <a:alphaModFix/>
          </a:blip>
          <a:stretch>
            <a:fillRect/>
          </a:stretch>
        </p:blipFill>
        <p:spPr>
          <a:xfrm>
            <a:off x="5591325" y="2369000"/>
            <a:ext cx="2983475" cy="17981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Dining-Philosophers Problem</a:t>
            </a:r>
            <a:endParaRPr/>
          </a:p>
        </p:txBody>
      </p:sp>
      <p:sp>
        <p:nvSpPr>
          <p:cNvPr id="347" name="Google Shape;347;p52"/>
          <p:cNvSpPr txBox="1"/>
          <p:nvPr>
            <p:ph idx="1" type="body"/>
          </p:nvPr>
        </p:nvSpPr>
        <p:spPr>
          <a:xfrm>
            <a:off x="311700" y="1152475"/>
            <a:ext cx="4675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Five philosophers sit around a circular table.</a:t>
            </a:r>
            <a:endParaRPr/>
          </a:p>
          <a:p>
            <a:pPr indent="-342900" lvl="0" marL="457200" rtl="0" algn="l">
              <a:spcBef>
                <a:spcPts val="0"/>
              </a:spcBef>
              <a:spcAft>
                <a:spcPts val="0"/>
              </a:spcAft>
              <a:buSzPts val="1800"/>
              <a:buChar char="-"/>
            </a:pPr>
            <a:r>
              <a:rPr lang="en"/>
              <a:t>Between each pair, there is one chopstick.</a:t>
            </a:r>
            <a:endParaRPr/>
          </a:p>
          <a:p>
            <a:pPr indent="-342900" lvl="0" marL="457200" rtl="0" algn="l">
              <a:spcBef>
                <a:spcPts val="0"/>
              </a:spcBef>
              <a:spcAft>
                <a:spcPts val="0"/>
              </a:spcAft>
              <a:buSzPts val="1800"/>
              <a:buChar char="-"/>
            </a:pPr>
            <a:r>
              <a:rPr lang="en"/>
              <a:t>Each philosopher needs two chopsticks to eat.</a:t>
            </a:r>
            <a:endParaRPr/>
          </a:p>
          <a:p>
            <a:pPr indent="-342900" lvl="0" marL="457200" rtl="0" algn="l">
              <a:spcBef>
                <a:spcPts val="0"/>
              </a:spcBef>
              <a:spcAft>
                <a:spcPts val="0"/>
              </a:spcAft>
              <a:buSzPts val="1800"/>
              <a:buChar char="-"/>
            </a:pPr>
            <a:r>
              <a:rPr lang="en"/>
              <a:t>Problem: prevent deadlock and starvation.</a:t>
            </a:r>
            <a:endParaRPr/>
          </a:p>
        </p:txBody>
      </p:sp>
      <p:pic>
        <p:nvPicPr>
          <p:cNvPr id="348" name="Google Shape;348;p52" title="Screenshot 2025-10-16 at 6.10.03 AM.png"/>
          <p:cNvPicPr preferRelativeResize="0"/>
          <p:nvPr/>
        </p:nvPicPr>
        <p:blipFill>
          <a:blip r:embed="rId3">
            <a:alphaModFix/>
          </a:blip>
          <a:stretch>
            <a:fillRect/>
          </a:stretch>
        </p:blipFill>
        <p:spPr>
          <a:xfrm>
            <a:off x="5081672" y="1017724"/>
            <a:ext cx="3655554" cy="34164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Naive Solution (with Deadlock Risk)</a:t>
            </a:r>
            <a:endParaRPr/>
          </a:p>
        </p:txBody>
      </p:sp>
      <p:sp>
        <p:nvSpPr>
          <p:cNvPr id="354" name="Google Shape;354;p53"/>
          <p:cNvSpPr txBox="1"/>
          <p:nvPr>
            <p:ph idx="1" type="body"/>
          </p:nvPr>
        </p:nvSpPr>
        <p:spPr>
          <a:xfrm>
            <a:off x="5678275" y="1152475"/>
            <a:ext cx="3153900" cy="3668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If all philosophers pick their left chopstick at the same time </a:t>
            </a:r>
            <a:endParaRPr/>
          </a:p>
          <a:p>
            <a:pPr indent="-342900" lvl="0" marL="457200" rtl="0" algn="l">
              <a:spcBef>
                <a:spcPts val="0"/>
              </a:spcBef>
              <a:spcAft>
                <a:spcPts val="0"/>
              </a:spcAft>
              <a:buSzPts val="1800"/>
              <a:buChar char="-"/>
            </a:pPr>
            <a:r>
              <a:rPr lang="en"/>
              <a:t>means: no one can get the right one </a:t>
            </a:r>
            <a:endParaRPr/>
          </a:p>
          <a:p>
            <a:pPr indent="-342900" lvl="0" marL="457200" rtl="0" algn="l">
              <a:spcBef>
                <a:spcPts val="0"/>
              </a:spcBef>
              <a:spcAft>
                <a:spcPts val="0"/>
              </a:spcAft>
              <a:buSzPts val="1800"/>
              <a:buChar char="-"/>
            </a:pPr>
            <a:r>
              <a:rPr lang="en"/>
              <a:t>m</a:t>
            </a:r>
            <a:r>
              <a:rPr lang="en"/>
              <a:t>eans: deadlock.</a:t>
            </a:r>
            <a:endParaRPr/>
          </a:p>
        </p:txBody>
      </p:sp>
      <p:pic>
        <p:nvPicPr>
          <p:cNvPr id="355" name="Google Shape;355;p53" title="Screenshot 2025-10-16 at 6.12.30 AM.png"/>
          <p:cNvPicPr preferRelativeResize="0"/>
          <p:nvPr/>
        </p:nvPicPr>
        <p:blipFill>
          <a:blip r:embed="rId3">
            <a:alphaModFix/>
          </a:blip>
          <a:stretch>
            <a:fillRect/>
          </a:stretch>
        </p:blipFill>
        <p:spPr>
          <a:xfrm>
            <a:off x="311701" y="1152475"/>
            <a:ext cx="5291800" cy="366807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Avoiding Deadlock (One Common Fix)</a:t>
            </a:r>
            <a:endParaRPr/>
          </a:p>
        </p:txBody>
      </p:sp>
      <p:sp>
        <p:nvSpPr>
          <p:cNvPr id="361" name="Google Shape;361;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Let one philosopher pick up chopsticks in reverse order:</a:t>
            </a:r>
            <a:endParaRPr/>
          </a:p>
          <a:p>
            <a:pPr indent="0" lvl="0" marL="0" rtl="0" algn="l">
              <a:spcBef>
                <a:spcPts val="1200"/>
              </a:spcBef>
              <a:spcAft>
                <a:spcPts val="1200"/>
              </a:spcAft>
              <a:buNone/>
            </a:pPr>
            <a:r>
              <a:rPr lang="en"/>
              <a:t>Ensures asymmetry and avoids circular wait condition.</a:t>
            </a:r>
            <a:endParaRPr/>
          </a:p>
        </p:txBody>
      </p:sp>
      <p:pic>
        <p:nvPicPr>
          <p:cNvPr id="362" name="Google Shape;362;p54" title="Screenshot 2025-10-16 at 6.15.01 AM.png"/>
          <p:cNvPicPr preferRelativeResize="0"/>
          <p:nvPr/>
        </p:nvPicPr>
        <p:blipFill>
          <a:blip r:embed="rId3">
            <a:alphaModFix/>
          </a:blip>
          <a:stretch>
            <a:fillRect/>
          </a:stretch>
        </p:blipFill>
        <p:spPr>
          <a:xfrm>
            <a:off x="1893325" y="2122150"/>
            <a:ext cx="3681025" cy="24121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Several possible solutions</a:t>
            </a:r>
            <a:endParaRPr/>
          </a:p>
        </p:txBody>
      </p:sp>
      <p:sp>
        <p:nvSpPr>
          <p:cNvPr id="368" name="Google Shape;368;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Several possible remedies to the deadlock problem are the following:</a:t>
            </a:r>
            <a:endParaRPr/>
          </a:p>
          <a:p>
            <a:pPr indent="-342900" lvl="0" marL="457200" rtl="0" algn="l">
              <a:spcBef>
                <a:spcPts val="1200"/>
              </a:spcBef>
              <a:spcAft>
                <a:spcPts val="0"/>
              </a:spcAft>
              <a:buSzPts val="1800"/>
              <a:buChar char="-"/>
            </a:pPr>
            <a:r>
              <a:rPr lang="en"/>
              <a:t>Allow at most four </a:t>
            </a:r>
            <a:r>
              <a:rPr lang="en"/>
              <a:t>philosophers to be sitting simultaneously at the table</a:t>
            </a:r>
            <a:r>
              <a:rPr lang="en"/>
              <a:t>.</a:t>
            </a:r>
            <a:endParaRPr/>
          </a:p>
          <a:p>
            <a:pPr indent="-342900" lvl="0" marL="457200" rtl="0" algn="l">
              <a:spcBef>
                <a:spcPts val="0"/>
              </a:spcBef>
              <a:spcAft>
                <a:spcPts val="0"/>
              </a:spcAft>
              <a:buSzPts val="1800"/>
              <a:buChar char="-"/>
            </a:pPr>
            <a:r>
              <a:rPr lang="en"/>
              <a:t>Allow a philosopher to pick up her chopsticks only if both chopsticks are available (to do this, she must pick them up in a critical section).</a:t>
            </a:r>
            <a:endParaRPr/>
          </a:p>
          <a:p>
            <a:pPr indent="-342900" lvl="0" marL="457200" rtl="0" algn="l">
              <a:spcBef>
                <a:spcPts val="0"/>
              </a:spcBef>
              <a:spcAft>
                <a:spcPts val="0"/>
              </a:spcAft>
              <a:buSzPts val="1800"/>
              <a:buChar char="-"/>
            </a:pPr>
            <a:r>
              <a:rPr lang="en"/>
              <a:t>Use an asymmetric solution—that is,an odd-numbered philosopher picks up first her left chopstick and then her right chopstick, whereas an even- numbered philosopher picks up her right chopstick and then her left chopstick.</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Monitor Solution</a:t>
            </a:r>
            <a:endParaRPr/>
          </a:p>
        </p:txBody>
      </p:sp>
      <p:sp>
        <p:nvSpPr>
          <p:cNvPr id="374" name="Google Shape;374;p56"/>
          <p:cNvSpPr txBox="1"/>
          <p:nvPr>
            <p:ph idx="1" type="body"/>
          </p:nvPr>
        </p:nvSpPr>
        <p:spPr>
          <a:xfrm>
            <a:off x="311700" y="1152475"/>
            <a:ext cx="4372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Each philosopher must:</a:t>
            </a:r>
            <a:endParaRPr/>
          </a:p>
          <a:p>
            <a:pPr indent="-342900" lvl="0" marL="457200" rtl="0" algn="l">
              <a:spcBef>
                <a:spcPts val="1200"/>
              </a:spcBef>
              <a:spcAft>
                <a:spcPts val="0"/>
              </a:spcAft>
              <a:buSzPts val="1800"/>
              <a:buChar char="-"/>
            </a:pPr>
            <a:r>
              <a:rPr lang="en"/>
              <a:t>Think for a while,</a:t>
            </a:r>
            <a:endParaRPr/>
          </a:p>
          <a:p>
            <a:pPr indent="-342900" lvl="0" marL="457200" rtl="0" algn="l">
              <a:spcBef>
                <a:spcPts val="0"/>
              </a:spcBef>
              <a:spcAft>
                <a:spcPts val="0"/>
              </a:spcAft>
              <a:buSzPts val="1800"/>
              <a:buChar char="-"/>
            </a:pPr>
            <a:r>
              <a:rPr lang="en"/>
              <a:t>Request to eat (only when both chopsticks available),</a:t>
            </a:r>
            <a:endParaRPr/>
          </a:p>
          <a:p>
            <a:pPr indent="-342900" lvl="0" marL="457200" rtl="0" algn="l">
              <a:spcBef>
                <a:spcPts val="0"/>
              </a:spcBef>
              <a:spcAft>
                <a:spcPts val="0"/>
              </a:spcAft>
              <a:buSzPts val="1800"/>
              <a:buChar char="-"/>
            </a:pPr>
            <a:r>
              <a:rPr lang="en"/>
              <a:t>Release chopsticks when done.</a:t>
            </a:r>
            <a:endParaRPr/>
          </a:p>
          <a:p>
            <a:pPr indent="0" lvl="0" marL="0" rtl="0" algn="l">
              <a:spcBef>
                <a:spcPts val="1200"/>
              </a:spcBef>
              <a:spcAft>
                <a:spcPts val="1200"/>
              </a:spcAft>
              <a:buNone/>
            </a:pPr>
            <a:r>
              <a:rPr lang="en"/>
              <a:t>We’ll use a state variable per philosopher and condition variables to manage who can eat.</a:t>
            </a:r>
            <a:endParaRPr/>
          </a:p>
        </p:txBody>
      </p:sp>
      <p:pic>
        <p:nvPicPr>
          <p:cNvPr id="375" name="Google Shape;375;p56" title="Screenshot 2025-10-16 at 6.22.57 AM.png"/>
          <p:cNvPicPr preferRelativeResize="0"/>
          <p:nvPr/>
        </p:nvPicPr>
        <p:blipFill>
          <a:blip r:embed="rId3">
            <a:alphaModFix/>
          </a:blip>
          <a:stretch>
            <a:fillRect/>
          </a:stretch>
        </p:blipFill>
        <p:spPr>
          <a:xfrm>
            <a:off x="4770775" y="1488250"/>
            <a:ext cx="4201375" cy="23693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81" name="Google Shape;381;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82" name="Google Shape;382;p57" title="Screenshot 2025-10-16 at 6.24.00 AM.png"/>
          <p:cNvPicPr preferRelativeResize="0"/>
          <p:nvPr/>
        </p:nvPicPr>
        <p:blipFill>
          <a:blip r:embed="rId3">
            <a:alphaModFix/>
          </a:blip>
          <a:stretch>
            <a:fillRect/>
          </a:stretch>
        </p:blipFill>
        <p:spPr>
          <a:xfrm>
            <a:off x="4645170" y="445025"/>
            <a:ext cx="3389856" cy="4698476"/>
          </a:xfrm>
          <a:prstGeom prst="rect">
            <a:avLst/>
          </a:prstGeom>
          <a:noFill/>
          <a:ln>
            <a:noFill/>
          </a:ln>
        </p:spPr>
      </p:pic>
      <p:pic>
        <p:nvPicPr>
          <p:cNvPr id="383" name="Google Shape;383;p57" title="Screenshot 2025-10-16 at 6.22.57 AM.png"/>
          <p:cNvPicPr preferRelativeResize="0"/>
          <p:nvPr/>
        </p:nvPicPr>
        <p:blipFill>
          <a:blip r:embed="rId4">
            <a:alphaModFix/>
          </a:blip>
          <a:stretch>
            <a:fillRect/>
          </a:stretch>
        </p:blipFill>
        <p:spPr>
          <a:xfrm>
            <a:off x="370625" y="1566025"/>
            <a:ext cx="4201375" cy="23693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graphicFrame>
        <p:nvGraphicFramePr>
          <p:cNvPr id="388" name="Google Shape;388;p58"/>
          <p:cNvGraphicFramePr/>
          <p:nvPr/>
        </p:nvGraphicFramePr>
        <p:xfrm>
          <a:off x="952500" y="882225"/>
          <a:ext cx="3000000" cy="3000000"/>
        </p:xfrm>
        <a:graphic>
          <a:graphicData uri="http://schemas.openxmlformats.org/drawingml/2006/table">
            <a:tbl>
              <a:tblPr>
                <a:noFill/>
                <a:tableStyleId>{1165D865-4BFA-4EEE-A9B8-7328B0EABF65}</a:tableStyleId>
              </a:tblPr>
              <a:tblGrid>
                <a:gridCol w="1447800"/>
                <a:gridCol w="1447800"/>
                <a:gridCol w="1447800"/>
                <a:gridCol w="1447800"/>
                <a:gridCol w="1447800"/>
              </a:tblGrid>
              <a:tr h="100000">
                <a:tc>
                  <a:txBody>
                    <a:bodyPr/>
                    <a:lstStyle/>
                    <a:p>
                      <a:pPr indent="0" lvl="0" marL="0" rtl="0" algn="l">
                        <a:spcBef>
                          <a:spcPts val="0"/>
                        </a:spcBef>
                        <a:spcAft>
                          <a:spcPts val="0"/>
                        </a:spcAft>
                        <a:buNone/>
                      </a:pPr>
                      <a:r>
                        <a:rPr lang="en" sz="800">
                          <a:solidFill>
                            <a:schemeClr val="dk1"/>
                          </a:solidFill>
                        </a:rPr>
                        <a:t>Time</a:t>
                      </a:r>
                      <a:endParaRPr sz="800">
                        <a:solidFill>
                          <a:schemeClr val="dk1"/>
                        </a:solidFill>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Philosopher</a:t>
                      </a:r>
                      <a:endParaRPr sz="800">
                        <a:solidFill>
                          <a:schemeClr val="dk1"/>
                        </a:solidFill>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Action</a:t>
                      </a:r>
                      <a:endParaRPr sz="800">
                        <a:solidFill>
                          <a:schemeClr val="dk1"/>
                        </a:solidFill>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State Array (</a:t>
                      </a:r>
                      <a:r>
                        <a:rPr lang="en" sz="800">
                          <a:solidFill>
                            <a:schemeClr val="dk1"/>
                          </a:solidFill>
                          <a:latin typeface="Roboto Mono"/>
                          <a:ea typeface="Roboto Mono"/>
                          <a:cs typeface="Roboto Mono"/>
                          <a:sym typeface="Roboto Mono"/>
                        </a:rPr>
                        <a:t>T=Thinking, H=Hungry, E=Eating</a:t>
                      </a:r>
                      <a:r>
                        <a:rPr lang="en" sz="800">
                          <a:solidFill>
                            <a:schemeClr val="dk1"/>
                          </a:solidFill>
                        </a:rPr>
                        <a:t>)</a:t>
                      </a:r>
                      <a:endParaRPr sz="800">
                        <a:solidFill>
                          <a:schemeClr val="dk1"/>
                        </a:solidFill>
                      </a:endParaRPr>
                    </a:p>
                  </a:txBody>
                  <a:tcPr marT="91425" marB="91425" marR="91425" marL="91425"/>
                </a:tc>
                <a:tc>
                  <a:txBody>
                    <a:bodyPr/>
                    <a:lstStyle/>
                    <a:p>
                      <a:pPr indent="0" lvl="0" marL="0" rtl="0" algn="l">
                        <a:spcBef>
                          <a:spcPts val="0"/>
                        </a:spcBef>
                        <a:spcAft>
                          <a:spcPts val="0"/>
                        </a:spcAft>
                        <a:buNone/>
                      </a:pPr>
                      <a:r>
                        <a:rPr lang="en" sz="800">
                          <a:solidFill>
                            <a:schemeClr val="dk1"/>
                          </a:solidFill>
                        </a:rPr>
                        <a:t>Explanation</a:t>
                      </a:r>
                      <a:endParaRPr sz="800">
                        <a:solidFill>
                          <a:schemeClr val="dk1"/>
                        </a:solidFill>
                      </a:endParaRPr>
                    </a:p>
                  </a:txBody>
                  <a:tcPr marT="91425" marB="91425" marR="91425" marL="91425"/>
                </a:tc>
              </a:tr>
              <a:tr h="381000">
                <a:tc>
                  <a:txBody>
                    <a:bodyPr/>
                    <a:lstStyle/>
                    <a:p>
                      <a:pPr indent="0" lvl="0" marL="0" rtl="0" algn="l">
                        <a:spcBef>
                          <a:spcPts val="0"/>
                        </a:spcBef>
                        <a:spcAft>
                          <a:spcPts val="0"/>
                        </a:spcAft>
                        <a:buNone/>
                      </a:pPr>
                      <a:r>
                        <a:rPr lang="en" sz="800"/>
                        <a:t>t0</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HUNGRY</a:t>
                      </a:r>
                      <a:endParaRPr sz="800"/>
                    </a:p>
                  </a:txBody>
                  <a:tcPr marT="91425" marB="91425" marR="91425" marL="91425"/>
                </a:tc>
                <a:tc>
                  <a:txBody>
                    <a:bodyPr/>
                    <a:lstStyle/>
                    <a:p>
                      <a:pPr indent="0" lvl="0" marL="0" rtl="0" algn="l">
                        <a:spcBef>
                          <a:spcPts val="0"/>
                        </a:spcBef>
                        <a:spcAft>
                          <a:spcPts val="0"/>
                        </a:spcAft>
                        <a:buNone/>
                      </a:pPr>
                      <a:r>
                        <a:rPr lang="en" sz="800"/>
                        <a:t>H T T T T</a:t>
                      </a:r>
                      <a:endParaRPr sz="800"/>
                    </a:p>
                  </a:txBody>
                  <a:tcPr marT="91425" marB="91425" marR="91425" marL="91425"/>
                </a:tc>
                <a:tc>
                  <a:txBody>
                    <a:bodyPr/>
                    <a:lstStyle/>
                    <a:p>
                      <a:pPr indent="0" lvl="0" marL="0" rtl="0" algn="l">
                        <a:spcBef>
                          <a:spcPts val="0"/>
                        </a:spcBef>
                        <a:spcAft>
                          <a:spcPts val="0"/>
                        </a:spcAft>
                        <a:buNone/>
                      </a:pPr>
                      <a:r>
                        <a:rPr lang="en" sz="800"/>
                        <a:t>0 can eat (no neighbors eating)</a:t>
                      </a:r>
                      <a:endParaRPr sz="800"/>
                    </a:p>
                  </a:txBody>
                  <a:tcPr marT="91425" marB="91425" marR="91425" marL="91425"/>
                </a:tc>
              </a:tr>
              <a:tr h="381000">
                <a:tc>
                  <a:txBody>
                    <a:bodyPr/>
                    <a:lstStyle/>
                    <a:p>
                      <a:pPr indent="0" lvl="0" marL="0" rtl="0" algn="l">
                        <a:spcBef>
                          <a:spcPts val="0"/>
                        </a:spcBef>
                        <a:spcAft>
                          <a:spcPts val="0"/>
                        </a:spcAft>
                        <a:buNone/>
                      </a:pPr>
                      <a:r>
                        <a:rPr lang="en" sz="800"/>
                        <a:t>t1</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EATING</a:t>
                      </a:r>
                      <a:endParaRPr sz="800"/>
                    </a:p>
                  </a:txBody>
                  <a:tcPr marT="91425" marB="91425" marR="91425" marL="91425"/>
                </a:tc>
                <a:tc>
                  <a:txBody>
                    <a:bodyPr/>
                    <a:lstStyle/>
                    <a:p>
                      <a:pPr indent="0" lvl="0" marL="0" rtl="0" algn="l">
                        <a:spcBef>
                          <a:spcPts val="0"/>
                        </a:spcBef>
                        <a:spcAft>
                          <a:spcPts val="0"/>
                        </a:spcAft>
                        <a:buNone/>
                      </a:pPr>
                      <a:r>
                        <a:rPr lang="en" sz="800"/>
                        <a:t>E T T T T</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rPr lang="en" sz="800"/>
                        <a:t>t2</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HUNGRY</a:t>
                      </a:r>
                      <a:endParaRPr sz="800"/>
                    </a:p>
                  </a:txBody>
                  <a:tcPr marT="91425" marB="91425" marR="91425" marL="91425"/>
                </a:tc>
                <a:tc>
                  <a:txBody>
                    <a:bodyPr/>
                    <a:lstStyle/>
                    <a:p>
                      <a:pPr indent="0" lvl="0" marL="0" rtl="0" algn="l">
                        <a:spcBef>
                          <a:spcPts val="0"/>
                        </a:spcBef>
                        <a:spcAft>
                          <a:spcPts val="0"/>
                        </a:spcAft>
                        <a:buNone/>
                      </a:pPr>
                      <a:r>
                        <a:rPr lang="en" sz="800"/>
                        <a:t>E H T T T</a:t>
                      </a:r>
                      <a:endParaRPr sz="800"/>
                    </a:p>
                  </a:txBody>
                  <a:tcPr marT="91425" marB="91425" marR="91425" marL="91425"/>
                </a:tc>
                <a:tc>
                  <a:txBody>
                    <a:bodyPr/>
                    <a:lstStyle/>
                    <a:p>
                      <a:pPr indent="0" lvl="0" marL="0" rtl="0" algn="l">
                        <a:spcBef>
                          <a:spcPts val="0"/>
                        </a:spcBef>
                        <a:spcAft>
                          <a:spcPts val="0"/>
                        </a:spcAft>
                        <a:buNone/>
                      </a:pPr>
                      <a:r>
                        <a:rPr lang="en" sz="800"/>
                        <a:t>1 cannot eat (left neighbor 0 is eating)</a:t>
                      </a:r>
                      <a:endParaRPr sz="800"/>
                    </a:p>
                  </a:txBody>
                  <a:tcPr marT="91425" marB="91425" marR="91425" marL="91425"/>
                </a:tc>
              </a:tr>
              <a:tr h="381000">
                <a:tc>
                  <a:txBody>
                    <a:bodyPr/>
                    <a:lstStyle/>
                    <a:p>
                      <a:pPr indent="0" lvl="0" marL="0" rtl="0" algn="l">
                        <a:spcBef>
                          <a:spcPts val="0"/>
                        </a:spcBef>
                        <a:spcAft>
                          <a:spcPts val="0"/>
                        </a:spcAft>
                        <a:buNone/>
                      </a:pPr>
                      <a:r>
                        <a:rPr lang="en" sz="800"/>
                        <a:t>t3</a:t>
                      </a:r>
                      <a:endParaRPr sz="800"/>
                    </a:p>
                  </a:txBody>
                  <a:tcPr marT="91425" marB="91425" marR="91425" marL="91425"/>
                </a:tc>
                <a:tc>
                  <a:txBody>
                    <a:bodyPr/>
                    <a:lstStyle/>
                    <a:p>
                      <a:pPr indent="0" lvl="0" marL="0" rtl="0" algn="l">
                        <a:spcBef>
                          <a:spcPts val="0"/>
                        </a:spcBef>
                        <a:spcAft>
                          <a:spcPts val="0"/>
                        </a:spcAft>
                        <a:buNone/>
                      </a:pPr>
                      <a:r>
                        <a:rPr lang="en" sz="800"/>
                        <a:t>2</a:t>
                      </a:r>
                      <a:endParaRPr sz="8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800">
                          <a:solidFill>
                            <a:schemeClr val="dk1"/>
                          </a:solidFill>
                        </a:rPr>
                        <a:t>HUNGRY</a:t>
                      </a:r>
                      <a:endParaRPr sz="800"/>
                    </a:p>
                  </a:txBody>
                  <a:tcPr marT="91425" marB="91425" marR="91425" marL="91425"/>
                </a:tc>
                <a:tc>
                  <a:txBody>
                    <a:bodyPr/>
                    <a:lstStyle/>
                    <a:p>
                      <a:pPr indent="0" lvl="0" marL="0" rtl="0" algn="l">
                        <a:spcBef>
                          <a:spcPts val="0"/>
                        </a:spcBef>
                        <a:spcAft>
                          <a:spcPts val="0"/>
                        </a:spcAft>
                        <a:buNone/>
                      </a:pPr>
                      <a:r>
                        <a:rPr lang="en" sz="800"/>
                        <a:t>E H H T T</a:t>
                      </a:r>
                      <a:endParaRPr sz="800"/>
                    </a:p>
                  </a:txBody>
                  <a:tcPr marT="91425" marB="91425" marR="91425" marL="91425"/>
                </a:tc>
                <a:tc>
                  <a:txBody>
                    <a:bodyPr/>
                    <a:lstStyle/>
                    <a:p>
                      <a:pPr indent="0" lvl="0" marL="0" rtl="0" algn="l">
                        <a:spcBef>
                          <a:spcPts val="0"/>
                        </a:spcBef>
                        <a:spcAft>
                          <a:spcPts val="0"/>
                        </a:spcAft>
                        <a:buNone/>
                      </a:pPr>
                      <a:r>
                        <a:rPr lang="en" sz="800"/>
                        <a:t>2 cannot eat (neighbor 1 HUNGRY, 0 EATING)</a:t>
                      </a:r>
                      <a:endParaRPr sz="800"/>
                    </a:p>
                  </a:txBody>
                  <a:tcPr marT="91425" marB="91425" marR="91425" marL="91425"/>
                </a:tc>
              </a:tr>
              <a:tr h="381000">
                <a:tc>
                  <a:txBody>
                    <a:bodyPr/>
                    <a:lstStyle/>
                    <a:p>
                      <a:pPr indent="0" lvl="0" marL="0" rtl="0" algn="l">
                        <a:spcBef>
                          <a:spcPts val="0"/>
                        </a:spcBef>
                        <a:spcAft>
                          <a:spcPts val="0"/>
                        </a:spcAft>
                        <a:buNone/>
                      </a:pPr>
                      <a:r>
                        <a:rPr lang="en" sz="800"/>
                        <a:t>t4</a:t>
                      </a:r>
                      <a:endParaRPr sz="800"/>
                    </a:p>
                  </a:txBody>
                  <a:tcPr marT="91425" marB="91425" marR="91425" marL="91425"/>
                </a:tc>
                <a:tc>
                  <a:txBody>
                    <a:bodyPr/>
                    <a:lstStyle/>
                    <a:p>
                      <a:pPr indent="0" lvl="0" marL="0" rtl="0" algn="l">
                        <a:spcBef>
                          <a:spcPts val="0"/>
                        </a:spcBef>
                        <a:spcAft>
                          <a:spcPts val="0"/>
                        </a:spcAft>
                        <a:buNone/>
                      </a:pPr>
                      <a:r>
                        <a:rPr lang="en" sz="800"/>
                        <a:t>0</a:t>
                      </a:r>
                      <a:endParaRPr sz="800"/>
                    </a:p>
                  </a:txBody>
                  <a:tcPr marT="91425" marB="91425" marR="91425" marL="91425"/>
                </a:tc>
                <a:tc>
                  <a:txBody>
                    <a:bodyPr/>
                    <a:lstStyle/>
                    <a:p>
                      <a:pPr indent="0" lvl="0" marL="0" rtl="0" algn="l">
                        <a:spcBef>
                          <a:spcPts val="0"/>
                        </a:spcBef>
                        <a:spcAft>
                          <a:spcPts val="0"/>
                        </a:spcAft>
                        <a:buNone/>
                      </a:pPr>
                      <a:r>
                        <a:rPr lang="en" sz="800"/>
                        <a:t>puts down</a:t>
                      </a:r>
                      <a:endParaRPr sz="800"/>
                    </a:p>
                  </a:txBody>
                  <a:tcPr marT="91425" marB="91425" marR="91425" marL="91425"/>
                </a:tc>
                <a:tc>
                  <a:txBody>
                    <a:bodyPr/>
                    <a:lstStyle/>
                    <a:p>
                      <a:pPr indent="0" lvl="0" marL="0" rtl="0" algn="l">
                        <a:spcBef>
                          <a:spcPts val="0"/>
                        </a:spcBef>
                        <a:spcAft>
                          <a:spcPts val="0"/>
                        </a:spcAft>
                        <a:buNone/>
                      </a:pPr>
                      <a:r>
                        <a:rPr lang="en" sz="800"/>
                        <a:t>T H H T T</a:t>
                      </a:r>
                      <a:endParaRPr sz="800"/>
                    </a:p>
                  </a:txBody>
                  <a:tcPr marT="91425" marB="91425" marR="91425" marL="91425"/>
                </a:tc>
                <a:tc>
                  <a:txBody>
                    <a:bodyPr/>
                    <a:lstStyle/>
                    <a:p>
                      <a:pPr indent="0" lvl="0" marL="0" rtl="0" algn="l">
                        <a:spcBef>
                          <a:spcPts val="0"/>
                        </a:spcBef>
                        <a:spcAft>
                          <a:spcPts val="0"/>
                        </a:spcAft>
                        <a:buNone/>
                      </a:pPr>
                      <a:r>
                        <a:rPr lang="en" sz="800"/>
                        <a:t>test(1) and test(4): now 1 can eat</a:t>
                      </a:r>
                      <a:endParaRPr sz="800"/>
                    </a:p>
                  </a:txBody>
                  <a:tcPr marT="91425" marB="91425" marR="91425" marL="91425"/>
                </a:tc>
              </a:tr>
              <a:tr h="381000">
                <a:tc>
                  <a:txBody>
                    <a:bodyPr/>
                    <a:lstStyle/>
                    <a:p>
                      <a:pPr indent="0" lvl="0" marL="0" rtl="0" algn="l">
                        <a:spcBef>
                          <a:spcPts val="0"/>
                        </a:spcBef>
                        <a:spcAft>
                          <a:spcPts val="0"/>
                        </a:spcAft>
                        <a:buNone/>
                      </a:pPr>
                      <a:r>
                        <a:rPr lang="en" sz="800"/>
                        <a:t>t5</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EATING</a:t>
                      </a:r>
                      <a:endParaRPr sz="800"/>
                    </a:p>
                  </a:txBody>
                  <a:tcPr marT="91425" marB="91425" marR="91425" marL="91425"/>
                </a:tc>
                <a:tc>
                  <a:txBody>
                    <a:bodyPr/>
                    <a:lstStyle/>
                    <a:p>
                      <a:pPr indent="0" lvl="0" marL="0" rtl="0" algn="l">
                        <a:spcBef>
                          <a:spcPts val="0"/>
                        </a:spcBef>
                        <a:spcAft>
                          <a:spcPts val="0"/>
                        </a:spcAft>
                        <a:buNone/>
                      </a:pPr>
                      <a:r>
                        <a:rPr lang="en" sz="800"/>
                        <a:t>T E H T T</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381000">
                <a:tc>
                  <a:txBody>
                    <a:bodyPr/>
                    <a:lstStyle/>
                    <a:p>
                      <a:pPr indent="0" lvl="0" marL="0" rtl="0" algn="l">
                        <a:spcBef>
                          <a:spcPts val="0"/>
                        </a:spcBef>
                        <a:spcAft>
                          <a:spcPts val="0"/>
                        </a:spcAft>
                        <a:buNone/>
                      </a:pPr>
                      <a:r>
                        <a:rPr lang="en" sz="800"/>
                        <a:t>t6</a:t>
                      </a:r>
                      <a:endParaRPr sz="800"/>
                    </a:p>
                  </a:txBody>
                  <a:tcPr marT="91425" marB="91425" marR="91425" marL="91425"/>
                </a:tc>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puts down</a:t>
                      </a:r>
                      <a:endParaRPr sz="800"/>
                    </a:p>
                  </a:txBody>
                  <a:tcPr marT="91425" marB="91425" marR="91425" marL="91425"/>
                </a:tc>
                <a:tc>
                  <a:txBody>
                    <a:bodyPr/>
                    <a:lstStyle/>
                    <a:p>
                      <a:pPr indent="0" lvl="0" marL="0" rtl="0" algn="l">
                        <a:spcBef>
                          <a:spcPts val="0"/>
                        </a:spcBef>
                        <a:spcAft>
                          <a:spcPts val="0"/>
                        </a:spcAft>
                        <a:buNone/>
                      </a:pPr>
                      <a:r>
                        <a:rPr lang="en" sz="800"/>
                        <a:t>T T H T T</a:t>
                      </a:r>
                      <a:endParaRPr sz="800"/>
                    </a:p>
                  </a:txBody>
                  <a:tcPr marT="91425" marB="91425" marR="91425" marL="91425"/>
                </a:tc>
                <a:tc>
                  <a:txBody>
                    <a:bodyPr/>
                    <a:lstStyle/>
                    <a:p>
                      <a:pPr indent="0" lvl="0" marL="0" rtl="0" algn="l">
                        <a:spcBef>
                          <a:spcPts val="0"/>
                        </a:spcBef>
                        <a:spcAft>
                          <a:spcPts val="0"/>
                        </a:spcAft>
                        <a:buNone/>
                      </a:pPr>
                      <a:r>
                        <a:rPr lang="en" sz="800"/>
                        <a:t>test(0) and test(2): now 2 can eat</a:t>
                      </a:r>
                      <a:endParaRPr sz="800"/>
                    </a:p>
                  </a:txBody>
                  <a:tcPr marT="91425" marB="91425" marR="91425" marL="91425"/>
                </a:tc>
              </a:tr>
              <a:tr h="381000">
                <a:tc>
                  <a:txBody>
                    <a:bodyPr/>
                    <a:lstStyle/>
                    <a:p>
                      <a:pPr indent="0" lvl="0" marL="0" rtl="0" algn="l">
                        <a:spcBef>
                          <a:spcPts val="0"/>
                        </a:spcBef>
                        <a:spcAft>
                          <a:spcPts val="0"/>
                        </a:spcAft>
                        <a:buNone/>
                      </a:pPr>
                      <a:r>
                        <a:rPr lang="en" sz="800"/>
                        <a:t>t7</a:t>
                      </a:r>
                      <a:endParaRPr sz="800"/>
                    </a:p>
                  </a:txBody>
                  <a:tcPr marT="91425" marB="91425" marR="91425" marL="91425"/>
                </a:tc>
                <a:tc>
                  <a:txBody>
                    <a:bodyPr/>
                    <a:lstStyle/>
                    <a:p>
                      <a:pPr indent="0" lvl="0" marL="0" rtl="0" algn="l">
                        <a:spcBef>
                          <a:spcPts val="0"/>
                        </a:spcBef>
                        <a:spcAft>
                          <a:spcPts val="0"/>
                        </a:spcAft>
                        <a:buNone/>
                      </a:pPr>
                      <a:r>
                        <a:rPr lang="en" sz="800"/>
                        <a:t>2</a:t>
                      </a:r>
                      <a:endParaRPr sz="800"/>
                    </a:p>
                  </a:txBody>
                  <a:tcPr marT="91425" marB="91425" marR="91425" marL="91425"/>
                </a:tc>
                <a:tc>
                  <a:txBody>
                    <a:bodyPr/>
                    <a:lstStyle/>
                    <a:p>
                      <a:pPr indent="0" lvl="0" marL="0" rtl="0" algn="l">
                        <a:spcBef>
                          <a:spcPts val="0"/>
                        </a:spcBef>
                        <a:spcAft>
                          <a:spcPts val="0"/>
                        </a:spcAft>
                        <a:buNone/>
                      </a:pPr>
                      <a:r>
                        <a:rPr lang="en" sz="800"/>
                        <a:t>EATING</a:t>
                      </a:r>
                      <a:endParaRPr sz="800"/>
                    </a:p>
                  </a:txBody>
                  <a:tcPr marT="91425" marB="91425" marR="91425" marL="91425"/>
                </a:tc>
                <a:tc>
                  <a:txBody>
                    <a:bodyPr/>
                    <a:lstStyle/>
                    <a:p>
                      <a:pPr indent="0" lvl="0" marL="0" rtl="0" algn="l">
                        <a:spcBef>
                          <a:spcPts val="0"/>
                        </a:spcBef>
                        <a:spcAft>
                          <a:spcPts val="0"/>
                        </a:spcAft>
                        <a:buNone/>
                      </a:pPr>
                      <a:r>
                        <a:rPr lang="en" sz="800"/>
                        <a:t>T T E T T</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94" name="Google Shape;394;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https://www.placementpreparation.io/blog/operating-system-project-ideas-for-beginners/#basic-file-compression-tool</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