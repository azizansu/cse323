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8d670d0041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8d670d0041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38d670d0041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38d670d0041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38d670d0041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38d670d0041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38d670d0041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38d670d0041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38d670d0041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38d670d0041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8d670d0041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8d670d0041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8d670d0041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38d670d0041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8d670d0041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38d670d0041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8d670d0041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38d670d0041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8d670d0041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38d670d0041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8d670d0041_0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38d670d0041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8d670d0041_0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38d670d0041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8d670d0041_0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38d670d0041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8d670d0041_0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38d670d0041_0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38d670d0041_0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38d670d0041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8d670d0041_0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38d670d0041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8d670d0041_0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38d670d0041_0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8d670d0041_0_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8d670d0041_0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8d670d0041_0_1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38d670d0041_0_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8d670d0041_0_1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38d670d0041_0_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0.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lnSpc>
                <a:spcPct val="115000"/>
              </a:lnSpc>
              <a:spcBef>
                <a:spcPts val="0"/>
              </a:spcBef>
              <a:spcAft>
                <a:spcPts val="1200"/>
              </a:spcAft>
              <a:buClr>
                <a:schemeClr val="dk1"/>
              </a:buClr>
              <a:buSzPts val="1100"/>
              <a:buFont typeface="Arial"/>
              <a:buNone/>
            </a:pPr>
            <a:r>
              <a:rPr lang="en" sz="3100">
                <a:solidFill>
                  <a:schemeClr val="dk2"/>
                </a:solidFill>
              </a:rPr>
              <a:t>Process, Threads &amp; Concurrency</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structure of a process in memory</a:t>
            </a:r>
            <a:endParaRPr/>
          </a:p>
        </p:txBody>
      </p:sp>
      <p:sp>
        <p:nvSpPr>
          <p:cNvPr id="61" name="Google Shape;61;p14"/>
          <p:cNvSpPr txBox="1"/>
          <p:nvPr>
            <p:ph idx="1" type="body"/>
          </p:nvPr>
        </p:nvSpPr>
        <p:spPr>
          <a:xfrm>
            <a:off x="311700" y="1152475"/>
            <a:ext cx="46830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text section: program code</a:t>
            </a:r>
            <a:endParaRPr/>
          </a:p>
          <a:p>
            <a:pPr indent="-342900" lvl="0" marL="457200" rtl="0" algn="l">
              <a:spcBef>
                <a:spcPts val="0"/>
              </a:spcBef>
              <a:spcAft>
                <a:spcPts val="0"/>
              </a:spcAft>
              <a:buSzPts val="1800"/>
              <a:buChar char="-"/>
            </a:pPr>
            <a:r>
              <a:rPr lang="en"/>
              <a:t>program counter: current activity and the contents of the processor's registers. </a:t>
            </a:r>
            <a:endParaRPr/>
          </a:p>
          <a:p>
            <a:pPr indent="-342900" lvl="0" marL="457200" rtl="0" algn="l">
              <a:spcBef>
                <a:spcPts val="0"/>
              </a:spcBef>
              <a:spcAft>
                <a:spcPts val="0"/>
              </a:spcAft>
              <a:buSzPts val="1800"/>
              <a:buChar char="-"/>
            </a:pPr>
            <a:r>
              <a:rPr lang="en"/>
              <a:t>process stack: temporary data (such as function parameters, return addresses, and local variables), and</a:t>
            </a:r>
            <a:endParaRPr/>
          </a:p>
          <a:p>
            <a:pPr indent="-342900" lvl="0" marL="457200" rtl="0" algn="l">
              <a:spcBef>
                <a:spcPts val="0"/>
              </a:spcBef>
              <a:spcAft>
                <a:spcPts val="0"/>
              </a:spcAft>
              <a:buSzPts val="1800"/>
              <a:buChar char="-"/>
            </a:pPr>
            <a:r>
              <a:rPr lang="en"/>
              <a:t>data section: contains global variables.</a:t>
            </a:r>
            <a:endParaRPr/>
          </a:p>
          <a:p>
            <a:pPr indent="-342900" lvl="0" marL="457200" rtl="0" algn="l">
              <a:spcBef>
                <a:spcPts val="0"/>
              </a:spcBef>
              <a:spcAft>
                <a:spcPts val="0"/>
              </a:spcAft>
              <a:buSzPts val="1800"/>
              <a:buChar char="-"/>
            </a:pPr>
            <a:r>
              <a:rPr lang="en"/>
              <a:t>heap: memory that is dynamically allocated during process run time. </a:t>
            </a:r>
            <a:endParaRPr/>
          </a:p>
        </p:txBody>
      </p:sp>
      <p:pic>
        <p:nvPicPr>
          <p:cNvPr id="62" name="Google Shape;62;p14" title="Screenshot 2025-09-25 at 7.40.47 AM.png"/>
          <p:cNvPicPr preferRelativeResize="0"/>
          <p:nvPr/>
        </p:nvPicPr>
        <p:blipFill>
          <a:blip r:embed="rId3">
            <a:alphaModFix/>
          </a:blip>
          <a:stretch>
            <a:fillRect/>
          </a:stretch>
        </p:blipFill>
        <p:spPr>
          <a:xfrm>
            <a:off x="5842476" y="480513"/>
            <a:ext cx="3035275" cy="4182476"/>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Process State </a:t>
            </a:r>
            <a:endParaRPr/>
          </a:p>
        </p:txBody>
      </p:sp>
      <p:sp>
        <p:nvSpPr>
          <p:cNvPr id="68" name="Google Shape;68;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As a process execute, it changes state. </a:t>
            </a:r>
            <a:endParaRPr/>
          </a:p>
          <a:p>
            <a:pPr indent="-342900" lvl="0" marL="457200" rtl="0" algn="l">
              <a:spcBef>
                <a:spcPts val="1200"/>
              </a:spcBef>
              <a:spcAft>
                <a:spcPts val="0"/>
              </a:spcAft>
              <a:buSzPts val="1800"/>
              <a:buChar char="-"/>
            </a:pPr>
            <a:r>
              <a:rPr lang="en"/>
              <a:t>New. The process is being created. </a:t>
            </a:r>
            <a:endParaRPr/>
          </a:p>
          <a:p>
            <a:pPr indent="-342900" lvl="0" marL="457200" rtl="0" algn="l">
              <a:spcBef>
                <a:spcPts val="0"/>
              </a:spcBef>
              <a:spcAft>
                <a:spcPts val="0"/>
              </a:spcAft>
              <a:buSzPts val="1800"/>
              <a:buChar char="-"/>
            </a:pPr>
            <a:r>
              <a:rPr lang="en"/>
              <a:t>Running. Instructions are being executed. </a:t>
            </a:r>
            <a:endParaRPr/>
          </a:p>
          <a:p>
            <a:pPr indent="-342900" lvl="0" marL="457200" rtl="0" algn="l">
              <a:spcBef>
                <a:spcPts val="0"/>
              </a:spcBef>
              <a:spcAft>
                <a:spcPts val="0"/>
              </a:spcAft>
              <a:buSzPts val="1800"/>
              <a:buChar char="-"/>
            </a:pPr>
            <a:r>
              <a:rPr lang="en"/>
              <a:t>Waiting. The process is waiting for some event to occur (such as an I/0 completion or reception of a signal). </a:t>
            </a:r>
            <a:endParaRPr/>
          </a:p>
          <a:p>
            <a:pPr indent="-342900" lvl="0" marL="457200" rtl="0" algn="l">
              <a:spcBef>
                <a:spcPts val="0"/>
              </a:spcBef>
              <a:spcAft>
                <a:spcPts val="0"/>
              </a:spcAft>
              <a:buSzPts val="1800"/>
              <a:buChar char="-"/>
            </a:pPr>
            <a:r>
              <a:rPr lang="en"/>
              <a:t>Ready. The process is waiting to be assigned to a processor. </a:t>
            </a:r>
            <a:endParaRPr/>
          </a:p>
          <a:p>
            <a:pPr indent="-342900" lvl="0" marL="457200" rtl="0" algn="l">
              <a:spcBef>
                <a:spcPts val="0"/>
              </a:spcBef>
              <a:spcAft>
                <a:spcPts val="0"/>
              </a:spcAft>
              <a:buSzPts val="1800"/>
              <a:buChar char="-"/>
            </a:pPr>
            <a:r>
              <a:rPr lang="en"/>
              <a:t>Terminated. The process has finished execution.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74" name="Google Shape;74;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75" name="Google Shape;75;p16" title="Screenshot 2025-09-25 at 7.47.11 AM.png"/>
          <p:cNvPicPr preferRelativeResize="0"/>
          <p:nvPr/>
        </p:nvPicPr>
        <p:blipFill>
          <a:blip r:embed="rId3">
            <a:alphaModFix/>
          </a:blip>
          <a:stretch>
            <a:fillRect/>
          </a:stretch>
        </p:blipFill>
        <p:spPr>
          <a:xfrm>
            <a:off x="1175675" y="1152475"/>
            <a:ext cx="6925351" cy="3381924"/>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Process Control Block</a:t>
            </a:r>
            <a:endParaRPr/>
          </a:p>
        </p:txBody>
      </p:sp>
      <p:sp>
        <p:nvSpPr>
          <p:cNvPr id="81" name="Google Shape;81;p17"/>
          <p:cNvSpPr txBox="1"/>
          <p:nvPr>
            <p:ph idx="1" type="body"/>
          </p:nvPr>
        </p:nvSpPr>
        <p:spPr>
          <a:xfrm>
            <a:off x="311700" y="1152475"/>
            <a:ext cx="5379900" cy="37203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Process state. The state may be new, ready running, waiting, halted, and so on. </a:t>
            </a:r>
            <a:endParaRPr/>
          </a:p>
          <a:p>
            <a:pPr indent="-342900" lvl="0" marL="457200" rtl="0" algn="l">
              <a:spcBef>
                <a:spcPts val="0"/>
              </a:spcBef>
              <a:spcAft>
                <a:spcPts val="0"/>
              </a:spcAft>
              <a:buSzPts val="1800"/>
              <a:buChar char="-"/>
            </a:pPr>
            <a:r>
              <a:rPr lang="en"/>
              <a:t>Program counter. The counter indicates the address of the next instruction to be executed for this process.</a:t>
            </a:r>
            <a:endParaRPr/>
          </a:p>
          <a:p>
            <a:pPr indent="-342900" lvl="0" marL="457200" rtl="0" algn="l">
              <a:spcBef>
                <a:spcPts val="0"/>
              </a:spcBef>
              <a:spcAft>
                <a:spcPts val="0"/>
              </a:spcAft>
              <a:buSzPts val="1800"/>
              <a:buChar char="-"/>
            </a:pPr>
            <a:r>
              <a:rPr lang="en"/>
              <a:t>CPU registers.</a:t>
            </a:r>
            <a:endParaRPr/>
          </a:p>
          <a:p>
            <a:pPr indent="-342900" lvl="0" marL="457200" rtl="0" algn="l">
              <a:spcBef>
                <a:spcPts val="0"/>
              </a:spcBef>
              <a:spcAft>
                <a:spcPts val="0"/>
              </a:spcAft>
              <a:buSzPts val="1800"/>
              <a:buChar char="-"/>
            </a:pPr>
            <a:r>
              <a:rPr lang="en"/>
              <a:t>CPU-scheduling information.</a:t>
            </a:r>
            <a:endParaRPr/>
          </a:p>
          <a:p>
            <a:pPr indent="-342900" lvl="0" marL="457200" rtl="0" algn="l">
              <a:spcBef>
                <a:spcPts val="0"/>
              </a:spcBef>
              <a:spcAft>
                <a:spcPts val="0"/>
              </a:spcAft>
              <a:buSzPts val="1800"/>
              <a:buChar char="-"/>
            </a:pPr>
            <a:r>
              <a:rPr lang="en"/>
              <a:t>Memory-management information.</a:t>
            </a:r>
            <a:endParaRPr/>
          </a:p>
          <a:p>
            <a:pPr indent="-342900" lvl="0" marL="457200" rtl="0" algn="l">
              <a:spcBef>
                <a:spcPts val="0"/>
              </a:spcBef>
              <a:spcAft>
                <a:spcPts val="0"/>
              </a:spcAft>
              <a:buSzPts val="1800"/>
              <a:buChar char="-"/>
            </a:pPr>
            <a:r>
              <a:rPr lang="en"/>
              <a:t>Accounting information.</a:t>
            </a:r>
            <a:endParaRPr/>
          </a:p>
          <a:p>
            <a:pPr indent="-342900" lvl="0" marL="457200" rtl="0" algn="l">
              <a:spcBef>
                <a:spcPts val="0"/>
              </a:spcBef>
              <a:spcAft>
                <a:spcPts val="0"/>
              </a:spcAft>
              <a:buSzPts val="1800"/>
              <a:buChar char="-"/>
            </a:pPr>
            <a:r>
              <a:rPr lang="en"/>
              <a:t>I/O status information.</a:t>
            </a:r>
            <a:endParaRPr/>
          </a:p>
        </p:txBody>
      </p:sp>
      <p:pic>
        <p:nvPicPr>
          <p:cNvPr id="82" name="Google Shape;82;p17" title="Screenshot 2025-09-25 at 7.48.28 AM.png"/>
          <p:cNvPicPr preferRelativeResize="0"/>
          <p:nvPr/>
        </p:nvPicPr>
        <p:blipFill>
          <a:blip r:embed="rId3">
            <a:alphaModFix/>
          </a:blip>
          <a:stretch>
            <a:fillRect/>
          </a:stretch>
        </p:blipFill>
        <p:spPr>
          <a:xfrm>
            <a:off x="5627400" y="1170125"/>
            <a:ext cx="3364200" cy="3087588"/>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pic>
        <p:nvPicPr>
          <p:cNvPr id="87" name="Google Shape;87;p18" title="Screenshot 2025-09-25 at 7.50.28 AM.png"/>
          <p:cNvPicPr preferRelativeResize="0"/>
          <p:nvPr/>
        </p:nvPicPr>
        <p:blipFill>
          <a:blip r:embed="rId3">
            <a:alphaModFix/>
          </a:blip>
          <a:stretch>
            <a:fillRect/>
          </a:stretch>
        </p:blipFill>
        <p:spPr>
          <a:xfrm>
            <a:off x="1967250" y="445025"/>
            <a:ext cx="4702151" cy="4209548"/>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Process Scheduling</a:t>
            </a:r>
            <a:endParaRPr/>
          </a:p>
        </p:txBody>
      </p:sp>
      <p:sp>
        <p:nvSpPr>
          <p:cNvPr id="93" name="Google Shape;93;p19"/>
          <p:cNvSpPr txBox="1"/>
          <p:nvPr>
            <p:ph idx="1" type="body"/>
          </p:nvPr>
        </p:nvSpPr>
        <p:spPr>
          <a:xfrm>
            <a:off x="311700" y="1152475"/>
            <a:ext cx="4398600" cy="3416400"/>
          </a:xfrm>
          <a:prstGeom prst="rect">
            <a:avLst/>
          </a:prstGeom>
        </p:spPr>
        <p:txBody>
          <a:bodyPr anchorCtr="0" anchor="t" bIns="91425" lIns="91425" spcFirstLastPara="1" rIns="91425" wrap="square" tIns="91425">
            <a:normAutofit lnSpcReduction="20000"/>
          </a:bodyPr>
          <a:lstStyle/>
          <a:p>
            <a:pPr indent="-342900" lvl="0" marL="457200" rtl="0" algn="l">
              <a:spcBef>
                <a:spcPts val="0"/>
              </a:spcBef>
              <a:spcAft>
                <a:spcPts val="0"/>
              </a:spcAft>
              <a:buSzPts val="1800"/>
              <a:buChar char="-"/>
            </a:pPr>
            <a:r>
              <a:rPr lang="en"/>
              <a:t>Scheduling Queues </a:t>
            </a:r>
            <a:endParaRPr/>
          </a:p>
          <a:p>
            <a:pPr indent="-317500" lvl="1" marL="914400" rtl="0" algn="l">
              <a:spcBef>
                <a:spcPts val="0"/>
              </a:spcBef>
              <a:spcAft>
                <a:spcPts val="0"/>
              </a:spcAft>
              <a:buSzPts val="1400"/>
              <a:buChar char="-"/>
            </a:pPr>
            <a:r>
              <a:rPr lang="en"/>
              <a:t>job queue, ready queue, device queue.</a:t>
            </a:r>
            <a:endParaRPr/>
          </a:p>
          <a:p>
            <a:pPr indent="-342900" lvl="0" marL="457200" rtl="0" algn="l">
              <a:spcBef>
                <a:spcPts val="0"/>
              </a:spcBef>
              <a:spcAft>
                <a:spcPts val="0"/>
              </a:spcAft>
              <a:buSzPts val="1800"/>
              <a:buChar char="-"/>
            </a:pPr>
            <a:r>
              <a:rPr lang="en"/>
              <a:t>Schedulers</a:t>
            </a:r>
            <a:endParaRPr/>
          </a:p>
          <a:p>
            <a:pPr indent="-317500" lvl="1" marL="914400" rtl="0" algn="l">
              <a:spcBef>
                <a:spcPts val="0"/>
              </a:spcBef>
              <a:spcAft>
                <a:spcPts val="0"/>
              </a:spcAft>
              <a:buSzPts val="1400"/>
              <a:buChar char="-"/>
            </a:pPr>
            <a:r>
              <a:rPr lang="en"/>
              <a:t>The long-term scheduler, or job scheduler, selects processes from this pool and loads them into memory for execution.</a:t>
            </a:r>
            <a:endParaRPr/>
          </a:p>
          <a:p>
            <a:pPr indent="-317500" lvl="1" marL="914400" rtl="0" algn="l">
              <a:spcBef>
                <a:spcPts val="0"/>
              </a:spcBef>
              <a:spcAft>
                <a:spcPts val="0"/>
              </a:spcAft>
              <a:buSzPts val="1400"/>
              <a:buChar char="-"/>
            </a:pPr>
            <a:r>
              <a:rPr lang="en"/>
              <a:t>The short-term scheduler, or CPU scheduler, selects from among the processes that are ready to execute and allocates the CPU to one of them.</a:t>
            </a:r>
            <a:endParaRPr/>
          </a:p>
          <a:p>
            <a:pPr indent="-342900" lvl="0" marL="457200" rtl="0" algn="l">
              <a:spcBef>
                <a:spcPts val="0"/>
              </a:spcBef>
              <a:spcAft>
                <a:spcPts val="0"/>
              </a:spcAft>
              <a:buSzPts val="1800"/>
              <a:buChar char="-"/>
            </a:pPr>
            <a:r>
              <a:rPr lang="en"/>
              <a:t>Context Switch </a:t>
            </a:r>
            <a:endParaRPr/>
          </a:p>
          <a:p>
            <a:pPr indent="0" lvl="0" marL="0" rtl="0" algn="l">
              <a:spcBef>
                <a:spcPts val="1200"/>
              </a:spcBef>
              <a:spcAft>
                <a:spcPts val="1200"/>
              </a:spcAft>
              <a:buNone/>
            </a:pPr>
            <a:r>
              <a:t/>
            </a:r>
            <a:endParaRPr/>
          </a:p>
        </p:txBody>
      </p:sp>
      <p:pic>
        <p:nvPicPr>
          <p:cNvPr id="94" name="Google Shape;94;p19" title="Screenshot 2025-09-25 at 7.57.52 AM.png"/>
          <p:cNvPicPr preferRelativeResize="0"/>
          <p:nvPr/>
        </p:nvPicPr>
        <p:blipFill>
          <a:blip r:embed="rId3">
            <a:alphaModFix/>
          </a:blip>
          <a:stretch>
            <a:fillRect/>
          </a:stretch>
        </p:blipFill>
        <p:spPr>
          <a:xfrm>
            <a:off x="4835625" y="1264875"/>
            <a:ext cx="4128901" cy="268971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Process creation</a:t>
            </a:r>
            <a:endParaRPr/>
          </a:p>
        </p:txBody>
      </p:sp>
      <p:sp>
        <p:nvSpPr>
          <p:cNvPr id="100" name="Google Shape;100;p20"/>
          <p:cNvSpPr txBox="1"/>
          <p:nvPr>
            <p:ph idx="1" type="body"/>
          </p:nvPr>
        </p:nvSpPr>
        <p:spPr>
          <a:xfrm>
            <a:off x="311700" y="1152475"/>
            <a:ext cx="49998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When a process creates a new process, two possibilities exist in terms of execution:</a:t>
            </a:r>
            <a:endParaRPr/>
          </a:p>
          <a:p>
            <a:pPr indent="-342900" lvl="0" marL="457200" rtl="0" algn="l">
              <a:spcBef>
                <a:spcPts val="1200"/>
              </a:spcBef>
              <a:spcAft>
                <a:spcPts val="0"/>
              </a:spcAft>
              <a:buSzPts val="1800"/>
              <a:buChar char="-"/>
            </a:pPr>
            <a:r>
              <a:rPr lang="en"/>
              <a:t>The parent continues to execute concurrently with its children.</a:t>
            </a:r>
            <a:endParaRPr/>
          </a:p>
          <a:p>
            <a:pPr indent="-342900" lvl="0" marL="457200" rtl="0" algn="l">
              <a:spcBef>
                <a:spcPts val="0"/>
              </a:spcBef>
              <a:spcAft>
                <a:spcPts val="0"/>
              </a:spcAft>
              <a:buSzPts val="1800"/>
              <a:buChar char="-"/>
            </a:pPr>
            <a:r>
              <a:rPr lang="en"/>
              <a:t>The parent waits until some or all of its children have terminated.</a:t>
            </a:r>
            <a:endParaRPr/>
          </a:p>
        </p:txBody>
      </p:sp>
      <p:pic>
        <p:nvPicPr>
          <p:cNvPr id="101" name="Google Shape;101;p20" title="Screenshot 2025-09-27 at 4.54.45 AM.png"/>
          <p:cNvPicPr preferRelativeResize="0"/>
          <p:nvPr/>
        </p:nvPicPr>
        <p:blipFill>
          <a:blip r:embed="rId3">
            <a:alphaModFix/>
          </a:blip>
          <a:stretch>
            <a:fillRect/>
          </a:stretch>
        </p:blipFill>
        <p:spPr>
          <a:xfrm>
            <a:off x="5463900" y="1170125"/>
            <a:ext cx="3527699" cy="3228087"/>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en"/>
              <a:t>Process creation</a:t>
            </a:r>
            <a:endParaRPr/>
          </a:p>
        </p:txBody>
      </p:sp>
      <p:sp>
        <p:nvSpPr>
          <p:cNvPr id="107" name="Google Shape;107;p21"/>
          <p:cNvSpPr txBox="1"/>
          <p:nvPr>
            <p:ph idx="1" type="body"/>
          </p:nvPr>
        </p:nvSpPr>
        <p:spPr>
          <a:xfrm>
            <a:off x="311700" y="1152475"/>
            <a:ext cx="65604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There are also two possibilities in terms of the address space of the new process: </a:t>
            </a:r>
            <a:endParaRPr/>
          </a:p>
          <a:p>
            <a:pPr indent="-342900" lvl="0" marL="457200" rtl="0" algn="l">
              <a:spcBef>
                <a:spcPts val="1200"/>
              </a:spcBef>
              <a:spcAft>
                <a:spcPts val="0"/>
              </a:spcAft>
              <a:buSzPts val="1800"/>
              <a:buChar char="-"/>
            </a:pPr>
            <a:r>
              <a:rPr lang="en"/>
              <a:t>The child process is a duplicate of the parent process (it has the same program and data as the parent). </a:t>
            </a:r>
            <a:endParaRPr/>
          </a:p>
          <a:p>
            <a:pPr indent="-342900" lvl="0" marL="457200" rtl="0" algn="l">
              <a:spcBef>
                <a:spcPts val="0"/>
              </a:spcBef>
              <a:spcAft>
                <a:spcPts val="0"/>
              </a:spcAft>
              <a:buSzPts val="1800"/>
              <a:buChar char="-"/>
            </a:pPr>
            <a:r>
              <a:rPr lang="en"/>
              <a:t>The child process has a new program loaded into it.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13" name="Google Shape;113;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14" name="Google Shape;114;p22" title="Screenshot 2025-09-27 at 4.56.28 AM.png"/>
          <p:cNvPicPr preferRelativeResize="0"/>
          <p:nvPr/>
        </p:nvPicPr>
        <p:blipFill>
          <a:blip r:embed="rId3">
            <a:alphaModFix/>
          </a:blip>
          <a:stretch>
            <a:fillRect/>
          </a:stretch>
        </p:blipFill>
        <p:spPr>
          <a:xfrm>
            <a:off x="360700" y="508775"/>
            <a:ext cx="4071076" cy="4125950"/>
          </a:xfrm>
          <a:prstGeom prst="rect">
            <a:avLst/>
          </a:prstGeom>
          <a:noFill/>
          <a:ln>
            <a:noFill/>
          </a:ln>
        </p:spPr>
      </p:pic>
      <p:pic>
        <p:nvPicPr>
          <p:cNvPr id="115" name="Google Shape;115;p22" title="Screenshot 2025-09-27 at 4.57.19 AM.png"/>
          <p:cNvPicPr preferRelativeResize="0"/>
          <p:nvPr/>
        </p:nvPicPr>
        <p:blipFill>
          <a:blip r:embed="rId4">
            <a:alphaModFix/>
          </a:blip>
          <a:stretch>
            <a:fillRect/>
          </a:stretch>
        </p:blipFill>
        <p:spPr>
          <a:xfrm>
            <a:off x="4730625" y="1556226"/>
            <a:ext cx="3957524" cy="15438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21" name="Google Shape;121;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 parent may terminate the execution of one of its children for a variety of reasons, such as these: </a:t>
            </a:r>
            <a:endParaRPr/>
          </a:p>
          <a:p>
            <a:pPr indent="-342900" lvl="0" marL="457200" rtl="0" algn="l">
              <a:spcBef>
                <a:spcPts val="1200"/>
              </a:spcBef>
              <a:spcAft>
                <a:spcPts val="0"/>
              </a:spcAft>
              <a:buSzPts val="1800"/>
              <a:buChar char="-"/>
            </a:pPr>
            <a:r>
              <a:rPr lang="en"/>
              <a:t>The child has exceeded its usage of some of the resources that it has been allocated. (To determine whether this has occurred, the parent must have a mechanism to inspect the state of its children.) </a:t>
            </a:r>
            <a:endParaRPr/>
          </a:p>
          <a:p>
            <a:pPr indent="-342900" lvl="0" marL="457200" rtl="0" algn="l">
              <a:spcBef>
                <a:spcPts val="0"/>
              </a:spcBef>
              <a:spcAft>
                <a:spcPts val="0"/>
              </a:spcAft>
              <a:buSzPts val="1800"/>
              <a:buChar char="-"/>
            </a:pPr>
            <a:r>
              <a:rPr lang="en"/>
              <a:t>The task assigned to the child is no longer required. </a:t>
            </a:r>
            <a:endParaRPr/>
          </a:p>
          <a:p>
            <a:pPr indent="-342900" lvl="0" marL="457200" rtl="0" algn="l">
              <a:spcBef>
                <a:spcPts val="0"/>
              </a:spcBef>
              <a:spcAft>
                <a:spcPts val="0"/>
              </a:spcAft>
              <a:buSzPts val="1800"/>
              <a:buChar char="-"/>
            </a:pPr>
            <a:r>
              <a:rPr lang="en"/>
              <a:t>The parent is exiting, and the operating system does not allow a child to continue if its parent terminates.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Interprocess Communication</a:t>
            </a:r>
            <a:endParaRPr/>
          </a:p>
        </p:txBody>
      </p:sp>
      <p:sp>
        <p:nvSpPr>
          <p:cNvPr id="127" name="Google Shape;127;p2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92500"/>
          </a:bodyPr>
          <a:lstStyle/>
          <a:p>
            <a:pPr indent="0" lvl="0" marL="0" rtl="0" algn="l">
              <a:spcBef>
                <a:spcPts val="0"/>
              </a:spcBef>
              <a:spcAft>
                <a:spcPts val="0"/>
              </a:spcAft>
              <a:buNone/>
            </a:pPr>
            <a:r>
              <a:rPr lang="en"/>
              <a:t>There are several reasons for providing an environment that allows process cooperation: </a:t>
            </a:r>
            <a:endParaRPr/>
          </a:p>
          <a:p>
            <a:pPr indent="-334327" lvl="0" marL="457200" rtl="0" algn="l">
              <a:spcBef>
                <a:spcPts val="1200"/>
              </a:spcBef>
              <a:spcAft>
                <a:spcPts val="0"/>
              </a:spcAft>
              <a:buSzPct val="100000"/>
              <a:buChar char="-"/>
            </a:pPr>
            <a:r>
              <a:rPr b="1" lang="en"/>
              <a:t>Information sharing.</a:t>
            </a:r>
            <a:r>
              <a:rPr lang="en"/>
              <a:t> Since several users may be interested in the same piece of information (for instance, a shared file), we must provide an environment to allow concurrent access to such information. </a:t>
            </a:r>
            <a:endParaRPr/>
          </a:p>
          <a:p>
            <a:pPr indent="-334327" lvl="0" marL="457200" rtl="0" algn="l">
              <a:spcBef>
                <a:spcPts val="0"/>
              </a:spcBef>
              <a:spcAft>
                <a:spcPts val="0"/>
              </a:spcAft>
              <a:buSzPct val="100000"/>
              <a:buChar char="-"/>
            </a:pPr>
            <a:r>
              <a:rPr b="1" lang="en"/>
              <a:t>Computation speedup.</a:t>
            </a:r>
            <a:r>
              <a:rPr lang="en"/>
              <a:t> If we want a particular task to run faster, we must break it into subtasks, each of which will be executing in parallel with the others.</a:t>
            </a:r>
            <a:endParaRPr/>
          </a:p>
          <a:p>
            <a:pPr indent="-334327" lvl="0" marL="457200" rtl="0" algn="l">
              <a:spcBef>
                <a:spcPts val="0"/>
              </a:spcBef>
              <a:spcAft>
                <a:spcPts val="0"/>
              </a:spcAft>
              <a:buSzPct val="100000"/>
              <a:buChar char="-"/>
            </a:pPr>
            <a:r>
              <a:rPr b="1" lang="en"/>
              <a:t>Modularity.</a:t>
            </a:r>
            <a:r>
              <a:rPr lang="en"/>
              <a:t> We may want to construct the system in a modular fashion, dividing the system functions into separate processes or threads</a:t>
            </a:r>
            <a:endParaRPr/>
          </a:p>
          <a:p>
            <a:pPr indent="-334327" lvl="0" marL="457200" rtl="0" algn="l">
              <a:spcBef>
                <a:spcPts val="0"/>
              </a:spcBef>
              <a:spcAft>
                <a:spcPts val="0"/>
              </a:spcAft>
              <a:buSzPct val="100000"/>
              <a:buChar char="-"/>
            </a:pPr>
            <a:r>
              <a:rPr b="1" lang="en"/>
              <a:t>Convenience.</a:t>
            </a:r>
            <a:r>
              <a:rPr lang="en"/>
              <a:t> Even an individual user may work on many tasks at the same time. For instance, a user may be editing, printing, and compiling in parallel.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interprocess communication (IPC)</a:t>
            </a:r>
            <a:endParaRPr/>
          </a:p>
        </p:txBody>
      </p:sp>
      <p:sp>
        <p:nvSpPr>
          <p:cNvPr id="133" name="Google Shape;133;p25"/>
          <p:cNvSpPr txBox="1"/>
          <p:nvPr>
            <p:ph idx="1" type="body"/>
          </p:nvPr>
        </p:nvSpPr>
        <p:spPr>
          <a:xfrm>
            <a:off x="311700" y="1152475"/>
            <a:ext cx="5216700" cy="3844200"/>
          </a:xfrm>
          <a:prstGeom prst="rect">
            <a:avLst/>
          </a:prstGeom>
        </p:spPr>
        <p:txBody>
          <a:bodyPr anchorCtr="0" anchor="t" bIns="91425" lIns="91425" spcFirstLastPara="1" rIns="91425" wrap="square" tIns="91425">
            <a:normAutofit fontScale="77500" lnSpcReduction="20000"/>
          </a:bodyPr>
          <a:lstStyle/>
          <a:p>
            <a:pPr indent="0" lvl="0" marL="0" rtl="0" algn="l">
              <a:spcBef>
                <a:spcPts val="0"/>
              </a:spcBef>
              <a:spcAft>
                <a:spcPts val="0"/>
              </a:spcAft>
              <a:buNone/>
            </a:pPr>
            <a:r>
              <a:rPr lang="en"/>
              <a:t>Cooperating processes require an interprocess communication (IPC) mechanism that will allow them to exchange data and information. </a:t>
            </a:r>
            <a:endParaRPr/>
          </a:p>
          <a:p>
            <a:pPr indent="-317182" lvl="0" marL="457200" rtl="0" algn="l">
              <a:spcBef>
                <a:spcPts val="1200"/>
              </a:spcBef>
              <a:spcAft>
                <a:spcPts val="0"/>
              </a:spcAft>
              <a:buSzPct val="100000"/>
              <a:buChar char="-"/>
            </a:pPr>
            <a:r>
              <a:rPr lang="en"/>
              <a:t>shared memory</a:t>
            </a:r>
            <a:endParaRPr/>
          </a:p>
          <a:p>
            <a:pPr indent="-297497" lvl="1" marL="914400" rtl="0" algn="l">
              <a:spcBef>
                <a:spcPts val="0"/>
              </a:spcBef>
              <a:spcAft>
                <a:spcPts val="0"/>
              </a:spcAft>
              <a:buSzPct val="100000"/>
              <a:buChar char="-"/>
            </a:pPr>
            <a:r>
              <a:rPr lang="en"/>
              <a:t>a region of memory that is shared by cooperating processes is established. Processes can then exchange information by reading and writing data to the shared region. </a:t>
            </a:r>
            <a:endParaRPr/>
          </a:p>
          <a:p>
            <a:pPr indent="-297497" lvl="1" marL="914400" rtl="0" algn="l">
              <a:spcBef>
                <a:spcPts val="0"/>
              </a:spcBef>
              <a:spcAft>
                <a:spcPts val="0"/>
              </a:spcAft>
              <a:buSzPct val="100000"/>
              <a:buChar char="-"/>
            </a:pPr>
            <a:r>
              <a:rPr lang="en"/>
              <a:t>Shared memory is faster than message passing</a:t>
            </a:r>
            <a:endParaRPr/>
          </a:p>
          <a:p>
            <a:pPr indent="-297497" lvl="1" marL="914400" rtl="0" algn="l">
              <a:spcBef>
                <a:spcPts val="0"/>
              </a:spcBef>
              <a:spcAft>
                <a:spcPts val="0"/>
              </a:spcAft>
              <a:buSzPct val="100000"/>
              <a:buChar char="-"/>
            </a:pPr>
            <a:r>
              <a:rPr lang="en"/>
              <a:t>system calls are required only to establish shared-memory regions. Once shared memory is established, all accesses are treated as routine memory accesses, and no assistance from the kernel is required. </a:t>
            </a:r>
            <a:endParaRPr/>
          </a:p>
          <a:p>
            <a:pPr indent="-317182" lvl="0" marL="457200" rtl="0" algn="l">
              <a:spcBef>
                <a:spcPts val="0"/>
              </a:spcBef>
              <a:spcAft>
                <a:spcPts val="0"/>
              </a:spcAft>
              <a:buSzPct val="100000"/>
              <a:buChar char="-"/>
            </a:pPr>
            <a:r>
              <a:rPr lang="en"/>
              <a:t>message passing</a:t>
            </a:r>
            <a:endParaRPr/>
          </a:p>
          <a:p>
            <a:pPr indent="-297497" lvl="1" marL="914400" rtl="0" algn="l">
              <a:spcBef>
                <a:spcPts val="0"/>
              </a:spcBef>
              <a:spcAft>
                <a:spcPts val="0"/>
              </a:spcAft>
              <a:buSzPct val="100000"/>
              <a:buChar char="-"/>
            </a:pPr>
            <a:r>
              <a:rPr lang="en"/>
              <a:t>communication takes place by means of messages exchanged between the cooperating processes. </a:t>
            </a:r>
            <a:endParaRPr/>
          </a:p>
          <a:p>
            <a:pPr indent="-297497" lvl="1" marL="914400" rtl="0" algn="l">
              <a:spcBef>
                <a:spcPts val="0"/>
              </a:spcBef>
              <a:spcAft>
                <a:spcPts val="0"/>
              </a:spcAft>
              <a:buSzPct val="100000"/>
              <a:buChar char="-"/>
            </a:pPr>
            <a:r>
              <a:rPr lang="en"/>
              <a:t>useful for exchanging smaller amount of data, because no conflicts need be avoided</a:t>
            </a:r>
            <a:endParaRPr/>
          </a:p>
          <a:p>
            <a:pPr indent="-297497" lvl="1" marL="914400" rtl="0" algn="l">
              <a:spcBef>
                <a:spcPts val="0"/>
              </a:spcBef>
              <a:spcAft>
                <a:spcPts val="0"/>
              </a:spcAft>
              <a:buSzPct val="100000"/>
              <a:buChar char="-"/>
            </a:pPr>
            <a:r>
              <a:rPr lang="en"/>
              <a:t>Message passing systems are typically implemented using system calls and thus require the more time-consuming task of kernel intervention. </a:t>
            </a:r>
            <a:endParaRPr/>
          </a:p>
        </p:txBody>
      </p:sp>
      <p:pic>
        <p:nvPicPr>
          <p:cNvPr id="134" name="Google Shape;134;p25" title="Screenshot 2025-09-27 at 5.13.26 AM.png"/>
          <p:cNvPicPr preferRelativeResize="0"/>
          <p:nvPr/>
        </p:nvPicPr>
        <p:blipFill>
          <a:blip r:embed="rId3">
            <a:alphaModFix/>
          </a:blip>
          <a:stretch>
            <a:fillRect/>
          </a:stretch>
        </p:blipFill>
        <p:spPr>
          <a:xfrm>
            <a:off x="5666825" y="1548000"/>
            <a:ext cx="3310801" cy="2429412"/>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producer-consumer problem</a:t>
            </a:r>
            <a:endParaRPr/>
          </a:p>
        </p:txBody>
      </p:sp>
      <p:sp>
        <p:nvSpPr>
          <p:cNvPr id="140" name="Google Shape;140;p2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342900" lvl="0" marL="457200" rtl="0" algn="l">
              <a:spcBef>
                <a:spcPts val="0"/>
              </a:spcBef>
              <a:spcAft>
                <a:spcPts val="0"/>
              </a:spcAft>
              <a:buSzPts val="1800"/>
              <a:buChar char="-"/>
            </a:pPr>
            <a:r>
              <a:rPr lang="en"/>
              <a:t>A producer process produces information that is consumed by a consumer process. </a:t>
            </a:r>
            <a:endParaRPr/>
          </a:p>
          <a:p>
            <a:pPr indent="-342900" lvl="0" marL="457200" rtl="0" algn="l">
              <a:spcBef>
                <a:spcPts val="0"/>
              </a:spcBef>
              <a:spcAft>
                <a:spcPts val="0"/>
              </a:spcAft>
              <a:buSzPts val="1800"/>
              <a:buChar char="-"/>
            </a:pPr>
            <a:r>
              <a:rPr lang="en"/>
              <a:t>Consumer is trying to access information that is not produced by the producer yet</a:t>
            </a:r>
            <a:endParaRPr/>
          </a:p>
          <a:p>
            <a:pPr indent="-342900" lvl="0" marL="457200" rtl="0" algn="l">
              <a:spcBef>
                <a:spcPts val="0"/>
              </a:spcBef>
              <a:spcAft>
                <a:spcPts val="0"/>
              </a:spcAft>
              <a:buSzPts val="1800"/>
              <a:buChar char="-"/>
            </a:pPr>
            <a:r>
              <a:rPr lang="en"/>
              <a:t>One solution to the producer-consumer problem uses shared memory. </a:t>
            </a:r>
            <a:endParaRPr/>
          </a:p>
          <a:p>
            <a:pPr indent="-342900" lvl="0" marL="457200" rtl="0" algn="l">
              <a:spcBef>
                <a:spcPts val="0"/>
              </a:spcBef>
              <a:spcAft>
                <a:spcPts val="0"/>
              </a:spcAft>
              <a:buSzPts val="1800"/>
              <a:buChar char="-"/>
            </a:pPr>
            <a:r>
              <a:rPr lang="en"/>
              <a:t>To allow producer and consumer processes to run concurrently, we must have available a buffer of items that can be filled by the producer and emptied by the consumer. </a:t>
            </a:r>
            <a:endParaRPr/>
          </a:p>
          <a:p>
            <a:pPr indent="-342900" lvl="0" marL="457200" rtl="0" algn="l">
              <a:spcBef>
                <a:spcPts val="0"/>
              </a:spcBef>
              <a:spcAft>
                <a:spcPts val="0"/>
              </a:spcAft>
              <a:buSzPts val="1800"/>
              <a:buChar char="-"/>
            </a:pPr>
            <a:r>
              <a:rPr lang="en"/>
              <a:t>Two types of buffers can be used.</a:t>
            </a:r>
            <a:endParaRPr/>
          </a:p>
          <a:p>
            <a:pPr indent="-317500" lvl="1" marL="914400" rtl="0" algn="l">
              <a:spcBef>
                <a:spcPts val="0"/>
              </a:spcBef>
              <a:spcAft>
                <a:spcPts val="0"/>
              </a:spcAft>
              <a:buSzPts val="1400"/>
              <a:buChar char="-"/>
            </a:pPr>
            <a:r>
              <a:rPr lang="en"/>
              <a:t>Unbounded buffer: places no practical limit on the size of the buffer. The consumer may have to wait for new items, but the producer can always produce new items.</a:t>
            </a:r>
            <a:endParaRPr/>
          </a:p>
          <a:p>
            <a:pPr indent="-317500" lvl="1" marL="914400" rtl="0" algn="l">
              <a:spcBef>
                <a:spcPts val="0"/>
              </a:spcBef>
              <a:spcAft>
                <a:spcPts val="0"/>
              </a:spcAft>
              <a:buSzPts val="1400"/>
              <a:buChar char="-"/>
            </a:pPr>
            <a:r>
              <a:rPr lang="en"/>
              <a:t>Bounded buffer: assumes a fixed buffer size. In this case, the consumer must wait if the buffer is empty, and the producer must wait if the buffer is full.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Message-Passing Systems </a:t>
            </a:r>
            <a:endParaRPr/>
          </a:p>
        </p:txBody>
      </p:sp>
      <p:sp>
        <p:nvSpPr>
          <p:cNvPr id="146" name="Google Shape;146;p27"/>
          <p:cNvSpPr txBox="1"/>
          <p:nvPr>
            <p:ph idx="1" type="body"/>
          </p:nvPr>
        </p:nvSpPr>
        <p:spPr>
          <a:xfrm>
            <a:off x="311700" y="1152475"/>
            <a:ext cx="8520600" cy="39072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A message-passing facility provides at least two operations: send(message) and receive(message).</a:t>
            </a:r>
            <a:endParaRPr/>
          </a:p>
          <a:p>
            <a:pPr indent="-342900" lvl="0" marL="457200" rtl="0" algn="l">
              <a:spcBef>
                <a:spcPts val="0"/>
              </a:spcBef>
              <a:spcAft>
                <a:spcPts val="0"/>
              </a:spcAft>
              <a:buSzPts val="1800"/>
              <a:buChar char="-"/>
            </a:pPr>
            <a:r>
              <a:rPr lang="en"/>
              <a:t>Here are several methods for logically implementing a link and the send() and receive() operations: </a:t>
            </a:r>
            <a:endParaRPr/>
          </a:p>
          <a:p>
            <a:pPr indent="-317500" lvl="1" marL="914400" rtl="0" algn="l">
              <a:spcBef>
                <a:spcPts val="0"/>
              </a:spcBef>
              <a:spcAft>
                <a:spcPts val="0"/>
              </a:spcAft>
              <a:buSzPts val="1400"/>
              <a:buChar char="-"/>
            </a:pPr>
            <a:r>
              <a:rPr lang="en"/>
              <a:t>Direct or indirect communication </a:t>
            </a:r>
            <a:endParaRPr/>
          </a:p>
          <a:p>
            <a:pPr indent="-317500" lvl="2" marL="1371600" rtl="0" algn="l">
              <a:spcBef>
                <a:spcPts val="0"/>
              </a:spcBef>
              <a:spcAft>
                <a:spcPts val="0"/>
              </a:spcAft>
              <a:buSzPts val="1400"/>
              <a:buChar char="-"/>
            </a:pPr>
            <a:r>
              <a:rPr lang="en"/>
              <a:t>Direct or </a:t>
            </a:r>
            <a:endParaRPr/>
          </a:p>
          <a:p>
            <a:pPr indent="-317500" lvl="2" marL="1371600" rtl="0" algn="l">
              <a:spcBef>
                <a:spcPts val="0"/>
              </a:spcBef>
              <a:spcAft>
                <a:spcPts val="0"/>
              </a:spcAft>
              <a:buSzPts val="1400"/>
              <a:buChar char="-"/>
            </a:pPr>
            <a:r>
              <a:rPr lang="en"/>
              <a:t>via a mailbox</a:t>
            </a:r>
            <a:endParaRPr/>
          </a:p>
          <a:p>
            <a:pPr indent="-317500" lvl="1" marL="914400" rtl="0" algn="l">
              <a:spcBef>
                <a:spcPts val="0"/>
              </a:spcBef>
              <a:spcAft>
                <a:spcPts val="0"/>
              </a:spcAft>
              <a:buSzPts val="1400"/>
              <a:buChar char="-"/>
            </a:pPr>
            <a:r>
              <a:rPr lang="en"/>
              <a:t>Synchronous or asynchronous communication </a:t>
            </a:r>
            <a:endParaRPr/>
          </a:p>
          <a:p>
            <a:pPr indent="-317500" lvl="2" marL="1371600" rtl="0" algn="l">
              <a:spcBef>
                <a:spcPts val="0"/>
              </a:spcBef>
              <a:spcAft>
                <a:spcPts val="0"/>
              </a:spcAft>
              <a:buSzPts val="1400"/>
              <a:buChar char="-"/>
            </a:pPr>
            <a:r>
              <a:rPr lang="en"/>
              <a:t>Process is blocked until the message is received or </a:t>
            </a:r>
            <a:endParaRPr/>
          </a:p>
          <a:p>
            <a:pPr indent="-317500" lvl="2" marL="1371600" rtl="0" algn="l">
              <a:spcBef>
                <a:spcPts val="0"/>
              </a:spcBef>
              <a:spcAft>
                <a:spcPts val="0"/>
              </a:spcAft>
              <a:buSzPts val="1400"/>
              <a:buChar char="-"/>
            </a:pPr>
            <a:r>
              <a:rPr lang="en"/>
              <a:t>process sends the message and resumes operation.</a:t>
            </a:r>
            <a:endParaRPr/>
          </a:p>
          <a:p>
            <a:pPr indent="-317500" lvl="1" marL="914400" rtl="0" algn="l">
              <a:spcBef>
                <a:spcPts val="0"/>
              </a:spcBef>
              <a:spcAft>
                <a:spcPts val="0"/>
              </a:spcAft>
              <a:buSzPts val="1400"/>
              <a:buChar char="-"/>
            </a:pPr>
            <a:r>
              <a:rPr lang="en"/>
              <a:t>Automatic or explicit buffering</a:t>
            </a:r>
            <a:endParaRPr/>
          </a:p>
          <a:p>
            <a:pPr indent="-317500" lvl="2" marL="1371600" rtl="0" algn="l">
              <a:spcBef>
                <a:spcPts val="0"/>
              </a:spcBef>
              <a:spcAft>
                <a:spcPts val="0"/>
              </a:spcAft>
              <a:buSzPts val="1400"/>
              <a:buChar char="-"/>
            </a:pPr>
            <a:r>
              <a:rPr lang="en"/>
              <a:t>Zero capacity. </a:t>
            </a:r>
            <a:endParaRPr/>
          </a:p>
          <a:p>
            <a:pPr indent="-317500" lvl="2" marL="1371600" rtl="0" algn="l">
              <a:spcBef>
                <a:spcPts val="0"/>
              </a:spcBef>
              <a:spcAft>
                <a:spcPts val="0"/>
              </a:spcAft>
              <a:buSzPts val="1400"/>
              <a:buChar char="-"/>
            </a:pPr>
            <a:r>
              <a:rPr lang="en"/>
              <a:t>Bounded capacity. </a:t>
            </a:r>
            <a:endParaRPr/>
          </a:p>
          <a:p>
            <a:pPr indent="-317500" lvl="2" marL="1371600" rtl="0" algn="l">
              <a:spcBef>
                <a:spcPts val="0"/>
              </a:spcBef>
              <a:spcAft>
                <a:spcPts val="0"/>
              </a:spcAft>
              <a:buSzPts val="1400"/>
              <a:buChar char="-"/>
            </a:pPr>
            <a:r>
              <a:rPr lang="en"/>
              <a:t>Unbounded capacity.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Multithreaded  Programming</a:t>
            </a:r>
            <a:endParaRPr/>
          </a:p>
        </p:txBody>
      </p:sp>
      <p:sp>
        <p:nvSpPr>
          <p:cNvPr id="152" name="Google Shape;152;p28"/>
          <p:cNvSpPr txBox="1"/>
          <p:nvPr>
            <p:ph idx="1" type="body"/>
          </p:nvPr>
        </p:nvSpPr>
        <p:spPr>
          <a:xfrm>
            <a:off x="311700" y="1152475"/>
            <a:ext cx="3754200" cy="34164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n"/>
              <a:t>Thread</a:t>
            </a:r>
            <a:endParaRPr/>
          </a:p>
          <a:p>
            <a:pPr indent="-334327" lvl="0" marL="457200" rtl="0" algn="l">
              <a:spcBef>
                <a:spcPts val="1200"/>
              </a:spcBef>
              <a:spcAft>
                <a:spcPts val="0"/>
              </a:spcAft>
              <a:buSzPct val="100000"/>
              <a:buChar char="-"/>
            </a:pPr>
            <a:r>
              <a:rPr lang="en"/>
              <a:t>For light weighted tasks than process</a:t>
            </a:r>
            <a:endParaRPr/>
          </a:p>
          <a:p>
            <a:pPr indent="-334327" lvl="0" marL="457200" rtl="0" algn="l">
              <a:spcBef>
                <a:spcPts val="0"/>
              </a:spcBef>
              <a:spcAft>
                <a:spcPts val="0"/>
              </a:spcAft>
              <a:buSzPct val="100000"/>
              <a:buChar char="-"/>
            </a:pPr>
            <a:r>
              <a:rPr lang="en"/>
              <a:t>No system call involved</a:t>
            </a:r>
            <a:endParaRPr/>
          </a:p>
          <a:p>
            <a:pPr indent="-334327" lvl="0" marL="457200" rtl="0" algn="l">
              <a:spcBef>
                <a:spcPts val="0"/>
              </a:spcBef>
              <a:spcAft>
                <a:spcPts val="0"/>
              </a:spcAft>
              <a:buSzPct val="100000"/>
              <a:buChar char="-"/>
            </a:pPr>
            <a:r>
              <a:rPr lang="en"/>
              <a:t>All user level threads treated as single task for OS</a:t>
            </a:r>
            <a:endParaRPr/>
          </a:p>
          <a:p>
            <a:pPr indent="-334327" lvl="0" marL="457200" rtl="0" algn="l">
              <a:spcBef>
                <a:spcPts val="0"/>
              </a:spcBef>
              <a:spcAft>
                <a:spcPts val="0"/>
              </a:spcAft>
              <a:buSzPct val="100000"/>
              <a:buChar char="-"/>
            </a:pPr>
            <a:r>
              <a:rPr lang="en"/>
              <a:t>Share same copy of code and data</a:t>
            </a:r>
            <a:endParaRPr/>
          </a:p>
          <a:p>
            <a:pPr indent="-334327" lvl="0" marL="457200" rtl="0" algn="l">
              <a:spcBef>
                <a:spcPts val="0"/>
              </a:spcBef>
              <a:spcAft>
                <a:spcPts val="0"/>
              </a:spcAft>
              <a:buSzPct val="100000"/>
              <a:buChar char="-"/>
            </a:pPr>
            <a:r>
              <a:rPr lang="en"/>
              <a:t>Context switching is faster</a:t>
            </a:r>
            <a:endParaRPr/>
          </a:p>
          <a:p>
            <a:pPr indent="-334327" lvl="0" marL="457200" rtl="0" algn="l">
              <a:spcBef>
                <a:spcPts val="0"/>
              </a:spcBef>
              <a:spcAft>
                <a:spcPts val="0"/>
              </a:spcAft>
              <a:buSzPct val="100000"/>
              <a:buChar char="-"/>
            </a:pPr>
            <a:r>
              <a:rPr lang="en"/>
              <a:t>Thread are interdependent</a:t>
            </a:r>
            <a:endParaRPr/>
          </a:p>
          <a:p>
            <a:pPr indent="-334327" lvl="0" marL="457200" rtl="0" algn="l">
              <a:spcBef>
                <a:spcPts val="0"/>
              </a:spcBef>
              <a:spcAft>
                <a:spcPts val="0"/>
              </a:spcAft>
              <a:buSzPct val="100000"/>
              <a:buChar char="-"/>
            </a:pPr>
            <a:r>
              <a:rPr lang="en"/>
              <a:t>Blocking a thread will block the entire process</a:t>
            </a:r>
            <a:endParaRPr/>
          </a:p>
        </p:txBody>
      </p:sp>
      <p:pic>
        <p:nvPicPr>
          <p:cNvPr id="153" name="Google Shape;153;p28" title="Screenshot 2025-09-27 at 5.31.48 AM.png"/>
          <p:cNvPicPr preferRelativeResize="0"/>
          <p:nvPr/>
        </p:nvPicPr>
        <p:blipFill>
          <a:blip r:embed="rId3">
            <a:alphaModFix/>
          </a:blip>
          <a:stretch>
            <a:fillRect/>
          </a:stretch>
        </p:blipFill>
        <p:spPr>
          <a:xfrm>
            <a:off x="4114800" y="1152475"/>
            <a:ext cx="4876876" cy="363325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Benefits </a:t>
            </a:r>
            <a:endParaRPr/>
          </a:p>
        </p:txBody>
      </p:sp>
      <p:sp>
        <p:nvSpPr>
          <p:cNvPr id="159" name="Google Shape;159;p2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Char char="-"/>
            </a:pPr>
            <a:r>
              <a:rPr b="1" lang="en"/>
              <a:t>Responsiveness.</a:t>
            </a:r>
            <a:r>
              <a:rPr lang="en"/>
              <a:t> Multithreading an interactive application may allow a program to continue running even if part of it is blocked or is performing a lengthy operation, thereby increasing responsiveness to the user. </a:t>
            </a:r>
            <a:endParaRPr/>
          </a:p>
          <a:p>
            <a:pPr indent="-342900" lvl="0" marL="457200" rtl="0" algn="l">
              <a:spcBef>
                <a:spcPts val="0"/>
              </a:spcBef>
              <a:spcAft>
                <a:spcPts val="0"/>
              </a:spcAft>
              <a:buSzPts val="1800"/>
              <a:buChar char="-"/>
            </a:pPr>
            <a:r>
              <a:rPr b="1" lang="en"/>
              <a:t>Resource sharing.</a:t>
            </a:r>
            <a:r>
              <a:rPr lang="en"/>
              <a:t> Processes may only share resources through techniques such as shared memory or message passing.</a:t>
            </a:r>
            <a:endParaRPr/>
          </a:p>
          <a:p>
            <a:pPr indent="-342900" lvl="0" marL="457200" rtl="0" algn="l">
              <a:spcBef>
                <a:spcPts val="0"/>
              </a:spcBef>
              <a:spcAft>
                <a:spcPts val="0"/>
              </a:spcAft>
              <a:buSzPts val="1800"/>
              <a:buChar char="-"/>
            </a:pPr>
            <a:r>
              <a:rPr b="1" lang="en"/>
              <a:t>Economy. </a:t>
            </a:r>
            <a:r>
              <a:rPr lang="en"/>
              <a:t>Allocating memory and resources for process creation is costly. Because threads share the resources of the process to which they belong, it is more economical to create and context-switch threads. </a:t>
            </a:r>
            <a:endParaRPr/>
          </a:p>
          <a:p>
            <a:pPr indent="-342900" lvl="0" marL="457200" rtl="0" algn="l">
              <a:spcBef>
                <a:spcPts val="0"/>
              </a:spcBef>
              <a:spcAft>
                <a:spcPts val="0"/>
              </a:spcAft>
              <a:buSzPts val="1800"/>
              <a:buChar char="-"/>
            </a:pPr>
            <a:r>
              <a:rPr b="1" lang="en"/>
              <a:t>Scalability.</a:t>
            </a:r>
            <a:r>
              <a:rPr lang="en"/>
              <a:t> The benefits of multithreading can be greatly increased in a multiprocessor architecture, where threads may be running in parallel on different processors.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Multithreading models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65" name="Google Shape;165;p30"/>
          <p:cNvSpPr txBox="1"/>
          <p:nvPr>
            <p:ph idx="1" type="body"/>
          </p:nvPr>
        </p:nvSpPr>
        <p:spPr>
          <a:xfrm>
            <a:off x="311700" y="1152475"/>
            <a:ext cx="48075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Many-to-One Model</a:t>
            </a:r>
            <a:endParaRPr/>
          </a:p>
          <a:p>
            <a:pPr indent="-342900" lvl="0" marL="457200" rtl="0" algn="l">
              <a:spcBef>
                <a:spcPts val="1200"/>
              </a:spcBef>
              <a:spcAft>
                <a:spcPts val="0"/>
              </a:spcAft>
              <a:buSzPts val="1800"/>
              <a:buChar char="-"/>
            </a:pPr>
            <a:r>
              <a:rPr lang="en"/>
              <a:t>The many-to-one model maps many user-level threads to one kernel thread. </a:t>
            </a:r>
            <a:endParaRPr/>
          </a:p>
          <a:p>
            <a:pPr indent="-342900" lvl="0" marL="457200" rtl="0" algn="l">
              <a:spcBef>
                <a:spcPts val="0"/>
              </a:spcBef>
              <a:spcAft>
                <a:spcPts val="0"/>
              </a:spcAft>
              <a:buSzPts val="1800"/>
              <a:buChar char="-"/>
            </a:pPr>
            <a:r>
              <a:rPr lang="en"/>
              <a:t>but the entire process will block if a thread makes a blocking system call</a:t>
            </a:r>
            <a:endParaRPr/>
          </a:p>
          <a:p>
            <a:pPr indent="-342900" lvl="0" marL="457200" rtl="0" algn="l">
              <a:spcBef>
                <a:spcPts val="0"/>
              </a:spcBef>
              <a:spcAft>
                <a:spcPts val="0"/>
              </a:spcAft>
              <a:buSzPts val="1800"/>
              <a:buChar char="-"/>
            </a:pPr>
            <a:r>
              <a:rPr lang="en"/>
              <a:t>because only one thread can access the kernel at a time, multiple threads are unable to nm in parallel on multiprocessors.</a:t>
            </a:r>
            <a:endParaRPr/>
          </a:p>
        </p:txBody>
      </p:sp>
      <p:pic>
        <p:nvPicPr>
          <p:cNvPr id="166" name="Google Shape;166;p30" title="Screenshot 2025-09-27 at 5.47.26 AM.png"/>
          <p:cNvPicPr preferRelativeResize="0"/>
          <p:nvPr/>
        </p:nvPicPr>
        <p:blipFill>
          <a:blip r:embed="rId3">
            <a:alphaModFix/>
          </a:blip>
          <a:stretch>
            <a:fillRect/>
          </a:stretch>
        </p:blipFill>
        <p:spPr>
          <a:xfrm>
            <a:off x="5119125" y="1322625"/>
            <a:ext cx="3135150" cy="333452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en"/>
              <a:t>Multithreading models</a:t>
            </a:r>
            <a:endParaRPr/>
          </a:p>
        </p:txBody>
      </p:sp>
      <p:sp>
        <p:nvSpPr>
          <p:cNvPr id="172" name="Google Shape;172;p31"/>
          <p:cNvSpPr txBox="1"/>
          <p:nvPr>
            <p:ph idx="1" type="body"/>
          </p:nvPr>
        </p:nvSpPr>
        <p:spPr>
          <a:xfrm>
            <a:off x="311700" y="1152475"/>
            <a:ext cx="4503000" cy="3416400"/>
          </a:xfrm>
          <a:prstGeom prst="rect">
            <a:avLst/>
          </a:prstGeom>
        </p:spPr>
        <p:txBody>
          <a:bodyPr anchorCtr="0" anchor="t" bIns="91425" lIns="91425" spcFirstLastPara="1" rIns="91425" wrap="square" tIns="91425">
            <a:normAutofit fontScale="77500" lnSpcReduction="20000"/>
          </a:bodyPr>
          <a:lstStyle/>
          <a:p>
            <a:pPr indent="0" lvl="0" marL="0" rtl="0" algn="l">
              <a:spcBef>
                <a:spcPts val="0"/>
              </a:spcBef>
              <a:spcAft>
                <a:spcPts val="0"/>
              </a:spcAft>
              <a:buNone/>
            </a:pPr>
            <a:r>
              <a:rPr lang="en"/>
              <a:t>One to One model:</a:t>
            </a:r>
            <a:endParaRPr/>
          </a:p>
          <a:p>
            <a:pPr indent="-317182" lvl="0" marL="457200" rtl="0" algn="l">
              <a:spcBef>
                <a:spcPts val="1200"/>
              </a:spcBef>
              <a:spcAft>
                <a:spcPts val="0"/>
              </a:spcAft>
              <a:buSzPct val="100000"/>
              <a:buChar char="-"/>
            </a:pPr>
            <a:r>
              <a:rPr lang="en"/>
              <a:t>The one-to-one model maps each user thread to a kernel thread.</a:t>
            </a:r>
            <a:endParaRPr/>
          </a:p>
          <a:p>
            <a:pPr indent="-317182" lvl="0" marL="457200" rtl="0" algn="l">
              <a:spcBef>
                <a:spcPts val="0"/>
              </a:spcBef>
              <a:spcAft>
                <a:spcPts val="0"/>
              </a:spcAft>
              <a:buSzPct val="100000"/>
              <a:buChar char="-"/>
            </a:pPr>
            <a:r>
              <a:rPr lang="en"/>
              <a:t>provides more concurrency than the many-to-one model by allowing another thread to run when a thread makes a blocking system call</a:t>
            </a:r>
            <a:endParaRPr/>
          </a:p>
          <a:p>
            <a:pPr indent="-317182" lvl="0" marL="457200" rtl="0" algn="l">
              <a:spcBef>
                <a:spcPts val="0"/>
              </a:spcBef>
              <a:spcAft>
                <a:spcPts val="0"/>
              </a:spcAft>
              <a:buSzPct val="100000"/>
              <a:buChar char="-"/>
            </a:pPr>
            <a:r>
              <a:rPr lang="en"/>
              <a:t>allows multiple threads to run in parallel on multiprocessors.</a:t>
            </a:r>
            <a:endParaRPr/>
          </a:p>
          <a:p>
            <a:pPr indent="-317182" lvl="0" marL="457200" rtl="0" algn="l">
              <a:spcBef>
                <a:spcPts val="0"/>
              </a:spcBef>
              <a:spcAft>
                <a:spcPts val="0"/>
              </a:spcAft>
              <a:buSzPct val="100000"/>
              <a:buChar char="-"/>
            </a:pPr>
            <a:r>
              <a:rPr lang="en"/>
              <a:t>The only drawback to this model is that creating a user thread requires creating the corresponding kernel thread. Because the overhead of creating kernel threads can burden the performance of an application, most implementations of this model restrict the number of threads supported by the system.</a:t>
            </a:r>
            <a:endParaRPr/>
          </a:p>
        </p:txBody>
      </p:sp>
      <p:pic>
        <p:nvPicPr>
          <p:cNvPr id="173" name="Google Shape;173;p31" title="Screenshot 2025-09-27 at 5.49.17 AM.png"/>
          <p:cNvPicPr preferRelativeResize="0"/>
          <p:nvPr/>
        </p:nvPicPr>
        <p:blipFill>
          <a:blip r:embed="rId3">
            <a:alphaModFix/>
          </a:blip>
          <a:stretch>
            <a:fillRect/>
          </a:stretch>
        </p:blipFill>
        <p:spPr>
          <a:xfrm>
            <a:off x="4744625" y="1574550"/>
            <a:ext cx="4087674" cy="2569776"/>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en"/>
              <a:t>Multithreading models</a:t>
            </a:r>
            <a:endParaRPr/>
          </a:p>
        </p:txBody>
      </p:sp>
      <p:sp>
        <p:nvSpPr>
          <p:cNvPr id="179" name="Google Shape;179;p32"/>
          <p:cNvSpPr txBox="1"/>
          <p:nvPr>
            <p:ph idx="1" type="body"/>
          </p:nvPr>
        </p:nvSpPr>
        <p:spPr>
          <a:xfrm>
            <a:off x="311700" y="1152475"/>
            <a:ext cx="49788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many-to-many model </a:t>
            </a:r>
            <a:endParaRPr/>
          </a:p>
          <a:p>
            <a:pPr indent="-342900" lvl="0" marL="457200" rtl="0" algn="l">
              <a:spcBef>
                <a:spcPts val="1200"/>
              </a:spcBef>
              <a:spcAft>
                <a:spcPts val="0"/>
              </a:spcAft>
              <a:buSzPts val="1800"/>
              <a:buChar char="-"/>
            </a:pPr>
            <a:r>
              <a:rPr lang="en"/>
              <a:t>The many-to-many model multiplexes many user-level threads to a smaller or equal number of kernel threads. </a:t>
            </a:r>
            <a:endParaRPr/>
          </a:p>
          <a:p>
            <a:pPr indent="-342900" lvl="0" marL="457200" rtl="0" algn="l">
              <a:spcBef>
                <a:spcPts val="0"/>
              </a:spcBef>
              <a:spcAft>
                <a:spcPts val="0"/>
              </a:spcAft>
              <a:buSzPts val="1800"/>
              <a:buChar char="-"/>
            </a:pPr>
            <a:r>
              <a:rPr lang="en"/>
              <a:t>when a thread performs a blocking system call, the kernel can schedule another thread for execution. </a:t>
            </a:r>
            <a:endParaRPr/>
          </a:p>
        </p:txBody>
      </p:sp>
      <p:pic>
        <p:nvPicPr>
          <p:cNvPr id="180" name="Google Shape;180;p32" title="Screenshot 2025-09-27 at 5.52.18 AM.png"/>
          <p:cNvPicPr preferRelativeResize="0"/>
          <p:nvPr/>
        </p:nvPicPr>
        <p:blipFill>
          <a:blip r:embed="rId3">
            <a:alphaModFix/>
          </a:blip>
          <a:stretch>
            <a:fillRect/>
          </a:stretch>
        </p:blipFill>
        <p:spPr>
          <a:xfrm>
            <a:off x="5458325" y="1273625"/>
            <a:ext cx="3345975" cy="309657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86" name="Google Shape;186;p3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ctr">
              <a:spcBef>
                <a:spcPts val="0"/>
              </a:spcBef>
              <a:spcAft>
                <a:spcPts val="1200"/>
              </a:spcAft>
              <a:buNone/>
            </a:pPr>
            <a:r>
              <a:rPr lang="en"/>
              <a:t>Process Scheduling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