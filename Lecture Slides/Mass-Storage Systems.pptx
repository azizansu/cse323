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9144000"/>
  <p:notesSz cx="6858000" cy="9144000"/>
  <p:embeddedFontLst>
    <p:embeddedFont>
      <p:font typeface="Helvetica Neue"/>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816">
          <p15:clr>
            <a:srgbClr val="000000"/>
          </p15:clr>
        </p15:guide>
        <p15:guide id="2" pos="520">
          <p15:clr>
            <a:srgbClr val="000000"/>
          </p15:clr>
        </p15:guide>
      </p15:sldGuideLst>
    </p:ext>
    <p:ext uri="GoogleSlidesCustomDataVersion2">
      <go:slidesCustomData xmlns:go="http://customooxmlschemas.google.com/" r:id="rId38" roundtripDataSignature="AMtx7mjJJsnTZI+TAnjsb7zprzBejJSr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816" orient="horz"/>
        <p:guide pos="5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HelveticaNeue-bold.fntdata"/><Relationship Id="rId12" Type="http://schemas.openxmlformats.org/officeDocument/2006/relationships/slide" Target="slides/slide7.xml"/><Relationship Id="rId34" Type="http://schemas.openxmlformats.org/officeDocument/2006/relationships/font" Target="fonts/HelveticaNeue-regular.fntdata"/><Relationship Id="rId15" Type="http://schemas.openxmlformats.org/officeDocument/2006/relationships/slide" Target="slides/slide10.xml"/><Relationship Id="rId37" Type="http://schemas.openxmlformats.org/officeDocument/2006/relationships/font" Target="fonts/HelveticaNeue-boldItalic.fntdata"/><Relationship Id="rId14" Type="http://schemas.openxmlformats.org/officeDocument/2006/relationships/slide" Target="slides/slide9.xml"/><Relationship Id="rId36" Type="http://schemas.openxmlformats.org/officeDocument/2006/relationships/font" Target="fonts/HelveticaNeue-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aa980f739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3aa980f73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aa980f7394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aa980f739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a980f739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aa980f739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a980f7394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a980f739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a980f739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a980f739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a980f7394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a980f739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a980f7394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a980f739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F8F8F8"/>
            </a:gs>
            <a:gs pos="100000">
              <a:srgbClr val="99CCFF"/>
            </a:gs>
          </a:gsLst>
          <a:lin ang="5400000" scaled="0"/>
        </a:gradFill>
      </p:bgPr>
    </p:bg>
    <p:spTree>
      <p:nvGrpSpPr>
        <p:cNvPr id="25" name="Shape 25"/>
        <p:cNvGrpSpPr/>
        <p:nvPr/>
      </p:nvGrpSpPr>
      <p:grpSpPr>
        <a:xfrm>
          <a:off x="0" y="0"/>
          <a:ext cx="0" cy="0"/>
          <a:chOff x="0" y="0"/>
          <a:chExt cx="0" cy="0"/>
        </a:xfrm>
      </p:grpSpPr>
      <p:sp>
        <p:nvSpPr>
          <p:cNvPr id="26" name="Google Shape;26;p51"/>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 name="Google Shape;27;p5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700"/>
              </a:spcBef>
              <a:spcAft>
                <a:spcPts val="0"/>
              </a:spcAft>
              <a:buSzPts val="1400"/>
              <a:buNone/>
              <a:defRPr b="0" i="0" sz="1400" u="none">
                <a:solidFill>
                  <a:srgbClr val="578963"/>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8" name="Google Shape;28;p5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700"/>
              </a:spcBef>
              <a:spcAft>
                <a:spcPts val="0"/>
              </a:spcAft>
              <a:buSzPts val="1400"/>
              <a:buNone/>
              <a:defRPr b="0" i="0" sz="1400" u="none">
                <a:solidFill>
                  <a:srgbClr val="578963"/>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 name="Google Shape;29;p51"/>
          <p:cNvSpPr/>
          <p:nvPr/>
        </p:nvSpPr>
        <p:spPr>
          <a:xfrm>
            <a:off x="1524000" y="1397000"/>
            <a:ext cx="6096000" cy="406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30" name="Google Shape;30;p51"/>
          <p:cNvPicPr preferRelativeResize="0"/>
          <p:nvPr/>
        </p:nvPicPr>
        <p:blipFill rotWithShape="1">
          <a:blip r:embed="rId2">
            <a:alphaModFix/>
          </a:blip>
          <a:srcRect b="0" l="0" r="0" t="0"/>
          <a:stretch/>
        </p:blipFill>
        <p:spPr>
          <a:xfrm>
            <a:off x="3179762" y="4829175"/>
            <a:ext cx="2349500" cy="1419225"/>
          </a:xfrm>
          <a:prstGeom prst="rect">
            <a:avLst/>
          </a:prstGeom>
          <a:noFill/>
          <a:ln cap="flat" cmpd="dbl" w="38100">
            <a:solidFill>
              <a:schemeClr val="dk2"/>
            </a:solidFill>
            <a:prstDash val="solid"/>
            <a:miter lim="800000"/>
            <a:headEnd len="sm" w="sm" type="none"/>
            <a:tailEnd len="sm" w="sm" type="none"/>
          </a:ln>
        </p:spPr>
      </p:pic>
      <p:pic>
        <p:nvPicPr>
          <p:cNvPr id="31" name="Google Shape;31;p51"/>
          <p:cNvPicPr preferRelativeResize="0"/>
          <p:nvPr/>
        </p:nvPicPr>
        <p:blipFill rotWithShape="1">
          <a:blip r:embed="rId3">
            <a:alphaModFix/>
          </a:blip>
          <a:srcRect b="0" l="0" r="0" t="0"/>
          <a:stretch/>
        </p:blipFill>
        <p:spPr>
          <a:xfrm>
            <a:off x="1539875" y="3603625"/>
            <a:ext cx="6035675" cy="342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32" name="Shape 32"/>
        <p:cNvGrpSpPr/>
        <p:nvPr/>
      </p:nvGrpSpPr>
      <p:grpSpPr>
        <a:xfrm>
          <a:off x="0" y="0"/>
          <a:ext cx="0" cy="0"/>
          <a:chOff x="0" y="0"/>
          <a:chExt cx="0" cy="0"/>
        </a:xfrm>
      </p:grpSpPr>
      <p:sp>
        <p:nvSpPr>
          <p:cNvPr id="33" name="Google Shape;33;p52"/>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 name="Google Shape;34;p52"/>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lvl1pPr indent="-331470" lvl="0" marL="457200" algn="l">
              <a:lnSpc>
                <a:spcPct val="100000"/>
              </a:lnSpc>
              <a:spcBef>
                <a:spcPts val="630"/>
              </a:spcBef>
              <a:spcAft>
                <a:spcPts val="0"/>
              </a:spcAft>
              <a:buSzPts val="1620"/>
              <a:buChar char="●"/>
              <a:defRPr/>
            </a:lvl1pPr>
            <a:lvl2pPr indent="-320040" lvl="1" marL="914400" algn="l">
              <a:lnSpc>
                <a:spcPct val="100000"/>
              </a:lnSpc>
              <a:spcBef>
                <a:spcPts val="630"/>
              </a:spcBef>
              <a:spcAft>
                <a:spcPts val="0"/>
              </a:spcAft>
              <a:buSzPts val="1440"/>
              <a:buChar char="●"/>
              <a:defRPr/>
            </a:lvl2pPr>
            <a:lvl3pPr indent="-314325" lvl="2" marL="1371600" algn="l">
              <a:lnSpc>
                <a:spcPct val="100000"/>
              </a:lnSpc>
              <a:spcBef>
                <a:spcPts val="630"/>
              </a:spcBef>
              <a:spcAft>
                <a:spcPts val="0"/>
              </a:spcAft>
              <a:buSzPts val="1350"/>
              <a:buChar char="4"/>
              <a:defRPr/>
            </a:lvl3pPr>
            <a:lvl4pPr indent="-314325" lvl="3" marL="1828800" algn="l">
              <a:lnSpc>
                <a:spcPct val="100000"/>
              </a:lnSpc>
              <a:spcBef>
                <a:spcPts val="630"/>
              </a:spcBef>
              <a:spcAft>
                <a:spcPts val="0"/>
              </a:spcAft>
              <a:buSzPts val="1350"/>
              <a:buChar char="–"/>
              <a:defRPr/>
            </a:lvl4pPr>
            <a:lvl5pPr indent="-314325" lvl="4" marL="2286000" algn="l">
              <a:lnSpc>
                <a:spcPct val="100000"/>
              </a:lnSpc>
              <a:spcBef>
                <a:spcPts val="630"/>
              </a:spcBef>
              <a:spcAft>
                <a:spcPts val="0"/>
              </a:spcAft>
              <a:buSzPts val="1350"/>
              <a:buChar char="»"/>
              <a:defRPr/>
            </a:lvl5pPr>
            <a:lvl6pPr indent="-314325" lvl="5" marL="2743200" algn="l">
              <a:lnSpc>
                <a:spcPct val="100000"/>
              </a:lnSpc>
              <a:spcBef>
                <a:spcPts val="630"/>
              </a:spcBef>
              <a:spcAft>
                <a:spcPts val="0"/>
              </a:spcAft>
              <a:buSzPts val="1350"/>
              <a:buChar char="»"/>
              <a:defRPr/>
            </a:lvl6pPr>
            <a:lvl7pPr indent="-314325" lvl="6" marL="3200400" algn="l">
              <a:lnSpc>
                <a:spcPct val="100000"/>
              </a:lnSpc>
              <a:spcBef>
                <a:spcPts val="630"/>
              </a:spcBef>
              <a:spcAft>
                <a:spcPts val="0"/>
              </a:spcAft>
              <a:buSzPts val="1350"/>
              <a:buChar char="»"/>
              <a:defRPr/>
            </a:lvl7pPr>
            <a:lvl8pPr indent="-314325" lvl="7" marL="3657600" algn="l">
              <a:lnSpc>
                <a:spcPct val="100000"/>
              </a:lnSpc>
              <a:spcBef>
                <a:spcPts val="630"/>
              </a:spcBef>
              <a:spcAft>
                <a:spcPts val="0"/>
              </a:spcAft>
              <a:buSzPts val="1350"/>
              <a:buChar char="»"/>
              <a:defRPr/>
            </a:lvl8pPr>
            <a:lvl9pPr indent="-314325" lvl="8" marL="4114800" algn="l">
              <a:lnSpc>
                <a:spcPct val="100000"/>
              </a:lnSpc>
              <a:spcBef>
                <a:spcPts val="630"/>
              </a:spcBef>
              <a:spcAft>
                <a:spcPts val="0"/>
              </a:spcAft>
              <a:buSzPts val="1350"/>
              <a:buChar char="»"/>
              <a:defRPr/>
            </a:lvl9pPr>
          </a:lstStyle>
          <a:p/>
        </p:txBody>
      </p:sp>
      <p:sp>
        <p:nvSpPr>
          <p:cNvPr id="35" name="Google Shape;35;p5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6" name="Google Shape;36;p5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7" name="Google Shape;37;p5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53"/>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 name="Google Shape;40;p5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1" name="Google Shape;41;p5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2" name="Google Shape;42;p5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None/>
              <a:defRPr b="0" i="0" sz="2400" u="non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5" name="Shape 5"/>
        <p:cNvGrpSpPr/>
        <p:nvPr/>
      </p:nvGrpSpPr>
      <p:grpSpPr>
        <a:xfrm>
          <a:off x="0" y="0"/>
          <a:ext cx="0" cy="0"/>
          <a:chOff x="0" y="0"/>
          <a:chExt cx="0" cy="0"/>
        </a:xfrm>
      </p:grpSpPr>
      <p:sp>
        <p:nvSpPr>
          <p:cNvPr id="6" name="Google Shape;6;p50"/>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lvl1pPr indent="-331470" lvl="0" marL="457200" marR="0" rtl="0" algn="l">
              <a:lnSpc>
                <a:spcPct val="100000"/>
              </a:lnSpc>
              <a:spcBef>
                <a:spcPts val="630"/>
              </a:spcBef>
              <a:spcAft>
                <a:spcPts val="0"/>
              </a:spcAft>
              <a:buClr>
                <a:srgbClr val="993300"/>
              </a:buClr>
              <a:buSzPts val="1620"/>
              <a:buFont typeface="Arial"/>
              <a:buChar char="●"/>
              <a:defRPr b="0" i="0" sz="1800" u="none" cap="none" strike="noStrike">
                <a:solidFill>
                  <a:schemeClr val="dk1"/>
                </a:solidFill>
                <a:latin typeface="Helvetica Neue"/>
                <a:ea typeface="Helvetica Neue"/>
                <a:cs typeface="Helvetica Neue"/>
                <a:sym typeface="Helvetica Neue"/>
              </a:defRPr>
            </a:lvl1pPr>
            <a:lvl2pPr indent="-320040" lvl="1" marL="914400" marR="0" rtl="0" algn="l">
              <a:lnSpc>
                <a:spcPct val="100000"/>
              </a:lnSpc>
              <a:spcBef>
                <a:spcPts val="630"/>
              </a:spcBef>
              <a:spcAft>
                <a:spcPts val="0"/>
              </a:spcAft>
              <a:buClr>
                <a:srgbClr val="CC6600"/>
              </a:buClr>
              <a:buSzPts val="1440"/>
              <a:buFont typeface="Arial"/>
              <a:buChar char="●"/>
              <a:defRPr b="0" i="0" sz="1800" u="none" cap="none" strike="noStrike">
                <a:solidFill>
                  <a:schemeClr val="dk1"/>
                </a:solidFill>
                <a:latin typeface="Helvetica Neue"/>
                <a:ea typeface="Helvetica Neue"/>
                <a:cs typeface="Helvetica Neue"/>
                <a:sym typeface="Helvetica Neue"/>
              </a:defRPr>
            </a:lvl2pPr>
            <a:lvl3pPr indent="-314325" lvl="2" marL="1371600" marR="0" rtl="0" algn="l">
              <a:lnSpc>
                <a:spcPct val="100000"/>
              </a:lnSpc>
              <a:spcBef>
                <a:spcPts val="630"/>
              </a:spcBef>
              <a:spcAft>
                <a:spcPts val="0"/>
              </a:spcAft>
              <a:buClr>
                <a:srgbClr val="009900"/>
              </a:buClr>
              <a:buSzPts val="1350"/>
              <a:buFont typeface="Arimo"/>
              <a:buChar char="4"/>
              <a:defRPr b="0" i="0" sz="1800" u="none" cap="none" strike="noStrike">
                <a:solidFill>
                  <a:schemeClr val="dk1"/>
                </a:solidFill>
                <a:latin typeface="Helvetica Neue"/>
                <a:ea typeface="Helvetica Neue"/>
                <a:cs typeface="Helvetica Neue"/>
                <a:sym typeface="Helvetica Neue"/>
              </a:defRPr>
            </a:lvl3pPr>
            <a:lvl4pPr indent="-314325" lvl="3" marL="1828800" marR="0" rtl="0" algn="l">
              <a:lnSpc>
                <a:spcPct val="100000"/>
              </a:lnSpc>
              <a:spcBef>
                <a:spcPts val="630"/>
              </a:spcBef>
              <a:spcAft>
                <a:spcPts val="0"/>
              </a:spcAft>
              <a:buClr>
                <a:schemeClr val="hlink"/>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14325" lvl="4" marL="22860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14325" lvl="5" marL="27432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14325" lvl="6" marL="32004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14325" lvl="7" marL="36576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14325" lvl="8" marL="4114800" marR="0" rtl="0" algn="l">
              <a:lnSpc>
                <a:spcPct val="100000"/>
              </a:lnSpc>
              <a:spcBef>
                <a:spcPts val="630"/>
              </a:spcBef>
              <a:spcAft>
                <a:spcPts val="0"/>
              </a:spcAft>
              <a:buClr>
                <a:srgbClr val="FF0066"/>
              </a:buClr>
              <a:buSzPts val="135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7" name="Google Shape;7;p50"/>
          <p:cNvSpPr txBox="1"/>
          <p:nvPr/>
        </p:nvSpPr>
        <p:spPr>
          <a:xfrm>
            <a:off x="4232275" y="6613525"/>
            <a:ext cx="514350"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3300"/>
              </a:buClr>
              <a:buSzPts val="1000"/>
              <a:buFont typeface="Helvetica Neue"/>
              <a:buNone/>
            </a:pPr>
            <a:r>
              <a:rPr b="1" i="0" lang="en-US" sz="1000" u="none" cap="none" strike="noStrike">
                <a:solidFill>
                  <a:srgbClr val="993300"/>
                </a:solidFill>
                <a:latin typeface="Helvetica Neue"/>
                <a:ea typeface="Helvetica Neue"/>
                <a:cs typeface="Helvetica Neue"/>
                <a:sym typeface="Helvetica Neue"/>
              </a:rPr>
              <a:t>12.</a:t>
            </a:r>
            <a:fld id="{00000000-1234-1234-1234-123412341234}" type="slidenum">
              <a:rPr b="1" i="0" lang="en-US" sz="1000" u="none" cap="none" strike="noStrike">
                <a:solidFill>
                  <a:srgbClr val="993300"/>
                </a:solidFill>
                <a:latin typeface="Helvetica Neue"/>
                <a:ea typeface="Helvetica Neue"/>
                <a:cs typeface="Helvetica Neue"/>
                <a:sym typeface="Helvetica Neue"/>
              </a:rPr>
              <a:t>‹#›</a:t>
            </a:fld>
            <a:endParaRPr/>
          </a:p>
        </p:txBody>
      </p:sp>
      <p:sp>
        <p:nvSpPr>
          <p:cNvPr id="8" name="Google Shape;8;p50"/>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1pPr>
            <a:lvl2pPr lvl="1"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2pPr>
            <a:lvl3pPr lvl="2"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3pPr>
            <a:lvl4pPr lvl="3"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4pPr>
            <a:lvl5pPr lvl="4"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5pPr>
            <a:lvl6pPr lvl="5"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6pPr>
            <a:lvl7pPr lvl="6"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7pPr>
            <a:lvl8pPr lvl="7"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8pPr>
            <a:lvl9pPr lvl="8" marR="0" rtl="0" algn="ctr">
              <a:lnSpc>
                <a:spcPct val="100000"/>
              </a:lnSpc>
              <a:spcBef>
                <a:spcPts val="0"/>
              </a:spcBef>
              <a:spcAft>
                <a:spcPts val="0"/>
              </a:spcAft>
              <a:buSzPts val="1400"/>
              <a:buNone/>
              <a:defRPr b="1" i="0" sz="3200" u="none" cap="none" strike="noStrike">
                <a:solidFill>
                  <a:srgbClr val="993300"/>
                </a:solidFill>
                <a:latin typeface="Helvetica Neue"/>
                <a:ea typeface="Helvetica Neue"/>
                <a:cs typeface="Helvetica Neue"/>
                <a:sym typeface="Helvetica Neue"/>
              </a:defRPr>
            </a:lvl9pPr>
          </a:lstStyle>
          <a:p/>
        </p:txBody>
      </p:sp>
      <p:sp>
        <p:nvSpPr>
          <p:cNvPr id="9" name="Google Shape;9;p50"/>
          <p:cNvSpPr/>
          <p:nvPr/>
        </p:nvSpPr>
        <p:spPr>
          <a:xfrm flipH="1" rot="-2400000">
            <a:off x="1609725" y="4962525"/>
            <a:ext cx="9525" cy="1587"/>
          </a:xfrm>
          <a:custGeom>
            <a:rect b="b" l="l" r="r" t="t"/>
            <a:pathLst>
              <a:path extrusionOk="0" h="4" w="20">
                <a:moveTo>
                  <a:pt x="20" y="4"/>
                </a:moveTo>
                <a:lnTo>
                  <a:pt x="0" y="0"/>
                </a:lnTo>
                <a:lnTo>
                  <a:pt x="16" y="0"/>
                </a:lnTo>
                <a:lnTo>
                  <a:pt x="2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 name="Google Shape;10;p50"/>
          <p:cNvSpPr/>
          <p:nvPr/>
        </p:nvSpPr>
        <p:spPr>
          <a:xfrm flipH="1" rot="-120000">
            <a:off x="1189037" y="4205287"/>
            <a:ext cx="4762" cy="1587"/>
          </a:xfrm>
          <a:custGeom>
            <a:rect b="b" l="l" r="r" t="t"/>
            <a:pathLst>
              <a:path extrusionOk="0" h="4" w="12">
                <a:moveTo>
                  <a:pt x="12" y="4"/>
                </a:moveTo>
                <a:lnTo>
                  <a:pt x="0" y="0"/>
                </a:lnTo>
                <a:lnTo>
                  <a:pt x="12" y="0"/>
                </a:lnTo>
                <a:lnTo>
                  <a:pt x="12"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 name="Google Shape;11;p50"/>
          <p:cNvSpPr/>
          <p:nvPr/>
        </p:nvSpPr>
        <p:spPr>
          <a:xfrm>
            <a:off x="5164137" y="4206875"/>
            <a:ext cx="7937" cy="9525"/>
          </a:xfrm>
          <a:custGeom>
            <a:rect b="b" l="l" r="r" t="t"/>
            <a:pathLst>
              <a:path extrusionOk="0" h="12" w="12">
                <a:moveTo>
                  <a:pt x="7" y="12"/>
                </a:moveTo>
                <a:lnTo>
                  <a:pt x="0" y="10"/>
                </a:lnTo>
                <a:lnTo>
                  <a:pt x="12" y="0"/>
                </a:lnTo>
                <a:lnTo>
                  <a:pt x="7"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 name="Google Shape;12;p50"/>
          <p:cNvSpPr txBox="1"/>
          <p:nvPr/>
        </p:nvSpPr>
        <p:spPr>
          <a:xfrm>
            <a:off x="6489700" y="6588125"/>
            <a:ext cx="2713037" cy="2444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993300"/>
              </a:buClr>
              <a:buSzPts val="1000"/>
              <a:buFont typeface="Helvetica Neue"/>
              <a:buNone/>
            </a:pPr>
            <a:r>
              <a:rPr b="1" i="0" lang="en-US" sz="1000" u="none">
                <a:solidFill>
                  <a:srgbClr val="993300"/>
                </a:solidFill>
                <a:latin typeface="Helvetica Neue"/>
                <a:ea typeface="Helvetica Neue"/>
                <a:cs typeface="Helvetica Neue"/>
                <a:sym typeface="Helvetica Neue"/>
              </a:rPr>
              <a:t>Silberschatz, Galvin and Gagne ©2005</a:t>
            </a:r>
            <a:endParaRPr/>
          </a:p>
        </p:txBody>
      </p:sp>
      <p:sp>
        <p:nvSpPr>
          <p:cNvPr id="13" name="Google Shape;13;p50"/>
          <p:cNvSpPr txBox="1"/>
          <p:nvPr/>
        </p:nvSpPr>
        <p:spPr>
          <a:xfrm>
            <a:off x="0" y="6613525"/>
            <a:ext cx="3376612" cy="244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3300"/>
              </a:buClr>
              <a:buSzPts val="1000"/>
              <a:buFont typeface="Helvetica Neue"/>
              <a:buNone/>
            </a:pPr>
            <a:r>
              <a:rPr b="1" i="0" lang="en-US" sz="1000" u="none">
                <a:solidFill>
                  <a:srgbClr val="993300"/>
                </a:solidFill>
                <a:latin typeface="Helvetica Neue"/>
                <a:ea typeface="Helvetica Neue"/>
                <a:cs typeface="Helvetica Neue"/>
                <a:sym typeface="Helvetica Neue"/>
              </a:rPr>
              <a:t>Operating System Concepts – 7</a:t>
            </a:r>
            <a:r>
              <a:rPr b="1" baseline="30000" i="0" lang="en-US" sz="1000" u="none">
                <a:solidFill>
                  <a:srgbClr val="993300"/>
                </a:solidFill>
                <a:latin typeface="Helvetica Neue"/>
                <a:ea typeface="Helvetica Neue"/>
                <a:cs typeface="Helvetica Neue"/>
                <a:sym typeface="Helvetica Neue"/>
              </a:rPr>
              <a:t>th</a:t>
            </a:r>
            <a:r>
              <a:rPr b="1" i="0" lang="en-US" sz="1000" u="none">
                <a:solidFill>
                  <a:srgbClr val="993300"/>
                </a:solidFill>
                <a:latin typeface="Helvetica Neue"/>
                <a:ea typeface="Helvetica Neue"/>
                <a:cs typeface="Helvetica Neue"/>
                <a:sym typeface="Helvetica Neue"/>
              </a:rPr>
              <a:t> Edition, Jan 1, 2005</a:t>
            </a:r>
            <a:endParaRPr/>
          </a:p>
        </p:txBody>
      </p:sp>
      <p:sp>
        <p:nvSpPr>
          <p:cNvPr id="14" name="Google Shape;14;p50"/>
          <p:cNvSpPr/>
          <p:nvPr/>
        </p:nvSpPr>
        <p:spPr>
          <a:xfrm>
            <a:off x="-1658937" y="1109662"/>
            <a:ext cx="4762" cy="1587"/>
          </a:xfrm>
          <a:custGeom>
            <a:rect b="b" l="l" r="r" t="t"/>
            <a:pathLst>
              <a:path extrusionOk="0" h="120000" w="13">
                <a:moveTo>
                  <a:pt x="13" y="0"/>
                </a:moveTo>
                <a:lnTo>
                  <a:pt x="0" y="0"/>
                </a:lnTo>
                <a:lnTo>
                  <a:pt x="7" y="0"/>
                </a:lnTo>
                <a:lnTo>
                  <a:pt x="1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 name="Google Shape;15;p50"/>
          <p:cNvSpPr/>
          <p:nvPr/>
        </p:nvSpPr>
        <p:spPr>
          <a:xfrm>
            <a:off x="-898525" y="1169987"/>
            <a:ext cx="3175" cy="1587"/>
          </a:xfrm>
          <a:custGeom>
            <a:rect b="b" l="l" r="r" t="t"/>
            <a:pathLst>
              <a:path extrusionOk="0" h="120000" w="10">
                <a:moveTo>
                  <a:pt x="0" y="0"/>
                </a:moveTo>
                <a:lnTo>
                  <a:pt x="10" y="0"/>
                </a:lnTo>
                <a:lnTo>
                  <a:pt x="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 name="Google Shape;16;p50"/>
          <p:cNvSpPr/>
          <p:nvPr/>
        </p:nvSpPr>
        <p:spPr>
          <a:xfrm>
            <a:off x="-1479550" y="423862"/>
            <a:ext cx="1587" cy="158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7" name="Google Shape;17;p50"/>
          <p:cNvSpPr/>
          <p:nvPr/>
        </p:nvSpPr>
        <p:spPr>
          <a:xfrm>
            <a:off x="-1466850" y="889000"/>
            <a:ext cx="6350" cy="1587"/>
          </a:xfrm>
          <a:custGeom>
            <a:rect b="b" l="l" r="r" t="t"/>
            <a:pathLst>
              <a:path extrusionOk="0" h="7" w="18">
                <a:moveTo>
                  <a:pt x="0" y="7"/>
                </a:moveTo>
                <a:lnTo>
                  <a:pt x="12" y="0"/>
                </a:lnTo>
                <a:lnTo>
                  <a:pt x="18" y="0"/>
                </a:lnTo>
                <a:lnTo>
                  <a:pt x="0"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 name="Google Shape;18;p50"/>
          <p:cNvSpPr/>
          <p:nvPr/>
        </p:nvSpPr>
        <p:spPr>
          <a:xfrm>
            <a:off x="-1639887" y="1144587"/>
            <a:ext cx="1587" cy="6350"/>
          </a:xfrm>
          <a:custGeom>
            <a:rect b="b" l="l" r="r" t="t"/>
            <a:pathLst>
              <a:path extrusionOk="0" h="16" w="6">
                <a:moveTo>
                  <a:pt x="0" y="16"/>
                </a:moveTo>
                <a:lnTo>
                  <a:pt x="6" y="0"/>
                </a:lnTo>
                <a:lnTo>
                  <a:pt x="3" y="13"/>
                </a:lnTo>
                <a:lnTo>
                  <a:pt x="0" y="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 name="Google Shape;19;p50"/>
          <p:cNvSpPr/>
          <p:nvPr/>
        </p:nvSpPr>
        <p:spPr>
          <a:xfrm>
            <a:off x="-1247775" y="1146175"/>
            <a:ext cx="4762" cy="7937"/>
          </a:xfrm>
          <a:custGeom>
            <a:rect b="b" l="l" r="r" t="t"/>
            <a:pathLst>
              <a:path extrusionOk="0" h="20" w="11">
                <a:moveTo>
                  <a:pt x="8" y="20"/>
                </a:moveTo>
                <a:lnTo>
                  <a:pt x="0" y="0"/>
                </a:lnTo>
                <a:lnTo>
                  <a:pt x="11" y="16"/>
                </a:lnTo>
                <a:lnTo>
                  <a:pt x="8"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0" name="Google Shape;20;p50"/>
          <p:cNvSpPr/>
          <p:nvPr/>
        </p:nvSpPr>
        <p:spPr>
          <a:xfrm>
            <a:off x="-1101725" y="1228725"/>
            <a:ext cx="1587" cy="6350"/>
          </a:xfrm>
          <a:custGeom>
            <a:rect b="b" l="l" r="r" t="t"/>
            <a:pathLst>
              <a:path extrusionOk="0" h="14" w="7">
                <a:moveTo>
                  <a:pt x="0" y="14"/>
                </a:moveTo>
                <a:lnTo>
                  <a:pt x="7" y="0"/>
                </a:lnTo>
                <a:lnTo>
                  <a:pt x="7" y="7"/>
                </a:lnTo>
                <a:lnTo>
                  <a:pt x="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1" name="Google Shape;21;p50"/>
          <p:cNvSpPr/>
          <p:nvPr/>
        </p:nvSpPr>
        <p:spPr>
          <a:xfrm>
            <a:off x="-1303337" y="1270000"/>
            <a:ext cx="12700" cy="1587"/>
          </a:xfrm>
          <a:custGeom>
            <a:rect b="b" l="l" r="r" t="t"/>
            <a:pathLst>
              <a:path extrusionOk="0" h="3" w="30">
                <a:moveTo>
                  <a:pt x="0" y="3"/>
                </a:moveTo>
                <a:lnTo>
                  <a:pt x="15" y="0"/>
                </a:lnTo>
                <a:lnTo>
                  <a:pt x="30" y="0"/>
                </a:lnTo>
                <a:lnTo>
                  <a:pt x="0" y="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2" name="Google Shape;22;p50"/>
          <p:cNvSpPr/>
          <p:nvPr/>
        </p:nvSpPr>
        <p:spPr>
          <a:xfrm>
            <a:off x="1176337" y="885825"/>
            <a:ext cx="4762" cy="9525"/>
          </a:xfrm>
          <a:custGeom>
            <a:rect b="b" l="l" r="r" t="t"/>
            <a:pathLst>
              <a:path extrusionOk="0" h="24" w="9">
                <a:moveTo>
                  <a:pt x="0" y="24"/>
                </a:moveTo>
                <a:lnTo>
                  <a:pt x="9" y="0"/>
                </a:lnTo>
                <a:lnTo>
                  <a:pt x="6" y="17"/>
                </a:lnTo>
                <a:lnTo>
                  <a:pt x="0"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id="23" name="Google Shape;23;p50"/>
          <p:cNvPicPr preferRelativeResize="0"/>
          <p:nvPr/>
        </p:nvPicPr>
        <p:blipFill rotWithShape="1">
          <a:blip r:embed="rId1">
            <a:alphaModFix/>
          </a:blip>
          <a:srcRect b="0" l="0" r="0" t="0"/>
          <a:stretch/>
        </p:blipFill>
        <p:spPr>
          <a:xfrm>
            <a:off x="8118475" y="6010275"/>
            <a:ext cx="1011237" cy="611187"/>
          </a:xfrm>
          <a:prstGeom prst="rect">
            <a:avLst/>
          </a:prstGeom>
          <a:noFill/>
          <a:ln>
            <a:noFill/>
          </a:ln>
        </p:spPr>
      </p:pic>
      <p:pic>
        <p:nvPicPr>
          <p:cNvPr id="24" name="Google Shape;24;p50"/>
          <p:cNvPicPr preferRelativeResize="0"/>
          <p:nvPr/>
        </p:nvPicPr>
        <p:blipFill rotWithShape="1">
          <a:blip r:embed="rId2">
            <a:alphaModFix/>
          </a:blip>
          <a:srcRect b="0" l="0" r="0" t="0"/>
          <a:stretch/>
        </p:blipFill>
        <p:spPr>
          <a:xfrm>
            <a:off x="0" y="0"/>
            <a:ext cx="600075" cy="11017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99CCFF"/>
            </a:gs>
          </a:gsLst>
          <a:lin ang="5400000" scaled="0"/>
        </a:gradFill>
      </p:bgPr>
    </p:bg>
    <p:spTree>
      <p:nvGrpSpPr>
        <p:cNvPr id="46" name="Shape 46"/>
        <p:cNvGrpSpPr/>
        <p:nvPr/>
      </p:nvGrpSpPr>
      <p:grpSpPr>
        <a:xfrm>
          <a:off x="0" y="0"/>
          <a:ext cx="0" cy="0"/>
          <a:chOff x="0" y="0"/>
          <a:chExt cx="0" cy="0"/>
        </a:xfrm>
      </p:grpSpPr>
      <p:sp>
        <p:nvSpPr>
          <p:cNvPr id="47" name="Google Shape;47;p1"/>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Chapter 12:  Mass-Storage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g3aa980f7394_0_0"/>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Hard Disk</a:t>
            </a:r>
            <a:endParaRPr/>
          </a:p>
        </p:txBody>
      </p:sp>
      <p:pic>
        <p:nvPicPr>
          <p:cNvPr id="53" name="Google Shape;53;g3aa980f7394_0_0"/>
          <p:cNvPicPr preferRelativeResize="0"/>
          <p:nvPr/>
        </p:nvPicPr>
        <p:blipFill>
          <a:blip r:embed="rId3">
            <a:alphaModFix/>
          </a:blip>
          <a:stretch>
            <a:fillRect/>
          </a:stretch>
        </p:blipFill>
        <p:spPr>
          <a:xfrm>
            <a:off x="1558227" y="1178962"/>
            <a:ext cx="5368100" cy="4500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57" name="Shape 57"/>
        <p:cNvGrpSpPr/>
        <p:nvPr/>
      </p:nvGrpSpPr>
      <p:grpSpPr>
        <a:xfrm>
          <a:off x="0" y="0"/>
          <a:ext cx="0" cy="0"/>
          <a:chOff x="0" y="0"/>
          <a:chExt cx="0" cy="0"/>
        </a:xfrm>
      </p:grpSpPr>
      <p:sp>
        <p:nvSpPr>
          <p:cNvPr id="58" name="Google Shape;58;p5"/>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Moving-head Disk Machanism</a:t>
            </a:r>
            <a:endParaRPr/>
          </a:p>
        </p:txBody>
      </p:sp>
      <p:pic>
        <p:nvPicPr>
          <p:cNvPr id="59" name="Google Shape;59;p5"/>
          <p:cNvPicPr preferRelativeResize="0"/>
          <p:nvPr/>
        </p:nvPicPr>
        <p:blipFill rotWithShape="1">
          <a:blip r:embed="rId3">
            <a:alphaModFix/>
          </a:blip>
          <a:srcRect b="2833" l="801" r="801" t="2465"/>
          <a:stretch/>
        </p:blipFill>
        <p:spPr>
          <a:xfrm>
            <a:off x="1293812" y="1282700"/>
            <a:ext cx="6996112" cy="5048250"/>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63" name="Shape 63"/>
        <p:cNvGrpSpPr/>
        <p:nvPr/>
      </p:nvGrpSpPr>
      <p:grpSpPr>
        <a:xfrm>
          <a:off x="0" y="0"/>
          <a:ext cx="0" cy="0"/>
          <a:chOff x="0" y="0"/>
          <a:chExt cx="0" cy="0"/>
        </a:xfrm>
      </p:grpSpPr>
      <p:sp>
        <p:nvSpPr>
          <p:cNvPr id="64" name="Google Shape;64;p6"/>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2800"/>
              <a:buFont typeface="Helvetica Neue"/>
              <a:buNone/>
            </a:pPr>
            <a:r>
              <a:rPr b="1" i="0" lang="en-US" sz="2800" u="none">
                <a:solidFill>
                  <a:srgbClr val="993300"/>
                </a:solidFill>
                <a:latin typeface="Helvetica Neue"/>
                <a:ea typeface="Helvetica Neue"/>
                <a:cs typeface="Helvetica Neue"/>
                <a:sym typeface="Helvetica Neue"/>
              </a:rPr>
              <a:t>Overview of Mass Storage Structure (Cont.)</a:t>
            </a:r>
            <a:endParaRPr/>
          </a:p>
        </p:txBody>
      </p:sp>
      <p:sp>
        <p:nvSpPr>
          <p:cNvPr id="65" name="Google Shape;65;p6"/>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Magnetic tape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Was early secondary-storage medium</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Relatively permanent and holds large quantities of data</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Access time slow</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Random access ~1000 times slower than disk</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Mainly used for backup, storage of infrequently-used data, transfer medium between systems</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Kept in spool and wound or rewound past read-write head</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Once data under head, transfer rates comparable to disk</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20-200GB typical storage</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Common technologies are 4mm, 8mm, 19mm, LTO-2 and SDLT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69" name="Shape 69"/>
        <p:cNvGrpSpPr/>
        <p:nvPr/>
      </p:nvGrpSpPr>
      <p:grpSpPr>
        <a:xfrm>
          <a:off x="0" y="0"/>
          <a:ext cx="0" cy="0"/>
          <a:chOff x="0" y="0"/>
          <a:chExt cx="0" cy="0"/>
        </a:xfrm>
      </p:grpSpPr>
      <p:sp>
        <p:nvSpPr>
          <p:cNvPr id="70" name="Google Shape;70;p7"/>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Disk Structure</a:t>
            </a:r>
            <a:endParaRPr/>
          </a:p>
        </p:txBody>
      </p:sp>
      <p:sp>
        <p:nvSpPr>
          <p:cNvPr id="71" name="Google Shape;71;p7"/>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Disk drives are addressed as large 1-dimensional arrays of </a:t>
            </a:r>
            <a:r>
              <a:rPr b="0" i="1" lang="en-US" sz="1800" u="none">
                <a:solidFill>
                  <a:schemeClr val="dk1"/>
                </a:solidFill>
                <a:latin typeface="Helvetica Neue"/>
                <a:ea typeface="Helvetica Neue"/>
                <a:cs typeface="Helvetica Neue"/>
                <a:sym typeface="Helvetica Neue"/>
              </a:rPr>
              <a:t>logical blocks</a:t>
            </a:r>
            <a:r>
              <a:rPr b="0" i="0" lang="en-US" sz="1800" u="none">
                <a:solidFill>
                  <a:schemeClr val="dk1"/>
                </a:solidFill>
                <a:latin typeface="Helvetica Neue"/>
                <a:ea typeface="Helvetica Neue"/>
                <a:cs typeface="Helvetica Neue"/>
                <a:sym typeface="Helvetica Neue"/>
              </a:rPr>
              <a:t>, where the logical block is the smallest unit of transfer. </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1-dimensional array of logical blocks is mapped into the sectors of the disk sequentially.</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Sector 0 is the first sector of the first track on the outermost cylinder.</a:t>
            </a:r>
            <a:endParaRPr/>
          </a:p>
          <a:p>
            <a:pPr indent="-285750" lvl="1" marL="742950" marR="0" rtl="0" algn="l">
              <a:lnSpc>
                <a:spcPct val="100000"/>
              </a:lnSpc>
              <a:spcBef>
                <a:spcPts val="630"/>
              </a:spcBef>
              <a:spcAft>
                <a:spcPts val="0"/>
              </a:spcAft>
              <a:buClr>
                <a:srgbClr val="CC6600"/>
              </a:buClr>
              <a:buSzPts val="1440"/>
              <a:buFont typeface="Arial"/>
              <a:buChar char="●"/>
            </a:pPr>
            <a:r>
              <a:rPr b="0" i="0" lang="en-US" sz="1800" u="none" cap="none" strike="noStrike">
                <a:solidFill>
                  <a:schemeClr val="dk1"/>
                </a:solidFill>
                <a:latin typeface="Helvetica Neue"/>
                <a:ea typeface="Helvetica Neue"/>
                <a:cs typeface="Helvetica Neue"/>
                <a:sym typeface="Helvetica Neue"/>
              </a:rPr>
              <a:t>Mapping proceeds in order through that track, then the rest of the tracks in that cylinder, and then through the rest of the cylinders from outermost to innermost.</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75" name="Shape 75"/>
        <p:cNvGrpSpPr/>
        <p:nvPr/>
      </p:nvGrpSpPr>
      <p:grpSpPr>
        <a:xfrm>
          <a:off x="0" y="0"/>
          <a:ext cx="0" cy="0"/>
          <a:chOff x="0" y="0"/>
          <a:chExt cx="0" cy="0"/>
        </a:xfrm>
      </p:grpSpPr>
      <p:sp>
        <p:nvSpPr>
          <p:cNvPr id="76" name="Google Shape;76;p11"/>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Disk Scheduling</a:t>
            </a:r>
            <a:endParaRPr/>
          </a:p>
        </p:txBody>
      </p:sp>
      <p:sp>
        <p:nvSpPr>
          <p:cNvPr id="77" name="Google Shape;77;p11"/>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operating system is responsible for using hardware efficiently — for the disk drives, this means having a fast access time and disk bandwidth.</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Access time has two major components</a:t>
            </a: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Seek time</a:t>
            </a:r>
            <a:r>
              <a:rPr b="0" i="0" lang="en-US" sz="1800" u="none" cap="none" strike="noStrike">
                <a:solidFill>
                  <a:schemeClr val="dk1"/>
                </a:solidFill>
                <a:latin typeface="Helvetica Neue"/>
                <a:ea typeface="Helvetica Neue"/>
                <a:cs typeface="Helvetica Neue"/>
                <a:sym typeface="Helvetica Neue"/>
              </a:rPr>
              <a:t> is the time for the disk are to move the heads to the cylinder containing the desired sector.</a:t>
            </a: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Rotational latency</a:t>
            </a:r>
            <a:r>
              <a:rPr b="0" i="0" lang="en-US" sz="1800" u="none" cap="none" strike="noStrike">
                <a:solidFill>
                  <a:schemeClr val="dk1"/>
                </a:solidFill>
                <a:latin typeface="Helvetica Neue"/>
                <a:ea typeface="Helvetica Neue"/>
                <a:cs typeface="Helvetica Neue"/>
                <a:sym typeface="Helvetica Neue"/>
              </a:rPr>
              <a:t> is the additional time waiting for the disk to rotate the desired sector to the disk head.</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Minimize seek time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Seek time ≈ seek distance</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Disk bandwidth is the total number of bytes transferred, divided by the total time between the first request for service and the completion of the last transfer.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81" name="Shape 81"/>
        <p:cNvGrpSpPr/>
        <p:nvPr/>
      </p:nvGrpSpPr>
      <p:grpSpPr>
        <a:xfrm>
          <a:off x="0" y="0"/>
          <a:ext cx="0" cy="0"/>
          <a:chOff x="0" y="0"/>
          <a:chExt cx="0" cy="0"/>
        </a:xfrm>
      </p:grpSpPr>
      <p:sp>
        <p:nvSpPr>
          <p:cNvPr id="82" name="Google Shape;82;p12"/>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Disk Scheduling (Cont.)</a:t>
            </a:r>
            <a:endParaRPr/>
          </a:p>
        </p:txBody>
      </p:sp>
      <p:sp>
        <p:nvSpPr>
          <p:cNvPr id="83" name="Google Shape;83;p12"/>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Several algorithms exist to schedule the servicing of disk I/O requests. </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We illustrate them with a request queue (0-199).</a:t>
            </a:r>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a:t>
            </a:r>
            <a:br>
              <a:rPr b="0" i="0" lang="en-US" sz="1800" u="none">
                <a:solidFill>
                  <a:schemeClr val="dk1"/>
                </a:solidFill>
                <a:latin typeface="Helvetica Neue"/>
                <a:ea typeface="Helvetica Neue"/>
                <a:cs typeface="Helvetica Neue"/>
                <a:sym typeface="Helvetica Neue"/>
              </a:rPr>
            </a:br>
            <a:r>
              <a:rPr b="0" i="0" lang="en-US" sz="1800" u="none">
                <a:solidFill>
                  <a:schemeClr val="dk1"/>
                </a:solidFill>
                <a:latin typeface="Helvetica Neue"/>
                <a:ea typeface="Helvetica Neue"/>
                <a:cs typeface="Helvetica Neue"/>
                <a:sym typeface="Helvetica Neue"/>
              </a:rPr>
              <a:t>	98, 183, 37, 122, 14, 124, 65, 67</a:t>
            </a:r>
            <a:endParaRPr/>
          </a:p>
          <a:p>
            <a:pPr indent="-34290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None/>
            </a:pPr>
            <a:r>
              <a:rPr b="0" i="0" lang="en-US" sz="1800" u="none">
                <a:solidFill>
                  <a:schemeClr val="dk1"/>
                </a:solidFill>
                <a:latin typeface="Helvetica Neue"/>
                <a:ea typeface="Helvetica Neue"/>
                <a:cs typeface="Helvetica Neue"/>
                <a:sym typeface="Helvetica Neue"/>
              </a:rPr>
              <a:t>	Head pointer 53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87" name="Shape 87"/>
        <p:cNvGrpSpPr/>
        <p:nvPr/>
      </p:nvGrpSpPr>
      <p:grpSpPr>
        <a:xfrm>
          <a:off x="0" y="0"/>
          <a:ext cx="0" cy="0"/>
          <a:chOff x="0" y="0"/>
          <a:chExt cx="0" cy="0"/>
        </a:xfrm>
      </p:grpSpPr>
      <p:sp>
        <p:nvSpPr>
          <p:cNvPr id="88" name="Google Shape;88;p13"/>
          <p:cNvSpPr txBox="1"/>
          <p:nvPr>
            <p:ph type="title"/>
          </p:nvPr>
        </p:nvSpPr>
        <p:spPr>
          <a:xfrm>
            <a:off x="685800" y="228600"/>
            <a:ext cx="7337425"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FCFS</a:t>
            </a:r>
            <a:endParaRPr/>
          </a:p>
        </p:txBody>
      </p:sp>
      <p:sp>
        <p:nvSpPr>
          <p:cNvPr id="89" name="Google Shape;89;p13"/>
          <p:cNvSpPr txBox="1"/>
          <p:nvPr/>
        </p:nvSpPr>
        <p:spPr>
          <a:xfrm>
            <a:off x="825500" y="1295400"/>
            <a:ext cx="6488112" cy="3968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Helvetica Neue"/>
              <a:buNone/>
            </a:pPr>
            <a:r>
              <a:rPr b="0" i="0" lang="en-US" sz="2000" u="none">
                <a:solidFill>
                  <a:schemeClr val="dk1"/>
                </a:solidFill>
                <a:latin typeface="Helvetica Neue"/>
                <a:ea typeface="Helvetica Neue"/>
                <a:cs typeface="Helvetica Neue"/>
                <a:sym typeface="Helvetica Neue"/>
              </a:rPr>
              <a:t>Illustration shows total head movement of 640 cylinders.</a:t>
            </a:r>
            <a:endParaRPr/>
          </a:p>
        </p:txBody>
      </p:sp>
      <p:pic>
        <p:nvPicPr>
          <p:cNvPr id="90" name="Google Shape;90;p13"/>
          <p:cNvPicPr preferRelativeResize="0"/>
          <p:nvPr/>
        </p:nvPicPr>
        <p:blipFill rotWithShape="1">
          <a:blip r:embed="rId3">
            <a:alphaModFix/>
          </a:blip>
          <a:srcRect b="6486" l="482" r="735" t="6486"/>
          <a:stretch/>
        </p:blipFill>
        <p:spPr>
          <a:xfrm>
            <a:off x="1135062" y="1928812"/>
            <a:ext cx="6834187" cy="4516437"/>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94" name="Shape 94"/>
        <p:cNvGrpSpPr/>
        <p:nvPr/>
      </p:nvGrpSpPr>
      <p:grpSpPr>
        <a:xfrm>
          <a:off x="0" y="0"/>
          <a:ext cx="0" cy="0"/>
          <a:chOff x="0" y="0"/>
          <a:chExt cx="0" cy="0"/>
        </a:xfrm>
      </p:grpSpPr>
      <p:sp>
        <p:nvSpPr>
          <p:cNvPr id="95" name="Google Shape;95;p14"/>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SSTF</a:t>
            </a:r>
            <a:endParaRPr/>
          </a:p>
        </p:txBody>
      </p:sp>
      <p:sp>
        <p:nvSpPr>
          <p:cNvPr id="96" name="Google Shape;96;p14"/>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Selects the request with the minimum seek time from the current head position.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SSTF scheduling is a form of SJF scheduling; may cause starvation of some requests.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Illustration shows total head movement of 236 cylinders.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00" name="Shape 100"/>
        <p:cNvGrpSpPr/>
        <p:nvPr/>
      </p:nvGrpSpPr>
      <p:grpSpPr>
        <a:xfrm>
          <a:off x="0" y="0"/>
          <a:ext cx="0" cy="0"/>
          <a:chOff x="0" y="0"/>
          <a:chExt cx="0" cy="0"/>
        </a:xfrm>
      </p:grpSpPr>
      <p:sp>
        <p:nvSpPr>
          <p:cNvPr id="101" name="Google Shape;101;p15"/>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SSTF (Cont.)</a:t>
            </a:r>
            <a:endParaRPr/>
          </a:p>
        </p:txBody>
      </p:sp>
      <p:pic>
        <p:nvPicPr>
          <p:cNvPr id="102" name="Google Shape;102;p15"/>
          <p:cNvPicPr preferRelativeResize="0"/>
          <p:nvPr/>
        </p:nvPicPr>
        <p:blipFill rotWithShape="1">
          <a:blip r:embed="rId3">
            <a:alphaModFix/>
          </a:blip>
          <a:srcRect b="6129" l="827" r="827" t="6129"/>
          <a:stretch/>
        </p:blipFill>
        <p:spPr>
          <a:xfrm>
            <a:off x="1136650" y="1295400"/>
            <a:ext cx="7164387" cy="4794250"/>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06" name="Shape 106"/>
        <p:cNvGrpSpPr/>
        <p:nvPr/>
      </p:nvGrpSpPr>
      <p:grpSpPr>
        <a:xfrm>
          <a:off x="0" y="0"/>
          <a:ext cx="0" cy="0"/>
          <a:chOff x="0" y="0"/>
          <a:chExt cx="0" cy="0"/>
        </a:xfrm>
      </p:grpSpPr>
      <p:sp>
        <p:nvSpPr>
          <p:cNvPr id="107" name="Google Shape;107;p16"/>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SCAN</a:t>
            </a:r>
            <a:endParaRPr/>
          </a:p>
        </p:txBody>
      </p:sp>
      <p:sp>
        <p:nvSpPr>
          <p:cNvPr id="108" name="Google Shape;108;p16"/>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disk arm starts at one end of the disk, and moves toward the other end, servicing requests until it gets to the other end of the disk, where the head movement is reversed and servicing continues.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Sometimes called the </a:t>
            </a:r>
            <a:r>
              <a:rPr b="0" i="1" lang="en-US" sz="1800" u="none">
                <a:solidFill>
                  <a:schemeClr val="dk1"/>
                </a:solidFill>
                <a:latin typeface="Helvetica Neue"/>
                <a:ea typeface="Helvetica Neue"/>
                <a:cs typeface="Helvetica Neue"/>
                <a:sym typeface="Helvetica Neue"/>
              </a:rPr>
              <a:t>elevator algorithm</a:t>
            </a:r>
            <a:r>
              <a:rPr b="0" i="0" lang="en-US" sz="1800" u="none">
                <a:solidFill>
                  <a:schemeClr val="dk1"/>
                </a:solidFill>
                <a:latin typeface="Helvetica Neue"/>
                <a:ea typeface="Helvetica Neue"/>
                <a:cs typeface="Helvetica Neue"/>
                <a:sym typeface="Helvetica Neue"/>
              </a:rPr>
              <a:t>.</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Illustration shows total head movement of 208 cylinders.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12" name="Shape 112"/>
        <p:cNvGrpSpPr/>
        <p:nvPr/>
      </p:nvGrpSpPr>
      <p:grpSpPr>
        <a:xfrm>
          <a:off x="0" y="0"/>
          <a:ext cx="0" cy="0"/>
          <a:chOff x="0" y="0"/>
          <a:chExt cx="0" cy="0"/>
        </a:xfrm>
      </p:grpSpPr>
      <p:sp>
        <p:nvSpPr>
          <p:cNvPr id="113" name="Google Shape;113;p17"/>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SCAN (Cont.)</a:t>
            </a:r>
            <a:endParaRPr/>
          </a:p>
        </p:txBody>
      </p:sp>
      <p:pic>
        <p:nvPicPr>
          <p:cNvPr id="114" name="Google Shape;114;p17"/>
          <p:cNvPicPr preferRelativeResize="0"/>
          <p:nvPr/>
        </p:nvPicPr>
        <p:blipFill rotWithShape="1">
          <a:blip r:embed="rId3">
            <a:alphaModFix/>
          </a:blip>
          <a:srcRect b="4397" l="434" r="871" t="3816"/>
          <a:stretch/>
        </p:blipFill>
        <p:spPr>
          <a:xfrm>
            <a:off x="1033462" y="1295400"/>
            <a:ext cx="6911975" cy="4821237"/>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18" name="Shape 118"/>
        <p:cNvGrpSpPr/>
        <p:nvPr/>
      </p:nvGrpSpPr>
      <p:grpSpPr>
        <a:xfrm>
          <a:off x="0" y="0"/>
          <a:ext cx="0" cy="0"/>
          <a:chOff x="0" y="0"/>
          <a:chExt cx="0" cy="0"/>
        </a:xfrm>
      </p:grpSpPr>
      <p:sp>
        <p:nvSpPr>
          <p:cNvPr id="119" name="Google Shape;119;p18"/>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C-SCAN</a:t>
            </a:r>
            <a:endParaRPr/>
          </a:p>
        </p:txBody>
      </p:sp>
      <p:sp>
        <p:nvSpPr>
          <p:cNvPr id="120" name="Google Shape;120;p18"/>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Provides a more uniform wait time than SCAN.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head moves from one end of the disk to the other. servicing requests as it goes.  When it reaches the other end, however, it immediately returns to the beginning of the disk, without servicing any requests on the return trip.</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Treats the cylinders as a circular list that wraps around from the last cylinder to the first one.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24" name="Shape 124"/>
        <p:cNvGrpSpPr/>
        <p:nvPr/>
      </p:nvGrpSpPr>
      <p:grpSpPr>
        <a:xfrm>
          <a:off x="0" y="0"/>
          <a:ext cx="0" cy="0"/>
          <a:chOff x="0" y="0"/>
          <a:chExt cx="0" cy="0"/>
        </a:xfrm>
      </p:grpSpPr>
      <p:sp>
        <p:nvSpPr>
          <p:cNvPr id="125" name="Google Shape;125;p19"/>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C-SCAN (Cont.)</a:t>
            </a:r>
            <a:endParaRPr/>
          </a:p>
        </p:txBody>
      </p:sp>
      <p:pic>
        <p:nvPicPr>
          <p:cNvPr id="126" name="Google Shape;126;p19"/>
          <p:cNvPicPr preferRelativeResize="0"/>
          <p:nvPr/>
        </p:nvPicPr>
        <p:blipFill rotWithShape="1">
          <a:blip r:embed="rId3">
            <a:alphaModFix/>
          </a:blip>
          <a:srcRect b="3729" l="705" r="923" t="3730"/>
          <a:stretch/>
        </p:blipFill>
        <p:spPr>
          <a:xfrm>
            <a:off x="800100" y="906462"/>
            <a:ext cx="7419975" cy="5235575"/>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30" name="Shape 130"/>
        <p:cNvGrpSpPr/>
        <p:nvPr/>
      </p:nvGrpSpPr>
      <p:grpSpPr>
        <a:xfrm>
          <a:off x="0" y="0"/>
          <a:ext cx="0" cy="0"/>
          <a:chOff x="0" y="0"/>
          <a:chExt cx="0" cy="0"/>
        </a:xfrm>
      </p:grpSpPr>
      <p:sp>
        <p:nvSpPr>
          <p:cNvPr id="131" name="Google Shape;131;p20"/>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C-LOOK</a:t>
            </a:r>
            <a:endParaRPr/>
          </a:p>
        </p:txBody>
      </p:sp>
      <p:sp>
        <p:nvSpPr>
          <p:cNvPr id="132" name="Google Shape;132;p20"/>
          <p:cNvSpPr txBox="1"/>
          <p:nvPr>
            <p:ph idx="1" type="body"/>
          </p:nvPr>
        </p:nvSpPr>
        <p:spPr>
          <a:xfrm>
            <a:off x="825500" y="1295400"/>
            <a:ext cx="7297737" cy="32226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Version of C-SCAN</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Arm only goes as far as the last request in each direction, then reverses direction immediately, without first going all the way to the end of the disk.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36" name="Shape 136"/>
        <p:cNvGrpSpPr/>
        <p:nvPr/>
      </p:nvGrpSpPr>
      <p:grpSpPr>
        <a:xfrm>
          <a:off x="0" y="0"/>
          <a:ext cx="0" cy="0"/>
          <a:chOff x="0" y="0"/>
          <a:chExt cx="0" cy="0"/>
        </a:xfrm>
      </p:grpSpPr>
      <p:sp>
        <p:nvSpPr>
          <p:cNvPr id="137" name="Google Shape;137;p21"/>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C-LOOK (Cont.)</a:t>
            </a:r>
            <a:endParaRPr/>
          </a:p>
        </p:txBody>
      </p:sp>
      <p:pic>
        <p:nvPicPr>
          <p:cNvPr id="138" name="Google Shape;138;p21"/>
          <p:cNvPicPr preferRelativeResize="0"/>
          <p:nvPr/>
        </p:nvPicPr>
        <p:blipFill rotWithShape="1">
          <a:blip r:embed="rId3">
            <a:alphaModFix/>
          </a:blip>
          <a:srcRect b="4504" l="514" r="1296" t="4143"/>
          <a:stretch/>
        </p:blipFill>
        <p:spPr>
          <a:xfrm>
            <a:off x="825500" y="1295400"/>
            <a:ext cx="7151687" cy="4991100"/>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42" name="Shape 142"/>
        <p:cNvGrpSpPr/>
        <p:nvPr/>
      </p:nvGrpSpPr>
      <p:grpSpPr>
        <a:xfrm>
          <a:off x="0" y="0"/>
          <a:ext cx="0" cy="0"/>
          <a:chOff x="0" y="0"/>
          <a:chExt cx="0" cy="0"/>
        </a:xfrm>
      </p:grpSpPr>
      <p:sp>
        <p:nvSpPr>
          <p:cNvPr id="143" name="Google Shape;143;p22"/>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Selecting a Disk-Scheduling Algorithm</a:t>
            </a:r>
            <a:endParaRPr/>
          </a:p>
        </p:txBody>
      </p:sp>
      <p:sp>
        <p:nvSpPr>
          <p:cNvPr id="144" name="Google Shape;144;p22"/>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SSTF is common and has a natural appeal</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SCAN and C-SCAN perform better for systems that place a heavy load on the disk.</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Performance depends on the number and types of requests.</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Requests for disk service can be influenced by the file-allocation method.</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The disk-scheduling algorithm should be written as a separate module of the operating system, allowing it to be replaced with a different algorithm if necessary.</a:t>
            </a: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Either SSTF or LOOK is a reasonable choice for the default algorithm.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48" name="Shape 148"/>
        <p:cNvGrpSpPr/>
        <p:nvPr/>
      </p:nvGrpSpPr>
      <p:grpSpPr>
        <a:xfrm>
          <a:off x="0" y="0"/>
          <a:ext cx="0" cy="0"/>
          <a:chOff x="0" y="0"/>
          <a:chExt cx="0" cy="0"/>
        </a:xfrm>
      </p:grpSpPr>
      <p:sp>
        <p:nvSpPr>
          <p:cNvPr id="149" name="Google Shape;149;p27"/>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RAID Structure</a:t>
            </a:r>
            <a:endParaRPr/>
          </a:p>
        </p:txBody>
      </p:sp>
      <p:sp>
        <p:nvSpPr>
          <p:cNvPr id="150" name="Google Shape;150;p27"/>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1" i="0" lang="en-US" sz="1800" u="none">
                <a:solidFill>
                  <a:schemeClr val="dk1"/>
                </a:solidFill>
                <a:latin typeface="Helvetica Neue"/>
                <a:ea typeface="Helvetica Neue"/>
                <a:cs typeface="Helvetica Neue"/>
                <a:sym typeface="Helvetica Neue"/>
              </a:rPr>
              <a:t>RAID</a:t>
            </a:r>
            <a:r>
              <a:rPr b="0" i="0" lang="en-US" sz="1800" u="none">
                <a:solidFill>
                  <a:schemeClr val="dk1"/>
                </a:solidFill>
                <a:latin typeface="Helvetica Neue"/>
                <a:ea typeface="Helvetica Neue"/>
                <a:cs typeface="Helvetica Neue"/>
                <a:sym typeface="Helvetica Neue"/>
              </a:rPr>
              <a:t> </a:t>
            </a:r>
            <a:endParaRPr b="0" i="0" sz="1800" u="none">
              <a:solidFill>
                <a:schemeClr val="dk1"/>
              </a:solidFill>
              <a:latin typeface="Helvetica Neue"/>
              <a:ea typeface="Helvetica Neue"/>
              <a:cs typeface="Helvetica Neue"/>
              <a:sym typeface="Helvetica Neue"/>
            </a:endParaRPr>
          </a:p>
          <a:p>
            <a:pPr indent="-285750" lvl="1" marL="742950" rtl="0" algn="l">
              <a:spcBef>
                <a:spcPts val="0"/>
              </a:spcBef>
              <a:spcAft>
                <a:spcPts val="0"/>
              </a:spcAft>
              <a:buSzPts val="1440"/>
              <a:buChar char="●"/>
            </a:pPr>
            <a:r>
              <a:rPr lang="en-US"/>
              <a:t>Redundant Array of Independent Disk</a:t>
            </a:r>
            <a:endParaRPr/>
          </a:p>
          <a:p>
            <a:pPr indent="-285750" lvl="1" marL="742950" rtl="0" algn="l">
              <a:spcBef>
                <a:spcPts val="0"/>
              </a:spcBef>
              <a:spcAft>
                <a:spcPts val="0"/>
              </a:spcAft>
              <a:buSzPts val="1440"/>
              <a:buChar char="●"/>
            </a:pPr>
            <a:r>
              <a:rPr lang="en-US"/>
              <a:t>Redundant Array of Inexpensive Disk</a:t>
            </a:r>
            <a:endParaRPr/>
          </a:p>
          <a:p>
            <a:pPr indent="0" lvl="0" marL="342900" marR="0" rtl="0" algn="l">
              <a:lnSpc>
                <a:spcPct val="100000"/>
              </a:lnSpc>
              <a:spcBef>
                <a:spcPts val="0"/>
              </a:spcBef>
              <a:spcAft>
                <a:spcPts val="0"/>
              </a:spcAft>
              <a:buNone/>
            </a:pPr>
            <a:r>
              <a:t/>
            </a:r>
            <a:endParaRPr/>
          </a:p>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multiple disk drives provides </a:t>
            </a:r>
            <a:r>
              <a:rPr b="1" i="0" lang="en-US" sz="1800" u="none">
                <a:solidFill>
                  <a:schemeClr val="dk1"/>
                </a:solidFill>
                <a:latin typeface="Helvetica Neue"/>
                <a:ea typeface="Helvetica Neue"/>
                <a:cs typeface="Helvetica Neue"/>
                <a:sym typeface="Helvetica Neue"/>
              </a:rPr>
              <a:t>reliability</a:t>
            </a:r>
            <a:r>
              <a:rPr b="0" i="0" lang="en-US" sz="1800" u="none">
                <a:solidFill>
                  <a:schemeClr val="dk1"/>
                </a:solidFill>
                <a:latin typeface="Helvetica Neue"/>
                <a:ea typeface="Helvetica Neue"/>
                <a:cs typeface="Helvetica Neue"/>
                <a:sym typeface="Helvetica Neue"/>
              </a:rPr>
              <a:t> via </a:t>
            </a:r>
            <a:r>
              <a:rPr b="1" i="0" lang="en-US" sz="1800" u="none">
                <a:solidFill>
                  <a:schemeClr val="dk1"/>
                </a:solidFill>
                <a:latin typeface="Helvetica Neue"/>
                <a:ea typeface="Helvetica Neue"/>
                <a:cs typeface="Helvetica Neue"/>
                <a:sym typeface="Helvetica Neue"/>
              </a:rPr>
              <a:t>redundancy</a:t>
            </a:r>
            <a:r>
              <a:rPr b="0" i="0" lang="en-US" sz="1800" u="none">
                <a:solidFill>
                  <a:schemeClr val="dk1"/>
                </a:solidFill>
                <a:latin typeface="Helvetica Neue"/>
                <a:ea typeface="Helvetica Neue"/>
                <a:cs typeface="Helvetica Neue"/>
                <a:sym typeface="Helvetica Neue"/>
              </a:rPr>
              <a:t>.</a:t>
            </a:r>
            <a:endParaRPr/>
          </a:p>
          <a:p>
            <a:pPr indent="-240030" lvl="0" marL="342900" marR="0" rtl="0" algn="l">
              <a:lnSpc>
                <a:spcPct val="100000"/>
              </a:lnSpc>
              <a:spcBef>
                <a:spcPts val="630"/>
              </a:spcBef>
              <a:spcAft>
                <a:spcPts val="0"/>
              </a:spcAft>
              <a:buClr>
                <a:srgbClr val="993300"/>
              </a:buClr>
              <a:buSzPts val="1620"/>
              <a:buFont typeface="Arial"/>
              <a:buNone/>
            </a:pPr>
            <a:r>
              <a:t/>
            </a:r>
            <a:endParaRPr b="0" i="0" sz="1800" u="none">
              <a:solidFill>
                <a:schemeClr val="dk1"/>
              </a:solidFill>
              <a:latin typeface="Helvetica Neue"/>
              <a:ea typeface="Helvetica Neue"/>
              <a:cs typeface="Helvetica Neue"/>
              <a:sym typeface="Helvetica Neue"/>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RAID is arranged into six different levels.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54" name="Shape 154"/>
        <p:cNvGrpSpPr/>
        <p:nvPr/>
      </p:nvGrpSpPr>
      <p:grpSpPr>
        <a:xfrm>
          <a:off x="0" y="0"/>
          <a:ext cx="0" cy="0"/>
          <a:chOff x="0" y="0"/>
          <a:chExt cx="0" cy="0"/>
        </a:xfrm>
      </p:grpSpPr>
      <p:sp>
        <p:nvSpPr>
          <p:cNvPr id="155" name="Google Shape;155;p28"/>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RAID (cont)</a:t>
            </a:r>
            <a:endParaRPr/>
          </a:p>
        </p:txBody>
      </p:sp>
      <p:sp>
        <p:nvSpPr>
          <p:cNvPr id="156" name="Google Shape;156;p28"/>
          <p:cNvSpPr txBox="1"/>
          <p:nvPr>
            <p:ph idx="1" type="body"/>
          </p:nvPr>
        </p:nvSpPr>
        <p:spPr>
          <a:xfrm>
            <a:off x="825500" y="1295400"/>
            <a:ext cx="7351712" cy="4483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Several improvements in disk-use techniques involve the use of multiple disks working cooperatively.</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Disk striping uses a group of disks as one storage unit.</a:t>
            </a:r>
            <a:br>
              <a:rPr b="0" i="0" lang="en-US" sz="1800" u="none">
                <a:solidFill>
                  <a:schemeClr val="dk1"/>
                </a:solidFill>
                <a:latin typeface="Helvetica Neue"/>
                <a:ea typeface="Helvetica Neue"/>
                <a:cs typeface="Helvetica Neue"/>
                <a:sym typeface="Helvetica Neue"/>
              </a:rPr>
            </a:br>
            <a:endParaRPr/>
          </a:p>
          <a:p>
            <a:pPr indent="-342900" lvl="0" marL="342900" marR="0" rtl="0" algn="l">
              <a:lnSpc>
                <a:spcPct val="100000"/>
              </a:lnSpc>
              <a:spcBef>
                <a:spcPts val="630"/>
              </a:spcBef>
              <a:spcAft>
                <a:spcPts val="0"/>
              </a:spcAft>
              <a:buClr>
                <a:srgbClr val="993300"/>
              </a:buClr>
              <a:buSzPts val="1620"/>
              <a:buFont typeface="Arial"/>
              <a:buChar char="●"/>
            </a:pPr>
            <a:r>
              <a:rPr b="0" i="0" lang="en-US" sz="1800" u="none">
                <a:solidFill>
                  <a:schemeClr val="dk1"/>
                </a:solidFill>
                <a:latin typeface="Helvetica Neue"/>
                <a:ea typeface="Helvetica Neue"/>
                <a:cs typeface="Helvetica Neue"/>
                <a:sym typeface="Helvetica Neue"/>
              </a:rPr>
              <a:t>RAID schemes improve performance and improve the reliability of the storage system by storing redundant data.</a:t>
            </a: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Mirroring</a:t>
            </a:r>
            <a:r>
              <a:rPr b="0" i="0" lang="en-US" sz="1800" u="none" cap="none" strike="noStrike">
                <a:solidFill>
                  <a:schemeClr val="dk1"/>
                </a:solidFill>
                <a:latin typeface="Helvetica Neue"/>
                <a:ea typeface="Helvetica Neue"/>
                <a:cs typeface="Helvetica Neue"/>
                <a:sym typeface="Helvetica Neue"/>
              </a:rPr>
              <a:t> or </a:t>
            </a:r>
            <a:r>
              <a:rPr b="0" i="1" lang="en-US" sz="1800" u="none" cap="none" strike="noStrike">
                <a:solidFill>
                  <a:schemeClr val="dk1"/>
                </a:solidFill>
                <a:latin typeface="Helvetica Neue"/>
                <a:ea typeface="Helvetica Neue"/>
                <a:cs typeface="Helvetica Neue"/>
                <a:sym typeface="Helvetica Neue"/>
              </a:rPr>
              <a:t>shadowing</a:t>
            </a:r>
            <a:r>
              <a:rPr b="0" i="0" lang="en-US" sz="1800" u="none" cap="none" strike="noStrike">
                <a:solidFill>
                  <a:schemeClr val="dk1"/>
                </a:solidFill>
                <a:latin typeface="Helvetica Neue"/>
                <a:ea typeface="Helvetica Neue"/>
                <a:cs typeface="Helvetica Neue"/>
                <a:sym typeface="Helvetica Neue"/>
              </a:rPr>
              <a:t> keeps duplicate of each disk.</a:t>
            </a:r>
            <a:endParaRPr/>
          </a:p>
          <a:p>
            <a:pPr indent="-285750" lvl="1" marL="742950" marR="0" rtl="0" algn="l">
              <a:lnSpc>
                <a:spcPct val="100000"/>
              </a:lnSpc>
              <a:spcBef>
                <a:spcPts val="630"/>
              </a:spcBef>
              <a:spcAft>
                <a:spcPts val="0"/>
              </a:spcAft>
              <a:buClr>
                <a:srgbClr val="CC6600"/>
              </a:buClr>
              <a:buSzPts val="1440"/>
              <a:buFont typeface="Arial"/>
              <a:buChar char="●"/>
            </a:pPr>
            <a:r>
              <a:rPr b="0" i="1" lang="en-US" sz="1800" u="none" cap="none" strike="noStrike">
                <a:solidFill>
                  <a:schemeClr val="dk1"/>
                </a:solidFill>
                <a:latin typeface="Helvetica Neue"/>
                <a:ea typeface="Helvetica Neue"/>
                <a:cs typeface="Helvetica Neue"/>
                <a:sym typeface="Helvetica Neue"/>
              </a:rPr>
              <a:t>Block interleaved parity</a:t>
            </a:r>
            <a:r>
              <a:rPr b="0" i="0" lang="en-US" sz="1800" u="none" cap="none" strike="noStrike">
                <a:solidFill>
                  <a:schemeClr val="dk1"/>
                </a:solidFill>
                <a:latin typeface="Helvetica Neue"/>
                <a:ea typeface="Helvetica Neue"/>
                <a:cs typeface="Helvetica Neue"/>
                <a:sym typeface="Helvetica Neue"/>
              </a:rPr>
              <a:t> uses much less redundancy.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160" name="Shape 160"/>
        <p:cNvGrpSpPr/>
        <p:nvPr/>
      </p:nvGrpSpPr>
      <p:grpSpPr>
        <a:xfrm>
          <a:off x="0" y="0"/>
          <a:ext cx="0" cy="0"/>
          <a:chOff x="0" y="0"/>
          <a:chExt cx="0" cy="0"/>
        </a:xfrm>
      </p:grpSpPr>
      <p:sp>
        <p:nvSpPr>
          <p:cNvPr id="161" name="Google Shape;161;p29"/>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RAID Levels</a:t>
            </a:r>
            <a:endParaRPr/>
          </a:p>
        </p:txBody>
      </p:sp>
      <p:pic>
        <p:nvPicPr>
          <p:cNvPr id="162" name="Google Shape;162;p29"/>
          <p:cNvPicPr preferRelativeResize="0"/>
          <p:nvPr/>
        </p:nvPicPr>
        <p:blipFill rotWithShape="1">
          <a:blip r:embed="rId3">
            <a:alphaModFix/>
          </a:blip>
          <a:srcRect b="871" l="28178" r="28176" t="871"/>
          <a:stretch/>
        </p:blipFill>
        <p:spPr>
          <a:xfrm>
            <a:off x="2885288" y="838200"/>
            <a:ext cx="3373437" cy="5695951"/>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aa980f7394_0_14"/>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168" name="Google Shape;168;g3aa980f7394_0_14"/>
          <p:cNvPicPr preferRelativeResize="0"/>
          <p:nvPr/>
        </p:nvPicPr>
        <p:blipFill>
          <a:blip r:embed="rId3">
            <a:alphaModFix/>
          </a:blip>
          <a:stretch>
            <a:fillRect/>
          </a:stretch>
        </p:blipFill>
        <p:spPr>
          <a:xfrm>
            <a:off x="1048125" y="962625"/>
            <a:ext cx="2857500" cy="4400550"/>
          </a:xfrm>
          <a:prstGeom prst="rect">
            <a:avLst/>
          </a:prstGeom>
          <a:noFill/>
          <a:ln>
            <a:noFill/>
          </a:ln>
        </p:spPr>
      </p:pic>
      <p:sp>
        <p:nvSpPr>
          <p:cNvPr id="169" name="Google Shape;169;g3aa980f7394_0_14"/>
          <p:cNvSpPr txBox="1"/>
          <p:nvPr/>
        </p:nvSpPr>
        <p:spPr>
          <a:xfrm>
            <a:off x="4198775" y="1371600"/>
            <a:ext cx="4413300" cy="44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RAID 0 (also known as a stripe set or striped volume) splits ("stripes") data evenly across two or more disks.</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A RAID 0 array of n drives provides data read and write transfer rates up to n times as high as the individual drive rates, but with no data redundancy. As a result, RAID 0 is primarily used in applications that require high performance and are able to tolerate lower reliability, such as in scientific computing or gaming.</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aa980f7394_0_5"/>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175" name="Google Shape;175;g3aa980f7394_0_5"/>
          <p:cNvPicPr preferRelativeResize="0"/>
          <p:nvPr/>
        </p:nvPicPr>
        <p:blipFill>
          <a:blip r:embed="rId3">
            <a:alphaModFix/>
          </a:blip>
          <a:stretch>
            <a:fillRect/>
          </a:stretch>
        </p:blipFill>
        <p:spPr>
          <a:xfrm>
            <a:off x="685800" y="1130575"/>
            <a:ext cx="2857500" cy="4400550"/>
          </a:xfrm>
          <a:prstGeom prst="rect">
            <a:avLst/>
          </a:prstGeom>
          <a:noFill/>
          <a:ln>
            <a:noFill/>
          </a:ln>
        </p:spPr>
      </p:pic>
      <p:sp>
        <p:nvSpPr>
          <p:cNvPr id="176" name="Google Shape;176;g3aa980f7394_0_5"/>
          <p:cNvSpPr txBox="1"/>
          <p:nvPr/>
        </p:nvSpPr>
        <p:spPr>
          <a:xfrm>
            <a:off x="4198775" y="1371600"/>
            <a:ext cx="4413300" cy="44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RAID 1 consists of an exact copy (or mirror) of a set of data on two or more disks; a classic RAID 1 mirrored pair contains two disks.</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Any read request can be serviced and handled by any drive in the array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while the write performance remains at the level of a single disk</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aa980f7394_0_10"/>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182" name="Google Shape;182;g3aa980f7394_0_10"/>
          <p:cNvPicPr preferRelativeResize="0"/>
          <p:nvPr/>
        </p:nvPicPr>
        <p:blipFill>
          <a:blip r:embed="rId3">
            <a:alphaModFix/>
          </a:blip>
          <a:stretch>
            <a:fillRect/>
          </a:stretch>
        </p:blipFill>
        <p:spPr>
          <a:xfrm>
            <a:off x="685800" y="838200"/>
            <a:ext cx="5259350" cy="2629675"/>
          </a:xfrm>
          <a:prstGeom prst="rect">
            <a:avLst/>
          </a:prstGeom>
          <a:noFill/>
          <a:ln>
            <a:noFill/>
          </a:ln>
        </p:spPr>
      </p:pic>
      <p:sp>
        <p:nvSpPr>
          <p:cNvPr id="183" name="Google Shape;183;g3aa980f7394_0_10"/>
          <p:cNvSpPr txBox="1"/>
          <p:nvPr/>
        </p:nvSpPr>
        <p:spPr>
          <a:xfrm>
            <a:off x="825500" y="3878425"/>
            <a:ext cx="7767900" cy="14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Diagram of a RAID 2 setup. Lowercase p indicates parity bytes.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aa980f7394_0_27"/>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189" name="Google Shape;189;g3aa980f7394_0_27"/>
          <p:cNvPicPr preferRelativeResize="0"/>
          <p:nvPr/>
        </p:nvPicPr>
        <p:blipFill>
          <a:blip r:embed="rId3">
            <a:alphaModFix/>
          </a:blip>
          <a:stretch>
            <a:fillRect/>
          </a:stretch>
        </p:blipFill>
        <p:spPr>
          <a:xfrm>
            <a:off x="2215074" y="894175"/>
            <a:ext cx="5098551" cy="3781425"/>
          </a:xfrm>
          <a:prstGeom prst="rect">
            <a:avLst/>
          </a:prstGeom>
          <a:noFill/>
          <a:ln>
            <a:noFill/>
          </a:ln>
        </p:spPr>
      </p:pic>
      <p:sp>
        <p:nvSpPr>
          <p:cNvPr id="190" name="Google Shape;190;g3aa980f7394_0_27"/>
          <p:cNvSpPr txBox="1"/>
          <p:nvPr/>
        </p:nvSpPr>
        <p:spPr>
          <a:xfrm>
            <a:off x="788175" y="5142125"/>
            <a:ext cx="77679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consists of byte-level striping with a dedicated parity disk.</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aa980f7394_0_33"/>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196" name="Google Shape;196;g3aa980f7394_0_33"/>
          <p:cNvPicPr preferRelativeResize="0"/>
          <p:nvPr/>
        </p:nvPicPr>
        <p:blipFill>
          <a:blip r:embed="rId3">
            <a:alphaModFix/>
          </a:blip>
          <a:stretch>
            <a:fillRect/>
          </a:stretch>
        </p:blipFill>
        <p:spPr>
          <a:xfrm>
            <a:off x="1714500" y="838200"/>
            <a:ext cx="5715000" cy="4238625"/>
          </a:xfrm>
          <a:prstGeom prst="rect">
            <a:avLst/>
          </a:prstGeom>
          <a:noFill/>
          <a:ln>
            <a:noFill/>
          </a:ln>
        </p:spPr>
      </p:pic>
      <p:sp>
        <p:nvSpPr>
          <p:cNvPr id="197" name="Google Shape;197;g3aa980f7394_0_33"/>
          <p:cNvSpPr txBox="1"/>
          <p:nvPr/>
        </p:nvSpPr>
        <p:spPr>
          <a:xfrm>
            <a:off x="788175" y="5142125"/>
            <a:ext cx="77679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RAID 5 consists of block-level striping with distributed parity. Unlike in RAID 4, parity information is distributed among the drives.</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aa980f7394_0_39"/>
          <p:cNvSpPr txBox="1"/>
          <p:nvPr>
            <p:ph type="title"/>
          </p:nvPr>
        </p:nvSpPr>
        <p:spPr>
          <a:xfrm>
            <a:off x="685800" y="22860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203" name="Google Shape;203;g3aa980f7394_0_39"/>
          <p:cNvPicPr preferRelativeResize="0"/>
          <p:nvPr/>
        </p:nvPicPr>
        <p:blipFill>
          <a:blip r:embed="rId3">
            <a:alphaModFix/>
          </a:blip>
          <a:stretch>
            <a:fillRect/>
          </a:stretch>
        </p:blipFill>
        <p:spPr>
          <a:xfrm>
            <a:off x="1866900" y="887975"/>
            <a:ext cx="5715000" cy="3362325"/>
          </a:xfrm>
          <a:prstGeom prst="rect">
            <a:avLst/>
          </a:prstGeom>
          <a:noFill/>
          <a:ln>
            <a:noFill/>
          </a:ln>
        </p:spPr>
      </p:pic>
      <p:sp>
        <p:nvSpPr>
          <p:cNvPr id="204" name="Google Shape;204;g3aa980f7394_0_39"/>
          <p:cNvSpPr txBox="1"/>
          <p:nvPr/>
        </p:nvSpPr>
        <p:spPr>
          <a:xfrm>
            <a:off x="840450" y="4526325"/>
            <a:ext cx="7767900" cy="101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chemeClr val="dk1"/>
                </a:solidFill>
                <a:latin typeface="Helvetica Neue"/>
                <a:ea typeface="Helvetica Neue"/>
                <a:cs typeface="Helvetica Neue"/>
                <a:sym typeface="Helvetica Neue"/>
              </a:rPr>
              <a:t>Diagram of a RAID 6 setup, which is identical to RAID 5 other than the addition of a second parity block</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CCECFF"/>
            </a:gs>
          </a:gsLst>
          <a:lin ang="5400000" scaled="0"/>
        </a:gradFill>
      </p:bgPr>
    </p:bg>
    <p:spTree>
      <p:nvGrpSpPr>
        <p:cNvPr id="208" name="Shape 208"/>
        <p:cNvGrpSpPr/>
        <p:nvPr/>
      </p:nvGrpSpPr>
      <p:grpSpPr>
        <a:xfrm>
          <a:off x="0" y="0"/>
          <a:ext cx="0" cy="0"/>
          <a:chOff x="0" y="0"/>
          <a:chExt cx="0" cy="0"/>
        </a:xfrm>
      </p:grpSpPr>
      <p:sp>
        <p:nvSpPr>
          <p:cNvPr id="209" name="Google Shape;209;p30"/>
          <p:cNvSpPr txBox="1"/>
          <p:nvPr>
            <p:ph type="title"/>
          </p:nvPr>
        </p:nvSpPr>
        <p:spPr>
          <a:xfrm>
            <a:off x="685800" y="228600"/>
            <a:ext cx="8077200" cy="6096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RAID (0 + 1) and (1 + 0)</a:t>
            </a:r>
            <a:endParaRPr/>
          </a:p>
        </p:txBody>
      </p:sp>
      <p:pic>
        <p:nvPicPr>
          <p:cNvPr id="210" name="Google Shape;210;p30"/>
          <p:cNvPicPr preferRelativeResize="0"/>
          <p:nvPr/>
        </p:nvPicPr>
        <p:blipFill rotWithShape="1">
          <a:blip r:embed="rId3">
            <a:alphaModFix/>
          </a:blip>
          <a:srcRect b="926" l="17707" r="17948" t="607"/>
          <a:stretch/>
        </p:blipFill>
        <p:spPr>
          <a:xfrm>
            <a:off x="2236787" y="1300162"/>
            <a:ext cx="4498975" cy="5164137"/>
          </a:xfrm>
          <a:prstGeom prst="rect">
            <a:avLst/>
          </a:prstGeom>
          <a:noFill/>
          <a:ln cap="flat" cmpd="dbl" w="38100">
            <a:solidFill>
              <a:srgbClr val="CC6600"/>
            </a:solidFill>
            <a:prstDash val="solid"/>
            <a:miter lim="800000"/>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8F8F8"/>
            </a:gs>
            <a:gs pos="100000">
              <a:srgbClr val="99CCFF"/>
            </a:gs>
          </a:gsLst>
          <a:lin ang="5400012" scaled="0"/>
        </a:gradFill>
      </p:bgPr>
    </p:bg>
    <p:spTree>
      <p:nvGrpSpPr>
        <p:cNvPr id="214" name="Shape 214"/>
        <p:cNvGrpSpPr/>
        <p:nvPr/>
      </p:nvGrpSpPr>
      <p:grpSpPr>
        <a:xfrm>
          <a:off x="0" y="0"/>
          <a:ext cx="0" cy="0"/>
          <a:chOff x="0" y="0"/>
          <a:chExt cx="0" cy="0"/>
        </a:xfrm>
      </p:grpSpPr>
      <p:sp>
        <p:nvSpPr>
          <p:cNvPr id="215" name="Google Shape;215;p49"/>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993300"/>
              </a:buClr>
              <a:buSzPts val="3200"/>
              <a:buFont typeface="Helvetica Neue"/>
              <a:buNone/>
            </a:pPr>
            <a:r>
              <a:rPr b="1" i="0" lang="en-US" sz="3200" u="none">
                <a:solidFill>
                  <a:srgbClr val="993300"/>
                </a:solidFill>
                <a:latin typeface="Helvetica Neue"/>
                <a:ea typeface="Helvetica Neue"/>
                <a:cs typeface="Helvetica Neue"/>
                <a:sym typeface="Helvetica Neue"/>
              </a:rPr>
              <a:t>End of Chapter 12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s-w-java">
  <a:themeElements>
    <a:clrScheme name="default">
      <a:dk1>
        <a:srgbClr val="000000"/>
      </a:dk1>
      <a:lt1>
        <a:srgbClr val="FFFF99"/>
      </a:lt1>
      <a:dk2>
        <a:srgbClr val="CC3300"/>
      </a:dk2>
      <a:lt2>
        <a:srgbClr val="666699"/>
      </a:lt2>
      <a:accent1>
        <a:srgbClr val="FFCCCC"/>
      </a:accent1>
      <a:accent2>
        <a:srgbClr val="CCCC00"/>
      </a:accent2>
      <a:accent3>
        <a:srgbClr val="FFFF99"/>
      </a:accent3>
      <a:accent4>
        <a:srgbClr val="FFCCCC"/>
      </a:accent4>
      <a:accent5>
        <a:srgbClr val="CCCC00"/>
      </a:accent5>
      <a:accent6>
        <a:srgbClr val="FFFF99"/>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2004-10-07T18:29:30Z</dcterms:created>
  <dc:creator>Lucent End User</dc:creator>
</cp:coreProperties>
</file>