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Lst>
  <p:sldSz cy="6858000" cx="9144000"/>
  <p:notesSz cx="7315200" cy="9601200"/>
  <p:embeddedFontLst>
    <p:embeddedFont>
      <p:font typeface="Helvetica Neue"/>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801">
          <p15:clr>
            <a:srgbClr val="000000"/>
          </p15:clr>
        </p15:guide>
        <p15:guide id="2" pos="518">
          <p15:clr>
            <a:srgbClr val="000000"/>
          </p15:clr>
        </p15:guide>
      </p15:sldGuideLst>
    </p:ext>
    <p:ext uri="GoogleSlidesCustomDataVersion2">
      <go:slidesCustomData xmlns:go="http://customooxmlschemas.google.com/" r:id="rId57" roundtripDataSignature="AMtx7misWbvjPiyUcoN/UllOjc3zCK65d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801" orient="horz"/>
        <p:guide pos="51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font" Target="fonts/HelveticaNeue-regular.fntdata"/><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HelveticaNeue-italic.fntdata"/><Relationship Id="rId10" Type="http://schemas.openxmlformats.org/officeDocument/2006/relationships/slide" Target="slides/slide5.xml"/><Relationship Id="rId54" Type="http://schemas.openxmlformats.org/officeDocument/2006/relationships/font" Target="fonts/HelveticaNeue-bold.fntdata"/><Relationship Id="rId13" Type="http://schemas.openxmlformats.org/officeDocument/2006/relationships/slide" Target="slides/slide8.xml"/><Relationship Id="rId57" Type="http://customschemas.google.com/relationships/presentationmetadata" Target="metadata"/><Relationship Id="rId12" Type="http://schemas.openxmlformats.org/officeDocument/2006/relationships/slide" Target="slides/slide7.xml"/><Relationship Id="rId56" Type="http://schemas.openxmlformats.org/officeDocument/2006/relationships/font" Target="fonts/HelveticaNeue-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12" type="sldNum"/>
          </p:nvPr>
        </p:nvSpPr>
        <p:spPr>
          <a:xfrm>
            <a:off x="4146550" y="9121775"/>
            <a:ext cx="3168650" cy="479425"/>
          </a:xfrm>
          <a:prstGeom prst="rect">
            <a:avLst/>
          </a:prstGeom>
          <a:noFill/>
          <a:ln>
            <a:noFill/>
          </a:ln>
        </p:spPr>
        <p:txBody>
          <a:bodyPr anchorCtr="0" anchor="b" bIns="48325" lIns="96650" spcFirstLastPara="1" rIns="96650" wrap="square" tIns="48325">
            <a:noAutofit/>
          </a:bodyPr>
          <a:lstStyle/>
          <a:p>
            <a:pPr indent="0" lvl="0" marL="0" marR="0" rtl="0" algn="l">
              <a:lnSpc>
                <a:spcPct val="100000"/>
              </a:lnSpc>
              <a:spcBef>
                <a:spcPts val="0"/>
              </a:spcBef>
              <a:spcAft>
                <a:spcPts val="0"/>
              </a:spcAft>
              <a:buNone/>
            </a:pPr>
            <a:fld id="{00000000-1234-1234-1234-123412341234}" type="slidenum">
              <a:rPr b="0" i="0" lang="en-US" sz="2400" u="none" cap="none" strike="noStrike">
                <a:solidFill>
                  <a:srgbClr val="000000"/>
                </a:solidFill>
                <a:latin typeface="Times New Roman"/>
                <a:ea typeface="Times New Roman"/>
                <a:cs typeface="Times New Roman"/>
                <a:sym typeface="Times New Roman"/>
              </a:rPr>
              <a:t>‹#›</a:t>
            </a:fld>
            <a:endParaRPr/>
          </a:p>
        </p:txBody>
      </p:sp>
      <p:sp>
        <p:nvSpPr>
          <p:cNvPr id="4" name="Google Shape;4;n"/>
          <p:cNvSpPr txBox="1"/>
          <p:nvPr>
            <p:ph idx="2" type="hdr"/>
          </p:nvPr>
        </p:nvSpPr>
        <p:spPr>
          <a:xfrm>
            <a:off x="0" y="0"/>
            <a:ext cx="3168650" cy="479425"/>
          </a:xfrm>
          <a:prstGeom prst="rect">
            <a:avLst/>
          </a:prstGeom>
          <a:noFill/>
          <a:ln>
            <a:noFill/>
          </a:ln>
        </p:spPr>
        <p:txBody>
          <a:bodyPr anchorCtr="0" anchor="ctr" bIns="48325" lIns="96650" spcFirstLastPara="1" rIns="96650" wrap="square" tIns="48325">
            <a:noAutofit/>
          </a:bodyPr>
          <a:lstStyle>
            <a:lvl1pPr lvl="0" marR="0" rtl="0" algn="l">
              <a:lnSpc>
                <a:spcPct val="100000"/>
              </a:lnSpc>
              <a:spcBef>
                <a:spcPts val="0"/>
              </a:spcBef>
              <a:spcAft>
                <a:spcPts val="0"/>
              </a:spcAft>
              <a:buSzPts val="1400"/>
              <a:buNone/>
              <a:defRPr b="0" i="0" sz="1300" u="non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txBox="1"/>
          <p:nvPr>
            <p:ph idx="10" type="dt"/>
          </p:nvPr>
        </p:nvSpPr>
        <p:spPr>
          <a:xfrm>
            <a:off x="4146550" y="0"/>
            <a:ext cx="3168650" cy="479425"/>
          </a:xfrm>
          <a:prstGeom prst="rect">
            <a:avLst/>
          </a:prstGeom>
          <a:noFill/>
          <a:ln>
            <a:noFill/>
          </a:ln>
        </p:spPr>
        <p:txBody>
          <a:bodyPr anchorCtr="0" anchor="ctr" bIns="48325" lIns="96650" spcFirstLastPara="1" rIns="96650" wrap="square" tIns="48325">
            <a:noAutofit/>
          </a:bodyPr>
          <a:lstStyle>
            <a:lvl1pPr lvl="0" marR="0" rtl="0" algn="r">
              <a:lnSpc>
                <a:spcPct val="100000"/>
              </a:lnSpc>
              <a:spcBef>
                <a:spcPts val="0"/>
              </a:spcBef>
              <a:spcAft>
                <a:spcPts val="0"/>
              </a:spcAft>
              <a:buSzPts val="1400"/>
              <a:buNone/>
              <a:defRPr b="0" i="0" sz="1300" u="non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6" name="Google Shape;6;n"/>
          <p:cNvSpPr/>
          <p:nvPr>
            <p:ph idx="3"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7" name="Google Shape;7;n"/>
          <p:cNvSpPr txBox="1"/>
          <p:nvPr>
            <p:ph idx="1" type="body"/>
          </p:nvPr>
        </p:nvSpPr>
        <p:spPr>
          <a:xfrm>
            <a:off x="974725" y="4560887"/>
            <a:ext cx="5365750" cy="4319587"/>
          </a:xfrm>
          <a:prstGeom prst="rect">
            <a:avLst/>
          </a:prstGeom>
          <a:noFill/>
          <a:ln>
            <a:noFill/>
          </a:ln>
        </p:spPr>
        <p:txBody>
          <a:bodyPr anchorCtr="0" anchor="ctr" bIns="48325" lIns="96650" spcFirstLastPara="1" rIns="96650" wrap="square" tIns="4832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8" name="Google Shape;8;n"/>
          <p:cNvSpPr txBox="1"/>
          <p:nvPr>
            <p:ph idx="11" type="ftr"/>
          </p:nvPr>
        </p:nvSpPr>
        <p:spPr>
          <a:xfrm>
            <a:off x="0" y="9121775"/>
            <a:ext cx="3168650" cy="479425"/>
          </a:xfrm>
          <a:prstGeom prst="rect">
            <a:avLst/>
          </a:prstGeom>
          <a:noFill/>
          <a:ln>
            <a:noFill/>
          </a:ln>
        </p:spPr>
        <p:txBody>
          <a:bodyPr anchorCtr="0" anchor="b" bIns="48325" lIns="96650" spcFirstLastPara="1" rIns="96650" wrap="square" tIns="48325">
            <a:noAutofit/>
          </a:bodyPr>
          <a:lstStyle>
            <a:lvl1pPr lvl="0" marR="0" rtl="0" algn="l">
              <a:lnSpc>
                <a:spcPct val="100000"/>
              </a:lnSpc>
              <a:spcBef>
                <a:spcPts val="0"/>
              </a:spcBef>
              <a:spcAft>
                <a:spcPts val="0"/>
              </a:spcAft>
              <a:buSzPts val="1400"/>
              <a:buNone/>
              <a:defRPr b="0" i="0" sz="1300" u="non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9" name="Google Shape;9;n"/>
          <p:cNvSpPr txBox="1"/>
          <p:nvPr>
            <p:ph idx="4" type="sldNum"/>
          </p:nvPr>
        </p:nvSpPr>
        <p:spPr>
          <a:xfrm>
            <a:off x="4146550" y="9121775"/>
            <a:ext cx="3168650" cy="479425"/>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1: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51" name="Google Shape;51;p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2: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56" name="Google Shape;56;p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3: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62" name="Google Shape;62;p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4: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68" name="Google Shape;68;p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5: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74" name="Google Shape;74;p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6: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110" name="Google Shape;110;p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116" name="Google Shape;116;p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8: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123" name="Google Shape;123;p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130" name="Google Shape;130;p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0: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161" name="Google Shape;161;p1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1: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167" name="Google Shape;167;p1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2: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173" name="Google Shape;173;p1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3: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179" name="Google Shape;179;p1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4: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185" name="Google Shape;185;p1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5: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191" name="Google Shape;191;p1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6: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198" name="Google Shape;198;p1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7: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204" name="Google Shape;204;p1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8: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211" name="Google Shape;211;p1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9: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217" name="Google Shape;217;p1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0: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223" name="Google Shape;223;p2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1: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229" name="Google Shape;229;p2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2: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235" name="Google Shape;235;p2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3: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241" name="Google Shape;241;p2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4: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247" name="Google Shape;247;p2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5: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253" name="Google Shape;253;p2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6: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259" name="Google Shape;259;p2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7: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265" name="Google Shape;265;p2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8: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272" name="Google Shape;272;p2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9: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278" name="Google Shape;278;p2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30: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284" name="Google Shape;284;p3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31: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290" name="Google Shape;290;p3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a0c7fb647f_1_0:notes"/>
          <p:cNvSpPr txBox="1"/>
          <p:nvPr>
            <p:ph idx="12" type="sldNum"/>
          </p:nvPr>
        </p:nvSpPr>
        <p:spPr>
          <a:xfrm>
            <a:off x="4146550" y="9121775"/>
            <a:ext cx="3168600" cy="479400"/>
          </a:xfrm>
          <a:prstGeom prst="rect">
            <a:avLst/>
          </a:prstGeom>
        </p:spPr>
        <p:txBody>
          <a:bodyPr anchorCtr="0" anchor="b" bIns="48325" lIns="96650" spcFirstLastPara="1" rIns="96650" wrap="square" tIns="48325">
            <a:noAutofit/>
          </a:bodyPr>
          <a:lstStyle/>
          <a:p>
            <a:pPr indent="0" lvl="0" marL="0" rtl="0" algn="l">
              <a:spcBef>
                <a:spcPts val="0"/>
              </a:spcBef>
              <a:spcAft>
                <a:spcPts val="0"/>
              </a:spcAft>
              <a:buClr>
                <a:srgbClr val="000000"/>
              </a:buClr>
              <a:buFont typeface="Arial"/>
              <a:buNone/>
            </a:pPr>
            <a:fld id="{00000000-1234-1234-1234-123412341234}" type="slidenum">
              <a:rPr lang="en-US"/>
              <a:t>‹#›</a:t>
            </a:fld>
            <a:endParaRPr sz="1400">
              <a:latin typeface="Arial"/>
              <a:ea typeface="Arial"/>
              <a:cs typeface="Arial"/>
              <a:sym typeface="Arial"/>
            </a:endParaRPr>
          </a:p>
        </p:txBody>
      </p:sp>
      <p:sp>
        <p:nvSpPr>
          <p:cNvPr id="296" name="Google Shape;296;g3a0c7fb647f_1_0:notes"/>
          <p:cNvSpPr/>
          <p:nvPr>
            <p:ph idx="2" type="sldImg"/>
          </p:nvPr>
        </p:nvSpPr>
        <p:spPr>
          <a:xfrm>
            <a:off x="1257300" y="720725"/>
            <a:ext cx="4800600" cy="36006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a0c7fb647f_1_0:notes"/>
          <p:cNvSpPr txBox="1"/>
          <p:nvPr>
            <p:ph idx="1" type="body"/>
          </p:nvPr>
        </p:nvSpPr>
        <p:spPr>
          <a:xfrm>
            <a:off x="974725" y="4560887"/>
            <a:ext cx="5365800" cy="4319700"/>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298" name="Google Shape;298;g3a0c7fb647f_1_0:notes"/>
          <p:cNvSpPr txBox="1"/>
          <p:nvPr>
            <p:ph idx="3" type="sldNum"/>
          </p:nvPr>
        </p:nvSpPr>
        <p:spPr>
          <a:xfrm>
            <a:off x="4146550" y="9121775"/>
            <a:ext cx="3168600" cy="479400"/>
          </a:xfrm>
          <a:prstGeom prst="rect">
            <a:avLst/>
          </a:prstGeom>
        </p:spPr>
        <p:txBody>
          <a:bodyPr anchorCtr="0" anchor="b" bIns="48325" lIns="96650" spcFirstLastPara="1" rIns="96650" wrap="square" tIns="48325">
            <a:noAutofit/>
          </a:bodyPr>
          <a:lstStyle/>
          <a:p>
            <a:pPr indent="0" lvl="0" marL="0" rtl="0" algn="r">
              <a:spcBef>
                <a:spcPts val="0"/>
              </a:spcBef>
              <a:spcAft>
                <a:spcPts val="0"/>
              </a:spcAft>
              <a:buClr>
                <a:srgbClr val="000000"/>
              </a:buClr>
              <a:buSzPts val="13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33: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305" name="Google Shape;305;p3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34: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311" name="Google Shape;311;p3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35: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317" name="Google Shape;317;p3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6: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325" name="Google Shape;325;p3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37: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331" name="Google Shape;331;p3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38: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337" name="Google Shape;337;p3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39: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344" name="Google Shape;344;p3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a0c7fb647f_1_8:notes"/>
          <p:cNvSpPr txBox="1"/>
          <p:nvPr>
            <p:ph idx="12" type="sldNum"/>
          </p:nvPr>
        </p:nvSpPr>
        <p:spPr>
          <a:xfrm>
            <a:off x="4146550" y="9121775"/>
            <a:ext cx="3168600" cy="479400"/>
          </a:xfrm>
          <a:prstGeom prst="rect">
            <a:avLst/>
          </a:prstGeom>
        </p:spPr>
        <p:txBody>
          <a:bodyPr anchorCtr="0" anchor="b" bIns="48325" lIns="96650" spcFirstLastPara="1" rIns="96650" wrap="square" tIns="48325">
            <a:noAutofit/>
          </a:bodyPr>
          <a:lstStyle/>
          <a:p>
            <a:pPr indent="0" lvl="0" marL="0" rtl="0" algn="l">
              <a:spcBef>
                <a:spcPts val="0"/>
              </a:spcBef>
              <a:spcAft>
                <a:spcPts val="0"/>
              </a:spcAft>
              <a:buClr>
                <a:srgbClr val="000000"/>
              </a:buClr>
              <a:buFont typeface="Arial"/>
              <a:buNone/>
            </a:pPr>
            <a:fld id="{00000000-1234-1234-1234-123412341234}" type="slidenum">
              <a:rPr lang="en-US"/>
              <a:t>‹#›</a:t>
            </a:fld>
            <a:endParaRPr sz="1400">
              <a:latin typeface="Arial"/>
              <a:ea typeface="Arial"/>
              <a:cs typeface="Arial"/>
              <a:sym typeface="Arial"/>
            </a:endParaRPr>
          </a:p>
        </p:txBody>
      </p:sp>
      <p:sp>
        <p:nvSpPr>
          <p:cNvPr id="350" name="Google Shape;350;g3a0c7fb647f_1_8:notes"/>
          <p:cNvSpPr/>
          <p:nvPr>
            <p:ph idx="2" type="sldImg"/>
          </p:nvPr>
        </p:nvSpPr>
        <p:spPr>
          <a:xfrm>
            <a:off x="1257300" y="720725"/>
            <a:ext cx="4800600" cy="36006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a0c7fb647f_1_8:notes"/>
          <p:cNvSpPr txBox="1"/>
          <p:nvPr>
            <p:ph idx="1" type="body"/>
          </p:nvPr>
        </p:nvSpPr>
        <p:spPr>
          <a:xfrm>
            <a:off x="974725" y="4560887"/>
            <a:ext cx="5365800" cy="4319700"/>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352" name="Google Shape;352;g3a0c7fb647f_1_8:notes"/>
          <p:cNvSpPr txBox="1"/>
          <p:nvPr>
            <p:ph idx="3" type="sldNum"/>
          </p:nvPr>
        </p:nvSpPr>
        <p:spPr>
          <a:xfrm>
            <a:off x="4146550" y="9121775"/>
            <a:ext cx="3168600" cy="479400"/>
          </a:xfrm>
          <a:prstGeom prst="rect">
            <a:avLst/>
          </a:prstGeom>
        </p:spPr>
        <p:txBody>
          <a:bodyPr anchorCtr="0" anchor="b" bIns="48325" lIns="96650" spcFirstLastPara="1" rIns="96650" wrap="square" tIns="48325">
            <a:noAutofit/>
          </a:bodyPr>
          <a:lstStyle/>
          <a:p>
            <a:pPr indent="0" lvl="0" marL="0" rtl="0" algn="r">
              <a:spcBef>
                <a:spcPts val="0"/>
              </a:spcBef>
              <a:spcAft>
                <a:spcPts val="0"/>
              </a:spcAft>
              <a:buClr>
                <a:srgbClr val="000000"/>
              </a:buClr>
              <a:buSzPts val="13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40: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358" name="Google Shape;358;p4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a0c7fb647f_1_23:notes"/>
          <p:cNvSpPr txBox="1"/>
          <p:nvPr>
            <p:ph idx="12" type="sldNum"/>
          </p:nvPr>
        </p:nvSpPr>
        <p:spPr>
          <a:xfrm>
            <a:off x="4146550" y="9121775"/>
            <a:ext cx="3168600" cy="479400"/>
          </a:xfrm>
          <a:prstGeom prst="rect">
            <a:avLst/>
          </a:prstGeom>
        </p:spPr>
        <p:txBody>
          <a:bodyPr anchorCtr="0" anchor="b" bIns="48325" lIns="96650" spcFirstLastPara="1" rIns="96650" wrap="square" tIns="48325">
            <a:noAutofit/>
          </a:bodyPr>
          <a:lstStyle/>
          <a:p>
            <a:pPr indent="0" lvl="0" marL="0" rtl="0" algn="l">
              <a:spcBef>
                <a:spcPts val="0"/>
              </a:spcBef>
              <a:spcAft>
                <a:spcPts val="0"/>
              </a:spcAft>
              <a:buNone/>
            </a:pPr>
            <a:fld id="{00000000-1234-1234-1234-123412341234}" type="slidenum">
              <a:rPr lang="en-US"/>
              <a:t>‹#›</a:t>
            </a:fld>
            <a:endParaRPr sz="1400">
              <a:latin typeface="Arial"/>
              <a:ea typeface="Arial"/>
              <a:cs typeface="Arial"/>
              <a:sym typeface="Arial"/>
            </a:endParaRPr>
          </a:p>
        </p:txBody>
      </p:sp>
      <p:sp>
        <p:nvSpPr>
          <p:cNvPr id="364" name="Google Shape;364;g3a0c7fb647f_1_23:notes"/>
          <p:cNvSpPr/>
          <p:nvPr>
            <p:ph idx="2" type="sldImg"/>
          </p:nvPr>
        </p:nvSpPr>
        <p:spPr>
          <a:xfrm>
            <a:off x="1257300" y="720725"/>
            <a:ext cx="4800600" cy="36006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a0c7fb647f_1_23:notes"/>
          <p:cNvSpPr txBox="1"/>
          <p:nvPr>
            <p:ph idx="1" type="body"/>
          </p:nvPr>
        </p:nvSpPr>
        <p:spPr>
          <a:xfrm>
            <a:off x="974725" y="4560887"/>
            <a:ext cx="5365800" cy="4319700"/>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366" name="Google Shape;366;g3a0c7fb647f_1_23:notes"/>
          <p:cNvSpPr txBox="1"/>
          <p:nvPr>
            <p:ph idx="3" type="sldNum"/>
          </p:nvPr>
        </p:nvSpPr>
        <p:spPr>
          <a:xfrm>
            <a:off x="4146550" y="9121775"/>
            <a:ext cx="3168600" cy="479400"/>
          </a:xfrm>
          <a:prstGeom prst="rect">
            <a:avLst/>
          </a:prstGeom>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41: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372" name="Google Shape;372;p4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42: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378" name="Google Shape;378;p4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43: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384" name="Google Shape;384;p4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44:notes"/>
          <p:cNvSpPr txBox="1"/>
          <p:nvPr>
            <p:ph idx="1" type="body"/>
          </p:nvPr>
        </p:nvSpPr>
        <p:spPr>
          <a:xfrm>
            <a:off x="974725" y="4560887"/>
            <a:ext cx="5365750" cy="4319587"/>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390" name="Google Shape;390;p4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a0c7fb647f_1_44:notes"/>
          <p:cNvSpPr txBox="1"/>
          <p:nvPr>
            <p:ph idx="1" type="body"/>
          </p:nvPr>
        </p:nvSpPr>
        <p:spPr>
          <a:xfrm>
            <a:off x="974725" y="4560887"/>
            <a:ext cx="5365800" cy="4319700"/>
          </a:xfrm>
          <a:prstGeom prst="rect">
            <a:avLst/>
          </a:prstGeom>
        </p:spPr>
        <p:txBody>
          <a:bodyPr anchorCtr="0" anchor="ctr" bIns="48325" lIns="96650" spcFirstLastPara="1" rIns="96650" wrap="square" tIns="48325">
            <a:noAutofit/>
          </a:bodyPr>
          <a:lstStyle/>
          <a:p>
            <a:pPr indent="0" lvl="0" marL="0" rtl="0" algn="l">
              <a:spcBef>
                <a:spcPts val="0"/>
              </a:spcBef>
              <a:spcAft>
                <a:spcPts val="0"/>
              </a:spcAft>
              <a:buNone/>
            </a:pPr>
            <a:r>
              <a:t/>
            </a:r>
            <a:endParaRPr/>
          </a:p>
        </p:txBody>
      </p:sp>
      <p:sp>
        <p:nvSpPr>
          <p:cNvPr id="395" name="Google Shape;395;g3a0c7fb647f_1_44:notes"/>
          <p:cNvSpPr/>
          <p:nvPr>
            <p:ph idx="2" type="sldImg"/>
          </p:nvPr>
        </p:nvSpPr>
        <p:spPr>
          <a:xfrm>
            <a:off x="1257300" y="720725"/>
            <a:ext cx="4800600" cy="3600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gradFill>
          <a:gsLst>
            <a:gs pos="0">
              <a:srgbClr val="F8F8F8"/>
            </a:gs>
            <a:gs pos="100000">
              <a:srgbClr val="99CCFF"/>
            </a:gs>
          </a:gsLst>
          <a:lin ang="5400000" scaled="0"/>
        </a:gradFill>
      </p:bgPr>
    </p:bg>
    <p:spTree>
      <p:nvGrpSpPr>
        <p:cNvPr id="30" name="Shape 30"/>
        <p:cNvGrpSpPr/>
        <p:nvPr/>
      </p:nvGrpSpPr>
      <p:grpSpPr>
        <a:xfrm>
          <a:off x="0" y="0"/>
          <a:ext cx="0" cy="0"/>
          <a:chOff x="0" y="0"/>
          <a:chExt cx="0" cy="0"/>
        </a:xfrm>
      </p:grpSpPr>
      <p:sp>
        <p:nvSpPr>
          <p:cNvPr id="31" name="Google Shape;31;p46"/>
          <p:cNvSpPr txBox="1"/>
          <p:nvPr>
            <p:ph type="ctrTitle"/>
          </p:nvPr>
        </p:nvSpPr>
        <p:spPr>
          <a:xfrm>
            <a:off x="685800" y="2286000"/>
            <a:ext cx="7772400" cy="11430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 name="Google Shape;32;p4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l">
              <a:lnSpc>
                <a:spcPct val="100000"/>
              </a:lnSpc>
              <a:spcBef>
                <a:spcPts val="630"/>
              </a:spcBef>
              <a:spcAft>
                <a:spcPts val="0"/>
              </a:spcAft>
              <a:buSzPts val="1620"/>
              <a:buChar char="●"/>
              <a:defRPr/>
            </a:lvl1pPr>
            <a:lvl2pPr lvl="1" algn="l">
              <a:lnSpc>
                <a:spcPct val="100000"/>
              </a:lnSpc>
              <a:spcBef>
                <a:spcPts val="630"/>
              </a:spcBef>
              <a:spcAft>
                <a:spcPts val="0"/>
              </a:spcAft>
              <a:buSzPts val="1440"/>
              <a:buChar char="●"/>
              <a:defRPr/>
            </a:lvl2pPr>
            <a:lvl3pPr lvl="2" algn="l">
              <a:lnSpc>
                <a:spcPct val="100000"/>
              </a:lnSpc>
              <a:spcBef>
                <a:spcPts val="630"/>
              </a:spcBef>
              <a:spcAft>
                <a:spcPts val="0"/>
              </a:spcAft>
              <a:buSzPts val="1350"/>
              <a:buChar char="4"/>
              <a:defRPr/>
            </a:lvl3pPr>
            <a:lvl4pPr lvl="3" algn="l">
              <a:lnSpc>
                <a:spcPct val="100000"/>
              </a:lnSpc>
              <a:spcBef>
                <a:spcPts val="630"/>
              </a:spcBef>
              <a:spcAft>
                <a:spcPts val="0"/>
              </a:spcAft>
              <a:buSzPts val="1350"/>
              <a:buChar char="–"/>
              <a:defRPr/>
            </a:lvl4pPr>
            <a:lvl5pPr lvl="4" algn="l">
              <a:lnSpc>
                <a:spcPct val="100000"/>
              </a:lnSpc>
              <a:spcBef>
                <a:spcPts val="630"/>
              </a:spcBef>
              <a:spcAft>
                <a:spcPts val="0"/>
              </a:spcAft>
              <a:buSzPts val="1350"/>
              <a:buChar char="»"/>
              <a:defRPr/>
            </a:lvl5pPr>
            <a:lvl6pPr lvl="5" algn="l">
              <a:lnSpc>
                <a:spcPct val="100000"/>
              </a:lnSpc>
              <a:spcBef>
                <a:spcPts val="630"/>
              </a:spcBef>
              <a:spcAft>
                <a:spcPts val="0"/>
              </a:spcAft>
              <a:buSzPts val="1350"/>
              <a:buChar char="»"/>
              <a:defRPr/>
            </a:lvl6pPr>
            <a:lvl7pPr lvl="6" algn="l">
              <a:lnSpc>
                <a:spcPct val="100000"/>
              </a:lnSpc>
              <a:spcBef>
                <a:spcPts val="630"/>
              </a:spcBef>
              <a:spcAft>
                <a:spcPts val="0"/>
              </a:spcAft>
              <a:buSzPts val="1350"/>
              <a:buChar char="»"/>
              <a:defRPr/>
            </a:lvl7pPr>
            <a:lvl8pPr lvl="7" algn="l">
              <a:lnSpc>
                <a:spcPct val="100000"/>
              </a:lnSpc>
              <a:spcBef>
                <a:spcPts val="630"/>
              </a:spcBef>
              <a:spcAft>
                <a:spcPts val="0"/>
              </a:spcAft>
              <a:buSzPts val="1350"/>
              <a:buChar char="»"/>
              <a:defRPr/>
            </a:lvl8pPr>
            <a:lvl9pPr lvl="8" algn="l">
              <a:lnSpc>
                <a:spcPct val="100000"/>
              </a:lnSpc>
              <a:spcBef>
                <a:spcPts val="630"/>
              </a:spcBef>
              <a:spcAft>
                <a:spcPts val="0"/>
              </a:spcAft>
              <a:buSzPts val="1350"/>
              <a:buChar char="»"/>
              <a:defRPr/>
            </a:lvl9pPr>
          </a:lstStyle>
          <a:p/>
        </p:txBody>
      </p:sp>
      <p:sp>
        <p:nvSpPr>
          <p:cNvPr id="33" name="Google Shape;33;p46"/>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700"/>
              </a:spcBef>
              <a:spcAft>
                <a:spcPts val="0"/>
              </a:spcAft>
              <a:buSzPts val="1400"/>
              <a:buNone/>
              <a:defRPr b="0" i="0" sz="1400" u="none">
                <a:solidFill>
                  <a:srgbClr val="578963"/>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34" name="Google Shape;34;p46"/>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700"/>
              </a:spcBef>
              <a:spcAft>
                <a:spcPts val="0"/>
              </a:spcAft>
              <a:buSzPts val="1400"/>
              <a:buNone/>
              <a:defRPr b="0" i="0" sz="1400" u="none">
                <a:solidFill>
                  <a:srgbClr val="578963"/>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35" name="Google Shape;35;p46"/>
          <p:cNvSpPr/>
          <p:nvPr/>
        </p:nvSpPr>
        <p:spPr>
          <a:xfrm>
            <a:off x="1524000" y="1397000"/>
            <a:ext cx="6096000" cy="4064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36" name="Google Shape;36;p46"/>
          <p:cNvPicPr preferRelativeResize="0"/>
          <p:nvPr/>
        </p:nvPicPr>
        <p:blipFill rotWithShape="1">
          <a:blip r:embed="rId2">
            <a:alphaModFix/>
          </a:blip>
          <a:srcRect b="0" l="0" r="0" t="0"/>
          <a:stretch/>
        </p:blipFill>
        <p:spPr>
          <a:xfrm>
            <a:off x="3179762" y="4829175"/>
            <a:ext cx="2349500" cy="1419225"/>
          </a:xfrm>
          <a:prstGeom prst="rect">
            <a:avLst/>
          </a:prstGeom>
          <a:noFill/>
          <a:ln cap="flat" cmpd="dbl" w="38100">
            <a:solidFill>
              <a:schemeClr val="dk2"/>
            </a:solidFill>
            <a:prstDash val="solid"/>
            <a:miter lim="800000"/>
            <a:headEnd len="sm" w="sm" type="none"/>
            <a:tailEnd len="sm" w="sm" type="none"/>
          </a:ln>
        </p:spPr>
      </p:pic>
      <p:pic>
        <p:nvPicPr>
          <p:cNvPr id="37" name="Google Shape;37;p46"/>
          <p:cNvPicPr preferRelativeResize="0"/>
          <p:nvPr/>
        </p:nvPicPr>
        <p:blipFill rotWithShape="1">
          <a:blip r:embed="rId3">
            <a:alphaModFix/>
          </a:blip>
          <a:srcRect b="0" l="0" r="0" t="0"/>
          <a:stretch/>
        </p:blipFill>
        <p:spPr>
          <a:xfrm>
            <a:off x="1539875" y="3603625"/>
            <a:ext cx="6035675" cy="3429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38" name="Shape 38"/>
        <p:cNvGrpSpPr/>
        <p:nvPr/>
      </p:nvGrpSpPr>
      <p:grpSpPr>
        <a:xfrm>
          <a:off x="0" y="0"/>
          <a:ext cx="0" cy="0"/>
          <a:chOff x="0" y="0"/>
          <a:chExt cx="0" cy="0"/>
        </a:xfrm>
      </p:grpSpPr>
      <p:sp>
        <p:nvSpPr>
          <p:cNvPr id="39" name="Google Shape;39;p47"/>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 name="Google Shape;40;p47"/>
          <p:cNvSpPr txBox="1"/>
          <p:nvPr>
            <p:ph idx="1" type="body"/>
          </p:nvPr>
        </p:nvSpPr>
        <p:spPr>
          <a:xfrm>
            <a:off x="827087" y="1282700"/>
            <a:ext cx="7351712" cy="4483100"/>
          </a:xfrm>
          <a:prstGeom prst="rect">
            <a:avLst/>
          </a:prstGeom>
          <a:noFill/>
          <a:ln>
            <a:noFill/>
          </a:ln>
        </p:spPr>
        <p:txBody>
          <a:bodyPr anchorCtr="0" anchor="t" bIns="45700" lIns="91425" spcFirstLastPara="1" rIns="91425" wrap="square" tIns="45700">
            <a:noAutofit/>
          </a:bodyPr>
          <a:lstStyle>
            <a:lvl1pPr indent="-331470" lvl="0" marL="457200" algn="l">
              <a:lnSpc>
                <a:spcPct val="100000"/>
              </a:lnSpc>
              <a:spcBef>
                <a:spcPts val="630"/>
              </a:spcBef>
              <a:spcAft>
                <a:spcPts val="0"/>
              </a:spcAft>
              <a:buSzPts val="1620"/>
              <a:buChar char="●"/>
              <a:defRPr/>
            </a:lvl1pPr>
            <a:lvl2pPr indent="-320040" lvl="1" marL="914400" algn="l">
              <a:lnSpc>
                <a:spcPct val="100000"/>
              </a:lnSpc>
              <a:spcBef>
                <a:spcPts val="630"/>
              </a:spcBef>
              <a:spcAft>
                <a:spcPts val="0"/>
              </a:spcAft>
              <a:buSzPts val="1440"/>
              <a:buChar char="●"/>
              <a:defRPr/>
            </a:lvl2pPr>
            <a:lvl3pPr indent="-314325" lvl="2" marL="1371600" algn="l">
              <a:lnSpc>
                <a:spcPct val="100000"/>
              </a:lnSpc>
              <a:spcBef>
                <a:spcPts val="630"/>
              </a:spcBef>
              <a:spcAft>
                <a:spcPts val="0"/>
              </a:spcAft>
              <a:buSzPts val="1350"/>
              <a:buChar char="4"/>
              <a:defRPr/>
            </a:lvl3pPr>
            <a:lvl4pPr indent="-314325" lvl="3" marL="1828800" algn="l">
              <a:lnSpc>
                <a:spcPct val="100000"/>
              </a:lnSpc>
              <a:spcBef>
                <a:spcPts val="630"/>
              </a:spcBef>
              <a:spcAft>
                <a:spcPts val="0"/>
              </a:spcAft>
              <a:buSzPts val="1350"/>
              <a:buChar char="–"/>
              <a:defRPr/>
            </a:lvl4pPr>
            <a:lvl5pPr indent="-314325" lvl="4" marL="2286000" algn="l">
              <a:lnSpc>
                <a:spcPct val="100000"/>
              </a:lnSpc>
              <a:spcBef>
                <a:spcPts val="630"/>
              </a:spcBef>
              <a:spcAft>
                <a:spcPts val="0"/>
              </a:spcAft>
              <a:buSzPts val="1350"/>
              <a:buChar char="»"/>
              <a:defRPr/>
            </a:lvl5pPr>
            <a:lvl6pPr indent="-314325" lvl="5" marL="2743200" algn="l">
              <a:lnSpc>
                <a:spcPct val="100000"/>
              </a:lnSpc>
              <a:spcBef>
                <a:spcPts val="630"/>
              </a:spcBef>
              <a:spcAft>
                <a:spcPts val="0"/>
              </a:spcAft>
              <a:buSzPts val="1350"/>
              <a:buChar char="»"/>
              <a:defRPr/>
            </a:lvl6pPr>
            <a:lvl7pPr indent="-314325" lvl="6" marL="3200400" algn="l">
              <a:lnSpc>
                <a:spcPct val="100000"/>
              </a:lnSpc>
              <a:spcBef>
                <a:spcPts val="630"/>
              </a:spcBef>
              <a:spcAft>
                <a:spcPts val="0"/>
              </a:spcAft>
              <a:buSzPts val="1350"/>
              <a:buChar char="»"/>
              <a:defRPr/>
            </a:lvl7pPr>
            <a:lvl8pPr indent="-314325" lvl="7" marL="3657600" algn="l">
              <a:lnSpc>
                <a:spcPct val="100000"/>
              </a:lnSpc>
              <a:spcBef>
                <a:spcPts val="630"/>
              </a:spcBef>
              <a:spcAft>
                <a:spcPts val="0"/>
              </a:spcAft>
              <a:buSzPts val="1350"/>
              <a:buChar char="»"/>
              <a:defRPr/>
            </a:lvl8pPr>
            <a:lvl9pPr indent="-314325" lvl="8" marL="4114800" algn="l">
              <a:lnSpc>
                <a:spcPct val="100000"/>
              </a:lnSpc>
              <a:spcBef>
                <a:spcPts val="630"/>
              </a:spcBef>
              <a:spcAft>
                <a:spcPts val="0"/>
              </a:spcAft>
              <a:buSzPts val="1350"/>
              <a:buChar char="»"/>
              <a:defRPr/>
            </a:lvl9pPr>
          </a:lstStyle>
          <a:p/>
        </p:txBody>
      </p:sp>
      <p:sp>
        <p:nvSpPr>
          <p:cNvPr id="41" name="Google Shape;41;p47"/>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42" name="Google Shape;42;p47"/>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43" name="Google Shape;43;p47"/>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1pPr>
            <a:lvl2pPr indent="0" lvl="1"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2pPr>
            <a:lvl3pPr indent="0" lvl="2"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3pPr>
            <a:lvl4pPr indent="0" lvl="3"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4pPr>
            <a:lvl5pPr indent="0" lvl="4"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5pPr>
            <a:lvl6pPr indent="0" lvl="5"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6pPr>
            <a:lvl7pPr indent="0" lvl="6"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7pPr>
            <a:lvl8pPr indent="0" lvl="7"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8pPr>
            <a:lvl9pPr indent="0" lvl="8"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4" name="Shape 44"/>
        <p:cNvGrpSpPr/>
        <p:nvPr/>
      </p:nvGrpSpPr>
      <p:grpSpPr>
        <a:xfrm>
          <a:off x="0" y="0"/>
          <a:ext cx="0" cy="0"/>
          <a:chOff x="0" y="0"/>
          <a:chExt cx="0" cy="0"/>
        </a:xfrm>
      </p:grpSpPr>
      <p:sp>
        <p:nvSpPr>
          <p:cNvPr id="45" name="Google Shape;45;p48"/>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6" name="Google Shape;46;p48"/>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47" name="Google Shape;47;p48"/>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48" name="Google Shape;48;p48"/>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1pPr>
            <a:lvl2pPr indent="0" lvl="1"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2pPr>
            <a:lvl3pPr indent="0" lvl="2"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3pPr>
            <a:lvl4pPr indent="0" lvl="3"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4pPr>
            <a:lvl5pPr indent="0" lvl="4"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5pPr>
            <a:lvl6pPr indent="0" lvl="5"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6pPr>
            <a:lvl7pPr indent="0" lvl="6"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7pPr>
            <a:lvl8pPr indent="0" lvl="7"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8pPr>
            <a:lvl9pPr indent="0" lvl="8"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jpg"/><Relationship Id="rId2" Type="http://schemas.openxmlformats.org/officeDocument/2006/relationships/image" Target="../media/image5.jp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10" name="Shape 10"/>
        <p:cNvGrpSpPr/>
        <p:nvPr/>
      </p:nvGrpSpPr>
      <p:grpSpPr>
        <a:xfrm>
          <a:off x="0" y="0"/>
          <a:ext cx="0" cy="0"/>
          <a:chOff x="0" y="0"/>
          <a:chExt cx="0" cy="0"/>
        </a:xfrm>
      </p:grpSpPr>
      <p:sp>
        <p:nvSpPr>
          <p:cNvPr id="11" name="Google Shape;11;p45"/>
          <p:cNvSpPr txBox="1"/>
          <p:nvPr>
            <p:ph idx="1" type="body"/>
          </p:nvPr>
        </p:nvSpPr>
        <p:spPr>
          <a:xfrm>
            <a:off x="827087" y="1282700"/>
            <a:ext cx="7351712" cy="4483100"/>
          </a:xfrm>
          <a:prstGeom prst="rect">
            <a:avLst/>
          </a:prstGeom>
          <a:noFill/>
          <a:ln>
            <a:noFill/>
          </a:ln>
        </p:spPr>
        <p:txBody>
          <a:bodyPr anchorCtr="0" anchor="t" bIns="45700" lIns="91425" spcFirstLastPara="1" rIns="91425" wrap="square" tIns="45700">
            <a:noAutofit/>
          </a:bodyPr>
          <a:lstStyle>
            <a:lvl1pPr indent="-331470" lvl="0" marL="457200" marR="0" rtl="0" algn="l">
              <a:lnSpc>
                <a:spcPct val="100000"/>
              </a:lnSpc>
              <a:spcBef>
                <a:spcPts val="630"/>
              </a:spcBef>
              <a:spcAft>
                <a:spcPts val="0"/>
              </a:spcAft>
              <a:buClr>
                <a:srgbClr val="993300"/>
              </a:buClr>
              <a:buSzPts val="1620"/>
              <a:buFont typeface="Arial"/>
              <a:buChar char="●"/>
              <a:defRPr b="0" i="0" sz="1800" u="none" cap="none" strike="noStrike">
                <a:solidFill>
                  <a:schemeClr val="dk1"/>
                </a:solidFill>
                <a:latin typeface="Helvetica Neue"/>
                <a:ea typeface="Helvetica Neue"/>
                <a:cs typeface="Helvetica Neue"/>
                <a:sym typeface="Helvetica Neue"/>
              </a:defRPr>
            </a:lvl1pPr>
            <a:lvl2pPr indent="-320040" lvl="1" marL="914400" marR="0" rtl="0" algn="l">
              <a:lnSpc>
                <a:spcPct val="100000"/>
              </a:lnSpc>
              <a:spcBef>
                <a:spcPts val="630"/>
              </a:spcBef>
              <a:spcAft>
                <a:spcPts val="0"/>
              </a:spcAft>
              <a:buClr>
                <a:srgbClr val="CC6600"/>
              </a:buClr>
              <a:buSzPts val="1440"/>
              <a:buFont typeface="Arial"/>
              <a:buChar char="●"/>
              <a:defRPr b="0" i="0" sz="1800" u="none" cap="none" strike="noStrike">
                <a:solidFill>
                  <a:schemeClr val="dk1"/>
                </a:solidFill>
                <a:latin typeface="Helvetica Neue"/>
                <a:ea typeface="Helvetica Neue"/>
                <a:cs typeface="Helvetica Neue"/>
                <a:sym typeface="Helvetica Neue"/>
              </a:defRPr>
            </a:lvl2pPr>
            <a:lvl3pPr indent="-314325" lvl="2" marL="1371600" marR="0" rtl="0" algn="l">
              <a:lnSpc>
                <a:spcPct val="100000"/>
              </a:lnSpc>
              <a:spcBef>
                <a:spcPts val="630"/>
              </a:spcBef>
              <a:spcAft>
                <a:spcPts val="0"/>
              </a:spcAft>
              <a:buClr>
                <a:srgbClr val="009900"/>
              </a:buClr>
              <a:buSzPts val="1350"/>
              <a:buFont typeface="Arimo"/>
              <a:buChar char="4"/>
              <a:defRPr b="0" i="0" sz="1800" u="none" cap="none" strike="noStrike">
                <a:solidFill>
                  <a:schemeClr val="dk1"/>
                </a:solidFill>
                <a:latin typeface="Helvetica Neue"/>
                <a:ea typeface="Helvetica Neue"/>
                <a:cs typeface="Helvetica Neue"/>
                <a:sym typeface="Helvetica Neue"/>
              </a:defRPr>
            </a:lvl3pPr>
            <a:lvl4pPr indent="-314325" lvl="3" marL="1828800" marR="0" rtl="0" algn="l">
              <a:lnSpc>
                <a:spcPct val="100000"/>
              </a:lnSpc>
              <a:spcBef>
                <a:spcPts val="630"/>
              </a:spcBef>
              <a:spcAft>
                <a:spcPts val="0"/>
              </a:spcAft>
              <a:buClr>
                <a:schemeClr val="hlink"/>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4pPr>
            <a:lvl5pPr indent="-314325" lvl="4" marL="2286000" marR="0" rtl="0" algn="l">
              <a:lnSpc>
                <a:spcPct val="100000"/>
              </a:lnSpc>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5pPr>
            <a:lvl6pPr indent="-314325" lvl="5" marL="2743200" marR="0" rtl="0" algn="l">
              <a:lnSpc>
                <a:spcPct val="100000"/>
              </a:lnSpc>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14325" lvl="6" marL="3200400" marR="0" rtl="0" algn="l">
              <a:lnSpc>
                <a:spcPct val="100000"/>
              </a:lnSpc>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14325" lvl="7" marL="3657600" marR="0" rtl="0" algn="l">
              <a:lnSpc>
                <a:spcPct val="100000"/>
              </a:lnSpc>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14325" lvl="8" marL="4114800" marR="0" rtl="0" algn="l">
              <a:lnSpc>
                <a:spcPct val="100000"/>
              </a:lnSpc>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
        <p:nvSpPr>
          <p:cNvPr id="12" name="Google Shape;12;p45"/>
          <p:cNvSpPr txBox="1"/>
          <p:nvPr/>
        </p:nvSpPr>
        <p:spPr>
          <a:xfrm>
            <a:off x="4267200" y="6613525"/>
            <a:ext cx="444500" cy="244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993300"/>
              </a:buClr>
              <a:buSzPts val="1000"/>
              <a:buFont typeface="Helvetica Neue"/>
              <a:buNone/>
            </a:pPr>
            <a:r>
              <a:rPr b="1" i="0" lang="en-US" sz="1000" u="none">
                <a:solidFill>
                  <a:srgbClr val="993300"/>
                </a:solidFill>
                <a:latin typeface="Helvetica Neue"/>
                <a:ea typeface="Helvetica Neue"/>
                <a:cs typeface="Helvetica Neue"/>
                <a:sym typeface="Helvetica Neue"/>
              </a:rPr>
              <a:t>7.</a:t>
            </a:r>
            <a:fld id="{00000000-1234-1234-1234-123412341234}" type="slidenum">
              <a:rPr b="1" i="0" lang="en-US" sz="1000" u="none">
                <a:solidFill>
                  <a:srgbClr val="993300"/>
                </a:solidFill>
                <a:latin typeface="Helvetica Neue"/>
                <a:ea typeface="Helvetica Neue"/>
                <a:cs typeface="Helvetica Neue"/>
                <a:sym typeface="Helvetica Neue"/>
              </a:rPr>
              <a:t>‹#›</a:t>
            </a:fld>
            <a:endParaRPr/>
          </a:p>
        </p:txBody>
      </p:sp>
      <p:sp>
        <p:nvSpPr>
          <p:cNvPr id="13" name="Google Shape;13;p45"/>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SzPts val="1400"/>
              <a:buNone/>
              <a:defRPr b="1" i="0" sz="3200" u="none" cap="none" strike="noStrike">
                <a:solidFill>
                  <a:srgbClr val="993300"/>
                </a:solidFill>
                <a:latin typeface="Helvetica Neue"/>
                <a:ea typeface="Helvetica Neue"/>
                <a:cs typeface="Helvetica Neue"/>
                <a:sym typeface="Helvetica Neue"/>
              </a:defRPr>
            </a:lvl1pPr>
            <a:lvl2pPr lvl="1" marR="0" rtl="0" algn="ctr">
              <a:lnSpc>
                <a:spcPct val="100000"/>
              </a:lnSpc>
              <a:spcBef>
                <a:spcPts val="0"/>
              </a:spcBef>
              <a:spcAft>
                <a:spcPts val="0"/>
              </a:spcAft>
              <a:buSzPts val="1400"/>
              <a:buNone/>
              <a:defRPr b="1" i="0" sz="3200" u="none" cap="none" strike="noStrike">
                <a:solidFill>
                  <a:srgbClr val="993300"/>
                </a:solidFill>
                <a:latin typeface="Helvetica Neue"/>
                <a:ea typeface="Helvetica Neue"/>
                <a:cs typeface="Helvetica Neue"/>
                <a:sym typeface="Helvetica Neue"/>
              </a:defRPr>
            </a:lvl2pPr>
            <a:lvl3pPr lvl="2" marR="0" rtl="0" algn="ctr">
              <a:lnSpc>
                <a:spcPct val="100000"/>
              </a:lnSpc>
              <a:spcBef>
                <a:spcPts val="0"/>
              </a:spcBef>
              <a:spcAft>
                <a:spcPts val="0"/>
              </a:spcAft>
              <a:buSzPts val="1400"/>
              <a:buNone/>
              <a:defRPr b="1" i="0" sz="3200" u="none" cap="none" strike="noStrike">
                <a:solidFill>
                  <a:srgbClr val="993300"/>
                </a:solidFill>
                <a:latin typeface="Helvetica Neue"/>
                <a:ea typeface="Helvetica Neue"/>
                <a:cs typeface="Helvetica Neue"/>
                <a:sym typeface="Helvetica Neue"/>
              </a:defRPr>
            </a:lvl3pPr>
            <a:lvl4pPr lvl="3" marR="0" rtl="0" algn="ctr">
              <a:lnSpc>
                <a:spcPct val="100000"/>
              </a:lnSpc>
              <a:spcBef>
                <a:spcPts val="0"/>
              </a:spcBef>
              <a:spcAft>
                <a:spcPts val="0"/>
              </a:spcAft>
              <a:buSzPts val="1400"/>
              <a:buNone/>
              <a:defRPr b="1" i="0" sz="3200" u="none" cap="none" strike="noStrike">
                <a:solidFill>
                  <a:srgbClr val="993300"/>
                </a:solidFill>
                <a:latin typeface="Helvetica Neue"/>
                <a:ea typeface="Helvetica Neue"/>
                <a:cs typeface="Helvetica Neue"/>
                <a:sym typeface="Helvetica Neue"/>
              </a:defRPr>
            </a:lvl4pPr>
            <a:lvl5pPr lvl="4" marR="0" rtl="0" algn="ctr">
              <a:lnSpc>
                <a:spcPct val="100000"/>
              </a:lnSpc>
              <a:spcBef>
                <a:spcPts val="0"/>
              </a:spcBef>
              <a:spcAft>
                <a:spcPts val="0"/>
              </a:spcAft>
              <a:buSzPts val="1400"/>
              <a:buNone/>
              <a:defRPr b="1" i="0" sz="3200" u="none" cap="none" strike="noStrike">
                <a:solidFill>
                  <a:srgbClr val="993300"/>
                </a:solidFill>
                <a:latin typeface="Helvetica Neue"/>
                <a:ea typeface="Helvetica Neue"/>
                <a:cs typeface="Helvetica Neue"/>
                <a:sym typeface="Helvetica Neue"/>
              </a:defRPr>
            </a:lvl5pPr>
            <a:lvl6pPr lvl="5" marR="0" rtl="0" algn="ctr">
              <a:lnSpc>
                <a:spcPct val="100000"/>
              </a:lnSpc>
              <a:spcBef>
                <a:spcPts val="0"/>
              </a:spcBef>
              <a:spcAft>
                <a:spcPts val="0"/>
              </a:spcAft>
              <a:buSzPts val="1400"/>
              <a:buNone/>
              <a:defRPr b="1" i="0" sz="3200" u="none" cap="none" strike="noStrike">
                <a:solidFill>
                  <a:srgbClr val="993300"/>
                </a:solidFill>
                <a:latin typeface="Helvetica Neue"/>
                <a:ea typeface="Helvetica Neue"/>
                <a:cs typeface="Helvetica Neue"/>
                <a:sym typeface="Helvetica Neue"/>
              </a:defRPr>
            </a:lvl6pPr>
            <a:lvl7pPr lvl="6" marR="0" rtl="0" algn="ctr">
              <a:lnSpc>
                <a:spcPct val="100000"/>
              </a:lnSpc>
              <a:spcBef>
                <a:spcPts val="0"/>
              </a:spcBef>
              <a:spcAft>
                <a:spcPts val="0"/>
              </a:spcAft>
              <a:buSzPts val="1400"/>
              <a:buNone/>
              <a:defRPr b="1" i="0" sz="3200" u="none" cap="none" strike="noStrike">
                <a:solidFill>
                  <a:srgbClr val="993300"/>
                </a:solidFill>
                <a:latin typeface="Helvetica Neue"/>
                <a:ea typeface="Helvetica Neue"/>
                <a:cs typeface="Helvetica Neue"/>
                <a:sym typeface="Helvetica Neue"/>
              </a:defRPr>
            </a:lvl7pPr>
            <a:lvl8pPr lvl="7" marR="0" rtl="0" algn="ctr">
              <a:lnSpc>
                <a:spcPct val="100000"/>
              </a:lnSpc>
              <a:spcBef>
                <a:spcPts val="0"/>
              </a:spcBef>
              <a:spcAft>
                <a:spcPts val="0"/>
              </a:spcAft>
              <a:buSzPts val="1400"/>
              <a:buNone/>
              <a:defRPr b="1" i="0" sz="3200" u="none" cap="none" strike="noStrike">
                <a:solidFill>
                  <a:srgbClr val="993300"/>
                </a:solidFill>
                <a:latin typeface="Helvetica Neue"/>
                <a:ea typeface="Helvetica Neue"/>
                <a:cs typeface="Helvetica Neue"/>
                <a:sym typeface="Helvetica Neue"/>
              </a:defRPr>
            </a:lvl8pPr>
            <a:lvl9pPr lvl="8" marR="0" rtl="0" algn="ctr">
              <a:lnSpc>
                <a:spcPct val="100000"/>
              </a:lnSpc>
              <a:spcBef>
                <a:spcPts val="0"/>
              </a:spcBef>
              <a:spcAft>
                <a:spcPts val="0"/>
              </a:spcAft>
              <a:buSzPts val="1400"/>
              <a:buNone/>
              <a:defRPr b="1" i="0" sz="3200" u="none" cap="none" strike="noStrike">
                <a:solidFill>
                  <a:srgbClr val="993300"/>
                </a:solidFill>
                <a:latin typeface="Helvetica Neue"/>
                <a:ea typeface="Helvetica Neue"/>
                <a:cs typeface="Helvetica Neue"/>
                <a:sym typeface="Helvetica Neue"/>
              </a:defRPr>
            </a:lvl9pPr>
          </a:lstStyle>
          <a:p/>
        </p:txBody>
      </p:sp>
      <p:sp>
        <p:nvSpPr>
          <p:cNvPr id="14" name="Google Shape;14;p45"/>
          <p:cNvSpPr/>
          <p:nvPr/>
        </p:nvSpPr>
        <p:spPr>
          <a:xfrm flipH="1" rot="-2400000">
            <a:off x="1609725" y="4962525"/>
            <a:ext cx="9525" cy="1587"/>
          </a:xfrm>
          <a:custGeom>
            <a:rect b="b" l="l" r="r" t="t"/>
            <a:pathLst>
              <a:path extrusionOk="0" h="4" w="20">
                <a:moveTo>
                  <a:pt x="20" y="4"/>
                </a:moveTo>
                <a:lnTo>
                  <a:pt x="0" y="0"/>
                </a:lnTo>
                <a:lnTo>
                  <a:pt x="16" y="0"/>
                </a:lnTo>
                <a:lnTo>
                  <a:pt x="20"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 name="Google Shape;15;p45"/>
          <p:cNvSpPr/>
          <p:nvPr/>
        </p:nvSpPr>
        <p:spPr>
          <a:xfrm flipH="1" rot="-120000">
            <a:off x="1189037" y="4205287"/>
            <a:ext cx="4762" cy="1587"/>
          </a:xfrm>
          <a:custGeom>
            <a:rect b="b" l="l" r="r" t="t"/>
            <a:pathLst>
              <a:path extrusionOk="0" h="4" w="12">
                <a:moveTo>
                  <a:pt x="12" y="4"/>
                </a:moveTo>
                <a:lnTo>
                  <a:pt x="0" y="0"/>
                </a:lnTo>
                <a:lnTo>
                  <a:pt x="12" y="0"/>
                </a:lnTo>
                <a:lnTo>
                  <a:pt x="12"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6" name="Google Shape;16;p45"/>
          <p:cNvSpPr/>
          <p:nvPr/>
        </p:nvSpPr>
        <p:spPr>
          <a:xfrm>
            <a:off x="5164137" y="4206875"/>
            <a:ext cx="7937" cy="9525"/>
          </a:xfrm>
          <a:custGeom>
            <a:rect b="b" l="l" r="r" t="t"/>
            <a:pathLst>
              <a:path extrusionOk="0" h="12" w="12">
                <a:moveTo>
                  <a:pt x="7" y="12"/>
                </a:moveTo>
                <a:lnTo>
                  <a:pt x="0" y="10"/>
                </a:lnTo>
                <a:lnTo>
                  <a:pt x="12" y="0"/>
                </a:lnTo>
                <a:lnTo>
                  <a:pt x="7" y="1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7" name="Google Shape;17;p45"/>
          <p:cNvSpPr txBox="1"/>
          <p:nvPr/>
        </p:nvSpPr>
        <p:spPr>
          <a:xfrm>
            <a:off x="6489700" y="6588125"/>
            <a:ext cx="2713037" cy="244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993300"/>
              </a:buClr>
              <a:buSzPts val="1000"/>
              <a:buFont typeface="Helvetica Neue"/>
              <a:buNone/>
            </a:pPr>
            <a:r>
              <a:rPr b="1" i="0" lang="en-US" sz="1000" u="none">
                <a:solidFill>
                  <a:srgbClr val="993300"/>
                </a:solidFill>
                <a:latin typeface="Helvetica Neue"/>
                <a:ea typeface="Helvetica Neue"/>
                <a:cs typeface="Helvetica Neue"/>
                <a:sym typeface="Helvetica Neue"/>
              </a:rPr>
              <a:t>Silberschatz, Galvin and Gagne ©2005</a:t>
            </a:r>
            <a:endParaRPr/>
          </a:p>
        </p:txBody>
      </p:sp>
      <p:sp>
        <p:nvSpPr>
          <p:cNvPr id="18" name="Google Shape;18;p45"/>
          <p:cNvSpPr txBox="1"/>
          <p:nvPr/>
        </p:nvSpPr>
        <p:spPr>
          <a:xfrm>
            <a:off x="0" y="6613525"/>
            <a:ext cx="3430587" cy="244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93300"/>
              </a:buClr>
              <a:buSzPts val="1000"/>
              <a:buFont typeface="Helvetica Neue"/>
              <a:buNone/>
            </a:pPr>
            <a:r>
              <a:rPr b="1" i="0" lang="en-US" sz="1000" u="none">
                <a:solidFill>
                  <a:srgbClr val="993300"/>
                </a:solidFill>
                <a:latin typeface="Helvetica Neue"/>
                <a:ea typeface="Helvetica Neue"/>
                <a:cs typeface="Helvetica Neue"/>
                <a:sym typeface="Helvetica Neue"/>
              </a:rPr>
              <a:t>Operating System Concepts - 7</a:t>
            </a:r>
            <a:r>
              <a:rPr b="1" baseline="30000" i="0" lang="en-US" sz="1000" u="none">
                <a:solidFill>
                  <a:srgbClr val="993300"/>
                </a:solidFill>
                <a:latin typeface="Helvetica Neue"/>
                <a:ea typeface="Helvetica Neue"/>
                <a:cs typeface="Helvetica Neue"/>
                <a:sym typeface="Helvetica Neue"/>
              </a:rPr>
              <a:t>th</a:t>
            </a:r>
            <a:r>
              <a:rPr b="1" i="0" lang="en-US" sz="1000" u="none">
                <a:solidFill>
                  <a:srgbClr val="993300"/>
                </a:solidFill>
                <a:latin typeface="Helvetica Neue"/>
                <a:ea typeface="Helvetica Neue"/>
                <a:cs typeface="Helvetica Neue"/>
                <a:sym typeface="Helvetica Neue"/>
              </a:rPr>
              <a:t> Edition, Feb 14, 2005</a:t>
            </a:r>
            <a:endParaRPr/>
          </a:p>
        </p:txBody>
      </p:sp>
      <p:sp>
        <p:nvSpPr>
          <p:cNvPr id="19" name="Google Shape;19;p45"/>
          <p:cNvSpPr/>
          <p:nvPr/>
        </p:nvSpPr>
        <p:spPr>
          <a:xfrm>
            <a:off x="-1658937" y="1109662"/>
            <a:ext cx="4762" cy="1587"/>
          </a:xfrm>
          <a:custGeom>
            <a:rect b="b" l="l" r="r" t="t"/>
            <a:pathLst>
              <a:path extrusionOk="0" h="120000" w="13">
                <a:moveTo>
                  <a:pt x="13" y="0"/>
                </a:moveTo>
                <a:lnTo>
                  <a:pt x="0" y="0"/>
                </a:lnTo>
                <a:lnTo>
                  <a:pt x="7" y="0"/>
                </a:lnTo>
                <a:lnTo>
                  <a:pt x="1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 name="Google Shape;20;p45"/>
          <p:cNvSpPr/>
          <p:nvPr/>
        </p:nvSpPr>
        <p:spPr>
          <a:xfrm>
            <a:off x="-898525" y="1169987"/>
            <a:ext cx="3175" cy="1587"/>
          </a:xfrm>
          <a:custGeom>
            <a:rect b="b" l="l" r="r" t="t"/>
            <a:pathLst>
              <a:path extrusionOk="0" h="120000" w="10">
                <a:moveTo>
                  <a:pt x="0" y="0"/>
                </a:moveTo>
                <a:lnTo>
                  <a:pt x="10" y="0"/>
                </a:lnTo>
                <a:lnTo>
                  <a:pt x="6"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1" name="Google Shape;21;p45"/>
          <p:cNvSpPr/>
          <p:nvPr/>
        </p:nvSpPr>
        <p:spPr>
          <a:xfrm>
            <a:off x="-1479550" y="423862"/>
            <a:ext cx="1587" cy="1587"/>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2" name="Google Shape;22;p45"/>
          <p:cNvSpPr/>
          <p:nvPr/>
        </p:nvSpPr>
        <p:spPr>
          <a:xfrm>
            <a:off x="-1466850" y="889000"/>
            <a:ext cx="6350" cy="1587"/>
          </a:xfrm>
          <a:custGeom>
            <a:rect b="b" l="l" r="r" t="t"/>
            <a:pathLst>
              <a:path extrusionOk="0" h="7" w="18">
                <a:moveTo>
                  <a:pt x="0" y="7"/>
                </a:moveTo>
                <a:lnTo>
                  <a:pt x="12" y="0"/>
                </a:lnTo>
                <a:lnTo>
                  <a:pt x="18" y="0"/>
                </a:lnTo>
                <a:lnTo>
                  <a:pt x="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 name="Google Shape;23;p45"/>
          <p:cNvSpPr/>
          <p:nvPr/>
        </p:nvSpPr>
        <p:spPr>
          <a:xfrm>
            <a:off x="-1639887" y="1144587"/>
            <a:ext cx="1587" cy="6350"/>
          </a:xfrm>
          <a:custGeom>
            <a:rect b="b" l="l" r="r" t="t"/>
            <a:pathLst>
              <a:path extrusionOk="0" h="16" w="6">
                <a:moveTo>
                  <a:pt x="0" y="16"/>
                </a:moveTo>
                <a:lnTo>
                  <a:pt x="6" y="0"/>
                </a:lnTo>
                <a:lnTo>
                  <a:pt x="3" y="13"/>
                </a:lnTo>
                <a:lnTo>
                  <a:pt x="0" y="1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 name="Google Shape;24;p45"/>
          <p:cNvSpPr/>
          <p:nvPr/>
        </p:nvSpPr>
        <p:spPr>
          <a:xfrm>
            <a:off x="-1247775" y="1146175"/>
            <a:ext cx="4762" cy="7937"/>
          </a:xfrm>
          <a:custGeom>
            <a:rect b="b" l="l" r="r" t="t"/>
            <a:pathLst>
              <a:path extrusionOk="0" h="20" w="11">
                <a:moveTo>
                  <a:pt x="8" y="20"/>
                </a:moveTo>
                <a:lnTo>
                  <a:pt x="0" y="0"/>
                </a:lnTo>
                <a:lnTo>
                  <a:pt x="11" y="16"/>
                </a:lnTo>
                <a:lnTo>
                  <a:pt x="8" y="2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 name="Google Shape;25;p45"/>
          <p:cNvSpPr/>
          <p:nvPr/>
        </p:nvSpPr>
        <p:spPr>
          <a:xfrm>
            <a:off x="-1101725" y="1228725"/>
            <a:ext cx="1587" cy="6350"/>
          </a:xfrm>
          <a:custGeom>
            <a:rect b="b" l="l" r="r" t="t"/>
            <a:pathLst>
              <a:path extrusionOk="0" h="14" w="7">
                <a:moveTo>
                  <a:pt x="0" y="14"/>
                </a:moveTo>
                <a:lnTo>
                  <a:pt x="7" y="0"/>
                </a:lnTo>
                <a:lnTo>
                  <a:pt x="7" y="7"/>
                </a:lnTo>
                <a:lnTo>
                  <a:pt x="0"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 name="Google Shape;26;p45"/>
          <p:cNvSpPr/>
          <p:nvPr/>
        </p:nvSpPr>
        <p:spPr>
          <a:xfrm>
            <a:off x="-1303337" y="1270000"/>
            <a:ext cx="12700" cy="1587"/>
          </a:xfrm>
          <a:custGeom>
            <a:rect b="b" l="l" r="r" t="t"/>
            <a:pathLst>
              <a:path extrusionOk="0" h="3" w="30">
                <a:moveTo>
                  <a:pt x="0" y="3"/>
                </a:moveTo>
                <a:lnTo>
                  <a:pt x="15" y="0"/>
                </a:lnTo>
                <a:lnTo>
                  <a:pt x="30" y="0"/>
                </a:lnTo>
                <a:lnTo>
                  <a:pt x="0" y="3"/>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7" name="Google Shape;27;p45"/>
          <p:cNvSpPr/>
          <p:nvPr/>
        </p:nvSpPr>
        <p:spPr>
          <a:xfrm>
            <a:off x="1176337" y="885825"/>
            <a:ext cx="4762" cy="9525"/>
          </a:xfrm>
          <a:custGeom>
            <a:rect b="b" l="l" r="r" t="t"/>
            <a:pathLst>
              <a:path extrusionOk="0" h="24" w="9">
                <a:moveTo>
                  <a:pt x="0" y="24"/>
                </a:moveTo>
                <a:lnTo>
                  <a:pt x="9" y="0"/>
                </a:lnTo>
                <a:lnTo>
                  <a:pt x="6" y="17"/>
                </a:lnTo>
                <a:lnTo>
                  <a:pt x="0" y="2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28" name="Google Shape;28;p45"/>
          <p:cNvPicPr preferRelativeResize="0"/>
          <p:nvPr/>
        </p:nvPicPr>
        <p:blipFill rotWithShape="1">
          <a:blip r:embed="rId1">
            <a:alphaModFix/>
          </a:blip>
          <a:srcRect b="0" l="0" r="0" t="0"/>
          <a:stretch/>
        </p:blipFill>
        <p:spPr>
          <a:xfrm>
            <a:off x="8118475" y="6010275"/>
            <a:ext cx="1011237" cy="611187"/>
          </a:xfrm>
          <a:prstGeom prst="rect">
            <a:avLst/>
          </a:prstGeom>
          <a:noFill/>
          <a:ln>
            <a:noFill/>
          </a:ln>
        </p:spPr>
      </p:pic>
      <p:pic>
        <p:nvPicPr>
          <p:cNvPr id="29" name="Google Shape;29;p45"/>
          <p:cNvPicPr preferRelativeResize="0"/>
          <p:nvPr/>
        </p:nvPicPr>
        <p:blipFill rotWithShape="1">
          <a:blip r:embed="rId2">
            <a:alphaModFix/>
          </a:blip>
          <a:srcRect b="0" l="0" r="0" t="0"/>
          <a:stretch/>
        </p:blipFill>
        <p:spPr>
          <a:xfrm>
            <a:off x="0" y="0"/>
            <a:ext cx="600075" cy="110172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hyperlink" Target="https://www.placementpreparation.io/blog/operating-system-project-ideas-for-beginners/#basic-file-compression-too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99CCFF"/>
            </a:gs>
          </a:gsLst>
          <a:lin ang="5400000" scaled="0"/>
        </a:gradFill>
      </p:bgPr>
    </p:bg>
    <p:spTree>
      <p:nvGrpSpPr>
        <p:cNvPr id="52" name="Shape 52"/>
        <p:cNvGrpSpPr/>
        <p:nvPr/>
      </p:nvGrpSpPr>
      <p:grpSpPr>
        <a:xfrm>
          <a:off x="0" y="0"/>
          <a:ext cx="0" cy="0"/>
          <a:chOff x="0" y="0"/>
          <a:chExt cx="0" cy="0"/>
        </a:xfrm>
      </p:grpSpPr>
      <p:sp>
        <p:nvSpPr>
          <p:cNvPr id="53" name="Google Shape;53;p1"/>
          <p:cNvSpPr txBox="1"/>
          <p:nvPr>
            <p:ph type="ctrTitle"/>
          </p:nvPr>
        </p:nvSpPr>
        <p:spPr>
          <a:xfrm>
            <a:off x="685800" y="2286000"/>
            <a:ext cx="7772400" cy="1143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Chapter 7:  Deadlocks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57" name="Shape 57"/>
        <p:cNvGrpSpPr/>
        <p:nvPr/>
      </p:nvGrpSpPr>
      <p:grpSpPr>
        <a:xfrm>
          <a:off x="0" y="0"/>
          <a:ext cx="0" cy="0"/>
          <a:chOff x="0" y="0"/>
          <a:chExt cx="0" cy="0"/>
        </a:xfrm>
      </p:grpSpPr>
      <p:sp>
        <p:nvSpPr>
          <p:cNvPr id="58" name="Google Shape;58;p2"/>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Chapter 7:  Deadlocks</a:t>
            </a:r>
            <a:endParaRPr/>
          </a:p>
        </p:txBody>
      </p:sp>
      <p:sp>
        <p:nvSpPr>
          <p:cNvPr id="59" name="Google Shape;59;p2"/>
          <p:cNvSpPr txBox="1"/>
          <p:nvPr>
            <p:ph idx="1" type="body"/>
          </p:nvPr>
        </p:nvSpPr>
        <p:spPr>
          <a:xfrm>
            <a:off x="827087" y="1282700"/>
            <a:ext cx="7351712" cy="4483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530"/>
              <a:buFont typeface="Arial"/>
              <a:buChar char="●"/>
            </a:pPr>
            <a:r>
              <a:rPr b="0" i="0" lang="en-US" sz="1800" u="none" cap="none" strike="noStrike">
                <a:solidFill>
                  <a:schemeClr val="dk1"/>
                </a:solidFill>
                <a:latin typeface="Helvetica Neue"/>
                <a:ea typeface="Helvetica Neue"/>
                <a:cs typeface="Helvetica Neue"/>
                <a:sym typeface="Helvetica Neue"/>
              </a:rPr>
              <a:t>The Deadlock Problem</a:t>
            </a:r>
            <a:endParaRPr/>
          </a:p>
          <a:p>
            <a:pPr indent="-342900" lvl="0" marL="342900" marR="0" rtl="0" algn="l">
              <a:lnSpc>
                <a:spcPct val="100000"/>
              </a:lnSpc>
              <a:spcBef>
                <a:spcPts val="630"/>
              </a:spcBef>
              <a:spcAft>
                <a:spcPts val="0"/>
              </a:spcAft>
              <a:buClr>
                <a:srgbClr val="993300"/>
              </a:buClr>
              <a:buSzPts val="1530"/>
              <a:buFont typeface="Arial"/>
              <a:buChar char="●"/>
            </a:pPr>
            <a:r>
              <a:rPr b="0" i="0" lang="en-US" sz="1800" u="none" cap="none" strike="noStrike">
                <a:solidFill>
                  <a:schemeClr val="dk1"/>
                </a:solidFill>
                <a:latin typeface="Helvetica Neue"/>
                <a:ea typeface="Helvetica Neue"/>
                <a:cs typeface="Helvetica Neue"/>
                <a:sym typeface="Helvetica Neue"/>
              </a:rPr>
              <a:t>System Model</a:t>
            </a:r>
            <a:endParaRPr/>
          </a:p>
          <a:p>
            <a:pPr indent="-342900" lvl="0" marL="342900" marR="0" rtl="0" algn="l">
              <a:lnSpc>
                <a:spcPct val="100000"/>
              </a:lnSpc>
              <a:spcBef>
                <a:spcPts val="630"/>
              </a:spcBef>
              <a:spcAft>
                <a:spcPts val="0"/>
              </a:spcAft>
              <a:buClr>
                <a:srgbClr val="993300"/>
              </a:buClr>
              <a:buSzPts val="1530"/>
              <a:buFont typeface="Arial"/>
              <a:buChar char="●"/>
            </a:pPr>
            <a:r>
              <a:rPr b="0" i="0" lang="en-US" sz="1800" u="none" cap="none" strike="noStrike">
                <a:solidFill>
                  <a:schemeClr val="dk1"/>
                </a:solidFill>
                <a:latin typeface="Helvetica Neue"/>
                <a:ea typeface="Helvetica Neue"/>
                <a:cs typeface="Helvetica Neue"/>
                <a:sym typeface="Helvetica Neue"/>
              </a:rPr>
              <a:t>Deadlock Characterization</a:t>
            </a:r>
            <a:endParaRPr/>
          </a:p>
          <a:p>
            <a:pPr indent="-342900" lvl="0" marL="342900" marR="0" rtl="0" algn="l">
              <a:lnSpc>
                <a:spcPct val="100000"/>
              </a:lnSpc>
              <a:spcBef>
                <a:spcPts val="630"/>
              </a:spcBef>
              <a:spcAft>
                <a:spcPts val="0"/>
              </a:spcAft>
              <a:buClr>
                <a:srgbClr val="993300"/>
              </a:buClr>
              <a:buSzPts val="1530"/>
              <a:buFont typeface="Arial"/>
              <a:buChar char="●"/>
            </a:pPr>
            <a:r>
              <a:rPr b="0" i="0" lang="en-US" sz="1800" u="none" cap="none" strike="noStrike">
                <a:solidFill>
                  <a:schemeClr val="dk1"/>
                </a:solidFill>
                <a:latin typeface="Helvetica Neue"/>
                <a:ea typeface="Helvetica Neue"/>
                <a:cs typeface="Helvetica Neue"/>
                <a:sym typeface="Helvetica Neue"/>
              </a:rPr>
              <a:t>Methods for Handling Deadlocks</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Deadlock Prevention</a:t>
            </a:r>
            <a:endParaRPr/>
          </a:p>
          <a:p>
            <a:pPr indent="-342900" lvl="0" marL="342900" marR="0" rtl="0" algn="l">
              <a:lnSpc>
                <a:spcPct val="100000"/>
              </a:lnSpc>
              <a:spcBef>
                <a:spcPts val="630"/>
              </a:spcBef>
              <a:spcAft>
                <a:spcPts val="0"/>
              </a:spcAft>
              <a:buClr>
                <a:srgbClr val="993300"/>
              </a:buClr>
              <a:buSzPts val="1530"/>
              <a:buFont typeface="Arial"/>
              <a:buChar char="●"/>
            </a:pPr>
            <a:r>
              <a:rPr b="0" i="0" lang="en-US" sz="1800" u="none" cap="none" strike="noStrike">
                <a:solidFill>
                  <a:schemeClr val="dk1"/>
                </a:solidFill>
                <a:latin typeface="Helvetica Neue"/>
                <a:ea typeface="Helvetica Neue"/>
                <a:cs typeface="Helvetica Neue"/>
                <a:sym typeface="Helvetica Neue"/>
              </a:rPr>
              <a:t>Deadlock Avoidance</a:t>
            </a:r>
            <a:endParaRPr/>
          </a:p>
          <a:p>
            <a:pPr indent="-342900" lvl="0" marL="342900" marR="0" rtl="0" algn="l">
              <a:lnSpc>
                <a:spcPct val="100000"/>
              </a:lnSpc>
              <a:spcBef>
                <a:spcPts val="630"/>
              </a:spcBef>
              <a:spcAft>
                <a:spcPts val="0"/>
              </a:spcAft>
              <a:buClr>
                <a:srgbClr val="993300"/>
              </a:buClr>
              <a:buSzPts val="1530"/>
              <a:buFont typeface="Arial"/>
              <a:buChar char="●"/>
            </a:pPr>
            <a:r>
              <a:rPr b="0" i="0" lang="en-US" sz="1800" u="none" cap="none" strike="noStrike">
                <a:solidFill>
                  <a:schemeClr val="dk1"/>
                </a:solidFill>
                <a:latin typeface="Helvetica Neue"/>
                <a:ea typeface="Helvetica Neue"/>
                <a:cs typeface="Helvetica Neue"/>
                <a:sym typeface="Helvetica Neue"/>
              </a:rPr>
              <a:t>Deadlock Detection </a:t>
            </a:r>
            <a:endParaRPr/>
          </a:p>
          <a:p>
            <a:pPr indent="-342900" lvl="0" marL="342900" marR="0" rtl="0" algn="l">
              <a:lnSpc>
                <a:spcPct val="100000"/>
              </a:lnSpc>
              <a:spcBef>
                <a:spcPts val="630"/>
              </a:spcBef>
              <a:spcAft>
                <a:spcPts val="0"/>
              </a:spcAft>
              <a:buClr>
                <a:srgbClr val="993300"/>
              </a:buClr>
              <a:buSzPts val="1530"/>
              <a:buFont typeface="Arial"/>
              <a:buChar char="●"/>
            </a:pPr>
            <a:r>
              <a:rPr b="0" i="0" lang="en-US" sz="1800" u="none" cap="none" strike="noStrike">
                <a:solidFill>
                  <a:schemeClr val="dk1"/>
                </a:solidFill>
                <a:latin typeface="Helvetica Neue"/>
                <a:ea typeface="Helvetica Neue"/>
                <a:cs typeface="Helvetica Neue"/>
                <a:sym typeface="Helvetica Neue"/>
              </a:rPr>
              <a:t>Recovery from Deadlock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63" name="Shape 63"/>
        <p:cNvGrpSpPr/>
        <p:nvPr/>
      </p:nvGrpSpPr>
      <p:grpSpPr>
        <a:xfrm>
          <a:off x="0" y="0"/>
          <a:ext cx="0" cy="0"/>
          <a:chOff x="0" y="0"/>
          <a:chExt cx="0" cy="0"/>
        </a:xfrm>
      </p:grpSpPr>
      <p:sp>
        <p:nvSpPr>
          <p:cNvPr id="64" name="Google Shape;64;p3"/>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Chapter Objectives</a:t>
            </a:r>
            <a:endParaRPr/>
          </a:p>
        </p:txBody>
      </p:sp>
      <p:sp>
        <p:nvSpPr>
          <p:cNvPr id="65" name="Google Shape;65;p3"/>
          <p:cNvSpPr txBox="1"/>
          <p:nvPr>
            <p:ph idx="1" type="body"/>
          </p:nvPr>
        </p:nvSpPr>
        <p:spPr>
          <a:xfrm>
            <a:off x="827087" y="1282700"/>
            <a:ext cx="6256337" cy="44529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To develop a description of deadlocks, which prevent sets of concurrent processes from completing their tasks</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To present a number of different methods for preventing or avoiding deadlocks in a computer system.</a:t>
            </a:r>
            <a:endParaRPr/>
          </a:p>
          <a:p>
            <a:pPr indent="-240030" lvl="0" marL="342900" marR="0" rtl="0" algn="l">
              <a:lnSpc>
                <a:spcPct val="100000"/>
              </a:lnSpc>
              <a:spcBef>
                <a:spcPts val="63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69" name="Shape 69"/>
        <p:cNvGrpSpPr/>
        <p:nvPr/>
      </p:nvGrpSpPr>
      <p:grpSpPr>
        <a:xfrm>
          <a:off x="0" y="0"/>
          <a:ext cx="0" cy="0"/>
          <a:chOff x="0" y="0"/>
          <a:chExt cx="0" cy="0"/>
        </a:xfrm>
      </p:grpSpPr>
      <p:sp>
        <p:nvSpPr>
          <p:cNvPr id="70" name="Google Shape;70;p4"/>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The Deadlock Problem</a:t>
            </a:r>
            <a:endParaRPr/>
          </a:p>
        </p:txBody>
      </p:sp>
      <p:sp>
        <p:nvSpPr>
          <p:cNvPr id="71" name="Google Shape;71;p4"/>
          <p:cNvSpPr txBox="1"/>
          <p:nvPr>
            <p:ph idx="1" type="body"/>
          </p:nvPr>
        </p:nvSpPr>
        <p:spPr>
          <a:xfrm>
            <a:off x="827087" y="1282700"/>
            <a:ext cx="6929437" cy="4398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A set of blocked processes each holding a resource and waiting to acquire a resource held by another process in the set.</a:t>
            </a:r>
            <a:endParaRPr/>
          </a:p>
          <a:p>
            <a:pPr indent="-342900" lvl="0" marL="342900" marR="0" rtl="0" algn="l">
              <a:lnSpc>
                <a:spcPct val="100000"/>
              </a:lnSpc>
              <a:spcBef>
                <a:spcPts val="630"/>
              </a:spcBef>
              <a:spcAft>
                <a:spcPts val="0"/>
              </a:spcAft>
              <a:buClr>
                <a:srgbClr val="993300"/>
              </a:buClr>
              <a:buSzPts val="1530"/>
              <a:buFont typeface="Arial"/>
              <a:buChar char="●"/>
            </a:pPr>
            <a:r>
              <a:rPr b="0" i="0" lang="en-US" sz="1800" u="none">
                <a:solidFill>
                  <a:schemeClr val="dk1"/>
                </a:solidFill>
                <a:latin typeface="Helvetica Neue"/>
                <a:ea typeface="Helvetica Neue"/>
                <a:cs typeface="Helvetica Neue"/>
                <a:sym typeface="Helvetica Neue"/>
              </a:rPr>
              <a:t>Example </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System has 2 disk drives.</a:t>
            </a:r>
            <a:endParaRPr/>
          </a:p>
          <a:p>
            <a:pPr indent="-285750" lvl="1" marL="742950" marR="0" rtl="0" algn="l">
              <a:lnSpc>
                <a:spcPct val="100000"/>
              </a:lnSpc>
              <a:spcBef>
                <a:spcPts val="630"/>
              </a:spcBef>
              <a:spcAft>
                <a:spcPts val="0"/>
              </a:spcAft>
              <a:buClr>
                <a:srgbClr val="CC6600"/>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P</a:t>
            </a:r>
            <a:r>
              <a:rPr b="0" baseline="-25000" i="0" lang="en-US" sz="1800" u="none" cap="none" strike="noStrike">
                <a:solidFill>
                  <a:schemeClr val="dk1"/>
                </a:solidFill>
                <a:latin typeface="Helvetica Neue"/>
                <a:ea typeface="Helvetica Neue"/>
                <a:cs typeface="Helvetica Neue"/>
                <a:sym typeface="Helvetica Neue"/>
              </a:rPr>
              <a:t>1</a:t>
            </a:r>
            <a:r>
              <a:rPr b="0" i="0" lang="en-US" sz="1800" u="none" cap="none" strike="noStrike">
                <a:solidFill>
                  <a:schemeClr val="dk1"/>
                </a:solidFill>
                <a:latin typeface="Helvetica Neue"/>
                <a:ea typeface="Helvetica Neue"/>
                <a:cs typeface="Helvetica Neue"/>
                <a:sym typeface="Helvetica Neue"/>
              </a:rPr>
              <a:t> and </a:t>
            </a:r>
            <a:r>
              <a:rPr b="0" i="1" lang="en-US" sz="1800" u="none" cap="none" strike="noStrike">
                <a:solidFill>
                  <a:schemeClr val="dk1"/>
                </a:solidFill>
                <a:latin typeface="Helvetica Neue"/>
                <a:ea typeface="Helvetica Neue"/>
                <a:cs typeface="Helvetica Neue"/>
                <a:sym typeface="Helvetica Neue"/>
              </a:rPr>
              <a:t>P</a:t>
            </a:r>
            <a:r>
              <a:rPr b="0" baseline="-25000" i="0" lang="en-US" sz="1800" u="none" cap="none" strike="noStrike">
                <a:solidFill>
                  <a:schemeClr val="dk1"/>
                </a:solidFill>
                <a:latin typeface="Helvetica Neue"/>
                <a:ea typeface="Helvetica Neue"/>
                <a:cs typeface="Helvetica Neue"/>
                <a:sym typeface="Helvetica Neue"/>
              </a:rPr>
              <a:t>2</a:t>
            </a:r>
            <a:r>
              <a:rPr b="0" i="0" lang="en-US" sz="1800" u="none" cap="none" strike="noStrike">
                <a:solidFill>
                  <a:schemeClr val="dk1"/>
                </a:solidFill>
                <a:latin typeface="Helvetica Neue"/>
                <a:ea typeface="Helvetica Neue"/>
                <a:cs typeface="Helvetica Neue"/>
                <a:sym typeface="Helvetica Neue"/>
              </a:rPr>
              <a:t> each hold one disk drive and each needs another one.</a:t>
            </a:r>
            <a:endParaRPr/>
          </a:p>
          <a:p>
            <a:pPr indent="-342900" lvl="0" marL="342900" marR="0" rtl="0" algn="l">
              <a:lnSpc>
                <a:spcPct val="100000"/>
              </a:lnSpc>
              <a:spcBef>
                <a:spcPts val="630"/>
              </a:spcBef>
              <a:spcAft>
                <a:spcPts val="0"/>
              </a:spcAft>
              <a:buClr>
                <a:srgbClr val="993300"/>
              </a:buClr>
              <a:buSzPts val="1530"/>
              <a:buFont typeface="Arial"/>
              <a:buChar char="●"/>
            </a:pPr>
            <a:r>
              <a:rPr b="0" i="0" lang="en-US" sz="1800" u="none">
                <a:solidFill>
                  <a:schemeClr val="dk1"/>
                </a:solidFill>
                <a:latin typeface="Helvetica Neue"/>
                <a:ea typeface="Helvetica Neue"/>
                <a:cs typeface="Helvetica Neue"/>
                <a:sym typeface="Helvetica Neue"/>
              </a:rPr>
              <a:t>Example </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semaphores </a:t>
            </a:r>
            <a:r>
              <a:rPr b="0" i="1" lang="en-US" sz="1800" u="none" cap="none" strike="noStrike">
                <a:solidFill>
                  <a:schemeClr val="dk1"/>
                </a:solidFill>
                <a:latin typeface="Helvetica Neue"/>
                <a:ea typeface="Helvetica Neue"/>
                <a:cs typeface="Helvetica Neue"/>
                <a:sym typeface="Helvetica Neue"/>
              </a:rPr>
              <a:t>A</a:t>
            </a:r>
            <a:r>
              <a:rPr b="0" i="0" lang="en-US" sz="1800" u="none" cap="none" strike="noStrike">
                <a:solidFill>
                  <a:schemeClr val="dk1"/>
                </a:solidFill>
                <a:latin typeface="Helvetica Neue"/>
                <a:ea typeface="Helvetica Neue"/>
                <a:cs typeface="Helvetica Neue"/>
                <a:sym typeface="Helvetica Neue"/>
              </a:rPr>
              <a:t> and</a:t>
            </a:r>
            <a:r>
              <a:rPr b="0" i="1" lang="en-US" sz="1800" u="none" cap="none" strike="noStrike">
                <a:solidFill>
                  <a:schemeClr val="dk1"/>
                </a:solidFill>
                <a:latin typeface="Helvetica Neue"/>
                <a:ea typeface="Helvetica Neue"/>
                <a:cs typeface="Helvetica Neue"/>
                <a:sym typeface="Helvetica Neue"/>
              </a:rPr>
              <a:t> B</a:t>
            </a:r>
            <a:r>
              <a:rPr b="0" i="0" lang="en-US" sz="1800" u="none" cap="none" strike="noStrike">
                <a:solidFill>
                  <a:schemeClr val="dk1"/>
                </a:solidFill>
                <a:latin typeface="Helvetica Neue"/>
                <a:ea typeface="Helvetica Neue"/>
                <a:cs typeface="Helvetica Neue"/>
                <a:sym typeface="Helvetica Neue"/>
              </a:rPr>
              <a:t>, initialized to 1</a:t>
            </a:r>
            <a:endParaRPr b="0" i="0" sz="2800" u="none" cap="none" strike="noStrike">
              <a:solidFill>
                <a:schemeClr val="dk1"/>
              </a:solidFill>
              <a:latin typeface="Helvetica Neue"/>
              <a:ea typeface="Helvetica Neue"/>
              <a:cs typeface="Helvetica Neue"/>
              <a:sym typeface="Helvetica Neue"/>
            </a:endParaRPr>
          </a:p>
          <a:p>
            <a:pPr indent="-228600" lvl="4" marL="1771650" marR="0" rtl="0" algn="l">
              <a:lnSpc>
                <a:spcPct val="100000"/>
              </a:lnSpc>
              <a:spcBef>
                <a:spcPts val="980"/>
              </a:spcBef>
              <a:spcAft>
                <a:spcPts val="0"/>
              </a:spcAft>
              <a:buClr>
                <a:srgbClr val="FF0066"/>
              </a:buClr>
              <a:buSzPts val="2100"/>
              <a:buFont typeface="Helvetica Neue"/>
              <a:buNone/>
            </a:pPr>
            <a:r>
              <a:rPr b="0" i="0" lang="en-US" sz="2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P</a:t>
            </a:r>
            <a:r>
              <a:rPr b="0" baseline="-25000" i="0" lang="en-US" sz="1800" u="none" cap="none" strike="noStrike">
                <a:solidFill>
                  <a:schemeClr val="dk1"/>
                </a:solidFill>
                <a:latin typeface="Helvetica Neue"/>
                <a:ea typeface="Helvetica Neue"/>
                <a:cs typeface="Helvetica Neue"/>
                <a:sym typeface="Helvetica Neue"/>
              </a:rPr>
              <a:t>0</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P</a:t>
            </a:r>
            <a:r>
              <a:rPr b="0" baseline="-25000" i="0" lang="en-US" sz="1800" u="none" cap="none" strike="noStrike">
                <a:solidFill>
                  <a:schemeClr val="dk1"/>
                </a:solidFill>
                <a:latin typeface="Helvetica Neue"/>
                <a:ea typeface="Helvetica Neue"/>
                <a:cs typeface="Helvetica Neue"/>
                <a:sym typeface="Helvetica Neue"/>
              </a:rPr>
              <a:t>1</a:t>
            </a:r>
            <a:endParaRPr b="0" i="0" sz="1800" u="none" cap="none" strike="noStrike">
              <a:solidFill>
                <a:schemeClr val="dk1"/>
              </a:solidFill>
              <a:latin typeface="Helvetica Neue"/>
              <a:ea typeface="Helvetica Neue"/>
              <a:cs typeface="Helvetica Neue"/>
              <a:sym typeface="Helvetica Neue"/>
            </a:endParaRPr>
          </a:p>
          <a:p>
            <a:pPr indent="-228600" lvl="4" marL="1771650" marR="0" rtl="0" algn="l">
              <a:lnSpc>
                <a:spcPct val="100000"/>
              </a:lnSpc>
              <a:spcBef>
                <a:spcPts val="630"/>
              </a:spcBef>
              <a:spcAft>
                <a:spcPts val="0"/>
              </a:spcAft>
              <a:buClr>
                <a:srgbClr val="FF0066"/>
              </a:buClr>
              <a:buSzPts val="1350"/>
              <a:buFont typeface="Helvetica Neue"/>
              <a:buNone/>
            </a:pPr>
            <a:r>
              <a:rPr b="0" i="0" lang="en-US" sz="1800" u="none" cap="none" strike="noStrike">
                <a:solidFill>
                  <a:srgbClr val="0000FF"/>
                </a:solidFill>
                <a:latin typeface="Helvetica Neue"/>
                <a:ea typeface="Helvetica Neue"/>
                <a:cs typeface="Helvetica Neue"/>
                <a:sym typeface="Helvetica Neue"/>
              </a:rPr>
              <a:t>wait (A);		wait(B)</a:t>
            </a:r>
            <a:endParaRPr/>
          </a:p>
          <a:p>
            <a:pPr indent="-228600" lvl="4" marL="1771650" marR="0" rtl="0" algn="l">
              <a:lnSpc>
                <a:spcPct val="100000"/>
              </a:lnSpc>
              <a:spcBef>
                <a:spcPts val="630"/>
              </a:spcBef>
              <a:spcAft>
                <a:spcPts val="0"/>
              </a:spcAft>
              <a:buClr>
                <a:srgbClr val="FF0066"/>
              </a:buClr>
              <a:buSzPts val="1350"/>
              <a:buFont typeface="Helvetica Neue"/>
              <a:buNone/>
            </a:pPr>
            <a:r>
              <a:rPr b="0" i="0" lang="en-US" sz="1800" u="none" cap="none" strike="noStrike">
                <a:solidFill>
                  <a:srgbClr val="0000FF"/>
                </a:solidFill>
                <a:latin typeface="Helvetica Neue"/>
                <a:ea typeface="Helvetica Neue"/>
                <a:cs typeface="Helvetica Neue"/>
                <a:sym typeface="Helvetica Neue"/>
              </a:rPr>
              <a:t>wait (B);		wait(A)</a:t>
            </a:r>
            <a:endParaRPr/>
          </a:p>
          <a:p>
            <a:pPr indent="-240030" lvl="0" marL="342900" marR="0" rtl="0" algn="l">
              <a:lnSpc>
                <a:spcPct val="100000"/>
              </a:lnSpc>
              <a:spcBef>
                <a:spcPts val="630"/>
              </a:spcBef>
              <a:spcAft>
                <a:spcPts val="0"/>
              </a:spcAft>
              <a:buClr>
                <a:srgbClr val="993300"/>
              </a:buClr>
              <a:buSzPts val="1620"/>
              <a:buFont typeface="Arial"/>
              <a:buNone/>
            </a:pPr>
            <a:r>
              <a:t/>
            </a:r>
            <a:endParaRPr b="0" i="0" sz="1800" u="none" cap="none" strike="noStrike">
              <a:solidFill>
                <a:srgbClr val="0000FF"/>
              </a:solidFill>
              <a:latin typeface="Helvetica Neue"/>
              <a:ea typeface="Helvetica Neue"/>
              <a:cs typeface="Helvetica Neue"/>
              <a:sym typeface="Helvetica Neu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75" name="Shape 75"/>
        <p:cNvGrpSpPr/>
        <p:nvPr/>
      </p:nvGrpSpPr>
      <p:grpSpPr>
        <a:xfrm>
          <a:off x="0" y="0"/>
          <a:ext cx="0" cy="0"/>
          <a:chOff x="0" y="0"/>
          <a:chExt cx="0" cy="0"/>
        </a:xfrm>
      </p:grpSpPr>
      <p:sp>
        <p:nvSpPr>
          <p:cNvPr id="76" name="Google Shape;76;p5"/>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Bridge Crossing Example</a:t>
            </a:r>
            <a:endParaRPr/>
          </a:p>
        </p:txBody>
      </p:sp>
      <p:sp>
        <p:nvSpPr>
          <p:cNvPr id="77" name="Google Shape;77;p5"/>
          <p:cNvSpPr txBox="1"/>
          <p:nvPr>
            <p:ph idx="1" type="body"/>
          </p:nvPr>
        </p:nvSpPr>
        <p:spPr>
          <a:xfrm>
            <a:off x="1382712" y="3341687"/>
            <a:ext cx="6584950" cy="2590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Traffic only in one direction.</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Each section of a bridge can be viewed as a resource.</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If a deadlock occurs, it can be resolved if one car backs up (preempt resources and rollback).</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Several cars may have to be backed up if a deadlock occurs.</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Starvation is possible.</a:t>
            </a:r>
            <a:endParaRPr/>
          </a:p>
        </p:txBody>
      </p:sp>
      <p:grpSp>
        <p:nvGrpSpPr>
          <p:cNvPr id="78" name="Google Shape;78;p5"/>
          <p:cNvGrpSpPr/>
          <p:nvPr/>
        </p:nvGrpSpPr>
        <p:grpSpPr>
          <a:xfrm>
            <a:off x="1266825" y="1600200"/>
            <a:ext cx="6276975" cy="1371600"/>
            <a:chOff x="798" y="1008"/>
            <a:chExt cx="3954" cy="864"/>
          </a:xfrm>
        </p:grpSpPr>
        <p:grpSp>
          <p:nvGrpSpPr>
            <p:cNvPr id="79" name="Google Shape;79;p5"/>
            <p:cNvGrpSpPr/>
            <p:nvPr/>
          </p:nvGrpSpPr>
          <p:grpSpPr>
            <a:xfrm>
              <a:off x="816" y="1008"/>
              <a:ext cx="3936" cy="240"/>
              <a:chOff x="672" y="1008"/>
              <a:chExt cx="3936" cy="240"/>
            </a:xfrm>
          </p:grpSpPr>
          <p:cxnSp>
            <p:nvCxnSpPr>
              <p:cNvPr id="80" name="Google Shape;80;p5"/>
              <p:cNvCxnSpPr/>
              <p:nvPr/>
            </p:nvCxnSpPr>
            <p:spPr>
              <a:xfrm>
                <a:off x="672" y="1008"/>
                <a:ext cx="1152" cy="0"/>
              </a:xfrm>
              <a:prstGeom prst="straightConnector1">
                <a:avLst/>
              </a:prstGeom>
              <a:noFill/>
              <a:ln cap="flat" cmpd="sng" w="9525">
                <a:solidFill>
                  <a:schemeClr val="dk1"/>
                </a:solidFill>
                <a:prstDash val="solid"/>
                <a:miter lim="800000"/>
                <a:headEnd len="med" w="med" type="none"/>
                <a:tailEnd len="med" w="med" type="none"/>
              </a:ln>
            </p:spPr>
          </p:cxnSp>
          <p:cxnSp>
            <p:nvCxnSpPr>
              <p:cNvPr id="81" name="Google Shape;81;p5"/>
              <p:cNvCxnSpPr/>
              <p:nvPr/>
            </p:nvCxnSpPr>
            <p:spPr>
              <a:xfrm>
                <a:off x="1824" y="1008"/>
                <a:ext cx="384" cy="240"/>
              </a:xfrm>
              <a:prstGeom prst="straightConnector1">
                <a:avLst/>
              </a:prstGeom>
              <a:noFill/>
              <a:ln cap="flat" cmpd="sng" w="9525">
                <a:solidFill>
                  <a:schemeClr val="dk1"/>
                </a:solidFill>
                <a:prstDash val="solid"/>
                <a:miter lim="800000"/>
                <a:headEnd len="med" w="med" type="none"/>
                <a:tailEnd len="med" w="med" type="none"/>
              </a:ln>
            </p:spPr>
          </p:cxnSp>
          <p:cxnSp>
            <p:nvCxnSpPr>
              <p:cNvPr id="82" name="Google Shape;82;p5"/>
              <p:cNvCxnSpPr/>
              <p:nvPr/>
            </p:nvCxnSpPr>
            <p:spPr>
              <a:xfrm>
                <a:off x="2208" y="1248"/>
                <a:ext cx="864" cy="0"/>
              </a:xfrm>
              <a:prstGeom prst="straightConnector1">
                <a:avLst/>
              </a:prstGeom>
              <a:noFill/>
              <a:ln cap="flat" cmpd="sng" w="9525">
                <a:solidFill>
                  <a:schemeClr val="dk1"/>
                </a:solidFill>
                <a:prstDash val="solid"/>
                <a:miter lim="800000"/>
                <a:headEnd len="med" w="med" type="none"/>
                <a:tailEnd len="med" w="med" type="none"/>
              </a:ln>
            </p:spPr>
          </p:cxnSp>
          <p:cxnSp>
            <p:nvCxnSpPr>
              <p:cNvPr id="83" name="Google Shape;83;p5"/>
              <p:cNvCxnSpPr/>
              <p:nvPr/>
            </p:nvCxnSpPr>
            <p:spPr>
              <a:xfrm flipH="1" rot="10800000">
                <a:off x="3072" y="1026"/>
                <a:ext cx="384" cy="222"/>
              </a:xfrm>
              <a:prstGeom prst="straightConnector1">
                <a:avLst/>
              </a:prstGeom>
              <a:noFill/>
              <a:ln cap="flat" cmpd="sng" w="9525">
                <a:solidFill>
                  <a:schemeClr val="dk1"/>
                </a:solidFill>
                <a:prstDash val="solid"/>
                <a:miter lim="800000"/>
                <a:headEnd len="med" w="med" type="none"/>
                <a:tailEnd len="med" w="med" type="none"/>
              </a:ln>
            </p:spPr>
          </p:cxnSp>
          <p:cxnSp>
            <p:nvCxnSpPr>
              <p:cNvPr id="84" name="Google Shape;84;p5"/>
              <p:cNvCxnSpPr/>
              <p:nvPr/>
            </p:nvCxnSpPr>
            <p:spPr>
              <a:xfrm>
                <a:off x="3456" y="1020"/>
                <a:ext cx="1152" cy="0"/>
              </a:xfrm>
              <a:prstGeom prst="straightConnector1">
                <a:avLst/>
              </a:prstGeom>
              <a:noFill/>
              <a:ln cap="flat" cmpd="sng" w="9525">
                <a:solidFill>
                  <a:schemeClr val="dk1"/>
                </a:solidFill>
                <a:prstDash val="solid"/>
                <a:miter lim="800000"/>
                <a:headEnd len="med" w="med" type="none"/>
                <a:tailEnd len="med" w="med" type="none"/>
              </a:ln>
            </p:spPr>
          </p:cxnSp>
        </p:grpSp>
        <p:grpSp>
          <p:nvGrpSpPr>
            <p:cNvPr id="85" name="Google Shape;85;p5"/>
            <p:cNvGrpSpPr/>
            <p:nvPr/>
          </p:nvGrpSpPr>
          <p:grpSpPr>
            <a:xfrm flipH="1" rot="10800000">
              <a:off x="816" y="1632"/>
              <a:ext cx="3936" cy="240"/>
              <a:chOff x="672" y="1008"/>
              <a:chExt cx="3936" cy="240"/>
            </a:xfrm>
          </p:grpSpPr>
          <p:cxnSp>
            <p:nvCxnSpPr>
              <p:cNvPr id="86" name="Google Shape;86;p5"/>
              <p:cNvCxnSpPr/>
              <p:nvPr/>
            </p:nvCxnSpPr>
            <p:spPr>
              <a:xfrm>
                <a:off x="672" y="1008"/>
                <a:ext cx="1152" cy="0"/>
              </a:xfrm>
              <a:prstGeom prst="straightConnector1">
                <a:avLst/>
              </a:prstGeom>
              <a:noFill/>
              <a:ln cap="flat" cmpd="sng" w="9525">
                <a:solidFill>
                  <a:schemeClr val="dk1"/>
                </a:solidFill>
                <a:prstDash val="solid"/>
                <a:miter lim="800000"/>
                <a:headEnd len="med" w="med" type="none"/>
                <a:tailEnd len="med" w="med" type="none"/>
              </a:ln>
            </p:spPr>
          </p:cxnSp>
          <p:cxnSp>
            <p:nvCxnSpPr>
              <p:cNvPr id="87" name="Google Shape;87;p5"/>
              <p:cNvCxnSpPr/>
              <p:nvPr/>
            </p:nvCxnSpPr>
            <p:spPr>
              <a:xfrm>
                <a:off x="1824" y="1008"/>
                <a:ext cx="384" cy="240"/>
              </a:xfrm>
              <a:prstGeom prst="straightConnector1">
                <a:avLst/>
              </a:prstGeom>
              <a:noFill/>
              <a:ln cap="flat" cmpd="sng" w="9525">
                <a:solidFill>
                  <a:schemeClr val="dk1"/>
                </a:solidFill>
                <a:prstDash val="solid"/>
                <a:miter lim="800000"/>
                <a:headEnd len="med" w="med" type="none"/>
                <a:tailEnd len="med" w="med" type="none"/>
              </a:ln>
            </p:spPr>
          </p:cxnSp>
          <p:cxnSp>
            <p:nvCxnSpPr>
              <p:cNvPr id="88" name="Google Shape;88;p5"/>
              <p:cNvCxnSpPr/>
              <p:nvPr/>
            </p:nvCxnSpPr>
            <p:spPr>
              <a:xfrm>
                <a:off x="2208" y="1248"/>
                <a:ext cx="864" cy="0"/>
              </a:xfrm>
              <a:prstGeom prst="straightConnector1">
                <a:avLst/>
              </a:prstGeom>
              <a:noFill/>
              <a:ln cap="flat" cmpd="sng" w="9525">
                <a:solidFill>
                  <a:schemeClr val="dk1"/>
                </a:solidFill>
                <a:prstDash val="solid"/>
                <a:miter lim="800000"/>
                <a:headEnd len="med" w="med" type="none"/>
                <a:tailEnd len="med" w="med" type="none"/>
              </a:ln>
            </p:spPr>
          </p:cxnSp>
          <p:cxnSp>
            <p:nvCxnSpPr>
              <p:cNvPr id="89" name="Google Shape;89;p5"/>
              <p:cNvCxnSpPr/>
              <p:nvPr/>
            </p:nvCxnSpPr>
            <p:spPr>
              <a:xfrm flipH="1" rot="10800000">
                <a:off x="3072" y="1026"/>
                <a:ext cx="384" cy="222"/>
              </a:xfrm>
              <a:prstGeom prst="straightConnector1">
                <a:avLst/>
              </a:prstGeom>
              <a:noFill/>
              <a:ln cap="flat" cmpd="sng" w="9525">
                <a:solidFill>
                  <a:schemeClr val="dk1"/>
                </a:solidFill>
                <a:prstDash val="solid"/>
                <a:miter lim="800000"/>
                <a:headEnd len="med" w="med" type="none"/>
                <a:tailEnd len="med" w="med" type="none"/>
              </a:ln>
            </p:spPr>
          </p:cxnSp>
          <p:cxnSp>
            <p:nvCxnSpPr>
              <p:cNvPr id="90" name="Google Shape;90;p5"/>
              <p:cNvCxnSpPr/>
              <p:nvPr/>
            </p:nvCxnSpPr>
            <p:spPr>
              <a:xfrm>
                <a:off x="3456" y="1020"/>
                <a:ext cx="1152" cy="0"/>
              </a:xfrm>
              <a:prstGeom prst="straightConnector1">
                <a:avLst/>
              </a:prstGeom>
              <a:noFill/>
              <a:ln cap="flat" cmpd="sng" w="9525">
                <a:solidFill>
                  <a:schemeClr val="dk1"/>
                </a:solidFill>
                <a:prstDash val="solid"/>
                <a:miter lim="800000"/>
                <a:headEnd len="med" w="med" type="none"/>
                <a:tailEnd len="med" w="med" type="none"/>
              </a:ln>
            </p:spPr>
          </p:cxnSp>
        </p:grpSp>
        <p:grpSp>
          <p:nvGrpSpPr>
            <p:cNvPr id="91" name="Google Shape;91;p5"/>
            <p:cNvGrpSpPr/>
            <p:nvPr/>
          </p:nvGrpSpPr>
          <p:grpSpPr>
            <a:xfrm>
              <a:off x="1512" y="1614"/>
              <a:ext cx="288" cy="162"/>
              <a:chOff x="1056" y="1614"/>
              <a:chExt cx="288" cy="162"/>
            </a:xfrm>
          </p:grpSpPr>
          <p:sp>
            <p:nvSpPr>
              <p:cNvPr id="92" name="Google Shape;92;p5"/>
              <p:cNvSpPr/>
              <p:nvPr/>
            </p:nvSpPr>
            <p:spPr>
              <a:xfrm>
                <a:off x="1056" y="1614"/>
                <a:ext cx="288"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3" name="Google Shape;93;p5"/>
              <p:cNvSpPr/>
              <p:nvPr/>
            </p:nvSpPr>
            <p:spPr>
              <a:xfrm>
                <a:off x="1206" y="1638"/>
                <a:ext cx="66" cy="11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cxnSp>
          <p:nvCxnSpPr>
            <p:cNvPr id="94" name="Google Shape;94;p5"/>
            <p:cNvCxnSpPr/>
            <p:nvPr/>
          </p:nvCxnSpPr>
          <p:spPr>
            <a:xfrm>
              <a:off x="798" y="1428"/>
              <a:ext cx="1272" cy="0"/>
            </a:xfrm>
            <a:prstGeom prst="straightConnector1">
              <a:avLst/>
            </a:prstGeom>
            <a:noFill/>
            <a:ln cap="flat" cmpd="sng" w="9525">
              <a:solidFill>
                <a:schemeClr val="dk1"/>
              </a:solidFill>
              <a:prstDash val="solid"/>
              <a:miter lim="800000"/>
              <a:headEnd len="med" w="med" type="none"/>
              <a:tailEnd len="med" w="med" type="none"/>
            </a:ln>
          </p:spPr>
        </p:cxnSp>
        <p:cxnSp>
          <p:nvCxnSpPr>
            <p:cNvPr id="95" name="Google Shape;95;p5"/>
            <p:cNvCxnSpPr/>
            <p:nvPr/>
          </p:nvCxnSpPr>
          <p:spPr>
            <a:xfrm>
              <a:off x="3444" y="1422"/>
              <a:ext cx="1272" cy="0"/>
            </a:xfrm>
            <a:prstGeom prst="straightConnector1">
              <a:avLst/>
            </a:prstGeom>
            <a:noFill/>
            <a:ln cap="flat" cmpd="sng" w="9525">
              <a:solidFill>
                <a:schemeClr val="dk1"/>
              </a:solidFill>
              <a:prstDash val="solid"/>
              <a:miter lim="800000"/>
              <a:headEnd len="med" w="med" type="none"/>
              <a:tailEnd len="med" w="med" type="none"/>
            </a:ln>
          </p:spPr>
        </p:cxnSp>
        <p:grpSp>
          <p:nvGrpSpPr>
            <p:cNvPr id="96" name="Google Shape;96;p5"/>
            <p:cNvGrpSpPr/>
            <p:nvPr/>
          </p:nvGrpSpPr>
          <p:grpSpPr>
            <a:xfrm>
              <a:off x="2382" y="1344"/>
              <a:ext cx="288" cy="162"/>
              <a:chOff x="1056" y="1614"/>
              <a:chExt cx="288" cy="162"/>
            </a:xfrm>
          </p:grpSpPr>
          <p:sp>
            <p:nvSpPr>
              <p:cNvPr id="97" name="Google Shape;97;p5"/>
              <p:cNvSpPr/>
              <p:nvPr/>
            </p:nvSpPr>
            <p:spPr>
              <a:xfrm>
                <a:off x="1056" y="1614"/>
                <a:ext cx="288"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8" name="Google Shape;98;p5"/>
              <p:cNvSpPr/>
              <p:nvPr/>
            </p:nvSpPr>
            <p:spPr>
              <a:xfrm>
                <a:off x="1206" y="1638"/>
                <a:ext cx="66" cy="11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99" name="Google Shape;99;p5"/>
            <p:cNvGrpSpPr/>
            <p:nvPr/>
          </p:nvGrpSpPr>
          <p:grpSpPr>
            <a:xfrm flipH="1">
              <a:off x="2838" y="1344"/>
              <a:ext cx="288" cy="162"/>
              <a:chOff x="1056" y="1614"/>
              <a:chExt cx="288" cy="162"/>
            </a:xfrm>
          </p:grpSpPr>
          <p:sp>
            <p:nvSpPr>
              <p:cNvPr id="100" name="Google Shape;100;p5"/>
              <p:cNvSpPr/>
              <p:nvPr/>
            </p:nvSpPr>
            <p:spPr>
              <a:xfrm>
                <a:off x="1056" y="1614"/>
                <a:ext cx="288"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1" name="Google Shape;101;p5"/>
              <p:cNvSpPr/>
              <p:nvPr/>
            </p:nvSpPr>
            <p:spPr>
              <a:xfrm>
                <a:off x="1206" y="1638"/>
                <a:ext cx="66" cy="11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102" name="Google Shape;102;p5"/>
            <p:cNvGrpSpPr/>
            <p:nvPr/>
          </p:nvGrpSpPr>
          <p:grpSpPr>
            <a:xfrm flipH="1">
              <a:off x="3822" y="1140"/>
              <a:ext cx="288" cy="162"/>
              <a:chOff x="1056" y="1614"/>
              <a:chExt cx="288" cy="162"/>
            </a:xfrm>
          </p:grpSpPr>
          <p:sp>
            <p:nvSpPr>
              <p:cNvPr id="103" name="Google Shape;103;p5"/>
              <p:cNvSpPr/>
              <p:nvPr/>
            </p:nvSpPr>
            <p:spPr>
              <a:xfrm>
                <a:off x="1056" y="1614"/>
                <a:ext cx="288"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4" name="Google Shape;104;p5"/>
              <p:cNvSpPr/>
              <p:nvPr/>
            </p:nvSpPr>
            <p:spPr>
              <a:xfrm>
                <a:off x="1206" y="1638"/>
                <a:ext cx="66" cy="11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105" name="Google Shape;105;p5"/>
            <p:cNvGrpSpPr/>
            <p:nvPr/>
          </p:nvGrpSpPr>
          <p:grpSpPr>
            <a:xfrm flipH="1">
              <a:off x="4248" y="1140"/>
              <a:ext cx="288" cy="162"/>
              <a:chOff x="1056" y="1614"/>
              <a:chExt cx="288" cy="162"/>
            </a:xfrm>
          </p:grpSpPr>
          <p:sp>
            <p:nvSpPr>
              <p:cNvPr id="106" name="Google Shape;106;p5"/>
              <p:cNvSpPr/>
              <p:nvPr/>
            </p:nvSpPr>
            <p:spPr>
              <a:xfrm>
                <a:off x="1056" y="1614"/>
                <a:ext cx="288"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7" name="Google Shape;107;p5"/>
              <p:cNvSpPr/>
              <p:nvPr/>
            </p:nvSpPr>
            <p:spPr>
              <a:xfrm>
                <a:off x="1206" y="1638"/>
                <a:ext cx="66" cy="11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111" name="Shape 111"/>
        <p:cNvGrpSpPr/>
        <p:nvPr/>
      </p:nvGrpSpPr>
      <p:grpSpPr>
        <a:xfrm>
          <a:off x="0" y="0"/>
          <a:ext cx="0" cy="0"/>
          <a:chOff x="0" y="0"/>
          <a:chExt cx="0" cy="0"/>
        </a:xfrm>
      </p:grpSpPr>
      <p:sp>
        <p:nvSpPr>
          <p:cNvPr id="112" name="Google Shape;112;p6"/>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System Model</a:t>
            </a:r>
            <a:endParaRPr/>
          </a:p>
        </p:txBody>
      </p:sp>
      <p:sp>
        <p:nvSpPr>
          <p:cNvPr id="113" name="Google Shape;113;p6"/>
          <p:cNvSpPr txBox="1"/>
          <p:nvPr>
            <p:ph idx="1" type="body"/>
          </p:nvPr>
        </p:nvSpPr>
        <p:spPr>
          <a:xfrm>
            <a:off x="827087" y="1425575"/>
            <a:ext cx="7351712" cy="4483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Resource types </a:t>
            </a:r>
            <a:r>
              <a:rPr b="0" i="1" lang="en-US" sz="1800" u="none">
                <a:solidFill>
                  <a:schemeClr val="dk1"/>
                </a:solidFill>
                <a:latin typeface="Helvetica Neue"/>
                <a:ea typeface="Helvetica Neue"/>
                <a:cs typeface="Helvetica Neue"/>
                <a:sym typeface="Helvetica Neue"/>
              </a:rPr>
              <a:t>R</a:t>
            </a:r>
            <a:r>
              <a:rPr b="0" baseline="-25000" i="0"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R</a:t>
            </a:r>
            <a:r>
              <a:rPr b="0" baseline="-25000" i="0" lang="en-US" sz="1800" u="none">
                <a:solidFill>
                  <a:schemeClr val="dk1"/>
                </a:solidFill>
                <a:latin typeface="Helvetica Neue"/>
                <a:ea typeface="Helvetica Neue"/>
                <a:cs typeface="Helvetica Neue"/>
                <a:sym typeface="Helvetica Neue"/>
              </a:rPr>
              <a:t>2</a:t>
            </a:r>
            <a:r>
              <a:rPr b="0" i="0" lang="en-US" sz="1800" u="none">
                <a:solidFill>
                  <a:schemeClr val="dk1"/>
                </a:solidFill>
                <a:latin typeface="Helvetica Neue"/>
                <a:ea typeface="Helvetica Neue"/>
                <a:cs typeface="Helvetica Neue"/>
                <a:sym typeface="Helvetica Neue"/>
              </a:rPr>
              <a:t>, . . ., </a:t>
            </a:r>
            <a:r>
              <a:rPr b="0" i="1" lang="en-US" sz="1800" u="none">
                <a:solidFill>
                  <a:schemeClr val="dk1"/>
                </a:solidFill>
                <a:latin typeface="Helvetica Neue"/>
                <a:ea typeface="Helvetica Neue"/>
                <a:cs typeface="Helvetica Neue"/>
                <a:sym typeface="Helvetica Neue"/>
              </a:rPr>
              <a:t>R</a:t>
            </a:r>
            <a:r>
              <a:rPr b="0" baseline="-25000" i="0" lang="en-US" sz="1800" u="none">
                <a:solidFill>
                  <a:schemeClr val="dk1"/>
                </a:solidFill>
                <a:latin typeface="Helvetica Neue"/>
                <a:ea typeface="Helvetica Neue"/>
                <a:cs typeface="Helvetica Neue"/>
                <a:sym typeface="Helvetica Neue"/>
              </a:rPr>
              <a:t>m</a:t>
            </a:r>
            <a:endParaRPr/>
          </a:p>
          <a:p>
            <a:pPr indent="-228600" lvl="2" marL="1085850" marR="0" rtl="0" algn="l">
              <a:lnSpc>
                <a:spcPct val="100000"/>
              </a:lnSpc>
              <a:spcBef>
                <a:spcPts val="630"/>
              </a:spcBef>
              <a:spcAft>
                <a:spcPts val="0"/>
              </a:spcAft>
              <a:buClr>
                <a:srgbClr val="009900"/>
              </a:buClr>
              <a:buSzPts val="1350"/>
              <a:buFont typeface="Arimo"/>
              <a:buNone/>
            </a:pPr>
            <a:r>
              <a:rPr b="0" i="1" lang="en-US" sz="1800" u="none" cap="none" strike="noStrike">
                <a:solidFill>
                  <a:schemeClr val="dk1"/>
                </a:solidFill>
                <a:latin typeface="Helvetica Neue"/>
                <a:ea typeface="Helvetica Neue"/>
                <a:cs typeface="Helvetica Neue"/>
                <a:sym typeface="Helvetica Neue"/>
              </a:rPr>
              <a:t>CPU cycles, memory space, I/O devices</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Each resource type </a:t>
            </a:r>
            <a:r>
              <a:rPr b="0" i="1" lang="en-US" sz="1800" u="none">
                <a:solidFill>
                  <a:schemeClr val="dk1"/>
                </a:solidFill>
                <a:latin typeface="Helvetica Neue"/>
                <a:ea typeface="Helvetica Neue"/>
                <a:cs typeface="Helvetica Neue"/>
                <a:sym typeface="Helvetica Neue"/>
              </a:rPr>
              <a:t>R</a:t>
            </a:r>
            <a:r>
              <a:rPr b="0" baseline="-25000" i="0"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has </a:t>
            </a:r>
            <a:r>
              <a:rPr b="0" i="1" lang="en-US" sz="1800" u="none">
                <a:solidFill>
                  <a:schemeClr val="dk1"/>
                </a:solidFill>
                <a:latin typeface="Helvetica Neue"/>
                <a:ea typeface="Helvetica Neue"/>
                <a:cs typeface="Helvetica Neue"/>
                <a:sym typeface="Helvetica Neue"/>
              </a:rPr>
              <a:t>W</a:t>
            </a:r>
            <a:r>
              <a:rPr b="0" baseline="-25000" i="0"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instances.</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Each process utilizes a resource as follows:</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request </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use </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release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117" name="Shape 117"/>
        <p:cNvGrpSpPr/>
        <p:nvPr/>
      </p:nvGrpSpPr>
      <p:grpSpPr>
        <a:xfrm>
          <a:off x="0" y="0"/>
          <a:ext cx="0" cy="0"/>
          <a:chOff x="0" y="0"/>
          <a:chExt cx="0" cy="0"/>
        </a:xfrm>
      </p:grpSpPr>
      <p:sp>
        <p:nvSpPr>
          <p:cNvPr id="118" name="Google Shape;118;p7"/>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Deadlock Characterization</a:t>
            </a:r>
            <a:endParaRPr/>
          </a:p>
        </p:txBody>
      </p:sp>
      <p:sp>
        <p:nvSpPr>
          <p:cNvPr id="119" name="Google Shape;119;p7"/>
          <p:cNvSpPr txBox="1"/>
          <p:nvPr>
            <p:ph idx="1" type="body"/>
          </p:nvPr>
        </p:nvSpPr>
        <p:spPr>
          <a:xfrm>
            <a:off x="1295400" y="1803400"/>
            <a:ext cx="6669087" cy="4017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993300"/>
              </a:buClr>
              <a:buSzPts val="1620"/>
              <a:buFont typeface="Arial"/>
              <a:buChar char="●"/>
            </a:pPr>
            <a:r>
              <a:rPr b="1" i="0" lang="en-US" sz="1800" u="none">
                <a:solidFill>
                  <a:schemeClr val="dk1"/>
                </a:solidFill>
                <a:latin typeface="Helvetica Neue"/>
                <a:ea typeface="Helvetica Neue"/>
                <a:cs typeface="Helvetica Neue"/>
                <a:sym typeface="Helvetica Neue"/>
              </a:rPr>
              <a:t>Mutual exclusion:</a:t>
            </a:r>
            <a:r>
              <a:rPr b="0" i="0" lang="en-US" sz="1800" u="none">
                <a:solidFill>
                  <a:schemeClr val="dk1"/>
                </a:solidFill>
                <a:latin typeface="Helvetica Neue"/>
                <a:ea typeface="Helvetica Neue"/>
                <a:cs typeface="Helvetica Neue"/>
                <a:sym typeface="Helvetica Neue"/>
              </a:rPr>
              <a:t>  only one process at a time can use a resource.</a:t>
            </a:r>
            <a:endParaRPr/>
          </a:p>
          <a:p>
            <a:pPr indent="-342900" lvl="0" marL="342900" marR="0" rtl="0" algn="l">
              <a:lnSpc>
                <a:spcPct val="90000"/>
              </a:lnSpc>
              <a:spcBef>
                <a:spcPts val="630"/>
              </a:spcBef>
              <a:spcAft>
                <a:spcPts val="0"/>
              </a:spcAft>
              <a:buClr>
                <a:srgbClr val="993300"/>
              </a:buClr>
              <a:buSzPts val="1620"/>
              <a:buFont typeface="Arial"/>
              <a:buChar char="●"/>
            </a:pPr>
            <a:r>
              <a:rPr b="1" i="0" lang="en-US" sz="1800" u="none">
                <a:solidFill>
                  <a:schemeClr val="dk1"/>
                </a:solidFill>
                <a:latin typeface="Helvetica Neue"/>
                <a:ea typeface="Helvetica Neue"/>
                <a:cs typeface="Helvetica Neue"/>
                <a:sym typeface="Helvetica Neue"/>
              </a:rPr>
              <a:t>Hold and wait:</a:t>
            </a:r>
            <a:r>
              <a:rPr b="0" i="0" lang="en-US" sz="1800" u="none">
                <a:solidFill>
                  <a:schemeClr val="dk1"/>
                </a:solidFill>
                <a:latin typeface="Helvetica Neue"/>
                <a:ea typeface="Helvetica Neue"/>
                <a:cs typeface="Helvetica Neue"/>
                <a:sym typeface="Helvetica Neue"/>
              </a:rPr>
              <a:t>  a process holding at least one resource is waiting to acquire additional resources held by other processes.</a:t>
            </a:r>
            <a:endParaRPr/>
          </a:p>
          <a:p>
            <a:pPr indent="-342900" lvl="0" marL="342900" marR="0" rtl="0" algn="l">
              <a:lnSpc>
                <a:spcPct val="90000"/>
              </a:lnSpc>
              <a:spcBef>
                <a:spcPts val="630"/>
              </a:spcBef>
              <a:spcAft>
                <a:spcPts val="0"/>
              </a:spcAft>
              <a:buClr>
                <a:srgbClr val="993300"/>
              </a:buClr>
              <a:buSzPts val="1620"/>
              <a:buFont typeface="Arial"/>
              <a:buChar char="●"/>
            </a:pPr>
            <a:r>
              <a:rPr b="1" i="0" lang="en-US" sz="1800" u="none">
                <a:solidFill>
                  <a:schemeClr val="dk1"/>
                </a:solidFill>
                <a:latin typeface="Helvetica Neue"/>
                <a:ea typeface="Helvetica Neue"/>
                <a:cs typeface="Helvetica Neue"/>
                <a:sym typeface="Helvetica Neue"/>
              </a:rPr>
              <a:t>No preemption:</a:t>
            </a:r>
            <a:r>
              <a:rPr b="0" i="0" lang="en-US" sz="1800" u="none">
                <a:solidFill>
                  <a:schemeClr val="dk1"/>
                </a:solidFill>
                <a:latin typeface="Helvetica Neue"/>
                <a:ea typeface="Helvetica Neue"/>
                <a:cs typeface="Helvetica Neue"/>
                <a:sym typeface="Helvetica Neue"/>
              </a:rPr>
              <a:t>  a resource can be released only voluntarily by the process holding it, after that process has completed its task.</a:t>
            </a:r>
            <a:endParaRPr/>
          </a:p>
          <a:p>
            <a:pPr indent="-342900" lvl="0" marL="342900" marR="0" rtl="0" algn="l">
              <a:lnSpc>
                <a:spcPct val="90000"/>
              </a:lnSpc>
              <a:spcBef>
                <a:spcPts val="630"/>
              </a:spcBef>
              <a:spcAft>
                <a:spcPts val="0"/>
              </a:spcAft>
              <a:buClr>
                <a:srgbClr val="993300"/>
              </a:buClr>
              <a:buSzPts val="1620"/>
              <a:buFont typeface="Arial"/>
              <a:buChar char="●"/>
            </a:pPr>
            <a:r>
              <a:rPr b="1" i="0" lang="en-US" sz="1800" u="none">
                <a:solidFill>
                  <a:schemeClr val="dk1"/>
                </a:solidFill>
                <a:latin typeface="Helvetica Neue"/>
                <a:ea typeface="Helvetica Neue"/>
                <a:cs typeface="Helvetica Neue"/>
                <a:sym typeface="Helvetica Neue"/>
              </a:rPr>
              <a:t>Circular wait:</a:t>
            </a:r>
            <a:r>
              <a:rPr b="0" i="0" lang="en-US" sz="1800" u="none">
                <a:solidFill>
                  <a:schemeClr val="dk1"/>
                </a:solidFill>
                <a:latin typeface="Helvetica Neue"/>
                <a:ea typeface="Helvetica Neue"/>
                <a:cs typeface="Helvetica Neue"/>
                <a:sym typeface="Helvetica Neue"/>
              </a:rPr>
              <a:t>  there exists a set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0</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0</a:t>
            </a:r>
            <a:r>
              <a:rPr b="0" i="0" lang="en-US" sz="1800" u="none">
                <a:solidFill>
                  <a:schemeClr val="dk1"/>
                </a:solidFill>
                <a:latin typeface="Helvetica Neue"/>
                <a:ea typeface="Helvetica Neue"/>
                <a:cs typeface="Helvetica Neue"/>
                <a:sym typeface="Helvetica Neue"/>
              </a:rPr>
              <a:t>} of waiting processes such that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0 </a:t>
            </a:r>
            <a:r>
              <a:rPr b="0" i="0" lang="en-US" sz="1800" u="none">
                <a:solidFill>
                  <a:schemeClr val="dk1"/>
                </a:solidFill>
                <a:latin typeface="Helvetica Neue"/>
                <a:ea typeface="Helvetica Neue"/>
                <a:cs typeface="Helvetica Neue"/>
                <a:sym typeface="Helvetica Neue"/>
              </a:rPr>
              <a:t>is waiting for a resource that is held by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 is waiting for a resource that is held by </a:t>
            </a:r>
            <a:endParaRPr/>
          </a:p>
          <a:p>
            <a:pPr indent="-342900" lvl="0" marL="342900" marR="0" rtl="0" algn="l">
              <a:lnSpc>
                <a:spcPct val="90000"/>
              </a:lnSpc>
              <a:spcBef>
                <a:spcPts val="630"/>
              </a:spcBef>
              <a:spcAft>
                <a:spcPts val="0"/>
              </a:spcAft>
              <a:buClr>
                <a:srgbClr val="993300"/>
              </a:buClr>
              <a:buSzPts val="1620"/>
              <a:buFont typeface="Arial"/>
              <a:buNone/>
            </a:pPr>
            <a:r>
              <a:rPr b="0" i="1" lang="en-US" sz="1800" u="none">
                <a:solidFill>
                  <a:schemeClr val="dk1"/>
                </a:solidFill>
                <a:latin typeface="Helvetica Neue"/>
                <a:ea typeface="Helvetica Neue"/>
                <a:cs typeface="Helvetica Neue"/>
                <a:sym typeface="Helvetica Neue"/>
              </a:rPr>
              <a:t>	P</a:t>
            </a:r>
            <a:r>
              <a:rPr b="0" baseline="-25000" i="0" lang="en-US" sz="1800" u="none">
                <a:solidFill>
                  <a:schemeClr val="dk1"/>
                </a:solidFill>
                <a:latin typeface="Helvetica Neue"/>
                <a:ea typeface="Helvetica Neue"/>
                <a:cs typeface="Helvetica Neue"/>
                <a:sym typeface="Helvetica Neue"/>
              </a:rPr>
              <a:t>2</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P</a:t>
            </a:r>
            <a:r>
              <a:rPr b="0" baseline="-25000" i="1" lang="en-US" sz="1800" u="none">
                <a:solidFill>
                  <a:schemeClr val="dk1"/>
                </a:solidFill>
                <a:latin typeface="Helvetica Neue"/>
                <a:ea typeface="Helvetica Neue"/>
                <a:cs typeface="Helvetica Neue"/>
                <a:sym typeface="Helvetica Neue"/>
              </a:rPr>
              <a:t>n</a:t>
            </a:r>
            <a:r>
              <a:rPr b="0" baseline="-25000" i="0"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 is waiting for a resource that is held by </a:t>
            </a:r>
            <a:br>
              <a:rPr b="0" i="0"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n</a:t>
            </a:r>
            <a:r>
              <a:rPr b="0" i="0" lang="en-US" sz="1800" u="none">
                <a:solidFill>
                  <a:schemeClr val="dk1"/>
                </a:solidFill>
                <a:latin typeface="Helvetica Neue"/>
                <a:ea typeface="Helvetica Neue"/>
                <a:cs typeface="Helvetica Neue"/>
                <a:sym typeface="Helvetica Neue"/>
              </a:rPr>
              <a:t>, and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0</a:t>
            </a:r>
            <a:r>
              <a:rPr b="0" i="0" lang="en-US" sz="1800" u="none">
                <a:solidFill>
                  <a:schemeClr val="dk1"/>
                </a:solidFill>
                <a:latin typeface="Helvetica Neue"/>
                <a:ea typeface="Helvetica Neue"/>
                <a:cs typeface="Helvetica Neue"/>
                <a:sym typeface="Helvetica Neue"/>
              </a:rPr>
              <a:t> is waiting for a resource that is held by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0</a:t>
            </a:r>
            <a:r>
              <a:rPr b="0" i="0" lang="en-US" sz="1800" u="none">
                <a:solidFill>
                  <a:schemeClr val="dk1"/>
                </a:solidFill>
                <a:latin typeface="Helvetica Neue"/>
                <a:ea typeface="Helvetica Neue"/>
                <a:cs typeface="Helvetica Neue"/>
                <a:sym typeface="Helvetica Neue"/>
              </a:rPr>
              <a:t>.</a:t>
            </a:r>
            <a:endParaRPr/>
          </a:p>
          <a:p>
            <a:pPr indent="-240030" lvl="0" marL="342900" marR="0" rtl="0" algn="l">
              <a:lnSpc>
                <a:spcPct val="100000"/>
              </a:lnSpc>
              <a:spcBef>
                <a:spcPts val="63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p:txBody>
      </p:sp>
      <p:sp>
        <p:nvSpPr>
          <p:cNvPr id="120" name="Google Shape;120;p7"/>
          <p:cNvSpPr txBox="1"/>
          <p:nvPr/>
        </p:nvSpPr>
        <p:spPr>
          <a:xfrm>
            <a:off x="869950" y="1303337"/>
            <a:ext cx="6634162" cy="39687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Helvetica Neue"/>
              <a:buNone/>
            </a:pPr>
            <a:r>
              <a:rPr b="0" i="0" lang="en-US" sz="2000" u="none">
                <a:solidFill>
                  <a:schemeClr val="dk1"/>
                </a:solidFill>
                <a:latin typeface="Helvetica Neue"/>
                <a:ea typeface="Helvetica Neue"/>
                <a:cs typeface="Helvetica Neue"/>
                <a:sym typeface="Helvetica Neue"/>
              </a:rPr>
              <a:t>Deadlock can arise if four conditions hold simultaneously.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124" name="Shape 124"/>
        <p:cNvGrpSpPr/>
        <p:nvPr/>
      </p:nvGrpSpPr>
      <p:grpSpPr>
        <a:xfrm>
          <a:off x="0" y="0"/>
          <a:ext cx="0" cy="0"/>
          <a:chOff x="0" y="0"/>
          <a:chExt cx="0" cy="0"/>
        </a:xfrm>
      </p:grpSpPr>
      <p:sp>
        <p:nvSpPr>
          <p:cNvPr id="125" name="Google Shape;125;p8"/>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Resource-Allocation Graph</a:t>
            </a:r>
            <a:endParaRPr/>
          </a:p>
        </p:txBody>
      </p:sp>
      <p:sp>
        <p:nvSpPr>
          <p:cNvPr id="126" name="Google Shape;126;p8"/>
          <p:cNvSpPr txBox="1"/>
          <p:nvPr>
            <p:ph idx="1" type="body"/>
          </p:nvPr>
        </p:nvSpPr>
        <p:spPr>
          <a:xfrm>
            <a:off x="1165225" y="1852612"/>
            <a:ext cx="6584950" cy="26876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V is partitioned into two types:</a:t>
            </a:r>
            <a:endParaRPr/>
          </a:p>
          <a:p>
            <a:pPr indent="-285750" lvl="1" marL="742950" marR="0" rtl="0" algn="l">
              <a:lnSpc>
                <a:spcPct val="100000"/>
              </a:lnSpc>
              <a:spcBef>
                <a:spcPts val="630"/>
              </a:spcBef>
              <a:spcAft>
                <a:spcPts val="0"/>
              </a:spcAft>
              <a:buClr>
                <a:srgbClr val="CC6600"/>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P</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P</a:t>
            </a:r>
            <a:r>
              <a:rPr b="0" baseline="-25000" i="0" lang="en-US" sz="1800" u="none" cap="none" strike="noStrike">
                <a:solidFill>
                  <a:schemeClr val="dk1"/>
                </a:solidFill>
                <a:latin typeface="Helvetica Neue"/>
                <a:ea typeface="Helvetica Neue"/>
                <a:cs typeface="Helvetica Neue"/>
                <a:sym typeface="Helvetica Neue"/>
              </a:rPr>
              <a:t>1</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P</a:t>
            </a:r>
            <a:r>
              <a:rPr b="0" baseline="-25000" i="0" lang="en-US" sz="1800" u="none" cap="none" strike="noStrike">
                <a:solidFill>
                  <a:schemeClr val="dk1"/>
                </a:solidFill>
                <a:latin typeface="Helvetica Neue"/>
                <a:ea typeface="Helvetica Neue"/>
                <a:cs typeface="Helvetica Neue"/>
                <a:sym typeface="Helvetica Neue"/>
              </a:rPr>
              <a:t>2</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P</a:t>
            </a:r>
            <a:r>
              <a:rPr b="0" baseline="-25000" i="1" lang="en-US" sz="1800" u="none" cap="none" strike="noStrike">
                <a:solidFill>
                  <a:schemeClr val="dk1"/>
                </a:solidFill>
                <a:latin typeface="Helvetica Neue"/>
                <a:ea typeface="Helvetica Neue"/>
                <a:cs typeface="Helvetica Neue"/>
                <a:sym typeface="Helvetica Neue"/>
              </a:rPr>
              <a:t>n</a:t>
            </a:r>
            <a:r>
              <a:rPr b="0" i="0" lang="en-US" sz="1800" u="none" cap="none" strike="noStrike">
                <a:solidFill>
                  <a:schemeClr val="dk1"/>
                </a:solidFill>
                <a:latin typeface="Helvetica Neue"/>
                <a:ea typeface="Helvetica Neue"/>
                <a:cs typeface="Helvetica Neue"/>
                <a:sym typeface="Helvetica Neue"/>
              </a:rPr>
              <a:t>}, the set consisting of all the processes in the system.</a:t>
            </a:r>
            <a:br>
              <a:rPr b="0" i="0" lang="en-US" sz="1800" u="none" cap="none" strike="noStrike">
                <a:solidFill>
                  <a:schemeClr val="dk1"/>
                </a:solidFill>
                <a:latin typeface="Helvetica Neue"/>
                <a:ea typeface="Helvetica Neue"/>
                <a:cs typeface="Helvetica Neue"/>
                <a:sym typeface="Helvetica Neue"/>
              </a:rPr>
            </a:br>
            <a:endParaRPr/>
          </a:p>
          <a:p>
            <a:pPr indent="-285750" lvl="1" marL="742950" marR="0" rtl="0" algn="l">
              <a:lnSpc>
                <a:spcPct val="100000"/>
              </a:lnSpc>
              <a:spcBef>
                <a:spcPts val="630"/>
              </a:spcBef>
              <a:spcAft>
                <a:spcPts val="0"/>
              </a:spcAft>
              <a:buClr>
                <a:srgbClr val="CC6600"/>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R</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R</a:t>
            </a:r>
            <a:r>
              <a:rPr b="0" baseline="-25000" i="0" lang="en-US" sz="1800" u="none" cap="none" strike="noStrike">
                <a:solidFill>
                  <a:schemeClr val="dk1"/>
                </a:solidFill>
                <a:latin typeface="Helvetica Neue"/>
                <a:ea typeface="Helvetica Neue"/>
                <a:cs typeface="Helvetica Neue"/>
                <a:sym typeface="Helvetica Neue"/>
              </a:rPr>
              <a:t>1</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R</a:t>
            </a:r>
            <a:r>
              <a:rPr b="0" baseline="-25000" i="0" lang="en-US" sz="1800" u="none" cap="none" strike="noStrike">
                <a:solidFill>
                  <a:schemeClr val="dk1"/>
                </a:solidFill>
                <a:latin typeface="Helvetica Neue"/>
                <a:ea typeface="Helvetica Neue"/>
                <a:cs typeface="Helvetica Neue"/>
                <a:sym typeface="Helvetica Neue"/>
              </a:rPr>
              <a:t>2</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R</a:t>
            </a:r>
            <a:r>
              <a:rPr b="0" baseline="-25000" i="1" lang="en-US" sz="1800" u="none" cap="none" strike="noStrike">
                <a:solidFill>
                  <a:schemeClr val="dk1"/>
                </a:solidFill>
                <a:latin typeface="Helvetica Neue"/>
                <a:ea typeface="Helvetica Neue"/>
                <a:cs typeface="Helvetica Neue"/>
                <a:sym typeface="Helvetica Neue"/>
              </a:rPr>
              <a:t>m</a:t>
            </a:r>
            <a:r>
              <a:rPr b="0" i="0" lang="en-US" sz="1800" u="none" cap="none" strike="noStrike">
                <a:solidFill>
                  <a:schemeClr val="dk1"/>
                </a:solidFill>
                <a:latin typeface="Helvetica Neue"/>
                <a:ea typeface="Helvetica Neue"/>
                <a:cs typeface="Helvetica Neue"/>
                <a:sym typeface="Helvetica Neue"/>
              </a:rPr>
              <a:t>}, the set consisting of all resource types in the system.</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request edge – directed edge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1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R</a:t>
            </a:r>
            <a:r>
              <a:rPr b="0" baseline="-25000" i="1" lang="en-US" sz="1800" u="none">
                <a:solidFill>
                  <a:schemeClr val="dk1"/>
                </a:solidFill>
                <a:latin typeface="Helvetica Neue"/>
                <a:ea typeface="Helvetica Neue"/>
                <a:cs typeface="Helvetica Neue"/>
                <a:sym typeface="Helvetica Neue"/>
              </a:rPr>
              <a:t>j</a:t>
            </a:r>
            <a:endParaRPr b="0" i="1"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assignment edge – directed edge </a:t>
            </a:r>
            <a:r>
              <a:rPr b="0" i="1" lang="en-US" sz="1800" u="none">
                <a:solidFill>
                  <a:schemeClr val="dk1"/>
                </a:solidFill>
                <a:latin typeface="Helvetica Neue"/>
                <a:ea typeface="Helvetica Neue"/>
                <a:cs typeface="Helvetica Neue"/>
                <a:sym typeface="Helvetica Neue"/>
              </a:rPr>
              <a:t>R</a:t>
            </a:r>
            <a:r>
              <a:rPr b="0" baseline="-25000" i="1" lang="en-US" sz="1800" u="none">
                <a:solidFill>
                  <a:schemeClr val="dk1"/>
                </a:solidFill>
                <a:latin typeface="Helvetica Neue"/>
                <a:ea typeface="Helvetica Neue"/>
                <a:cs typeface="Helvetica Neue"/>
                <a:sym typeface="Helvetica Neue"/>
              </a:rPr>
              <a:t>j</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P</a:t>
            </a:r>
            <a:r>
              <a:rPr b="0" baseline="-25000" i="1" lang="en-US" sz="1800" u="none">
                <a:solidFill>
                  <a:schemeClr val="dk1"/>
                </a:solidFill>
                <a:latin typeface="Helvetica Neue"/>
                <a:ea typeface="Helvetica Neue"/>
                <a:cs typeface="Helvetica Neue"/>
                <a:sym typeface="Helvetica Neue"/>
              </a:rPr>
              <a:t>i</a:t>
            </a:r>
            <a:endParaRPr/>
          </a:p>
        </p:txBody>
      </p:sp>
      <p:sp>
        <p:nvSpPr>
          <p:cNvPr id="127" name="Google Shape;127;p8"/>
          <p:cNvSpPr txBox="1"/>
          <p:nvPr/>
        </p:nvSpPr>
        <p:spPr>
          <a:xfrm>
            <a:off x="822325" y="1271587"/>
            <a:ext cx="4692650" cy="39687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Helvetica Neue"/>
              <a:buNone/>
            </a:pPr>
            <a:r>
              <a:rPr b="0" i="0" lang="en-US" sz="2000" u="none">
                <a:solidFill>
                  <a:schemeClr val="dk1"/>
                </a:solidFill>
                <a:latin typeface="Helvetica Neue"/>
                <a:ea typeface="Helvetica Neue"/>
                <a:cs typeface="Helvetica Neue"/>
                <a:sym typeface="Helvetica Neue"/>
              </a:rPr>
              <a:t>A set of vertices </a:t>
            </a:r>
            <a:r>
              <a:rPr b="0" i="1" lang="en-US" sz="2000" u="none">
                <a:solidFill>
                  <a:schemeClr val="dk1"/>
                </a:solidFill>
                <a:latin typeface="Helvetica Neue"/>
                <a:ea typeface="Helvetica Neue"/>
                <a:cs typeface="Helvetica Neue"/>
                <a:sym typeface="Helvetica Neue"/>
              </a:rPr>
              <a:t>V</a:t>
            </a:r>
            <a:r>
              <a:rPr b="0" i="0" lang="en-US" sz="2000" u="none">
                <a:solidFill>
                  <a:schemeClr val="dk1"/>
                </a:solidFill>
                <a:latin typeface="Helvetica Neue"/>
                <a:ea typeface="Helvetica Neue"/>
                <a:cs typeface="Helvetica Neue"/>
                <a:sym typeface="Helvetica Neue"/>
              </a:rPr>
              <a:t> and a set of edges </a:t>
            </a:r>
            <a:r>
              <a:rPr b="0" i="1" lang="en-US" sz="2000" u="none">
                <a:solidFill>
                  <a:schemeClr val="dk1"/>
                </a:solidFill>
                <a:latin typeface="Helvetica Neue"/>
                <a:ea typeface="Helvetica Neue"/>
                <a:cs typeface="Helvetica Neue"/>
                <a:sym typeface="Helvetica Neue"/>
              </a:rPr>
              <a:t>E</a:t>
            </a:r>
            <a:r>
              <a:rPr b="0" i="0" lang="en-US" sz="2000" u="none">
                <a:solidFill>
                  <a:schemeClr val="dk1"/>
                </a:solidFill>
                <a:latin typeface="Helvetica Neue"/>
                <a:ea typeface="Helvetica Neue"/>
                <a:cs typeface="Helvetica Neue"/>
                <a:sym typeface="Helvetica Neue"/>
              </a:rPr>
              <a: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131" name="Shape 131"/>
        <p:cNvGrpSpPr/>
        <p:nvPr/>
      </p:nvGrpSpPr>
      <p:grpSpPr>
        <a:xfrm>
          <a:off x="0" y="0"/>
          <a:ext cx="0" cy="0"/>
          <a:chOff x="0" y="0"/>
          <a:chExt cx="0" cy="0"/>
        </a:xfrm>
      </p:grpSpPr>
      <p:sp>
        <p:nvSpPr>
          <p:cNvPr id="132" name="Google Shape;132;p9"/>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Resource-Allocation Graph (Cont.)</a:t>
            </a:r>
            <a:endParaRPr/>
          </a:p>
        </p:txBody>
      </p:sp>
      <p:sp>
        <p:nvSpPr>
          <p:cNvPr id="133" name="Google Shape;133;p9"/>
          <p:cNvSpPr txBox="1"/>
          <p:nvPr>
            <p:ph idx="1" type="body"/>
          </p:nvPr>
        </p:nvSpPr>
        <p:spPr>
          <a:xfrm>
            <a:off x="827087" y="1282700"/>
            <a:ext cx="7351712" cy="4483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Process</a:t>
            </a:r>
            <a:br>
              <a:rPr b="0" i="0" lang="en-US" sz="1800" u="none">
                <a:solidFill>
                  <a:schemeClr val="dk1"/>
                </a:solidFill>
                <a:latin typeface="Helvetica Neue"/>
                <a:ea typeface="Helvetica Neue"/>
                <a:cs typeface="Helvetica Neue"/>
                <a:sym typeface="Helvetica Neue"/>
              </a:rPr>
            </a:br>
            <a:br>
              <a:rPr b="0" i="0" lang="en-US" sz="1800" u="none">
                <a:solidFill>
                  <a:schemeClr val="dk1"/>
                </a:solidFill>
                <a:latin typeface="Helvetica Neue"/>
                <a:ea typeface="Helvetica Neue"/>
                <a:cs typeface="Helvetica Neue"/>
                <a:sym typeface="Helvetica Neue"/>
              </a:rPr>
            </a:br>
            <a:br>
              <a:rPr b="0" i="0" lang="en-US" sz="1800" u="none">
                <a:solidFill>
                  <a:schemeClr val="dk1"/>
                </a:solidFill>
                <a:latin typeface="Helvetica Neue"/>
                <a:ea typeface="Helvetica Neue"/>
                <a:cs typeface="Helvetica Neue"/>
                <a:sym typeface="Helvetica Neue"/>
              </a:rPr>
            </a:b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Resource Type with 4 instances</a:t>
            </a:r>
            <a:endParaRPr/>
          </a:p>
          <a:p>
            <a:pPr indent="-342900" lvl="0" marL="342900" marR="0" rtl="0" algn="l">
              <a:lnSpc>
                <a:spcPct val="100000"/>
              </a:lnSpc>
              <a:spcBef>
                <a:spcPts val="63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Char char="●"/>
            </a:pPr>
            <a:r>
              <a:rPr b="0" i="1" lang="en-US" sz="1800" u="none">
                <a:solidFill>
                  <a:schemeClr val="dk1"/>
                </a:solidFill>
                <a:latin typeface="Helvetica Neue"/>
                <a:ea typeface="Helvetica Neue"/>
                <a:cs typeface="Helvetica Neue"/>
                <a:sym typeface="Helvetica Neue"/>
              </a:rPr>
              <a:t>P</a:t>
            </a:r>
            <a:r>
              <a:rPr b="0" baseline="-25000" i="1" lang="en-US" sz="1800" u="none">
                <a:solidFill>
                  <a:schemeClr val="dk1"/>
                </a:solidFill>
                <a:latin typeface="Helvetica Neue"/>
                <a:ea typeface="Helvetica Neue"/>
                <a:cs typeface="Helvetica Neue"/>
                <a:sym typeface="Helvetica Neue"/>
              </a:rPr>
              <a:t>i</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requests instance of </a:t>
            </a:r>
            <a:r>
              <a:rPr b="0" i="1" lang="en-US" sz="1800" u="none">
                <a:solidFill>
                  <a:schemeClr val="dk1"/>
                </a:solidFill>
                <a:latin typeface="Helvetica Neue"/>
                <a:ea typeface="Helvetica Neue"/>
                <a:cs typeface="Helvetica Neue"/>
                <a:sym typeface="Helvetica Neue"/>
              </a:rPr>
              <a:t>R</a:t>
            </a:r>
            <a:r>
              <a:rPr b="0" baseline="-25000" i="1" lang="en-US" sz="1800" u="none">
                <a:solidFill>
                  <a:schemeClr val="dk1"/>
                </a:solidFill>
                <a:latin typeface="Helvetica Neue"/>
                <a:ea typeface="Helvetica Neue"/>
                <a:cs typeface="Helvetica Neue"/>
                <a:sym typeface="Helvetica Neue"/>
              </a:rPr>
              <a:t>j</a:t>
            </a:r>
            <a:endParaRPr/>
          </a:p>
          <a:p>
            <a:pPr indent="-240030" lvl="0" marL="342900" marR="0" rtl="0" algn="l">
              <a:lnSpc>
                <a:spcPct val="100000"/>
              </a:lnSpc>
              <a:spcBef>
                <a:spcPts val="63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Char char="●"/>
            </a:pPr>
            <a:r>
              <a:rPr b="0" i="1" lang="en-US" sz="1800" u="none">
                <a:solidFill>
                  <a:schemeClr val="dk1"/>
                </a:solidFill>
                <a:latin typeface="Helvetica Neue"/>
                <a:ea typeface="Helvetica Neue"/>
                <a:cs typeface="Helvetica Neue"/>
                <a:sym typeface="Helvetica Neue"/>
              </a:rPr>
              <a:t>P</a:t>
            </a:r>
            <a:r>
              <a:rPr b="0" baseline="-2500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is holding an instance of </a:t>
            </a:r>
            <a:r>
              <a:rPr b="0" i="1" lang="en-US" sz="1800" u="none">
                <a:solidFill>
                  <a:schemeClr val="dk1"/>
                </a:solidFill>
                <a:latin typeface="Helvetica Neue"/>
                <a:ea typeface="Helvetica Neue"/>
                <a:cs typeface="Helvetica Neue"/>
                <a:sym typeface="Helvetica Neue"/>
              </a:rPr>
              <a:t>R</a:t>
            </a:r>
            <a:r>
              <a:rPr b="0" baseline="-25000" i="1" lang="en-US" sz="1800" u="none">
                <a:solidFill>
                  <a:schemeClr val="dk1"/>
                </a:solidFill>
                <a:latin typeface="Helvetica Neue"/>
                <a:ea typeface="Helvetica Neue"/>
                <a:cs typeface="Helvetica Neue"/>
                <a:sym typeface="Helvetica Neue"/>
              </a:rPr>
              <a:t>j</a:t>
            </a:r>
            <a:endParaRPr/>
          </a:p>
        </p:txBody>
      </p:sp>
      <p:sp>
        <p:nvSpPr>
          <p:cNvPr id="134" name="Google Shape;134;p9"/>
          <p:cNvSpPr/>
          <p:nvPr/>
        </p:nvSpPr>
        <p:spPr>
          <a:xfrm>
            <a:off x="4143375" y="1619250"/>
            <a:ext cx="495300" cy="495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35" name="Google Shape;135;p9"/>
          <p:cNvSpPr/>
          <p:nvPr/>
        </p:nvSpPr>
        <p:spPr>
          <a:xfrm>
            <a:off x="3657600" y="5562600"/>
            <a:ext cx="495300" cy="495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Helvetica Neue"/>
              <a:buNone/>
            </a:pPr>
            <a:r>
              <a:rPr b="0" i="1" lang="en-US" sz="1800" u="none">
                <a:solidFill>
                  <a:schemeClr val="dk1"/>
                </a:solidFill>
                <a:latin typeface="Helvetica Neue"/>
                <a:ea typeface="Helvetica Neue"/>
                <a:cs typeface="Helvetica Neue"/>
                <a:sym typeface="Helvetica Neue"/>
              </a:rPr>
              <a:t>P</a:t>
            </a:r>
            <a:r>
              <a:rPr b="0" baseline="-25000" i="1" lang="en-US" sz="1800" u="none">
                <a:solidFill>
                  <a:schemeClr val="dk1"/>
                </a:solidFill>
                <a:latin typeface="Helvetica Neue"/>
                <a:ea typeface="Helvetica Neue"/>
                <a:cs typeface="Helvetica Neue"/>
                <a:sym typeface="Helvetica Neue"/>
              </a:rPr>
              <a:t>i</a:t>
            </a:r>
            <a:endParaRPr/>
          </a:p>
        </p:txBody>
      </p:sp>
      <p:sp>
        <p:nvSpPr>
          <p:cNvPr id="136" name="Google Shape;136;p9"/>
          <p:cNvSpPr/>
          <p:nvPr/>
        </p:nvSpPr>
        <p:spPr>
          <a:xfrm>
            <a:off x="3860800" y="4105275"/>
            <a:ext cx="495300" cy="495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Helvetica Neue"/>
              <a:buNone/>
            </a:pPr>
            <a:r>
              <a:rPr b="0" i="1" lang="en-US" sz="1800" u="none">
                <a:solidFill>
                  <a:schemeClr val="dk1"/>
                </a:solidFill>
                <a:latin typeface="Helvetica Neue"/>
                <a:ea typeface="Helvetica Neue"/>
                <a:cs typeface="Helvetica Neue"/>
                <a:sym typeface="Helvetica Neue"/>
              </a:rPr>
              <a:t>P</a:t>
            </a:r>
            <a:r>
              <a:rPr b="0" baseline="-25000" i="1" lang="en-US" sz="1800" u="none">
                <a:solidFill>
                  <a:schemeClr val="dk1"/>
                </a:solidFill>
                <a:latin typeface="Helvetica Neue"/>
                <a:ea typeface="Helvetica Neue"/>
                <a:cs typeface="Helvetica Neue"/>
                <a:sym typeface="Helvetica Neue"/>
              </a:rPr>
              <a:t>i</a:t>
            </a:r>
            <a:endParaRPr/>
          </a:p>
        </p:txBody>
      </p:sp>
      <p:grpSp>
        <p:nvGrpSpPr>
          <p:cNvPr id="137" name="Google Shape;137;p9"/>
          <p:cNvGrpSpPr/>
          <p:nvPr/>
        </p:nvGrpSpPr>
        <p:grpSpPr>
          <a:xfrm>
            <a:off x="4232275" y="3121025"/>
            <a:ext cx="438150" cy="419100"/>
            <a:chOff x="2666" y="1966"/>
            <a:chExt cx="276" cy="264"/>
          </a:xfrm>
        </p:grpSpPr>
        <p:sp>
          <p:nvSpPr>
            <p:cNvPr id="138" name="Google Shape;138;p9"/>
            <p:cNvSpPr/>
            <p:nvPr/>
          </p:nvSpPr>
          <p:spPr>
            <a:xfrm>
              <a:off x="2666" y="1966"/>
              <a:ext cx="276" cy="264"/>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39" name="Google Shape;139;p9"/>
            <p:cNvSpPr/>
            <p:nvPr/>
          </p:nvSpPr>
          <p:spPr>
            <a:xfrm>
              <a:off x="2736" y="2026"/>
              <a:ext cx="47" cy="47"/>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0" name="Google Shape;140;p9"/>
            <p:cNvSpPr/>
            <p:nvPr/>
          </p:nvSpPr>
          <p:spPr>
            <a:xfrm>
              <a:off x="2832" y="2026"/>
              <a:ext cx="47" cy="47"/>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1" name="Google Shape;141;p9"/>
            <p:cNvSpPr/>
            <p:nvPr/>
          </p:nvSpPr>
          <p:spPr>
            <a:xfrm>
              <a:off x="2736" y="2108"/>
              <a:ext cx="47" cy="47"/>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2" name="Google Shape;142;p9"/>
            <p:cNvSpPr/>
            <p:nvPr/>
          </p:nvSpPr>
          <p:spPr>
            <a:xfrm>
              <a:off x="2832" y="2108"/>
              <a:ext cx="47" cy="47"/>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143" name="Google Shape;143;p9"/>
          <p:cNvGrpSpPr/>
          <p:nvPr/>
        </p:nvGrpSpPr>
        <p:grpSpPr>
          <a:xfrm>
            <a:off x="4692650" y="4168775"/>
            <a:ext cx="438150" cy="419100"/>
            <a:chOff x="2666" y="1966"/>
            <a:chExt cx="276" cy="264"/>
          </a:xfrm>
        </p:grpSpPr>
        <p:sp>
          <p:nvSpPr>
            <p:cNvPr id="144" name="Google Shape;144;p9"/>
            <p:cNvSpPr/>
            <p:nvPr/>
          </p:nvSpPr>
          <p:spPr>
            <a:xfrm>
              <a:off x="2666" y="1966"/>
              <a:ext cx="276" cy="264"/>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5" name="Google Shape;145;p9"/>
            <p:cNvSpPr/>
            <p:nvPr/>
          </p:nvSpPr>
          <p:spPr>
            <a:xfrm>
              <a:off x="2736" y="2026"/>
              <a:ext cx="47" cy="47"/>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6" name="Google Shape;146;p9"/>
            <p:cNvSpPr/>
            <p:nvPr/>
          </p:nvSpPr>
          <p:spPr>
            <a:xfrm>
              <a:off x="2832" y="2026"/>
              <a:ext cx="47" cy="47"/>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7" name="Google Shape;147;p9"/>
            <p:cNvSpPr/>
            <p:nvPr/>
          </p:nvSpPr>
          <p:spPr>
            <a:xfrm>
              <a:off x="2736" y="2108"/>
              <a:ext cx="47" cy="47"/>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8" name="Google Shape;148;p9"/>
            <p:cNvSpPr/>
            <p:nvPr/>
          </p:nvSpPr>
          <p:spPr>
            <a:xfrm>
              <a:off x="2832" y="2108"/>
              <a:ext cx="47" cy="47"/>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cxnSp>
        <p:nvCxnSpPr>
          <p:cNvPr id="149" name="Google Shape;149;p9"/>
          <p:cNvCxnSpPr/>
          <p:nvPr/>
        </p:nvCxnSpPr>
        <p:spPr>
          <a:xfrm>
            <a:off x="4365625" y="4371975"/>
            <a:ext cx="304800" cy="0"/>
          </a:xfrm>
          <a:prstGeom prst="straightConnector1">
            <a:avLst/>
          </a:prstGeom>
          <a:gradFill>
            <a:gsLst>
              <a:gs pos="0">
                <a:srgbClr val="B3EBFF"/>
              </a:gs>
              <a:gs pos="100000">
                <a:srgbClr val="FFFFFF"/>
              </a:gs>
            </a:gsLst>
            <a:lin ang="13500000" scaled="0"/>
          </a:gradFill>
          <a:ln cap="flat" cmpd="sng" w="9525">
            <a:solidFill>
              <a:schemeClr val="dk1"/>
            </a:solidFill>
            <a:prstDash val="solid"/>
            <a:miter lim="800000"/>
            <a:headEnd len="med" w="med" type="none"/>
            <a:tailEnd len="med" w="med" type="triangle"/>
          </a:ln>
        </p:spPr>
      </p:cxnSp>
      <p:sp>
        <p:nvSpPr>
          <p:cNvPr id="150" name="Google Shape;150;p9"/>
          <p:cNvSpPr txBox="1"/>
          <p:nvPr/>
        </p:nvSpPr>
        <p:spPr>
          <a:xfrm>
            <a:off x="4752975" y="4586287"/>
            <a:ext cx="338137" cy="3048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Helvetica Neue"/>
              <a:buNone/>
            </a:pPr>
            <a:r>
              <a:rPr b="0" i="1" lang="en-US" sz="1400" u="none">
                <a:solidFill>
                  <a:schemeClr val="dk1"/>
                </a:solidFill>
                <a:latin typeface="Helvetica Neue"/>
                <a:ea typeface="Helvetica Neue"/>
                <a:cs typeface="Helvetica Neue"/>
                <a:sym typeface="Helvetica Neue"/>
              </a:rPr>
              <a:t>R</a:t>
            </a:r>
            <a:r>
              <a:rPr b="0" baseline="-25000" i="1" lang="en-US" sz="1400" u="none">
                <a:solidFill>
                  <a:schemeClr val="dk1"/>
                </a:solidFill>
                <a:latin typeface="Helvetica Neue"/>
                <a:ea typeface="Helvetica Neue"/>
                <a:cs typeface="Helvetica Neue"/>
                <a:sym typeface="Helvetica Neue"/>
              </a:rPr>
              <a:t>j</a:t>
            </a:r>
            <a:endParaRPr/>
          </a:p>
        </p:txBody>
      </p:sp>
      <p:grpSp>
        <p:nvGrpSpPr>
          <p:cNvPr id="151" name="Google Shape;151;p9"/>
          <p:cNvGrpSpPr/>
          <p:nvPr/>
        </p:nvGrpSpPr>
        <p:grpSpPr>
          <a:xfrm>
            <a:off x="4451350" y="5626100"/>
            <a:ext cx="438150" cy="419100"/>
            <a:chOff x="2666" y="1966"/>
            <a:chExt cx="276" cy="264"/>
          </a:xfrm>
        </p:grpSpPr>
        <p:sp>
          <p:nvSpPr>
            <p:cNvPr id="152" name="Google Shape;152;p9"/>
            <p:cNvSpPr/>
            <p:nvPr/>
          </p:nvSpPr>
          <p:spPr>
            <a:xfrm>
              <a:off x="2666" y="1966"/>
              <a:ext cx="276" cy="264"/>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3" name="Google Shape;153;p9"/>
            <p:cNvSpPr/>
            <p:nvPr/>
          </p:nvSpPr>
          <p:spPr>
            <a:xfrm>
              <a:off x="2736" y="2026"/>
              <a:ext cx="47" cy="47"/>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4" name="Google Shape;154;p9"/>
            <p:cNvSpPr/>
            <p:nvPr/>
          </p:nvSpPr>
          <p:spPr>
            <a:xfrm>
              <a:off x="2832" y="2026"/>
              <a:ext cx="47" cy="47"/>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5" name="Google Shape;155;p9"/>
            <p:cNvSpPr/>
            <p:nvPr/>
          </p:nvSpPr>
          <p:spPr>
            <a:xfrm>
              <a:off x="2736" y="2108"/>
              <a:ext cx="47" cy="47"/>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6" name="Google Shape;156;p9"/>
            <p:cNvSpPr/>
            <p:nvPr/>
          </p:nvSpPr>
          <p:spPr>
            <a:xfrm>
              <a:off x="2832" y="2108"/>
              <a:ext cx="47" cy="47"/>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cxnSp>
        <p:nvCxnSpPr>
          <p:cNvPr id="157" name="Google Shape;157;p9"/>
          <p:cNvCxnSpPr/>
          <p:nvPr/>
        </p:nvCxnSpPr>
        <p:spPr>
          <a:xfrm flipH="1">
            <a:off x="4124325" y="5772150"/>
            <a:ext cx="476250" cy="104775"/>
          </a:xfrm>
          <a:prstGeom prst="straightConnector1">
            <a:avLst/>
          </a:prstGeom>
          <a:gradFill>
            <a:gsLst>
              <a:gs pos="0">
                <a:srgbClr val="B3EBFF"/>
              </a:gs>
              <a:gs pos="100000">
                <a:srgbClr val="FFFFFF"/>
              </a:gs>
            </a:gsLst>
            <a:lin ang="13500000" scaled="0"/>
          </a:gradFill>
          <a:ln cap="flat" cmpd="sng" w="9525">
            <a:solidFill>
              <a:schemeClr val="dk1"/>
            </a:solidFill>
            <a:prstDash val="solid"/>
            <a:miter lim="800000"/>
            <a:headEnd len="med" w="med" type="none"/>
            <a:tailEnd len="med" w="med" type="triangle"/>
          </a:ln>
        </p:spPr>
      </p:cxnSp>
      <p:sp>
        <p:nvSpPr>
          <p:cNvPr id="158" name="Google Shape;158;p9"/>
          <p:cNvSpPr txBox="1"/>
          <p:nvPr/>
        </p:nvSpPr>
        <p:spPr>
          <a:xfrm>
            <a:off x="4502150" y="6015037"/>
            <a:ext cx="338137" cy="3048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Helvetica Neue"/>
              <a:buNone/>
            </a:pPr>
            <a:r>
              <a:rPr b="0" i="1" lang="en-US" sz="1400" u="none">
                <a:solidFill>
                  <a:schemeClr val="dk1"/>
                </a:solidFill>
                <a:latin typeface="Helvetica Neue"/>
                <a:ea typeface="Helvetica Neue"/>
                <a:cs typeface="Helvetica Neue"/>
                <a:sym typeface="Helvetica Neue"/>
              </a:rPr>
              <a:t>R</a:t>
            </a:r>
            <a:r>
              <a:rPr b="0" baseline="-25000" i="1" lang="en-US" sz="1400" u="none">
                <a:solidFill>
                  <a:schemeClr val="dk1"/>
                </a:solidFill>
                <a:latin typeface="Helvetica Neue"/>
                <a:ea typeface="Helvetica Neue"/>
                <a:cs typeface="Helvetica Neue"/>
                <a:sym typeface="Helvetica Neue"/>
              </a:rPr>
              <a:t>j</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162" name="Shape 162"/>
        <p:cNvGrpSpPr/>
        <p:nvPr/>
      </p:nvGrpSpPr>
      <p:grpSpPr>
        <a:xfrm>
          <a:off x="0" y="0"/>
          <a:ext cx="0" cy="0"/>
          <a:chOff x="0" y="0"/>
          <a:chExt cx="0" cy="0"/>
        </a:xfrm>
      </p:grpSpPr>
      <p:sp>
        <p:nvSpPr>
          <p:cNvPr id="163" name="Google Shape;163;p10"/>
          <p:cNvSpPr txBox="1"/>
          <p:nvPr>
            <p:ph type="title"/>
          </p:nvPr>
        </p:nvSpPr>
        <p:spPr>
          <a:xfrm>
            <a:off x="690562" y="319087"/>
            <a:ext cx="8267700" cy="5127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Example of a Resource Allocation Graph</a:t>
            </a:r>
            <a:endParaRPr/>
          </a:p>
        </p:txBody>
      </p:sp>
      <p:pic>
        <p:nvPicPr>
          <p:cNvPr id="164" name="Google Shape;164;p10"/>
          <p:cNvPicPr preferRelativeResize="0"/>
          <p:nvPr/>
        </p:nvPicPr>
        <p:blipFill rotWithShape="1">
          <a:blip r:embed="rId3">
            <a:alphaModFix/>
          </a:blip>
          <a:srcRect b="1531" l="25285" r="25285" t="925"/>
          <a:stretch/>
        </p:blipFill>
        <p:spPr>
          <a:xfrm>
            <a:off x="3146425" y="2000250"/>
            <a:ext cx="2609850" cy="3863975"/>
          </a:xfrm>
          <a:prstGeom prst="rect">
            <a:avLst/>
          </a:prstGeom>
          <a:noFill/>
          <a:ln cap="flat" cmpd="dbl" w="38100">
            <a:solidFill>
              <a:srgbClr val="CC6600"/>
            </a:solidFill>
            <a:prstDash val="solid"/>
            <a:miter lim="800000"/>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168" name="Shape 168"/>
        <p:cNvGrpSpPr/>
        <p:nvPr/>
      </p:nvGrpSpPr>
      <p:grpSpPr>
        <a:xfrm>
          <a:off x="0" y="0"/>
          <a:ext cx="0" cy="0"/>
          <a:chOff x="0" y="0"/>
          <a:chExt cx="0" cy="0"/>
        </a:xfrm>
      </p:grpSpPr>
      <p:sp>
        <p:nvSpPr>
          <p:cNvPr id="169" name="Google Shape;169;p11"/>
          <p:cNvSpPr txBox="1"/>
          <p:nvPr>
            <p:ph type="title"/>
          </p:nvPr>
        </p:nvSpPr>
        <p:spPr>
          <a:xfrm>
            <a:off x="463550" y="384175"/>
            <a:ext cx="8728075" cy="4699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2800"/>
              <a:buFont typeface="Helvetica Neue"/>
              <a:buNone/>
            </a:pPr>
            <a:r>
              <a:rPr b="1" i="0" lang="en-US" sz="2800" u="none">
                <a:solidFill>
                  <a:srgbClr val="993300"/>
                </a:solidFill>
                <a:latin typeface="Helvetica Neue"/>
                <a:ea typeface="Helvetica Neue"/>
                <a:cs typeface="Helvetica Neue"/>
                <a:sym typeface="Helvetica Neue"/>
              </a:rPr>
              <a:t>Resource Allocation Graph With A Deadlock</a:t>
            </a:r>
            <a:endParaRPr/>
          </a:p>
        </p:txBody>
      </p:sp>
      <p:pic>
        <p:nvPicPr>
          <p:cNvPr id="170" name="Google Shape;170;p11"/>
          <p:cNvPicPr preferRelativeResize="0"/>
          <p:nvPr/>
        </p:nvPicPr>
        <p:blipFill rotWithShape="1">
          <a:blip r:embed="rId3">
            <a:alphaModFix/>
          </a:blip>
          <a:srcRect b="1547" l="25067" r="25283" t="933"/>
          <a:stretch/>
        </p:blipFill>
        <p:spPr>
          <a:xfrm>
            <a:off x="3105150" y="1833562"/>
            <a:ext cx="2755900" cy="4059237"/>
          </a:xfrm>
          <a:prstGeom prst="rect">
            <a:avLst/>
          </a:prstGeom>
          <a:noFill/>
          <a:ln cap="flat" cmpd="dbl" w="38100">
            <a:solidFill>
              <a:srgbClr val="CC6600"/>
            </a:solidFill>
            <a:prstDash val="solid"/>
            <a:miter lim="800000"/>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174" name="Shape 174"/>
        <p:cNvGrpSpPr/>
        <p:nvPr/>
      </p:nvGrpSpPr>
      <p:grpSpPr>
        <a:xfrm>
          <a:off x="0" y="0"/>
          <a:ext cx="0" cy="0"/>
          <a:chOff x="0" y="0"/>
          <a:chExt cx="0" cy="0"/>
        </a:xfrm>
      </p:grpSpPr>
      <p:sp>
        <p:nvSpPr>
          <p:cNvPr id="175" name="Google Shape;175;p12"/>
          <p:cNvSpPr txBox="1"/>
          <p:nvPr>
            <p:ph type="title"/>
          </p:nvPr>
        </p:nvSpPr>
        <p:spPr>
          <a:xfrm>
            <a:off x="638175" y="323850"/>
            <a:ext cx="8226425" cy="4572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Graph With A Cycle But No Deadlock</a:t>
            </a:r>
            <a:endParaRPr/>
          </a:p>
        </p:txBody>
      </p:sp>
      <p:pic>
        <p:nvPicPr>
          <p:cNvPr id="176" name="Google Shape;176;p12"/>
          <p:cNvPicPr preferRelativeResize="0"/>
          <p:nvPr/>
        </p:nvPicPr>
        <p:blipFill rotWithShape="1">
          <a:blip r:embed="rId3">
            <a:alphaModFix/>
          </a:blip>
          <a:srcRect b="906" l="20947" r="21392" t="906"/>
          <a:stretch/>
        </p:blipFill>
        <p:spPr>
          <a:xfrm>
            <a:off x="2843212" y="1890712"/>
            <a:ext cx="3246437" cy="4157662"/>
          </a:xfrm>
          <a:prstGeom prst="rect">
            <a:avLst/>
          </a:prstGeom>
          <a:noFill/>
          <a:ln cap="flat" cmpd="dbl" w="38100">
            <a:solidFill>
              <a:srgbClr val="CC6600"/>
            </a:solidFill>
            <a:prstDash val="solid"/>
            <a:miter lim="800000"/>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180" name="Shape 180"/>
        <p:cNvGrpSpPr/>
        <p:nvPr/>
      </p:nvGrpSpPr>
      <p:grpSpPr>
        <a:xfrm>
          <a:off x="0" y="0"/>
          <a:ext cx="0" cy="0"/>
          <a:chOff x="0" y="0"/>
          <a:chExt cx="0" cy="0"/>
        </a:xfrm>
      </p:grpSpPr>
      <p:sp>
        <p:nvSpPr>
          <p:cNvPr id="181" name="Google Shape;181;p13"/>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Basic Facts</a:t>
            </a:r>
            <a:endParaRPr/>
          </a:p>
        </p:txBody>
      </p:sp>
      <p:sp>
        <p:nvSpPr>
          <p:cNvPr id="182" name="Google Shape;182;p13"/>
          <p:cNvSpPr txBox="1"/>
          <p:nvPr>
            <p:ph idx="1" type="body"/>
          </p:nvPr>
        </p:nvSpPr>
        <p:spPr>
          <a:xfrm>
            <a:off x="827087" y="1454150"/>
            <a:ext cx="6353175" cy="44005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If graph contains no cycles ⇒ no deadlock.</a:t>
            </a:r>
            <a:br>
              <a:rPr b="0" i="0" lang="en-US" sz="1800" u="none">
                <a:solidFill>
                  <a:schemeClr val="dk1"/>
                </a:solidFill>
                <a:latin typeface="Helvetica Neue"/>
                <a:ea typeface="Helvetica Neue"/>
                <a:cs typeface="Helvetica Neue"/>
                <a:sym typeface="Helvetica Neue"/>
              </a:rPr>
            </a:b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If graph contains a cycle ⇒</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if only one instance per resource type, then deadlock.</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if several instances per resource type, possibility of deadlock.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186" name="Shape 186"/>
        <p:cNvGrpSpPr/>
        <p:nvPr/>
      </p:nvGrpSpPr>
      <p:grpSpPr>
        <a:xfrm>
          <a:off x="0" y="0"/>
          <a:ext cx="0" cy="0"/>
          <a:chOff x="0" y="0"/>
          <a:chExt cx="0" cy="0"/>
        </a:xfrm>
      </p:grpSpPr>
      <p:sp>
        <p:nvSpPr>
          <p:cNvPr id="187" name="Google Shape;187;p14"/>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Methods for Handling Deadlocks</a:t>
            </a:r>
            <a:endParaRPr/>
          </a:p>
        </p:txBody>
      </p:sp>
      <p:sp>
        <p:nvSpPr>
          <p:cNvPr id="188" name="Google Shape;188;p14"/>
          <p:cNvSpPr txBox="1"/>
          <p:nvPr>
            <p:ph idx="1" type="body"/>
          </p:nvPr>
        </p:nvSpPr>
        <p:spPr>
          <a:xfrm>
            <a:off x="827087" y="1531937"/>
            <a:ext cx="6591300" cy="32623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Ensure that the system will </a:t>
            </a:r>
            <a:r>
              <a:rPr b="0" i="1" lang="en-US" sz="1800" u="none">
                <a:solidFill>
                  <a:srgbClr val="FF0066"/>
                </a:solidFill>
                <a:latin typeface="Helvetica Neue"/>
                <a:ea typeface="Helvetica Neue"/>
                <a:cs typeface="Helvetica Neue"/>
                <a:sym typeface="Helvetica Neue"/>
              </a:rPr>
              <a:t>never</a:t>
            </a:r>
            <a:r>
              <a:rPr b="0" i="0" lang="en-US" sz="1800" u="none">
                <a:solidFill>
                  <a:schemeClr val="dk1"/>
                </a:solidFill>
                <a:latin typeface="Helvetica Neue"/>
                <a:ea typeface="Helvetica Neue"/>
                <a:cs typeface="Helvetica Neue"/>
                <a:sym typeface="Helvetica Neue"/>
              </a:rPr>
              <a:t> enter a deadlock state.</a:t>
            </a:r>
            <a:br>
              <a:rPr b="0" i="0" lang="en-US" sz="1800" u="none">
                <a:solidFill>
                  <a:schemeClr val="dk1"/>
                </a:solidFill>
                <a:latin typeface="Helvetica Neue"/>
                <a:ea typeface="Helvetica Neue"/>
                <a:cs typeface="Helvetica Neue"/>
                <a:sym typeface="Helvetica Neue"/>
              </a:rPr>
            </a:b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Allow the system to enter a deadlock state and then recover.</a:t>
            </a:r>
            <a:br>
              <a:rPr b="0" i="0" lang="en-US" sz="1800" u="none">
                <a:solidFill>
                  <a:schemeClr val="dk1"/>
                </a:solidFill>
                <a:latin typeface="Helvetica Neue"/>
                <a:ea typeface="Helvetica Neue"/>
                <a:cs typeface="Helvetica Neue"/>
                <a:sym typeface="Helvetica Neue"/>
              </a:rPr>
            </a:b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Ignore the problem and pretend that deadlocks never occur in the system; used by most operating systems, including UNIX.</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192" name="Shape 192"/>
        <p:cNvGrpSpPr/>
        <p:nvPr/>
      </p:nvGrpSpPr>
      <p:grpSpPr>
        <a:xfrm>
          <a:off x="0" y="0"/>
          <a:ext cx="0" cy="0"/>
          <a:chOff x="0" y="0"/>
          <a:chExt cx="0" cy="0"/>
        </a:xfrm>
      </p:grpSpPr>
      <p:sp>
        <p:nvSpPr>
          <p:cNvPr id="193" name="Google Shape;193;p15"/>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Deadlock Prevention</a:t>
            </a:r>
            <a:endParaRPr/>
          </a:p>
        </p:txBody>
      </p:sp>
      <p:sp>
        <p:nvSpPr>
          <p:cNvPr id="194" name="Google Shape;194;p15"/>
          <p:cNvSpPr txBox="1"/>
          <p:nvPr>
            <p:ph idx="1" type="body"/>
          </p:nvPr>
        </p:nvSpPr>
        <p:spPr>
          <a:xfrm>
            <a:off x="1143000" y="1912937"/>
            <a:ext cx="6584950" cy="37814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1" i="0" lang="en-US" sz="1800" u="none">
                <a:solidFill>
                  <a:schemeClr val="dk1"/>
                </a:solidFill>
                <a:latin typeface="Helvetica Neue"/>
                <a:ea typeface="Helvetica Neue"/>
                <a:cs typeface="Helvetica Neue"/>
                <a:sym typeface="Helvetica Neue"/>
              </a:rPr>
              <a:t>Mutual Exclusion</a:t>
            </a:r>
            <a:r>
              <a:rPr b="0" i="0" lang="en-US" sz="1800" u="none">
                <a:solidFill>
                  <a:schemeClr val="dk1"/>
                </a:solidFill>
                <a:latin typeface="Helvetica Neue"/>
                <a:ea typeface="Helvetica Neue"/>
                <a:cs typeface="Helvetica Neue"/>
                <a:sym typeface="Helvetica Neue"/>
              </a:rPr>
              <a:t> – not required for sharable resources; must hold for nonsharable resources.</a:t>
            </a:r>
            <a:br>
              <a:rPr b="0" i="0" lang="en-US" sz="1800" u="none">
                <a:solidFill>
                  <a:schemeClr val="dk1"/>
                </a:solidFill>
                <a:latin typeface="Helvetica Neue"/>
                <a:ea typeface="Helvetica Neue"/>
                <a:cs typeface="Helvetica Neue"/>
                <a:sym typeface="Helvetica Neue"/>
              </a:rPr>
            </a:br>
            <a:endParaRPr/>
          </a:p>
          <a:p>
            <a:pPr indent="-342900" lvl="0" marL="342900" marR="0" rtl="0" algn="l">
              <a:lnSpc>
                <a:spcPct val="100000"/>
              </a:lnSpc>
              <a:spcBef>
                <a:spcPts val="630"/>
              </a:spcBef>
              <a:spcAft>
                <a:spcPts val="0"/>
              </a:spcAft>
              <a:buClr>
                <a:srgbClr val="993300"/>
              </a:buClr>
              <a:buSzPts val="1620"/>
              <a:buFont typeface="Arial"/>
              <a:buChar char="●"/>
            </a:pPr>
            <a:r>
              <a:rPr b="1" i="0" lang="en-US" sz="1800" u="none">
                <a:solidFill>
                  <a:schemeClr val="dk1"/>
                </a:solidFill>
                <a:latin typeface="Helvetica Neue"/>
                <a:ea typeface="Helvetica Neue"/>
                <a:cs typeface="Helvetica Neue"/>
                <a:sym typeface="Helvetica Neue"/>
              </a:rPr>
              <a:t>Hold and Wait</a:t>
            </a:r>
            <a:r>
              <a:rPr b="0" i="0" lang="en-US" sz="1800" u="none">
                <a:solidFill>
                  <a:schemeClr val="dk1"/>
                </a:solidFill>
                <a:latin typeface="Helvetica Neue"/>
                <a:ea typeface="Helvetica Neue"/>
                <a:cs typeface="Helvetica Neue"/>
                <a:sym typeface="Helvetica Neue"/>
              </a:rPr>
              <a:t> – must guarantee that whenever a process requests a resource, it does not hold any other resources.</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Require process to request and be allocated all its resources before it begins execution, or allow process to request resources only when the process has none.</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Low resource utilization; starvation possible.</a:t>
            </a:r>
            <a:endParaRPr/>
          </a:p>
        </p:txBody>
      </p:sp>
      <p:sp>
        <p:nvSpPr>
          <p:cNvPr id="195" name="Google Shape;195;p15"/>
          <p:cNvSpPr txBox="1"/>
          <p:nvPr/>
        </p:nvSpPr>
        <p:spPr>
          <a:xfrm>
            <a:off x="819150" y="1400175"/>
            <a:ext cx="5796300" cy="3693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Restrain the ways request can be</a:t>
            </a:r>
            <a:r>
              <a:rPr lang="en-US" sz="1800">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made.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199" name="Shape 199"/>
        <p:cNvGrpSpPr/>
        <p:nvPr/>
      </p:nvGrpSpPr>
      <p:grpSpPr>
        <a:xfrm>
          <a:off x="0" y="0"/>
          <a:ext cx="0" cy="0"/>
          <a:chOff x="0" y="0"/>
          <a:chExt cx="0" cy="0"/>
        </a:xfrm>
      </p:grpSpPr>
      <p:sp>
        <p:nvSpPr>
          <p:cNvPr id="200" name="Google Shape;200;p16"/>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Deadlock Prevention (Cont.)</a:t>
            </a:r>
            <a:endParaRPr/>
          </a:p>
        </p:txBody>
      </p:sp>
      <p:sp>
        <p:nvSpPr>
          <p:cNvPr id="201" name="Google Shape;201;p16"/>
          <p:cNvSpPr txBox="1"/>
          <p:nvPr>
            <p:ph idx="1" type="body"/>
          </p:nvPr>
        </p:nvSpPr>
        <p:spPr>
          <a:xfrm>
            <a:off x="827087" y="1282700"/>
            <a:ext cx="6824662" cy="44005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1" i="0" lang="en-US" sz="1800" u="none">
                <a:solidFill>
                  <a:schemeClr val="dk1"/>
                </a:solidFill>
                <a:latin typeface="Helvetica Neue"/>
                <a:ea typeface="Helvetica Neue"/>
                <a:cs typeface="Helvetica Neue"/>
                <a:sym typeface="Helvetica Neue"/>
              </a:rPr>
              <a:t>No Preemption</a:t>
            </a:r>
            <a:r>
              <a:rPr b="0" i="0" lang="en-US" sz="1800" u="none">
                <a:solidFill>
                  <a:schemeClr val="dk1"/>
                </a:solidFill>
                <a:latin typeface="Helvetica Neue"/>
                <a:ea typeface="Helvetica Neue"/>
                <a:cs typeface="Helvetica Neue"/>
                <a:sym typeface="Helvetica Neue"/>
              </a:rPr>
              <a:t> –</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If a process that is holding some resources requests another resource that cannot be immediately allocated to it, then all resources currently being held are released.</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Preempted resources are added to the list of resources for which the process is waiting.</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Process will be restarted only when it can regain its old resources, as well as the new ones that it is requesting.</a:t>
            </a:r>
            <a:br>
              <a:rPr b="0" i="0" lang="en-US" sz="1800" u="none" cap="none" strike="noStrike">
                <a:solidFill>
                  <a:schemeClr val="dk1"/>
                </a:solidFill>
                <a:latin typeface="Helvetica Neue"/>
                <a:ea typeface="Helvetica Neue"/>
                <a:cs typeface="Helvetica Neue"/>
                <a:sym typeface="Helvetica Neue"/>
              </a:rPr>
            </a:br>
            <a:endParaRPr/>
          </a:p>
          <a:p>
            <a:pPr indent="-342900" lvl="0" marL="342900" marR="0" rtl="0" algn="l">
              <a:lnSpc>
                <a:spcPct val="100000"/>
              </a:lnSpc>
              <a:spcBef>
                <a:spcPts val="630"/>
              </a:spcBef>
              <a:spcAft>
                <a:spcPts val="0"/>
              </a:spcAft>
              <a:buClr>
                <a:srgbClr val="993300"/>
              </a:buClr>
              <a:buSzPts val="1620"/>
              <a:buFont typeface="Arial"/>
              <a:buChar char="●"/>
            </a:pPr>
            <a:r>
              <a:rPr b="1" i="0" lang="en-US" sz="1800" u="none">
                <a:solidFill>
                  <a:schemeClr val="dk1"/>
                </a:solidFill>
                <a:latin typeface="Helvetica Neue"/>
                <a:ea typeface="Helvetica Neue"/>
                <a:cs typeface="Helvetica Neue"/>
                <a:sym typeface="Helvetica Neue"/>
              </a:rPr>
              <a:t>Circular Wait</a:t>
            </a:r>
            <a:r>
              <a:rPr b="0" i="0" lang="en-US" sz="1800" u="none">
                <a:solidFill>
                  <a:schemeClr val="dk1"/>
                </a:solidFill>
                <a:latin typeface="Helvetica Neue"/>
                <a:ea typeface="Helvetica Neue"/>
                <a:cs typeface="Helvetica Neue"/>
                <a:sym typeface="Helvetica Neue"/>
              </a:rPr>
              <a:t> – impose a total ordering of all resource types, and require that each process requests resources in an increasing order of enumeration.</a:t>
            </a:r>
            <a:endParaRPr/>
          </a:p>
          <a:p>
            <a:pPr indent="-240030" lvl="0" marL="342900" marR="0" rtl="0" algn="l">
              <a:lnSpc>
                <a:spcPct val="100000"/>
              </a:lnSpc>
              <a:spcBef>
                <a:spcPts val="63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205" name="Shape 205"/>
        <p:cNvGrpSpPr/>
        <p:nvPr/>
      </p:nvGrpSpPr>
      <p:grpSpPr>
        <a:xfrm>
          <a:off x="0" y="0"/>
          <a:ext cx="0" cy="0"/>
          <a:chOff x="0" y="0"/>
          <a:chExt cx="0" cy="0"/>
        </a:xfrm>
      </p:grpSpPr>
      <p:sp>
        <p:nvSpPr>
          <p:cNvPr id="206" name="Google Shape;206;p17"/>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Deadlock Avoidance</a:t>
            </a:r>
            <a:endParaRPr/>
          </a:p>
        </p:txBody>
      </p:sp>
      <p:sp>
        <p:nvSpPr>
          <p:cNvPr id="207" name="Google Shape;207;p17"/>
          <p:cNvSpPr txBox="1"/>
          <p:nvPr>
            <p:ph idx="1" type="body"/>
          </p:nvPr>
        </p:nvSpPr>
        <p:spPr>
          <a:xfrm>
            <a:off x="1112837" y="2038350"/>
            <a:ext cx="6584950" cy="37830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Simplest and most useful model requires that each process declare the </a:t>
            </a:r>
            <a:r>
              <a:rPr b="0" i="1" lang="en-US" sz="1800" u="none">
                <a:solidFill>
                  <a:schemeClr val="dk1"/>
                </a:solidFill>
                <a:latin typeface="Helvetica Neue"/>
                <a:ea typeface="Helvetica Neue"/>
                <a:cs typeface="Helvetica Neue"/>
                <a:sym typeface="Helvetica Neue"/>
              </a:rPr>
              <a:t>maximum number</a:t>
            </a:r>
            <a:r>
              <a:rPr b="0" i="0" lang="en-US" sz="1800" u="none">
                <a:solidFill>
                  <a:schemeClr val="dk1"/>
                </a:solidFill>
                <a:latin typeface="Helvetica Neue"/>
                <a:ea typeface="Helvetica Neue"/>
                <a:cs typeface="Helvetica Neue"/>
                <a:sym typeface="Helvetica Neue"/>
              </a:rPr>
              <a:t> of resources of each type that it may need.</a:t>
            </a:r>
            <a:br>
              <a:rPr b="0" i="0" lang="en-US" sz="1800" u="none">
                <a:solidFill>
                  <a:schemeClr val="dk1"/>
                </a:solidFill>
                <a:latin typeface="Helvetica Neue"/>
                <a:ea typeface="Helvetica Neue"/>
                <a:cs typeface="Helvetica Neue"/>
                <a:sym typeface="Helvetica Neue"/>
              </a:rPr>
            </a:b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The deadlock-avoidance algorithm dynamically examines the resource-allocation state to ensure that there can never be a circular-wait condition.</a:t>
            </a:r>
            <a:br>
              <a:rPr b="0" i="0" lang="en-US" sz="1800" u="none">
                <a:solidFill>
                  <a:schemeClr val="dk1"/>
                </a:solidFill>
                <a:latin typeface="Helvetica Neue"/>
                <a:ea typeface="Helvetica Neue"/>
                <a:cs typeface="Helvetica Neue"/>
                <a:sym typeface="Helvetica Neue"/>
              </a:rPr>
            </a:b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Resource-allocation </a:t>
            </a:r>
            <a:r>
              <a:rPr b="0" i="1" lang="en-US" sz="1800" u="none">
                <a:solidFill>
                  <a:schemeClr val="dk1"/>
                </a:solidFill>
                <a:latin typeface="Helvetica Neue"/>
                <a:ea typeface="Helvetica Neue"/>
                <a:cs typeface="Helvetica Neue"/>
                <a:sym typeface="Helvetica Neue"/>
              </a:rPr>
              <a:t>state</a:t>
            </a:r>
            <a:r>
              <a:rPr b="0" i="0" lang="en-US" sz="1800" u="none">
                <a:solidFill>
                  <a:schemeClr val="dk1"/>
                </a:solidFill>
                <a:latin typeface="Helvetica Neue"/>
                <a:ea typeface="Helvetica Neue"/>
                <a:cs typeface="Helvetica Neue"/>
                <a:sym typeface="Helvetica Neue"/>
              </a:rPr>
              <a:t> is defined by the number of available and allocated resources, and the maximum demands of the processes.</a:t>
            </a:r>
            <a:endParaRPr/>
          </a:p>
        </p:txBody>
      </p:sp>
      <p:sp>
        <p:nvSpPr>
          <p:cNvPr id="208" name="Google Shape;208;p17"/>
          <p:cNvSpPr txBox="1"/>
          <p:nvPr/>
        </p:nvSpPr>
        <p:spPr>
          <a:xfrm>
            <a:off x="822325" y="1271587"/>
            <a:ext cx="6821400" cy="6465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Requires that the system has some additional </a:t>
            </a:r>
            <a:r>
              <a:rPr b="0" i="1" lang="en-US" sz="1800" u="none">
                <a:solidFill>
                  <a:schemeClr val="dk1"/>
                </a:solidFill>
                <a:latin typeface="Helvetica Neue"/>
                <a:ea typeface="Helvetica Neue"/>
                <a:cs typeface="Helvetica Neue"/>
                <a:sym typeface="Helvetica Neue"/>
              </a:rPr>
              <a:t>a priori </a:t>
            </a:r>
            <a:r>
              <a:rPr b="0" i="0" lang="en-US" sz="1800" u="none">
                <a:solidFill>
                  <a:schemeClr val="dk1"/>
                </a:solidFill>
                <a:latin typeface="Helvetica Neue"/>
                <a:ea typeface="Helvetica Neue"/>
                <a:cs typeface="Helvetica Neue"/>
                <a:sym typeface="Helvetica Neue"/>
              </a:rPr>
              <a:t>information available.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212" name="Shape 212"/>
        <p:cNvGrpSpPr/>
        <p:nvPr/>
      </p:nvGrpSpPr>
      <p:grpSpPr>
        <a:xfrm>
          <a:off x="0" y="0"/>
          <a:ext cx="0" cy="0"/>
          <a:chOff x="0" y="0"/>
          <a:chExt cx="0" cy="0"/>
        </a:xfrm>
      </p:grpSpPr>
      <p:sp>
        <p:nvSpPr>
          <p:cNvPr id="213" name="Google Shape;213;p18"/>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Safe State</a:t>
            </a:r>
            <a:endParaRPr/>
          </a:p>
        </p:txBody>
      </p:sp>
      <p:sp>
        <p:nvSpPr>
          <p:cNvPr id="214" name="Google Shape;214;p18"/>
          <p:cNvSpPr txBox="1"/>
          <p:nvPr>
            <p:ph idx="1" type="body"/>
          </p:nvPr>
        </p:nvSpPr>
        <p:spPr>
          <a:xfrm>
            <a:off x="855662" y="1306512"/>
            <a:ext cx="7161212" cy="46386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When a process requests an available resource, system must decide if immediate allocation leaves the system in a safe state.</a:t>
            </a:r>
            <a:br>
              <a:rPr b="0" i="0" lang="en-US" sz="1800" u="none">
                <a:solidFill>
                  <a:schemeClr val="dk1"/>
                </a:solidFill>
                <a:latin typeface="Helvetica Neue"/>
                <a:ea typeface="Helvetica Neue"/>
                <a:cs typeface="Helvetica Neue"/>
                <a:sym typeface="Helvetica Neue"/>
              </a:rPr>
            </a:b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System is in </a:t>
            </a:r>
            <a:r>
              <a:rPr b="0" i="0" lang="en-US" sz="1800" u="none">
                <a:solidFill>
                  <a:srgbClr val="FF0066"/>
                </a:solidFill>
                <a:latin typeface="Helvetica Neue"/>
                <a:ea typeface="Helvetica Neue"/>
                <a:cs typeface="Helvetica Neue"/>
                <a:sym typeface="Helvetica Neue"/>
              </a:rPr>
              <a:t>safe state</a:t>
            </a:r>
            <a:r>
              <a:rPr b="0" i="0" lang="en-US" sz="1800" u="none">
                <a:solidFill>
                  <a:schemeClr val="dk1"/>
                </a:solidFill>
                <a:latin typeface="Helvetica Neue"/>
                <a:ea typeface="Helvetica Neue"/>
                <a:cs typeface="Helvetica Neue"/>
                <a:sym typeface="Helvetica Neue"/>
              </a:rPr>
              <a:t> if there exists a sequence &lt;</a:t>
            </a:r>
            <a:r>
              <a:rPr b="0" i="1" lang="en-US" sz="1800" u="none">
                <a:solidFill>
                  <a:schemeClr val="dk1"/>
                </a:solidFill>
                <a:latin typeface="Helvetica Neue"/>
                <a:ea typeface="Helvetica Neue"/>
                <a:cs typeface="Helvetica Neue"/>
                <a:sym typeface="Helvetica Neue"/>
              </a:rPr>
              <a:t>P</a:t>
            </a:r>
            <a:r>
              <a:rPr b="0" baseline="-25000" i="1" lang="en-US" sz="1800" u="none">
                <a:solidFill>
                  <a:schemeClr val="dk1"/>
                </a:solidFill>
                <a:latin typeface="Helvetica Neue"/>
                <a:ea typeface="Helvetica Neue"/>
                <a:cs typeface="Helvetica Neue"/>
                <a:sym typeface="Helvetica Neue"/>
              </a:rPr>
              <a:t>1</a:t>
            </a:r>
            <a:r>
              <a:rPr b="0" i="1" lang="en-US" sz="1800" u="none">
                <a:solidFill>
                  <a:schemeClr val="dk1"/>
                </a:solidFill>
                <a:latin typeface="Helvetica Neue"/>
                <a:ea typeface="Helvetica Neue"/>
                <a:cs typeface="Helvetica Neue"/>
                <a:sym typeface="Helvetica Neue"/>
              </a:rPr>
              <a:t>, P</a:t>
            </a:r>
            <a:r>
              <a:rPr b="0" baseline="-25000" i="1" lang="en-US" sz="1800" u="none">
                <a:solidFill>
                  <a:schemeClr val="dk1"/>
                </a:solidFill>
                <a:latin typeface="Helvetica Neue"/>
                <a:ea typeface="Helvetica Neue"/>
                <a:cs typeface="Helvetica Neue"/>
                <a:sym typeface="Helvetica Neue"/>
              </a:rPr>
              <a:t>2</a:t>
            </a:r>
            <a:r>
              <a:rPr b="0" i="1" lang="en-US" sz="1800" u="none">
                <a:solidFill>
                  <a:schemeClr val="dk1"/>
                </a:solidFill>
                <a:latin typeface="Helvetica Neue"/>
                <a:ea typeface="Helvetica Neue"/>
                <a:cs typeface="Helvetica Neue"/>
                <a:sym typeface="Helvetica Neue"/>
              </a:rPr>
              <a:t>, …, P</a:t>
            </a:r>
            <a:r>
              <a:rPr b="0" baseline="-25000" i="1" lang="en-US" sz="1800" u="none">
                <a:solidFill>
                  <a:schemeClr val="dk1"/>
                </a:solidFill>
                <a:latin typeface="Helvetica Neue"/>
                <a:ea typeface="Helvetica Neue"/>
                <a:cs typeface="Helvetica Neue"/>
                <a:sym typeface="Helvetica Neue"/>
              </a:rPr>
              <a:t>n</a:t>
            </a:r>
            <a:r>
              <a:rPr b="0" i="0" lang="en-US" sz="1800" u="none">
                <a:solidFill>
                  <a:schemeClr val="dk1"/>
                </a:solidFill>
                <a:latin typeface="Helvetica Neue"/>
                <a:ea typeface="Helvetica Neue"/>
                <a:cs typeface="Helvetica Neue"/>
                <a:sym typeface="Helvetica Neue"/>
              </a:rPr>
              <a:t>&gt; of ALL the  processes  is the systems such that  for each P</a:t>
            </a:r>
            <a:r>
              <a:rPr b="0" baseline="-25000" i="0"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the resources that P</a:t>
            </a:r>
            <a:r>
              <a:rPr b="0" baseline="-25000" i="0" lang="en-US" sz="1800" u="none">
                <a:solidFill>
                  <a:schemeClr val="dk1"/>
                </a:solidFill>
                <a:latin typeface="Helvetica Neue"/>
                <a:ea typeface="Helvetica Neue"/>
                <a:cs typeface="Helvetica Neue"/>
                <a:sym typeface="Helvetica Neue"/>
              </a:rPr>
              <a:t>i </a:t>
            </a:r>
            <a:r>
              <a:rPr b="0" i="0" lang="en-US" sz="1800" u="none">
                <a:solidFill>
                  <a:schemeClr val="dk1"/>
                </a:solidFill>
                <a:latin typeface="Helvetica Neue"/>
                <a:ea typeface="Helvetica Neue"/>
                <a:cs typeface="Helvetica Neue"/>
                <a:sym typeface="Helvetica Neue"/>
              </a:rPr>
              <a:t>can still request can be satisfied by currently available resources + resources held by all the </a:t>
            </a:r>
            <a:r>
              <a:rPr b="0" i="1" lang="en-US" sz="1800" u="none">
                <a:solidFill>
                  <a:schemeClr val="dk1"/>
                </a:solidFill>
                <a:latin typeface="Helvetica Neue"/>
                <a:ea typeface="Helvetica Neue"/>
                <a:cs typeface="Helvetica Neue"/>
                <a:sym typeface="Helvetica Neue"/>
              </a:rPr>
              <a:t>P</a:t>
            </a:r>
            <a:r>
              <a:rPr b="0" baseline="-25000" i="1" lang="en-US" sz="1800" u="none">
                <a:solidFill>
                  <a:schemeClr val="dk1"/>
                </a:solidFill>
                <a:latin typeface="Helvetica Neue"/>
                <a:ea typeface="Helvetica Neue"/>
                <a:cs typeface="Helvetica Neue"/>
                <a:sym typeface="Helvetica Neue"/>
              </a:rPr>
              <a:t>j</a:t>
            </a:r>
            <a:r>
              <a:rPr b="0" i="0" lang="en-US" sz="1800" u="none">
                <a:solidFill>
                  <a:schemeClr val="dk1"/>
                </a:solidFill>
                <a:latin typeface="Helvetica Neue"/>
                <a:ea typeface="Helvetica Neue"/>
                <a:cs typeface="Helvetica Neue"/>
                <a:sym typeface="Helvetica Neue"/>
              </a:rPr>
              <a:t>, with</a:t>
            </a:r>
            <a:r>
              <a:rPr b="0" i="1" lang="en-US" sz="1800" u="none">
                <a:solidFill>
                  <a:schemeClr val="dk1"/>
                </a:solidFill>
                <a:latin typeface="Helvetica Neue"/>
                <a:ea typeface="Helvetica Neue"/>
                <a:cs typeface="Helvetica Neue"/>
                <a:sym typeface="Helvetica Neue"/>
              </a:rPr>
              <a:t> j </a:t>
            </a:r>
            <a:r>
              <a:rPr b="0" i="0" lang="en-US" sz="1800" u="none">
                <a:solidFill>
                  <a:schemeClr val="dk1"/>
                </a:solidFill>
                <a:latin typeface="Helvetica Neue"/>
                <a:ea typeface="Helvetica Neue"/>
                <a:cs typeface="Helvetica Neue"/>
                <a:sym typeface="Helvetica Neue"/>
              </a:rPr>
              <a:t>&lt; </a:t>
            </a:r>
            <a:r>
              <a:rPr b="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That is:</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If P</a:t>
            </a:r>
            <a:r>
              <a:rPr b="0" baseline="-25000" i="0"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resource needs are not immediately available, then </a:t>
            </a:r>
            <a:r>
              <a:rPr b="0" i="1" lang="en-US" sz="1800" u="none" cap="none" strike="noStrike">
                <a:solidFill>
                  <a:schemeClr val="dk1"/>
                </a:solidFill>
                <a:latin typeface="Helvetica Neue"/>
                <a:ea typeface="Helvetica Neue"/>
                <a:cs typeface="Helvetica Neue"/>
                <a:sym typeface="Helvetica Neue"/>
              </a:rPr>
              <a:t>P</a:t>
            </a:r>
            <a:r>
              <a:rPr b="0" baseline="-2500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can wait until all </a:t>
            </a:r>
            <a:r>
              <a:rPr b="0" i="1" lang="en-US" sz="1800" u="none" cap="none" strike="noStrike">
                <a:solidFill>
                  <a:schemeClr val="dk1"/>
                </a:solidFill>
                <a:latin typeface="Helvetica Neue"/>
                <a:ea typeface="Helvetica Neue"/>
                <a:cs typeface="Helvetica Neue"/>
                <a:sym typeface="Helvetica Neue"/>
              </a:rPr>
              <a:t>P</a:t>
            </a:r>
            <a:r>
              <a:rPr b="0" baseline="-25000" i="1" lang="en-US" sz="1800" u="none" cap="none" strike="noStrike">
                <a:solidFill>
                  <a:schemeClr val="dk1"/>
                </a:solidFill>
                <a:latin typeface="Helvetica Neue"/>
                <a:ea typeface="Helvetica Neue"/>
                <a:cs typeface="Helvetica Neue"/>
                <a:sym typeface="Helvetica Neue"/>
              </a:rPr>
              <a:t>j</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have finished.</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When </a:t>
            </a:r>
            <a:r>
              <a:rPr b="0" i="1" lang="en-US" sz="1800" u="none" cap="none" strike="noStrike">
                <a:solidFill>
                  <a:schemeClr val="dk1"/>
                </a:solidFill>
                <a:latin typeface="Helvetica Neue"/>
                <a:ea typeface="Helvetica Neue"/>
                <a:cs typeface="Helvetica Neue"/>
                <a:sym typeface="Helvetica Neue"/>
              </a:rPr>
              <a:t>P</a:t>
            </a:r>
            <a:r>
              <a:rPr b="0" baseline="-25000" i="1" lang="en-US" sz="1800" u="none" cap="none" strike="noStrike">
                <a:solidFill>
                  <a:schemeClr val="dk1"/>
                </a:solidFill>
                <a:latin typeface="Helvetica Neue"/>
                <a:ea typeface="Helvetica Neue"/>
                <a:cs typeface="Helvetica Neue"/>
                <a:sym typeface="Helvetica Neue"/>
              </a:rPr>
              <a:t>j</a:t>
            </a:r>
            <a:r>
              <a:rPr b="0" i="0" lang="en-US" sz="1800" u="none" cap="none" strike="noStrike">
                <a:solidFill>
                  <a:schemeClr val="dk1"/>
                </a:solidFill>
                <a:latin typeface="Helvetica Neue"/>
                <a:ea typeface="Helvetica Neue"/>
                <a:cs typeface="Helvetica Neue"/>
                <a:sym typeface="Helvetica Neue"/>
              </a:rPr>
              <a:t> is finished, </a:t>
            </a:r>
            <a:r>
              <a:rPr b="0" i="1" lang="en-US" sz="1800" u="none" cap="none" strike="noStrike">
                <a:solidFill>
                  <a:schemeClr val="dk1"/>
                </a:solidFill>
                <a:latin typeface="Helvetica Neue"/>
                <a:ea typeface="Helvetica Neue"/>
                <a:cs typeface="Helvetica Neue"/>
                <a:sym typeface="Helvetica Neue"/>
              </a:rPr>
              <a:t>P</a:t>
            </a:r>
            <a:r>
              <a:rPr b="0" baseline="-2500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can obtain needed resources, execute, return allocated resources, and terminate. </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When </a:t>
            </a:r>
            <a:r>
              <a:rPr b="0" i="1" lang="en-US" sz="1800" u="none" cap="none" strike="noStrike">
                <a:solidFill>
                  <a:schemeClr val="dk1"/>
                </a:solidFill>
                <a:latin typeface="Helvetica Neue"/>
                <a:ea typeface="Helvetica Neue"/>
                <a:cs typeface="Helvetica Neue"/>
                <a:sym typeface="Helvetica Neue"/>
              </a:rPr>
              <a:t>P</a:t>
            </a:r>
            <a:r>
              <a:rPr b="0" baseline="-2500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terminates, </a:t>
            </a:r>
            <a:r>
              <a:rPr b="0" i="1" lang="en-US" sz="1800" u="none" cap="none" strike="noStrike">
                <a:solidFill>
                  <a:schemeClr val="dk1"/>
                </a:solidFill>
                <a:latin typeface="Helvetica Neue"/>
                <a:ea typeface="Helvetica Neue"/>
                <a:cs typeface="Helvetica Neue"/>
                <a:sym typeface="Helvetica Neue"/>
              </a:rPr>
              <a:t>P</a:t>
            </a:r>
            <a:r>
              <a:rPr b="0" baseline="-25000" i="1" lang="en-US" sz="1800" u="none" cap="none" strike="noStrike">
                <a:solidFill>
                  <a:schemeClr val="dk1"/>
                </a:solidFill>
                <a:latin typeface="Helvetica Neue"/>
                <a:ea typeface="Helvetica Neue"/>
                <a:cs typeface="Helvetica Neue"/>
                <a:sym typeface="Helvetica Neue"/>
              </a:rPr>
              <a:t>i </a:t>
            </a:r>
            <a:r>
              <a:rPr b="0" baseline="-25000" i="0" lang="en-US" sz="1800" u="none" cap="none" strike="noStrike">
                <a:solidFill>
                  <a:schemeClr val="dk1"/>
                </a:solidFill>
                <a:latin typeface="Helvetica Neue"/>
                <a:ea typeface="Helvetica Neue"/>
                <a:cs typeface="Helvetica Neue"/>
                <a:sym typeface="Helvetica Neue"/>
              </a:rPr>
              <a:t>+1</a:t>
            </a:r>
            <a:r>
              <a:rPr b="0" i="0" lang="en-US" sz="1800" u="none" cap="none" strike="noStrike">
                <a:solidFill>
                  <a:schemeClr val="dk1"/>
                </a:solidFill>
                <a:latin typeface="Helvetica Neue"/>
                <a:ea typeface="Helvetica Neue"/>
                <a:cs typeface="Helvetica Neue"/>
                <a:sym typeface="Helvetica Neue"/>
              </a:rPr>
              <a:t> can obtain its needed resources, and so on.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218" name="Shape 218"/>
        <p:cNvGrpSpPr/>
        <p:nvPr/>
      </p:nvGrpSpPr>
      <p:grpSpPr>
        <a:xfrm>
          <a:off x="0" y="0"/>
          <a:ext cx="0" cy="0"/>
          <a:chOff x="0" y="0"/>
          <a:chExt cx="0" cy="0"/>
        </a:xfrm>
      </p:grpSpPr>
      <p:sp>
        <p:nvSpPr>
          <p:cNvPr id="219" name="Google Shape;219;p19"/>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Basic Facts</a:t>
            </a:r>
            <a:endParaRPr/>
          </a:p>
        </p:txBody>
      </p:sp>
      <p:sp>
        <p:nvSpPr>
          <p:cNvPr id="220" name="Google Shape;220;p19"/>
          <p:cNvSpPr txBox="1"/>
          <p:nvPr>
            <p:ph idx="1" type="body"/>
          </p:nvPr>
        </p:nvSpPr>
        <p:spPr>
          <a:xfrm>
            <a:off x="827087" y="1411287"/>
            <a:ext cx="6311900" cy="44148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If a system is in safe state ⇒ no deadlocks.</a:t>
            </a:r>
            <a:br>
              <a:rPr b="0" i="0" lang="en-US" sz="1800" u="none">
                <a:solidFill>
                  <a:schemeClr val="dk1"/>
                </a:solidFill>
                <a:latin typeface="Helvetica Neue"/>
                <a:ea typeface="Helvetica Neue"/>
                <a:cs typeface="Helvetica Neue"/>
                <a:sym typeface="Helvetica Neue"/>
              </a:rPr>
            </a:b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If a system is in unsafe state ⇒ possibility of deadlock.</a:t>
            </a:r>
            <a:br>
              <a:rPr b="0" i="0" lang="en-US" sz="1800" u="none">
                <a:solidFill>
                  <a:schemeClr val="dk1"/>
                </a:solidFill>
                <a:latin typeface="Helvetica Neue"/>
                <a:ea typeface="Helvetica Neue"/>
                <a:cs typeface="Helvetica Neue"/>
                <a:sym typeface="Helvetica Neue"/>
              </a:rPr>
            </a:b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Avoidance ⇒ ensure that a system will never enter an unsafe state.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224" name="Shape 224"/>
        <p:cNvGrpSpPr/>
        <p:nvPr/>
      </p:nvGrpSpPr>
      <p:grpSpPr>
        <a:xfrm>
          <a:off x="0" y="0"/>
          <a:ext cx="0" cy="0"/>
          <a:chOff x="0" y="0"/>
          <a:chExt cx="0" cy="0"/>
        </a:xfrm>
      </p:grpSpPr>
      <p:sp>
        <p:nvSpPr>
          <p:cNvPr id="225" name="Google Shape;225;p20"/>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Safe, Unsafe , Deadlock State </a:t>
            </a:r>
            <a:endParaRPr/>
          </a:p>
        </p:txBody>
      </p:sp>
      <p:pic>
        <p:nvPicPr>
          <p:cNvPr id="226" name="Google Shape;226;p20"/>
          <p:cNvPicPr preferRelativeResize="0"/>
          <p:nvPr/>
        </p:nvPicPr>
        <p:blipFill rotWithShape="1">
          <a:blip r:embed="rId3">
            <a:alphaModFix/>
          </a:blip>
          <a:srcRect b="2193" l="13436" r="13682" t="1571"/>
          <a:stretch/>
        </p:blipFill>
        <p:spPr>
          <a:xfrm>
            <a:off x="2282825" y="1716087"/>
            <a:ext cx="4391025" cy="4348162"/>
          </a:xfrm>
          <a:prstGeom prst="rect">
            <a:avLst/>
          </a:prstGeom>
          <a:noFill/>
          <a:ln cap="flat" cmpd="dbl" w="38100">
            <a:solidFill>
              <a:srgbClr val="CC6600"/>
            </a:solidFill>
            <a:prstDash val="solid"/>
            <a:miter lim="800000"/>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230" name="Shape 230"/>
        <p:cNvGrpSpPr/>
        <p:nvPr/>
      </p:nvGrpSpPr>
      <p:grpSpPr>
        <a:xfrm>
          <a:off x="0" y="0"/>
          <a:ext cx="0" cy="0"/>
          <a:chOff x="0" y="0"/>
          <a:chExt cx="0" cy="0"/>
        </a:xfrm>
      </p:grpSpPr>
      <p:sp>
        <p:nvSpPr>
          <p:cNvPr id="231" name="Google Shape;231;p21"/>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Avoidance algorithms</a:t>
            </a:r>
            <a:endParaRPr/>
          </a:p>
        </p:txBody>
      </p:sp>
      <p:sp>
        <p:nvSpPr>
          <p:cNvPr id="232" name="Google Shape;232;p21"/>
          <p:cNvSpPr txBox="1"/>
          <p:nvPr>
            <p:ph idx="1" type="body"/>
          </p:nvPr>
        </p:nvSpPr>
        <p:spPr>
          <a:xfrm>
            <a:off x="827087" y="1439862"/>
            <a:ext cx="6659562" cy="4483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Single instance of a resource type.  Use a resource-allocation graph</a:t>
            </a:r>
            <a:endParaRPr/>
          </a:p>
          <a:p>
            <a:pPr indent="-240030" lvl="0" marL="342900" marR="0" rtl="0" algn="l">
              <a:lnSpc>
                <a:spcPct val="100000"/>
              </a:lnSpc>
              <a:spcBef>
                <a:spcPts val="63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Multiple instances of a resource type.  Use the banker’s algorithm</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236" name="Shape 236"/>
        <p:cNvGrpSpPr/>
        <p:nvPr/>
      </p:nvGrpSpPr>
      <p:grpSpPr>
        <a:xfrm>
          <a:off x="0" y="0"/>
          <a:ext cx="0" cy="0"/>
          <a:chOff x="0" y="0"/>
          <a:chExt cx="0" cy="0"/>
        </a:xfrm>
      </p:grpSpPr>
      <p:sp>
        <p:nvSpPr>
          <p:cNvPr id="237" name="Google Shape;237;p22"/>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Resource-Allocation Graph Scheme</a:t>
            </a:r>
            <a:endParaRPr/>
          </a:p>
        </p:txBody>
      </p:sp>
      <p:sp>
        <p:nvSpPr>
          <p:cNvPr id="238" name="Google Shape;238;p22"/>
          <p:cNvSpPr txBox="1"/>
          <p:nvPr>
            <p:ph idx="1" type="body"/>
          </p:nvPr>
        </p:nvSpPr>
        <p:spPr>
          <a:xfrm>
            <a:off x="827087" y="1439862"/>
            <a:ext cx="6659562" cy="4483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1" lang="en-US" sz="1800" u="none">
                <a:solidFill>
                  <a:schemeClr val="dk1"/>
                </a:solidFill>
                <a:latin typeface="Helvetica Neue"/>
                <a:ea typeface="Helvetica Neue"/>
                <a:cs typeface="Helvetica Neue"/>
                <a:sym typeface="Helvetica Neue"/>
              </a:rPr>
              <a:t>Claim edge</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P</a:t>
            </a:r>
            <a:r>
              <a:rPr b="0" baseline="-2500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R</a:t>
            </a:r>
            <a:r>
              <a:rPr b="0" baseline="-25000" i="1" lang="en-US" sz="1800" u="none">
                <a:solidFill>
                  <a:schemeClr val="dk1"/>
                </a:solidFill>
                <a:latin typeface="Helvetica Neue"/>
                <a:ea typeface="Helvetica Neue"/>
                <a:cs typeface="Helvetica Neue"/>
                <a:sym typeface="Helvetica Neue"/>
              </a:rPr>
              <a:t>j</a:t>
            </a:r>
            <a:r>
              <a:rPr b="0" i="0" lang="en-US" sz="1800" u="none">
                <a:solidFill>
                  <a:schemeClr val="dk1"/>
                </a:solidFill>
                <a:latin typeface="Helvetica Neue"/>
                <a:ea typeface="Helvetica Neue"/>
                <a:cs typeface="Helvetica Neue"/>
                <a:sym typeface="Helvetica Neue"/>
              </a:rPr>
              <a:t> indicated that process </a:t>
            </a:r>
            <a:r>
              <a:rPr b="0" i="1" lang="en-US" sz="1800" u="none">
                <a:solidFill>
                  <a:schemeClr val="dk1"/>
                </a:solidFill>
                <a:latin typeface="Helvetica Neue"/>
                <a:ea typeface="Helvetica Neue"/>
                <a:cs typeface="Helvetica Neue"/>
                <a:sym typeface="Helvetica Neue"/>
              </a:rPr>
              <a:t>P</a:t>
            </a:r>
            <a:r>
              <a:rPr b="0" baseline="-25000" i="1" lang="en-US" sz="1800" u="none">
                <a:solidFill>
                  <a:schemeClr val="dk1"/>
                </a:solidFill>
                <a:latin typeface="Helvetica Neue"/>
                <a:ea typeface="Helvetica Neue"/>
                <a:cs typeface="Helvetica Neue"/>
                <a:sym typeface="Helvetica Neue"/>
              </a:rPr>
              <a:t>j</a:t>
            </a:r>
            <a:r>
              <a:rPr b="0" i="0" lang="en-US" sz="1800" u="none">
                <a:solidFill>
                  <a:schemeClr val="dk1"/>
                </a:solidFill>
                <a:latin typeface="Helvetica Neue"/>
                <a:ea typeface="Helvetica Neue"/>
                <a:cs typeface="Helvetica Neue"/>
                <a:sym typeface="Helvetica Neue"/>
              </a:rPr>
              <a:t> may request resource </a:t>
            </a:r>
            <a:r>
              <a:rPr b="0" i="1" lang="en-US" sz="1800" u="none">
                <a:solidFill>
                  <a:schemeClr val="dk1"/>
                </a:solidFill>
                <a:latin typeface="Helvetica Neue"/>
                <a:ea typeface="Helvetica Neue"/>
                <a:cs typeface="Helvetica Neue"/>
                <a:sym typeface="Helvetica Neue"/>
              </a:rPr>
              <a:t>R</a:t>
            </a:r>
            <a:r>
              <a:rPr b="0" baseline="-25000" i="1" lang="en-US" sz="1800" u="none">
                <a:solidFill>
                  <a:schemeClr val="dk1"/>
                </a:solidFill>
                <a:latin typeface="Helvetica Neue"/>
                <a:ea typeface="Helvetica Neue"/>
                <a:cs typeface="Helvetica Neue"/>
                <a:sym typeface="Helvetica Neue"/>
              </a:rPr>
              <a:t>j</a:t>
            </a:r>
            <a:r>
              <a:rPr b="0" i="0" lang="en-US" sz="1800" u="none">
                <a:solidFill>
                  <a:schemeClr val="dk1"/>
                </a:solidFill>
                <a:latin typeface="Helvetica Neue"/>
                <a:ea typeface="Helvetica Neue"/>
                <a:cs typeface="Helvetica Neue"/>
                <a:sym typeface="Helvetica Neue"/>
              </a:rPr>
              <a:t>; represented by a dashed line.</a:t>
            </a:r>
            <a:br>
              <a:rPr b="0" i="0" lang="en-US" sz="1800" u="none">
                <a:solidFill>
                  <a:schemeClr val="dk1"/>
                </a:solidFill>
                <a:latin typeface="Helvetica Neue"/>
                <a:ea typeface="Helvetica Neue"/>
                <a:cs typeface="Helvetica Neue"/>
                <a:sym typeface="Helvetica Neue"/>
              </a:rPr>
            </a:b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Claim edge converts to request edge when a process requests a resource.</a:t>
            </a:r>
            <a:br>
              <a:rPr b="0" i="0" lang="en-US" sz="1800" u="none">
                <a:solidFill>
                  <a:schemeClr val="dk1"/>
                </a:solidFill>
                <a:latin typeface="Helvetica Neue"/>
                <a:ea typeface="Helvetica Neue"/>
                <a:cs typeface="Helvetica Neue"/>
                <a:sym typeface="Helvetica Neue"/>
              </a:rPr>
            </a:b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Request edge converted to an assignment edge when the  resource is allocated to the process.</a:t>
            </a:r>
            <a:endParaRPr/>
          </a:p>
          <a:p>
            <a:pPr indent="-342900" lvl="0" marL="342900" marR="0" rtl="0" algn="l">
              <a:lnSpc>
                <a:spcPct val="100000"/>
              </a:lnSpc>
              <a:spcBef>
                <a:spcPts val="63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When a resource is released by a process, assignment edge reconverts to a claim edge.</a:t>
            </a:r>
            <a:br>
              <a:rPr b="0" i="0" lang="en-US" sz="1800" u="none">
                <a:solidFill>
                  <a:schemeClr val="dk1"/>
                </a:solidFill>
                <a:latin typeface="Helvetica Neue"/>
                <a:ea typeface="Helvetica Neue"/>
                <a:cs typeface="Helvetica Neue"/>
                <a:sym typeface="Helvetica Neue"/>
              </a:rPr>
            </a:b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Resources must be claimed </a:t>
            </a:r>
            <a:r>
              <a:rPr b="0" i="1" lang="en-US" sz="1800" u="none">
                <a:solidFill>
                  <a:schemeClr val="dk1"/>
                </a:solidFill>
                <a:latin typeface="Helvetica Neue"/>
                <a:ea typeface="Helvetica Neue"/>
                <a:cs typeface="Helvetica Neue"/>
                <a:sym typeface="Helvetica Neue"/>
              </a:rPr>
              <a:t>a priori</a:t>
            </a:r>
            <a:r>
              <a:rPr b="0" i="0" lang="en-US" sz="1800" u="none">
                <a:solidFill>
                  <a:schemeClr val="dk1"/>
                </a:solidFill>
                <a:latin typeface="Helvetica Neue"/>
                <a:ea typeface="Helvetica Neue"/>
                <a:cs typeface="Helvetica Neue"/>
                <a:sym typeface="Helvetica Neue"/>
              </a:rPr>
              <a:t> in the system.</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242" name="Shape 242"/>
        <p:cNvGrpSpPr/>
        <p:nvPr/>
      </p:nvGrpSpPr>
      <p:grpSpPr>
        <a:xfrm>
          <a:off x="0" y="0"/>
          <a:ext cx="0" cy="0"/>
          <a:chOff x="0" y="0"/>
          <a:chExt cx="0" cy="0"/>
        </a:xfrm>
      </p:grpSpPr>
      <p:sp>
        <p:nvSpPr>
          <p:cNvPr id="243" name="Google Shape;243;p23"/>
          <p:cNvSpPr txBox="1"/>
          <p:nvPr>
            <p:ph type="title"/>
          </p:nvPr>
        </p:nvSpPr>
        <p:spPr>
          <a:xfrm>
            <a:off x="741362" y="404812"/>
            <a:ext cx="8224837" cy="4572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Resource-Allocation Graph</a:t>
            </a:r>
            <a:endParaRPr/>
          </a:p>
        </p:txBody>
      </p:sp>
      <p:pic>
        <p:nvPicPr>
          <p:cNvPr id="244" name="Google Shape;244;p23"/>
          <p:cNvPicPr preferRelativeResize="0"/>
          <p:nvPr/>
        </p:nvPicPr>
        <p:blipFill rotWithShape="1">
          <a:blip r:embed="rId3">
            <a:alphaModFix/>
          </a:blip>
          <a:srcRect b="2140" l="13803" r="13802" t="607"/>
          <a:stretch/>
        </p:blipFill>
        <p:spPr>
          <a:xfrm>
            <a:off x="2635250" y="2185987"/>
            <a:ext cx="3663950" cy="3716337"/>
          </a:xfrm>
          <a:prstGeom prst="rect">
            <a:avLst/>
          </a:prstGeom>
          <a:noFill/>
          <a:ln cap="flat" cmpd="dbl" w="38100">
            <a:solidFill>
              <a:srgbClr val="CC6600"/>
            </a:solidFill>
            <a:prstDash val="solid"/>
            <a:miter lim="800000"/>
            <a:headEnd len="sm" w="sm" type="none"/>
            <a:tailEnd len="sm" w="sm" type="none"/>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248" name="Shape 248"/>
        <p:cNvGrpSpPr/>
        <p:nvPr/>
      </p:nvGrpSpPr>
      <p:grpSpPr>
        <a:xfrm>
          <a:off x="0" y="0"/>
          <a:ext cx="0" cy="0"/>
          <a:chOff x="0" y="0"/>
          <a:chExt cx="0" cy="0"/>
        </a:xfrm>
      </p:grpSpPr>
      <p:sp>
        <p:nvSpPr>
          <p:cNvPr id="249" name="Google Shape;249;p24"/>
          <p:cNvSpPr txBox="1"/>
          <p:nvPr>
            <p:ph type="title"/>
          </p:nvPr>
        </p:nvSpPr>
        <p:spPr>
          <a:xfrm>
            <a:off x="900112" y="258762"/>
            <a:ext cx="8243887" cy="4572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2800"/>
              <a:buFont typeface="Helvetica Neue"/>
              <a:buNone/>
            </a:pPr>
            <a:r>
              <a:rPr b="1" i="0" lang="en-US" sz="2800" u="none">
                <a:solidFill>
                  <a:srgbClr val="993300"/>
                </a:solidFill>
                <a:latin typeface="Helvetica Neue"/>
                <a:ea typeface="Helvetica Neue"/>
                <a:cs typeface="Helvetica Neue"/>
                <a:sym typeface="Helvetica Neue"/>
              </a:rPr>
              <a:t>Unsafe State In Resource-Allocation Graph</a:t>
            </a:r>
            <a:endParaRPr/>
          </a:p>
        </p:txBody>
      </p:sp>
      <p:pic>
        <p:nvPicPr>
          <p:cNvPr id="250" name="Google Shape;250;p24"/>
          <p:cNvPicPr preferRelativeResize="0"/>
          <p:nvPr/>
        </p:nvPicPr>
        <p:blipFill rotWithShape="1">
          <a:blip r:embed="rId3">
            <a:alphaModFix/>
          </a:blip>
          <a:srcRect b="851" l="13500" r="13719" t="1406"/>
          <a:stretch/>
        </p:blipFill>
        <p:spPr>
          <a:xfrm>
            <a:off x="2416175" y="1719262"/>
            <a:ext cx="4259262" cy="4289425"/>
          </a:xfrm>
          <a:prstGeom prst="rect">
            <a:avLst/>
          </a:prstGeom>
          <a:noFill/>
          <a:ln cap="flat" cmpd="dbl" w="38100">
            <a:solidFill>
              <a:srgbClr val="CC6600"/>
            </a:solidFill>
            <a:prstDash val="solid"/>
            <a:miter lim="800000"/>
            <a:headEnd len="sm" w="sm" type="none"/>
            <a:tailEnd len="sm" w="sm" type="none"/>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254" name="Shape 254"/>
        <p:cNvGrpSpPr/>
        <p:nvPr/>
      </p:nvGrpSpPr>
      <p:grpSpPr>
        <a:xfrm>
          <a:off x="0" y="0"/>
          <a:ext cx="0" cy="0"/>
          <a:chOff x="0" y="0"/>
          <a:chExt cx="0" cy="0"/>
        </a:xfrm>
      </p:grpSpPr>
      <p:sp>
        <p:nvSpPr>
          <p:cNvPr id="255" name="Google Shape;255;p25"/>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Resource-Allocation Graph Algorithm</a:t>
            </a:r>
            <a:endParaRPr/>
          </a:p>
        </p:txBody>
      </p:sp>
      <p:sp>
        <p:nvSpPr>
          <p:cNvPr id="256" name="Google Shape;256;p25"/>
          <p:cNvSpPr txBox="1"/>
          <p:nvPr>
            <p:ph idx="1" type="body"/>
          </p:nvPr>
        </p:nvSpPr>
        <p:spPr>
          <a:xfrm>
            <a:off x="827087" y="1439862"/>
            <a:ext cx="5997575" cy="42576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Suppose that process</a:t>
            </a:r>
            <a:r>
              <a:rPr b="0" i="1" lang="en-US" sz="1800" u="none">
                <a:solidFill>
                  <a:schemeClr val="dk1"/>
                </a:solidFill>
                <a:latin typeface="Helvetica Neue"/>
                <a:ea typeface="Helvetica Neue"/>
                <a:cs typeface="Helvetica Neue"/>
                <a:sym typeface="Helvetica Neue"/>
              </a:rPr>
              <a:t> P</a:t>
            </a:r>
            <a:r>
              <a:rPr b="0" baseline="-2500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requests a resource </a:t>
            </a:r>
            <a:r>
              <a:rPr b="0" i="1" lang="en-US" sz="1800" u="none">
                <a:solidFill>
                  <a:schemeClr val="dk1"/>
                </a:solidFill>
                <a:latin typeface="Helvetica Neue"/>
                <a:ea typeface="Helvetica Neue"/>
                <a:cs typeface="Helvetica Neue"/>
                <a:sym typeface="Helvetica Neue"/>
              </a:rPr>
              <a:t>R</a:t>
            </a:r>
            <a:r>
              <a:rPr b="0" baseline="-25000" i="1" lang="en-US" sz="1800" u="none">
                <a:solidFill>
                  <a:schemeClr val="dk1"/>
                </a:solidFill>
                <a:latin typeface="Helvetica Neue"/>
                <a:ea typeface="Helvetica Neue"/>
                <a:cs typeface="Helvetica Neue"/>
                <a:sym typeface="Helvetica Neue"/>
              </a:rPr>
              <a:t>j</a:t>
            </a:r>
            <a:endParaRPr/>
          </a:p>
          <a:p>
            <a:pPr indent="-240030" lvl="0" marL="342900" marR="0" rtl="0" algn="l">
              <a:lnSpc>
                <a:spcPct val="100000"/>
              </a:lnSpc>
              <a:spcBef>
                <a:spcPts val="630"/>
              </a:spcBef>
              <a:spcAft>
                <a:spcPts val="0"/>
              </a:spcAft>
              <a:buClr>
                <a:srgbClr val="993300"/>
              </a:buClr>
              <a:buSzPts val="1620"/>
              <a:buFont typeface="Arial"/>
              <a:buNone/>
            </a:pPr>
            <a:r>
              <a:t/>
            </a:r>
            <a:endParaRPr b="0" baseline="-25000" i="1"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The request can be granted only if converting the request edge to an assignment edge does not result in the formation of a cycle in the resource allocation graph</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260" name="Shape 260"/>
        <p:cNvGrpSpPr/>
        <p:nvPr/>
      </p:nvGrpSpPr>
      <p:grpSpPr>
        <a:xfrm>
          <a:off x="0" y="0"/>
          <a:ext cx="0" cy="0"/>
          <a:chOff x="0" y="0"/>
          <a:chExt cx="0" cy="0"/>
        </a:xfrm>
      </p:grpSpPr>
      <p:sp>
        <p:nvSpPr>
          <p:cNvPr id="261" name="Google Shape;261;p26"/>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Banker’s Algorithm</a:t>
            </a:r>
            <a:endParaRPr/>
          </a:p>
        </p:txBody>
      </p:sp>
      <p:sp>
        <p:nvSpPr>
          <p:cNvPr id="262" name="Google Shape;262;p26"/>
          <p:cNvSpPr txBox="1"/>
          <p:nvPr>
            <p:ph idx="1" type="body"/>
          </p:nvPr>
        </p:nvSpPr>
        <p:spPr>
          <a:xfrm>
            <a:off x="827087" y="1397000"/>
            <a:ext cx="6534150" cy="44418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Multiple instances.</a:t>
            </a:r>
            <a:br>
              <a:rPr b="0" i="0" lang="en-US" sz="1800" u="none">
                <a:solidFill>
                  <a:schemeClr val="dk1"/>
                </a:solidFill>
                <a:latin typeface="Helvetica Neue"/>
                <a:ea typeface="Helvetica Neue"/>
                <a:cs typeface="Helvetica Neue"/>
                <a:sym typeface="Helvetica Neue"/>
              </a:rPr>
            </a:b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Each process must a priori claim maximum use.</a:t>
            </a:r>
            <a:br>
              <a:rPr b="0" i="0" lang="en-US" sz="1800" u="none">
                <a:solidFill>
                  <a:schemeClr val="dk1"/>
                </a:solidFill>
                <a:latin typeface="Helvetica Neue"/>
                <a:ea typeface="Helvetica Neue"/>
                <a:cs typeface="Helvetica Neue"/>
                <a:sym typeface="Helvetica Neue"/>
              </a:rPr>
            </a:b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When a process requests a resource it may have to wait.  </a:t>
            </a:r>
            <a:br>
              <a:rPr b="0" i="0" lang="en-US" sz="1800" u="none">
                <a:solidFill>
                  <a:schemeClr val="dk1"/>
                </a:solidFill>
                <a:latin typeface="Helvetica Neue"/>
                <a:ea typeface="Helvetica Neue"/>
                <a:cs typeface="Helvetica Neue"/>
                <a:sym typeface="Helvetica Neue"/>
              </a:rPr>
            </a:b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When a process gets all its resources it must return them in a finite amount of time.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266" name="Shape 266"/>
        <p:cNvGrpSpPr/>
        <p:nvPr/>
      </p:nvGrpSpPr>
      <p:grpSpPr>
        <a:xfrm>
          <a:off x="0" y="0"/>
          <a:ext cx="0" cy="0"/>
          <a:chOff x="0" y="0"/>
          <a:chExt cx="0" cy="0"/>
        </a:xfrm>
      </p:grpSpPr>
      <p:sp>
        <p:nvSpPr>
          <p:cNvPr id="267" name="Google Shape;267;p27"/>
          <p:cNvSpPr txBox="1"/>
          <p:nvPr>
            <p:ph type="title"/>
          </p:nvPr>
        </p:nvSpPr>
        <p:spPr>
          <a:xfrm>
            <a:off x="1047750" y="412750"/>
            <a:ext cx="7591425" cy="4572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2800"/>
              <a:buFont typeface="Helvetica Neue"/>
              <a:buNone/>
            </a:pPr>
            <a:r>
              <a:rPr b="1" i="0" lang="en-US" sz="2800" u="none">
                <a:solidFill>
                  <a:srgbClr val="993300"/>
                </a:solidFill>
                <a:latin typeface="Helvetica Neue"/>
                <a:ea typeface="Helvetica Neue"/>
                <a:cs typeface="Helvetica Neue"/>
                <a:sym typeface="Helvetica Neue"/>
              </a:rPr>
              <a:t>Data Structures for the Banker’s Algorithm </a:t>
            </a:r>
            <a:endParaRPr/>
          </a:p>
        </p:txBody>
      </p:sp>
      <p:sp>
        <p:nvSpPr>
          <p:cNvPr id="268" name="Google Shape;268;p27"/>
          <p:cNvSpPr txBox="1"/>
          <p:nvPr>
            <p:ph idx="1" type="body"/>
          </p:nvPr>
        </p:nvSpPr>
        <p:spPr>
          <a:xfrm>
            <a:off x="1171575" y="1885950"/>
            <a:ext cx="6584950" cy="37830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1" i="1" lang="en-US" sz="1800" u="none">
                <a:solidFill>
                  <a:srgbClr val="FF0000"/>
                </a:solidFill>
                <a:latin typeface="Helvetica Neue"/>
                <a:ea typeface="Helvetica Neue"/>
                <a:cs typeface="Helvetica Neue"/>
                <a:sym typeface="Helvetica Neue"/>
              </a:rPr>
              <a:t>Available</a:t>
            </a:r>
            <a:r>
              <a:rPr b="0" i="1" lang="en-US" sz="18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  Vector of length </a:t>
            </a:r>
            <a:r>
              <a:rPr b="0" i="1" lang="en-US" sz="1800" u="none">
                <a:solidFill>
                  <a:schemeClr val="dk1"/>
                </a:solidFill>
                <a:latin typeface="Helvetica Neue"/>
                <a:ea typeface="Helvetica Neue"/>
                <a:cs typeface="Helvetica Neue"/>
                <a:sym typeface="Helvetica Neue"/>
              </a:rPr>
              <a:t>m</a:t>
            </a:r>
            <a:r>
              <a:rPr b="0" i="0" lang="en-US" sz="1800" u="none">
                <a:solidFill>
                  <a:schemeClr val="dk1"/>
                </a:solidFill>
                <a:latin typeface="Helvetica Neue"/>
                <a:ea typeface="Helvetica Neue"/>
                <a:cs typeface="Helvetica Neue"/>
                <a:sym typeface="Helvetica Neue"/>
              </a:rPr>
              <a:t>. If available [</a:t>
            </a:r>
            <a:r>
              <a:rPr b="0" i="1" lang="en-US" sz="1800" u="none">
                <a:solidFill>
                  <a:schemeClr val="dk1"/>
                </a:solidFill>
                <a:latin typeface="Helvetica Neue"/>
                <a:ea typeface="Helvetica Neue"/>
                <a:cs typeface="Helvetica Neue"/>
                <a:sym typeface="Helvetica Neue"/>
              </a:rPr>
              <a:t>j</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k</a:t>
            </a:r>
            <a:r>
              <a:rPr b="0" i="0" lang="en-US" sz="1800" u="none">
                <a:solidFill>
                  <a:schemeClr val="dk1"/>
                </a:solidFill>
                <a:latin typeface="Helvetica Neue"/>
                <a:ea typeface="Helvetica Neue"/>
                <a:cs typeface="Helvetica Neue"/>
                <a:sym typeface="Helvetica Neue"/>
              </a:rPr>
              <a:t>, there are</a:t>
            </a:r>
            <a:r>
              <a:rPr b="0" i="1" lang="en-US" sz="1800" u="none">
                <a:solidFill>
                  <a:schemeClr val="dk1"/>
                </a:solidFill>
                <a:latin typeface="Helvetica Neue"/>
                <a:ea typeface="Helvetica Neue"/>
                <a:cs typeface="Helvetica Neue"/>
                <a:sym typeface="Helvetica Neue"/>
              </a:rPr>
              <a:t> k</a:t>
            </a:r>
            <a:r>
              <a:rPr b="0" i="0" lang="en-US" sz="1800" u="none">
                <a:solidFill>
                  <a:schemeClr val="dk1"/>
                </a:solidFill>
                <a:latin typeface="Helvetica Neue"/>
                <a:ea typeface="Helvetica Neue"/>
                <a:cs typeface="Helvetica Neue"/>
                <a:sym typeface="Helvetica Neue"/>
              </a:rPr>
              <a:t> instances of resource type </a:t>
            </a:r>
            <a:r>
              <a:rPr b="0" i="1" lang="en-US" sz="1800" u="none">
                <a:solidFill>
                  <a:schemeClr val="dk1"/>
                </a:solidFill>
                <a:latin typeface="Helvetica Neue"/>
                <a:ea typeface="Helvetica Neue"/>
                <a:cs typeface="Helvetica Neue"/>
                <a:sym typeface="Helvetica Neue"/>
              </a:rPr>
              <a:t>R</a:t>
            </a:r>
            <a:r>
              <a:rPr b="0" baseline="-25000" i="1" lang="en-US" sz="1800" u="none">
                <a:solidFill>
                  <a:schemeClr val="dk1"/>
                </a:solidFill>
                <a:latin typeface="Helvetica Neue"/>
                <a:ea typeface="Helvetica Neue"/>
                <a:cs typeface="Helvetica Neue"/>
                <a:sym typeface="Helvetica Neue"/>
              </a:rPr>
              <a:t>j</a:t>
            </a:r>
            <a:r>
              <a:rPr b="0" baseline="-25000" i="0"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available.</a:t>
            </a:r>
            <a:endParaRPr/>
          </a:p>
          <a:p>
            <a:pPr indent="-342900" lvl="0" marL="342900" marR="0" rtl="0" algn="l">
              <a:lnSpc>
                <a:spcPct val="100000"/>
              </a:lnSpc>
              <a:spcBef>
                <a:spcPts val="630"/>
              </a:spcBef>
              <a:spcAft>
                <a:spcPts val="0"/>
              </a:spcAft>
              <a:buClr>
                <a:srgbClr val="993300"/>
              </a:buClr>
              <a:buSzPts val="1620"/>
              <a:buFont typeface="Arial"/>
              <a:buChar char="●"/>
            </a:pPr>
            <a:r>
              <a:rPr b="1" i="1" lang="en-US" sz="1800" u="none">
                <a:solidFill>
                  <a:srgbClr val="FF0000"/>
                </a:solidFill>
                <a:latin typeface="Helvetica Neue"/>
                <a:ea typeface="Helvetica Neue"/>
                <a:cs typeface="Helvetica Neue"/>
                <a:sym typeface="Helvetica Neue"/>
              </a:rPr>
              <a:t>Max</a:t>
            </a:r>
            <a:r>
              <a:rPr b="0" i="1" lang="en-US" sz="1800" u="none">
                <a:solidFill>
                  <a:schemeClr val="dk1"/>
                </a:solidFill>
                <a:latin typeface="Helvetica Neue"/>
                <a:ea typeface="Helvetica Neue"/>
                <a:cs typeface="Helvetica Neue"/>
                <a:sym typeface="Helvetica Neue"/>
              </a:rPr>
              <a:t>: n x m</a:t>
            </a:r>
            <a:r>
              <a:rPr b="0" i="0" lang="en-US" sz="1800" u="none">
                <a:solidFill>
                  <a:schemeClr val="dk1"/>
                </a:solidFill>
                <a:latin typeface="Helvetica Neue"/>
                <a:ea typeface="Helvetica Neue"/>
                <a:cs typeface="Helvetica Neue"/>
                <a:sym typeface="Helvetica Neue"/>
              </a:rPr>
              <a:t> matrix.  If </a:t>
            </a:r>
            <a:r>
              <a:rPr b="0" i="1" lang="en-US" sz="1800" u="none">
                <a:solidFill>
                  <a:schemeClr val="dk1"/>
                </a:solidFill>
                <a:latin typeface="Helvetica Neue"/>
                <a:ea typeface="Helvetica Neue"/>
                <a:cs typeface="Helvetica Neue"/>
                <a:sym typeface="Helvetica Neue"/>
              </a:rPr>
              <a:t>Max </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i,j</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k</a:t>
            </a:r>
            <a:r>
              <a:rPr b="0" i="0" lang="en-US" sz="1800" u="none">
                <a:solidFill>
                  <a:schemeClr val="dk1"/>
                </a:solidFill>
                <a:latin typeface="Helvetica Neue"/>
                <a:ea typeface="Helvetica Neue"/>
                <a:cs typeface="Helvetica Neue"/>
                <a:sym typeface="Helvetica Neue"/>
              </a:rPr>
              <a:t>, then process </a:t>
            </a:r>
            <a:r>
              <a:rPr b="0" i="1" lang="en-US" sz="1800" u="none">
                <a:solidFill>
                  <a:schemeClr val="dk1"/>
                </a:solidFill>
                <a:latin typeface="Helvetica Neue"/>
                <a:ea typeface="Helvetica Neue"/>
                <a:cs typeface="Helvetica Neue"/>
                <a:sym typeface="Helvetica Neue"/>
              </a:rPr>
              <a:t>P</a:t>
            </a:r>
            <a:r>
              <a:rPr b="0" baseline="-25000" i="1" lang="en-US" sz="1800" u="none">
                <a:solidFill>
                  <a:schemeClr val="dk1"/>
                </a:solidFill>
                <a:latin typeface="Helvetica Neue"/>
                <a:ea typeface="Helvetica Neue"/>
                <a:cs typeface="Helvetica Neue"/>
                <a:sym typeface="Helvetica Neue"/>
              </a:rPr>
              <a:t>i</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may request at most</a:t>
            </a:r>
            <a:r>
              <a:rPr b="0" i="1" lang="en-US" sz="1800" u="none">
                <a:solidFill>
                  <a:schemeClr val="dk1"/>
                </a:solidFill>
                <a:latin typeface="Helvetica Neue"/>
                <a:ea typeface="Helvetica Neue"/>
                <a:cs typeface="Helvetica Neue"/>
                <a:sym typeface="Helvetica Neue"/>
              </a:rPr>
              <a:t> k </a:t>
            </a:r>
            <a:r>
              <a:rPr b="0" i="0" lang="en-US" sz="1800" u="none">
                <a:solidFill>
                  <a:schemeClr val="dk1"/>
                </a:solidFill>
                <a:latin typeface="Helvetica Neue"/>
                <a:ea typeface="Helvetica Neue"/>
                <a:cs typeface="Helvetica Neue"/>
                <a:sym typeface="Helvetica Neue"/>
              </a:rPr>
              <a:t>instances of resource type </a:t>
            </a:r>
            <a:r>
              <a:rPr b="0" i="1" lang="en-US" sz="1800" u="none">
                <a:solidFill>
                  <a:schemeClr val="dk1"/>
                </a:solidFill>
                <a:latin typeface="Helvetica Neue"/>
                <a:ea typeface="Helvetica Neue"/>
                <a:cs typeface="Helvetica Neue"/>
                <a:sym typeface="Helvetica Neue"/>
              </a:rPr>
              <a:t>R</a:t>
            </a:r>
            <a:r>
              <a:rPr b="0" baseline="-25000" i="1" lang="en-US" sz="1800" u="none">
                <a:solidFill>
                  <a:schemeClr val="dk1"/>
                </a:solidFill>
                <a:latin typeface="Helvetica Neue"/>
                <a:ea typeface="Helvetica Neue"/>
                <a:cs typeface="Helvetica Neue"/>
                <a:sym typeface="Helvetica Neue"/>
              </a:rPr>
              <a:t>j</a:t>
            </a:r>
            <a:r>
              <a:rPr b="0" i="0" lang="en-US" sz="1800" u="non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630"/>
              </a:spcBef>
              <a:spcAft>
                <a:spcPts val="0"/>
              </a:spcAft>
              <a:buClr>
                <a:srgbClr val="993300"/>
              </a:buClr>
              <a:buSzPts val="1620"/>
              <a:buFont typeface="Arial"/>
              <a:buChar char="●"/>
            </a:pPr>
            <a:r>
              <a:rPr b="1" i="1" lang="en-US" sz="1800" u="none">
                <a:solidFill>
                  <a:srgbClr val="FF0000"/>
                </a:solidFill>
                <a:latin typeface="Helvetica Neue"/>
                <a:ea typeface="Helvetica Neue"/>
                <a:cs typeface="Helvetica Neue"/>
                <a:sym typeface="Helvetica Neue"/>
              </a:rPr>
              <a:t>Allocation</a:t>
            </a:r>
            <a:r>
              <a:rPr b="0" i="1" lang="en-US" sz="1800" u="none">
                <a:solidFill>
                  <a:schemeClr val="dk1"/>
                </a:solidFill>
                <a:latin typeface="Helvetica Neue"/>
                <a:ea typeface="Helvetica Neue"/>
                <a:cs typeface="Helvetica Neue"/>
                <a:sym typeface="Helvetica Neue"/>
              </a:rPr>
              <a:t>:  n </a:t>
            </a:r>
            <a:r>
              <a:rPr b="0" i="0" lang="en-US" sz="1800" u="none">
                <a:solidFill>
                  <a:schemeClr val="dk1"/>
                </a:solidFill>
                <a:latin typeface="Helvetica Neue"/>
                <a:ea typeface="Helvetica Neue"/>
                <a:cs typeface="Helvetica Neue"/>
                <a:sym typeface="Helvetica Neue"/>
              </a:rPr>
              <a:t>x</a:t>
            </a:r>
            <a:r>
              <a:rPr b="0" i="1" lang="en-US" sz="1800" u="none">
                <a:solidFill>
                  <a:schemeClr val="dk1"/>
                </a:solidFill>
                <a:latin typeface="Helvetica Neue"/>
                <a:ea typeface="Helvetica Neue"/>
                <a:cs typeface="Helvetica Neue"/>
                <a:sym typeface="Helvetica Neue"/>
              </a:rPr>
              <a:t> m</a:t>
            </a:r>
            <a:r>
              <a:rPr b="0" i="0" lang="en-US" sz="1800" u="none">
                <a:solidFill>
                  <a:schemeClr val="dk1"/>
                </a:solidFill>
                <a:latin typeface="Helvetica Neue"/>
                <a:ea typeface="Helvetica Neue"/>
                <a:cs typeface="Helvetica Neue"/>
                <a:sym typeface="Helvetica Neue"/>
              </a:rPr>
              <a:t> matrix.  If Allocation[</a:t>
            </a:r>
            <a:r>
              <a:rPr b="0" i="1" lang="en-US" sz="1800" u="none">
                <a:solidFill>
                  <a:schemeClr val="dk1"/>
                </a:solidFill>
                <a:latin typeface="Helvetica Neue"/>
                <a:ea typeface="Helvetica Neue"/>
                <a:cs typeface="Helvetica Neue"/>
                <a:sym typeface="Helvetica Neue"/>
              </a:rPr>
              <a:t>i,j</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k</a:t>
            </a:r>
            <a:r>
              <a:rPr b="0" i="0" lang="en-US" sz="1800" u="none">
                <a:solidFill>
                  <a:schemeClr val="dk1"/>
                </a:solidFill>
                <a:latin typeface="Helvetica Neue"/>
                <a:ea typeface="Helvetica Neue"/>
                <a:cs typeface="Helvetica Neue"/>
                <a:sym typeface="Helvetica Neue"/>
              </a:rPr>
              <a:t> then</a:t>
            </a:r>
            <a:r>
              <a:rPr b="0" i="1" lang="en-US" sz="1800" u="none">
                <a:solidFill>
                  <a:schemeClr val="dk1"/>
                </a:solidFill>
                <a:latin typeface="Helvetica Neue"/>
                <a:ea typeface="Helvetica Neue"/>
                <a:cs typeface="Helvetica Neue"/>
                <a:sym typeface="Helvetica Neue"/>
              </a:rPr>
              <a:t> P</a:t>
            </a:r>
            <a:r>
              <a:rPr b="0" baseline="-2500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is currently allocated </a:t>
            </a:r>
            <a:r>
              <a:rPr b="0" i="1" lang="en-US" sz="1800" u="none">
                <a:solidFill>
                  <a:schemeClr val="dk1"/>
                </a:solidFill>
                <a:latin typeface="Helvetica Neue"/>
                <a:ea typeface="Helvetica Neue"/>
                <a:cs typeface="Helvetica Neue"/>
                <a:sym typeface="Helvetica Neue"/>
              </a:rPr>
              <a:t>k</a:t>
            </a:r>
            <a:r>
              <a:rPr b="0" i="0" lang="en-US" sz="1800" u="none">
                <a:solidFill>
                  <a:schemeClr val="dk1"/>
                </a:solidFill>
                <a:latin typeface="Helvetica Neue"/>
                <a:ea typeface="Helvetica Neue"/>
                <a:cs typeface="Helvetica Neue"/>
                <a:sym typeface="Helvetica Neue"/>
              </a:rPr>
              <a:t> instances of </a:t>
            </a:r>
            <a:r>
              <a:rPr b="0" i="1" lang="en-US" sz="1800" u="none">
                <a:solidFill>
                  <a:schemeClr val="dk1"/>
                </a:solidFill>
                <a:latin typeface="Helvetica Neue"/>
                <a:ea typeface="Helvetica Neue"/>
                <a:cs typeface="Helvetica Neue"/>
                <a:sym typeface="Helvetica Neue"/>
              </a:rPr>
              <a:t>R</a:t>
            </a:r>
            <a:r>
              <a:rPr b="0" baseline="-25000" i="1" lang="en-US" sz="1800" u="none">
                <a:solidFill>
                  <a:schemeClr val="dk1"/>
                </a:solidFill>
                <a:latin typeface="Helvetica Neue"/>
                <a:ea typeface="Helvetica Neue"/>
                <a:cs typeface="Helvetica Neue"/>
                <a:sym typeface="Helvetica Neue"/>
              </a:rPr>
              <a:t>j.</a:t>
            </a:r>
            <a:endParaRPr b="0" baseline="-25000" i="0"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Char char="●"/>
            </a:pPr>
            <a:r>
              <a:rPr b="1" i="1" lang="en-US" sz="1800" u="none">
                <a:solidFill>
                  <a:srgbClr val="FF0000"/>
                </a:solidFill>
                <a:latin typeface="Helvetica Neue"/>
                <a:ea typeface="Helvetica Neue"/>
                <a:cs typeface="Helvetica Neue"/>
                <a:sym typeface="Helvetica Neue"/>
              </a:rPr>
              <a:t>Need</a:t>
            </a:r>
            <a:r>
              <a:rPr b="0" i="1" lang="en-US" sz="1800" u="none">
                <a:solidFill>
                  <a:schemeClr val="dk1"/>
                </a:solidFill>
                <a:latin typeface="Helvetica Neue"/>
                <a:ea typeface="Helvetica Neue"/>
                <a:cs typeface="Helvetica Neue"/>
                <a:sym typeface="Helvetica Neue"/>
              </a:rPr>
              <a:t>:  n </a:t>
            </a:r>
            <a:r>
              <a:rPr b="0" i="0" lang="en-US" sz="1800" u="none">
                <a:solidFill>
                  <a:schemeClr val="dk1"/>
                </a:solidFill>
                <a:latin typeface="Helvetica Neue"/>
                <a:ea typeface="Helvetica Neue"/>
                <a:cs typeface="Helvetica Neue"/>
                <a:sym typeface="Helvetica Neue"/>
              </a:rPr>
              <a:t>x</a:t>
            </a:r>
            <a:r>
              <a:rPr b="0" i="1" lang="en-US" sz="1800" u="none">
                <a:solidFill>
                  <a:schemeClr val="dk1"/>
                </a:solidFill>
                <a:latin typeface="Helvetica Neue"/>
                <a:ea typeface="Helvetica Neue"/>
                <a:cs typeface="Helvetica Neue"/>
                <a:sym typeface="Helvetica Neue"/>
              </a:rPr>
              <a:t> m</a:t>
            </a:r>
            <a:r>
              <a:rPr b="0" i="0" lang="en-US" sz="1800" u="none">
                <a:solidFill>
                  <a:schemeClr val="dk1"/>
                </a:solidFill>
                <a:latin typeface="Helvetica Neue"/>
                <a:ea typeface="Helvetica Neue"/>
                <a:cs typeface="Helvetica Neue"/>
                <a:sym typeface="Helvetica Neue"/>
              </a:rPr>
              <a:t> matrix. If </a:t>
            </a:r>
            <a:r>
              <a:rPr b="0" i="1" lang="en-US" sz="1800" u="none">
                <a:solidFill>
                  <a:schemeClr val="dk1"/>
                </a:solidFill>
                <a:latin typeface="Helvetica Neue"/>
                <a:ea typeface="Helvetica Neue"/>
                <a:cs typeface="Helvetica Neue"/>
                <a:sym typeface="Helvetica Neue"/>
              </a:rPr>
              <a:t>Need</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i,j</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 k</a:t>
            </a:r>
            <a:r>
              <a:rPr b="0" i="0" lang="en-US" sz="1800" u="none">
                <a:solidFill>
                  <a:schemeClr val="dk1"/>
                </a:solidFill>
                <a:latin typeface="Helvetica Neue"/>
                <a:ea typeface="Helvetica Neue"/>
                <a:cs typeface="Helvetica Neue"/>
                <a:sym typeface="Helvetica Neue"/>
              </a:rPr>
              <a:t>, then</a:t>
            </a:r>
            <a:r>
              <a:rPr b="0" i="1" lang="en-US" sz="1800" u="none">
                <a:solidFill>
                  <a:schemeClr val="dk1"/>
                </a:solidFill>
                <a:latin typeface="Helvetica Neue"/>
                <a:ea typeface="Helvetica Neue"/>
                <a:cs typeface="Helvetica Neue"/>
                <a:sym typeface="Helvetica Neue"/>
              </a:rPr>
              <a:t> P</a:t>
            </a:r>
            <a:r>
              <a:rPr b="0" baseline="-2500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may need </a:t>
            </a:r>
            <a:r>
              <a:rPr b="0" i="1" lang="en-US" sz="1800" u="none">
                <a:solidFill>
                  <a:schemeClr val="dk1"/>
                </a:solidFill>
                <a:latin typeface="Helvetica Neue"/>
                <a:ea typeface="Helvetica Neue"/>
                <a:cs typeface="Helvetica Neue"/>
                <a:sym typeface="Helvetica Neue"/>
              </a:rPr>
              <a:t>k</a:t>
            </a:r>
            <a:r>
              <a:rPr b="0" i="0" lang="en-US" sz="1800" u="none">
                <a:solidFill>
                  <a:schemeClr val="dk1"/>
                </a:solidFill>
                <a:latin typeface="Helvetica Neue"/>
                <a:ea typeface="Helvetica Neue"/>
                <a:cs typeface="Helvetica Neue"/>
                <a:sym typeface="Helvetica Neue"/>
              </a:rPr>
              <a:t> more instances of </a:t>
            </a:r>
            <a:r>
              <a:rPr b="0" i="1" lang="en-US" sz="1800" u="none">
                <a:solidFill>
                  <a:schemeClr val="dk1"/>
                </a:solidFill>
                <a:latin typeface="Helvetica Neue"/>
                <a:ea typeface="Helvetica Neue"/>
                <a:cs typeface="Helvetica Neue"/>
                <a:sym typeface="Helvetica Neue"/>
              </a:rPr>
              <a:t>R</a:t>
            </a:r>
            <a:r>
              <a:rPr b="0" baseline="-25000" i="1" lang="en-US" sz="1800" u="none">
                <a:solidFill>
                  <a:schemeClr val="dk1"/>
                </a:solidFill>
                <a:latin typeface="Helvetica Neue"/>
                <a:ea typeface="Helvetica Neue"/>
                <a:cs typeface="Helvetica Neue"/>
                <a:sym typeface="Helvetica Neue"/>
              </a:rPr>
              <a:t>j</a:t>
            </a:r>
            <a:r>
              <a:rPr b="0" baseline="-25000" i="0"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to complete its task.</a:t>
            </a:r>
            <a:endParaRPr/>
          </a:p>
          <a:p>
            <a:pPr indent="-228600" lvl="2" marL="1085850" marR="0" rtl="0" algn="l">
              <a:lnSpc>
                <a:spcPct val="100000"/>
              </a:lnSpc>
              <a:spcBef>
                <a:spcPts val="630"/>
              </a:spcBef>
              <a:spcAft>
                <a:spcPts val="0"/>
              </a:spcAft>
              <a:buClr>
                <a:srgbClr val="009900"/>
              </a:buClr>
              <a:buSzPts val="1350"/>
              <a:buFont typeface="Arimo"/>
              <a:buNone/>
            </a:pPr>
            <a:br>
              <a:rPr b="0" i="0" lang="en-US" sz="1800" u="none" cap="none" strike="noStrike">
                <a:solidFill>
                  <a:schemeClr val="dk1"/>
                </a:solidFill>
                <a:latin typeface="Helvetica Neue"/>
                <a:ea typeface="Helvetica Neue"/>
                <a:cs typeface="Helvetica Neue"/>
                <a:sym typeface="Helvetica Neue"/>
              </a:rPr>
            </a:br>
            <a:r>
              <a:rPr b="0" i="1" lang="en-US" sz="1800" u="none" cap="none" strike="noStrike">
                <a:solidFill>
                  <a:schemeClr val="dk1"/>
                </a:solidFill>
                <a:latin typeface="Helvetica Neue"/>
                <a:ea typeface="Helvetica Neue"/>
                <a:cs typeface="Helvetica Neue"/>
                <a:sym typeface="Helvetica Neue"/>
              </a:rPr>
              <a:t>Need</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i,j]</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Max</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i,j</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Allocation</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i,j</a:t>
            </a:r>
            <a:r>
              <a:rPr b="0" i="0" lang="en-US" sz="1800" u="none" cap="none" strike="noStrike">
                <a:solidFill>
                  <a:schemeClr val="dk1"/>
                </a:solidFill>
                <a:latin typeface="Helvetica Neue"/>
                <a:ea typeface="Helvetica Neue"/>
                <a:cs typeface="Helvetica Neue"/>
                <a:sym typeface="Helvetica Neue"/>
              </a:rPr>
              <a:t>].</a:t>
            </a:r>
            <a:endParaRPr/>
          </a:p>
        </p:txBody>
      </p:sp>
      <p:sp>
        <p:nvSpPr>
          <p:cNvPr id="269" name="Google Shape;269;p27"/>
          <p:cNvSpPr txBox="1"/>
          <p:nvPr/>
        </p:nvSpPr>
        <p:spPr>
          <a:xfrm>
            <a:off x="809625" y="1408112"/>
            <a:ext cx="6934200" cy="36671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Let </a:t>
            </a:r>
            <a:r>
              <a:rPr b="0" i="1" lang="en-US" sz="1800" u="none">
                <a:solidFill>
                  <a:schemeClr val="dk1"/>
                </a:solidFill>
                <a:latin typeface="Helvetica Neue"/>
                <a:ea typeface="Helvetica Neue"/>
                <a:cs typeface="Helvetica Neue"/>
                <a:sym typeface="Helvetica Neue"/>
              </a:rPr>
              <a:t>n</a:t>
            </a:r>
            <a:r>
              <a:rPr b="0" i="0" lang="en-US" sz="1800" u="none">
                <a:solidFill>
                  <a:schemeClr val="dk1"/>
                </a:solidFill>
                <a:latin typeface="Helvetica Neue"/>
                <a:ea typeface="Helvetica Neue"/>
                <a:cs typeface="Helvetica Neue"/>
                <a:sym typeface="Helvetica Neue"/>
              </a:rPr>
              <a:t> = number of processes, and </a:t>
            </a:r>
            <a:r>
              <a:rPr b="0" i="1" lang="en-US" sz="1800" u="none">
                <a:solidFill>
                  <a:schemeClr val="dk1"/>
                </a:solidFill>
                <a:latin typeface="Helvetica Neue"/>
                <a:ea typeface="Helvetica Neue"/>
                <a:cs typeface="Helvetica Neue"/>
                <a:sym typeface="Helvetica Neue"/>
              </a:rPr>
              <a:t>m </a:t>
            </a:r>
            <a:r>
              <a:rPr b="0" i="0" lang="en-US" sz="1800" u="none">
                <a:solidFill>
                  <a:schemeClr val="dk1"/>
                </a:solidFill>
                <a:latin typeface="Helvetica Neue"/>
                <a:ea typeface="Helvetica Neue"/>
                <a:cs typeface="Helvetica Neue"/>
                <a:sym typeface="Helvetica Neue"/>
              </a:rPr>
              <a:t>= number of resources types.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273" name="Shape 273"/>
        <p:cNvGrpSpPr/>
        <p:nvPr/>
      </p:nvGrpSpPr>
      <p:grpSpPr>
        <a:xfrm>
          <a:off x="0" y="0"/>
          <a:ext cx="0" cy="0"/>
          <a:chOff x="0" y="0"/>
          <a:chExt cx="0" cy="0"/>
        </a:xfrm>
      </p:grpSpPr>
      <p:sp>
        <p:nvSpPr>
          <p:cNvPr id="274" name="Google Shape;274;p28"/>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Safety Algorithm</a:t>
            </a:r>
            <a:endParaRPr/>
          </a:p>
        </p:txBody>
      </p:sp>
      <p:sp>
        <p:nvSpPr>
          <p:cNvPr id="275" name="Google Shape;275;p28"/>
          <p:cNvSpPr txBox="1"/>
          <p:nvPr>
            <p:ph idx="1" type="body"/>
          </p:nvPr>
        </p:nvSpPr>
        <p:spPr>
          <a:xfrm>
            <a:off x="833437" y="1331912"/>
            <a:ext cx="6584950" cy="37830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1.	Let </a:t>
            </a:r>
            <a:r>
              <a:rPr b="1" i="1" lang="en-US" sz="1800" u="none">
                <a:solidFill>
                  <a:srgbClr val="FF0000"/>
                </a:solidFill>
                <a:latin typeface="Helvetica Neue"/>
                <a:ea typeface="Helvetica Neue"/>
                <a:cs typeface="Helvetica Neue"/>
                <a:sym typeface="Helvetica Neue"/>
              </a:rPr>
              <a:t>Work</a:t>
            </a:r>
            <a:r>
              <a:rPr b="0" i="1"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and </a:t>
            </a:r>
            <a:r>
              <a:rPr b="1" i="1" lang="en-US" sz="1800" u="none">
                <a:solidFill>
                  <a:srgbClr val="FF0000"/>
                </a:solidFill>
                <a:latin typeface="Helvetica Neue"/>
                <a:ea typeface="Helvetica Neue"/>
                <a:cs typeface="Helvetica Neue"/>
                <a:sym typeface="Helvetica Neue"/>
              </a:rPr>
              <a:t>Finish</a:t>
            </a:r>
            <a:r>
              <a:rPr b="0" i="0" lang="en-US" sz="1800" u="none">
                <a:solidFill>
                  <a:schemeClr val="dk1"/>
                </a:solidFill>
                <a:latin typeface="Helvetica Neue"/>
                <a:ea typeface="Helvetica Neue"/>
                <a:cs typeface="Helvetica Neue"/>
                <a:sym typeface="Helvetica Neue"/>
              </a:rPr>
              <a:t> be vectors of length</a:t>
            </a:r>
            <a:r>
              <a:rPr b="0" i="1" lang="en-US" sz="1800" u="none">
                <a:solidFill>
                  <a:schemeClr val="dk1"/>
                </a:solidFill>
                <a:latin typeface="Helvetica Neue"/>
                <a:ea typeface="Helvetica Neue"/>
                <a:cs typeface="Helvetica Neue"/>
                <a:sym typeface="Helvetica Neue"/>
              </a:rPr>
              <a:t> m</a:t>
            </a:r>
            <a:r>
              <a:rPr b="0" i="0" lang="en-US" sz="1800" u="none">
                <a:solidFill>
                  <a:schemeClr val="dk1"/>
                </a:solidFill>
                <a:latin typeface="Helvetica Neue"/>
                <a:ea typeface="Helvetica Neue"/>
                <a:cs typeface="Helvetica Neue"/>
                <a:sym typeface="Helvetica Neue"/>
              </a:rPr>
              <a:t> and</a:t>
            </a:r>
            <a:r>
              <a:rPr b="0" i="1" lang="en-US" sz="1800" u="none">
                <a:solidFill>
                  <a:schemeClr val="dk1"/>
                </a:solidFill>
                <a:latin typeface="Helvetica Neue"/>
                <a:ea typeface="Helvetica Neue"/>
                <a:cs typeface="Helvetica Neue"/>
                <a:sym typeface="Helvetica Neue"/>
              </a:rPr>
              <a:t> n</a:t>
            </a:r>
            <a:r>
              <a:rPr b="0" i="0" lang="en-US" sz="1800" u="none">
                <a:solidFill>
                  <a:schemeClr val="dk1"/>
                </a:solidFill>
                <a:latin typeface="Helvetica Neue"/>
                <a:ea typeface="Helvetica Neue"/>
                <a:cs typeface="Helvetica Neue"/>
                <a:sym typeface="Helvetica Neue"/>
              </a:rPr>
              <a:t>, respectively.  Initialize:</a:t>
            </a:r>
            <a:endParaRPr/>
          </a:p>
          <a:p>
            <a:pPr indent="-228600" lvl="3" marL="1428750" marR="0" rtl="0" algn="l">
              <a:lnSpc>
                <a:spcPct val="90000"/>
              </a:lnSpc>
              <a:spcBef>
                <a:spcPts val="630"/>
              </a:spcBef>
              <a:spcAft>
                <a:spcPts val="0"/>
              </a:spcAft>
              <a:buClr>
                <a:schemeClr val="hlink"/>
              </a:buClr>
              <a:buSzPts val="1350"/>
              <a:buFont typeface="Helvetica Neue"/>
              <a:buNone/>
            </a:pPr>
            <a:r>
              <a:rPr b="0" i="1" lang="en-US" sz="1800" u="none" cap="none" strike="noStrike">
                <a:solidFill>
                  <a:schemeClr val="dk1"/>
                </a:solidFill>
                <a:latin typeface="Helvetica Neue"/>
                <a:ea typeface="Helvetica Neue"/>
                <a:cs typeface="Helvetica Neue"/>
                <a:sym typeface="Helvetica Neue"/>
              </a:rPr>
              <a:t>Work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Available</a:t>
            </a:r>
            <a:endParaRPr/>
          </a:p>
          <a:p>
            <a:pPr indent="-228600" lvl="3" marL="1428750" marR="0" rtl="0" algn="l">
              <a:lnSpc>
                <a:spcPct val="90000"/>
              </a:lnSpc>
              <a:spcBef>
                <a:spcPts val="630"/>
              </a:spcBef>
              <a:spcAft>
                <a:spcPts val="0"/>
              </a:spcAft>
              <a:buClr>
                <a:schemeClr val="hlink"/>
              </a:buClr>
              <a:buSzPts val="1350"/>
              <a:buFont typeface="Helvetica Neue"/>
              <a:buNone/>
            </a:pPr>
            <a:r>
              <a:rPr b="0" i="1" lang="en-US" sz="1800" u="none" cap="none" strike="noStrike">
                <a:solidFill>
                  <a:schemeClr val="dk1"/>
                </a:solidFill>
                <a:latin typeface="Helvetica Neue"/>
                <a:ea typeface="Helvetica Neue"/>
                <a:cs typeface="Helvetica Neue"/>
                <a:sym typeface="Helvetica Neue"/>
              </a:rPr>
              <a:t>Finish </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 false </a:t>
            </a:r>
            <a:r>
              <a:rPr b="0" i="0" lang="en-US" sz="1800" u="none" cap="none" strike="noStrike">
                <a:solidFill>
                  <a:schemeClr val="dk1"/>
                </a:solidFill>
                <a:latin typeface="Helvetica Neue"/>
                <a:ea typeface="Helvetica Neue"/>
                <a:cs typeface="Helvetica Neue"/>
                <a:sym typeface="Helvetica Neue"/>
              </a:rPr>
              <a:t>for</a:t>
            </a:r>
            <a:r>
              <a:rPr b="0" i="1" lang="en-US" sz="1800" u="none" cap="none" strike="noStrike">
                <a:solidFill>
                  <a:schemeClr val="dk1"/>
                </a:solidFill>
                <a:latin typeface="Helvetica Neue"/>
                <a:ea typeface="Helvetica Neue"/>
                <a:cs typeface="Helvetica Neue"/>
                <a:sym typeface="Helvetica Neue"/>
              </a:rPr>
              <a:t> i</a:t>
            </a:r>
            <a:r>
              <a:rPr b="0" i="0" lang="en-US" sz="1800" u="none" cap="none" strike="noStrike">
                <a:solidFill>
                  <a:schemeClr val="dk1"/>
                </a:solidFill>
                <a:latin typeface="Helvetica Neue"/>
                <a:ea typeface="Helvetica Neue"/>
                <a:cs typeface="Helvetica Neue"/>
                <a:sym typeface="Helvetica Neue"/>
              </a:rPr>
              <a:t> = 0, 1, …, </a:t>
            </a:r>
            <a:r>
              <a:rPr b="0" i="1" lang="en-US" sz="1800" u="none" cap="none" strike="noStrike">
                <a:solidFill>
                  <a:schemeClr val="dk1"/>
                </a:solidFill>
                <a:latin typeface="Helvetica Neue"/>
                <a:ea typeface="Helvetica Neue"/>
                <a:cs typeface="Helvetica Neue"/>
                <a:sym typeface="Helvetica Neue"/>
              </a:rPr>
              <a:t>n- </a:t>
            </a:r>
            <a:r>
              <a:rPr b="0" i="0" lang="en-US" sz="1800" u="none" cap="none" strike="noStrike">
                <a:solidFill>
                  <a:schemeClr val="dk1"/>
                </a:solidFill>
                <a:latin typeface="Helvetica Neue"/>
                <a:ea typeface="Helvetica Neue"/>
                <a:cs typeface="Helvetica Neue"/>
                <a:sym typeface="Helvetica Neue"/>
              </a:rPr>
              <a:t>1</a:t>
            </a:r>
            <a:r>
              <a:rPr b="0" i="1" lang="en-US" sz="1800" u="none" cap="none" strike="noStrike">
                <a:solidFill>
                  <a:schemeClr val="dk1"/>
                </a:solidFill>
                <a:latin typeface="Helvetica Neue"/>
                <a:ea typeface="Helvetica Neue"/>
                <a:cs typeface="Helvetica Neue"/>
                <a:sym typeface="Helvetica Neue"/>
              </a:rPr>
              <a:t>.</a:t>
            </a:r>
            <a:endParaRPr b="0" i="0" sz="1800" u="none" cap="none" strike="noStrike">
              <a:solidFill>
                <a:schemeClr val="dk1"/>
              </a:solidFill>
              <a:latin typeface="Helvetica Neue"/>
              <a:ea typeface="Helvetica Neue"/>
              <a:cs typeface="Helvetica Neue"/>
              <a:sym typeface="Helvetica Neue"/>
            </a:endParaRPr>
          </a:p>
          <a:p>
            <a:pPr indent="-342900" lvl="0" marL="342900" marR="0" rtl="0" algn="l">
              <a:lnSpc>
                <a:spcPct val="9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2.	Find and </a:t>
            </a:r>
            <a:r>
              <a:rPr b="0" i="1" lang="en-US" sz="1800" u="none">
                <a:solidFill>
                  <a:schemeClr val="dk1"/>
                </a:solidFill>
                <a:latin typeface="Helvetica Neue"/>
                <a:ea typeface="Helvetica Neue"/>
                <a:cs typeface="Helvetica Neue"/>
                <a:sym typeface="Helvetica Neue"/>
              </a:rPr>
              <a:t>i </a:t>
            </a:r>
            <a:r>
              <a:rPr b="0" i="0" lang="en-US" sz="1800" u="none">
                <a:solidFill>
                  <a:schemeClr val="dk1"/>
                </a:solidFill>
                <a:latin typeface="Helvetica Neue"/>
                <a:ea typeface="Helvetica Neue"/>
                <a:cs typeface="Helvetica Neue"/>
                <a:sym typeface="Helvetica Neue"/>
              </a:rPr>
              <a:t>such that both: </a:t>
            </a:r>
            <a:endParaRPr/>
          </a:p>
          <a:p>
            <a:pPr indent="-285750" lvl="1" marL="742950" marR="0" rtl="0" algn="l">
              <a:lnSpc>
                <a:spcPct val="90000"/>
              </a:lnSpc>
              <a:spcBef>
                <a:spcPts val="630"/>
              </a:spcBef>
              <a:spcAft>
                <a:spcPts val="0"/>
              </a:spcAft>
              <a:buClr>
                <a:srgbClr val="CC6600"/>
              </a:buClr>
              <a:buSzPts val="1440"/>
              <a:buFont typeface="Arial"/>
              <a:buNone/>
            </a:pPr>
            <a:r>
              <a:rPr b="0" i="0" lang="en-US" sz="1800" u="none" cap="none" strike="noStrike">
                <a:solidFill>
                  <a:schemeClr val="dk1"/>
                </a:solidFill>
                <a:latin typeface="Helvetica Neue"/>
                <a:ea typeface="Helvetica Neue"/>
                <a:cs typeface="Helvetica Neue"/>
                <a:sym typeface="Helvetica Neue"/>
              </a:rPr>
              <a:t>(a) </a:t>
            </a:r>
            <a:r>
              <a:rPr b="0" i="1" lang="en-US" sz="1800" u="none" cap="none" strike="noStrike">
                <a:solidFill>
                  <a:schemeClr val="dk1"/>
                </a:solidFill>
                <a:latin typeface="Helvetica Neue"/>
                <a:ea typeface="Helvetica Neue"/>
                <a:cs typeface="Helvetica Neue"/>
                <a:sym typeface="Helvetica Neue"/>
              </a:rPr>
              <a:t>Finish</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false</a:t>
            </a:r>
            <a:endParaRPr/>
          </a:p>
          <a:p>
            <a:pPr indent="-285750" lvl="1" marL="742950" marR="0" rtl="0" algn="l">
              <a:lnSpc>
                <a:spcPct val="90000"/>
              </a:lnSpc>
              <a:spcBef>
                <a:spcPts val="630"/>
              </a:spcBef>
              <a:spcAft>
                <a:spcPts val="0"/>
              </a:spcAft>
              <a:buClr>
                <a:srgbClr val="CC6600"/>
              </a:buClr>
              <a:buSzPts val="1440"/>
              <a:buFont typeface="Arial"/>
              <a:buNone/>
            </a:pPr>
            <a:r>
              <a:rPr b="0" i="0" lang="en-US" sz="1800" u="none" cap="none" strike="noStrike">
                <a:solidFill>
                  <a:schemeClr val="dk1"/>
                </a:solidFill>
                <a:latin typeface="Helvetica Neue"/>
                <a:ea typeface="Helvetica Neue"/>
                <a:cs typeface="Helvetica Neue"/>
                <a:sym typeface="Helvetica Neue"/>
              </a:rPr>
              <a:t>(b) </a:t>
            </a:r>
            <a:r>
              <a:rPr b="0" i="1" lang="en-US" sz="1800" u="none" cap="none" strike="noStrike">
                <a:solidFill>
                  <a:schemeClr val="dk1"/>
                </a:solidFill>
                <a:latin typeface="Helvetica Neue"/>
                <a:ea typeface="Helvetica Neue"/>
                <a:cs typeface="Helvetica Neue"/>
                <a:sym typeface="Helvetica Neue"/>
              </a:rPr>
              <a:t>Need</a:t>
            </a:r>
            <a:r>
              <a:rPr b="0" baseline="-2500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Work</a:t>
            </a:r>
            <a:endParaRPr/>
          </a:p>
          <a:p>
            <a:pPr indent="-285750" lvl="1" marL="742950" marR="0" rtl="0" algn="l">
              <a:lnSpc>
                <a:spcPct val="90000"/>
              </a:lnSpc>
              <a:spcBef>
                <a:spcPts val="630"/>
              </a:spcBef>
              <a:spcAft>
                <a:spcPts val="0"/>
              </a:spcAft>
              <a:buClr>
                <a:srgbClr val="CC6600"/>
              </a:buClr>
              <a:buSzPts val="1440"/>
              <a:buFont typeface="Arial"/>
              <a:buNone/>
            </a:pPr>
            <a:r>
              <a:rPr b="0" i="0" lang="en-US" sz="1800" u="none" cap="none" strike="noStrike">
                <a:solidFill>
                  <a:schemeClr val="dk1"/>
                </a:solidFill>
                <a:latin typeface="Helvetica Neue"/>
                <a:ea typeface="Helvetica Neue"/>
                <a:cs typeface="Helvetica Neue"/>
                <a:sym typeface="Helvetica Neue"/>
              </a:rPr>
              <a:t>If no such </a:t>
            </a:r>
            <a:r>
              <a:rPr b="0" i="1" lang="en-US" sz="1800" u="none" cap="none" strike="noStrike">
                <a:solidFill>
                  <a:schemeClr val="dk1"/>
                </a:solidFill>
                <a:latin typeface="Helvetica Neue"/>
                <a:ea typeface="Helvetica Neue"/>
                <a:cs typeface="Helvetica Neue"/>
                <a:sym typeface="Helvetica Neue"/>
              </a:rPr>
              <a:t>i </a:t>
            </a:r>
            <a:r>
              <a:rPr b="0" i="0" lang="en-US" sz="1800" u="none" cap="none" strike="noStrike">
                <a:solidFill>
                  <a:schemeClr val="dk1"/>
                </a:solidFill>
                <a:latin typeface="Helvetica Neue"/>
                <a:ea typeface="Helvetica Neue"/>
                <a:cs typeface="Helvetica Neue"/>
                <a:sym typeface="Helvetica Neue"/>
              </a:rPr>
              <a:t>exists, go to step 4.</a:t>
            </a:r>
            <a:endParaRPr/>
          </a:p>
          <a:p>
            <a:pPr indent="-342900" lvl="0" marL="342900" marR="0" rtl="0" algn="l">
              <a:lnSpc>
                <a:spcPct val="9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3.	</a:t>
            </a:r>
            <a:r>
              <a:rPr b="0" i="1" lang="en-US" sz="1800" u="none">
                <a:solidFill>
                  <a:schemeClr val="dk1"/>
                </a:solidFill>
                <a:latin typeface="Helvetica Neue"/>
                <a:ea typeface="Helvetica Neue"/>
                <a:cs typeface="Helvetica Neue"/>
                <a:sym typeface="Helvetica Neue"/>
              </a:rPr>
              <a:t>Work</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Work </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Allocation</a:t>
            </a:r>
            <a:r>
              <a:rPr b="0" baseline="-25000" i="1" lang="en-US" sz="1800" u="none">
                <a:solidFill>
                  <a:schemeClr val="dk1"/>
                </a:solidFill>
                <a:latin typeface="Helvetica Neue"/>
                <a:ea typeface="Helvetica Neue"/>
                <a:cs typeface="Helvetica Neue"/>
                <a:sym typeface="Helvetica Neue"/>
              </a:rPr>
              <a:t>i</a:t>
            </a:r>
            <a:br>
              <a:rPr b="0" i="0"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Finish</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 true</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go to step 2.</a:t>
            </a:r>
            <a:endParaRPr/>
          </a:p>
          <a:p>
            <a:pPr indent="-342900" lvl="0" marL="342900" marR="0" rtl="0" algn="l">
              <a:lnSpc>
                <a:spcPct val="9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4.	If </a:t>
            </a:r>
            <a:r>
              <a:rPr b="0" i="1" lang="en-US" sz="1800" u="none">
                <a:solidFill>
                  <a:schemeClr val="dk1"/>
                </a:solidFill>
                <a:latin typeface="Helvetica Neue"/>
                <a:ea typeface="Helvetica Neue"/>
                <a:cs typeface="Helvetica Neue"/>
                <a:sym typeface="Helvetica Neue"/>
              </a:rPr>
              <a:t>Finish</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 true for all </a:t>
            </a:r>
            <a:r>
              <a:rPr b="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then the system is in a safe state.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279" name="Shape 279"/>
        <p:cNvGrpSpPr/>
        <p:nvPr/>
      </p:nvGrpSpPr>
      <p:grpSpPr>
        <a:xfrm>
          <a:off x="0" y="0"/>
          <a:ext cx="0" cy="0"/>
          <a:chOff x="0" y="0"/>
          <a:chExt cx="0" cy="0"/>
        </a:xfrm>
      </p:grpSpPr>
      <p:sp>
        <p:nvSpPr>
          <p:cNvPr id="280" name="Google Shape;280;p29"/>
          <p:cNvSpPr txBox="1"/>
          <p:nvPr>
            <p:ph type="title"/>
          </p:nvPr>
        </p:nvSpPr>
        <p:spPr>
          <a:xfrm>
            <a:off x="1030287" y="271462"/>
            <a:ext cx="7924800" cy="4572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2800"/>
              <a:buFont typeface="Helvetica Neue"/>
              <a:buNone/>
            </a:pPr>
            <a:r>
              <a:rPr b="1" i="0" lang="en-US" sz="2800" u="none">
                <a:solidFill>
                  <a:srgbClr val="993300"/>
                </a:solidFill>
                <a:latin typeface="Helvetica Neue"/>
                <a:ea typeface="Helvetica Neue"/>
                <a:cs typeface="Helvetica Neue"/>
                <a:sym typeface="Helvetica Neue"/>
              </a:rPr>
              <a:t>Resource-Request Algorithm for Process </a:t>
            </a:r>
            <a:r>
              <a:rPr b="1" i="1" lang="en-US" sz="2800" u="none">
                <a:solidFill>
                  <a:srgbClr val="993300"/>
                </a:solidFill>
                <a:latin typeface="Helvetica Neue"/>
                <a:ea typeface="Helvetica Neue"/>
                <a:cs typeface="Helvetica Neue"/>
                <a:sym typeface="Helvetica Neue"/>
              </a:rPr>
              <a:t>P</a:t>
            </a:r>
            <a:r>
              <a:rPr b="1" baseline="-25000" i="1" lang="en-US" sz="2800" u="none">
                <a:solidFill>
                  <a:srgbClr val="993300"/>
                </a:solidFill>
                <a:latin typeface="Helvetica Neue"/>
                <a:ea typeface="Helvetica Neue"/>
                <a:cs typeface="Helvetica Neue"/>
                <a:sym typeface="Helvetica Neue"/>
              </a:rPr>
              <a:t>i</a:t>
            </a:r>
            <a:endParaRPr/>
          </a:p>
        </p:txBody>
      </p:sp>
      <p:sp>
        <p:nvSpPr>
          <p:cNvPr id="281" name="Google Shape;281;p29"/>
          <p:cNvSpPr txBox="1"/>
          <p:nvPr>
            <p:ph idx="1" type="body"/>
          </p:nvPr>
        </p:nvSpPr>
        <p:spPr>
          <a:xfrm>
            <a:off x="822325" y="1271587"/>
            <a:ext cx="7029450" cy="46863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993300"/>
              </a:buClr>
              <a:buSzPts val="1620"/>
              <a:buFont typeface="Arial"/>
              <a:buNone/>
            </a:pPr>
            <a:r>
              <a:rPr b="0" i="1" lang="en-US" sz="1800" u="none">
                <a:solidFill>
                  <a:schemeClr val="dk1"/>
                </a:solidFill>
                <a:latin typeface="Helvetica Neue"/>
                <a:ea typeface="Helvetica Neue"/>
                <a:cs typeface="Helvetica Neue"/>
                <a:sym typeface="Helvetica Neue"/>
              </a:rPr>
              <a:t>      Request</a:t>
            </a:r>
            <a:r>
              <a:rPr b="0" i="0" lang="en-US" sz="1800" u="none">
                <a:solidFill>
                  <a:schemeClr val="dk1"/>
                </a:solidFill>
                <a:latin typeface="Helvetica Neue"/>
                <a:ea typeface="Helvetica Neue"/>
                <a:cs typeface="Helvetica Neue"/>
                <a:sym typeface="Helvetica Neue"/>
              </a:rPr>
              <a:t> = request vector for process </a:t>
            </a:r>
            <a:r>
              <a:rPr b="0" i="1" lang="en-US" sz="1800" u="none">
                <a:solidFill>
                  <a:schemeClr val="dk1"/>
                </a:solidFill>
                <a:latin typeface="Helvetica Neue"/>
                <a:ea typeface="Helvetica Neue"/>
                <a:cs typeface="Helvetica Neue"/>
                <a:sym typeface="Helvetica Neue"/>
              </a:rPr>
              <a:t>P</a:t>
            </a:r>
            <a:r>
              <a:rPr b="0" baseline="-2500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If </a:t>
            </a:r>
            <a:r>
              <a:rPr b="0" i="1" lang="en-US" sz="1800" u="none">
                <a:solidFill>
                  <a:schemeClr val="dk1"/>
                </a:solidFill>
                <a:latin typeface="Helvetica Neue"/>
                <a:ea typeface="Helvetica Neue"/>
                <a:cs typeface="Helvetica Neue"/>
                <a:sym typeface="Helvetica Neue"/>
              </a:rPr>
              <a:t>Request</a:t>
            </a:r>
            <a:r>
              <a:rPr b="0" baseline="-25000" i="1" lang="en-US" sz="1800" u="none">
                <a:solidFill>
                  <a:schemeClr val="dk1"/>
                </a:solidFill>
                <a:latin typeface="Helvetica Neue"/>
                <a:ea typeface="Helvetica Neue"/>
                <a:cs typeface="Helvetica Neue"/>
                <a:sym typeface="Helvetica Neue"/>
              </a:rPr>
              <a:t>i</a:t>
            </a:r>
            <a:r>
              <a:rPr b="0" baseline="-25000" i="0"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j</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k</a:t>
            </a:r>
            <a:r>
              <a:rPr b="0" i="0" lang="en-US" sz="1800" u="none">
                <a:solidFill>
                  <a:schemeClr val="dk1"/>
                </a:solidFill>
                <a:latin typeface="Helvetica Neue"/>
                <a:ea typeface="Helvetica Neue"/>
                <a:cs typeface="Helvetica Neue"/>
                <a:sym typeface="Helvetica Neue"/>
              </a:rPr>
              <a:t> then process </a:t>
            </a:r>
            <a:r>
              <a:rPr b="0" i="1" lang="en-US" sz="1800" u="none">
                <a:solidFill>
                  <a:schemeClr val="dk1"/>
                </a:solidFill>
                <a:latin typeface="Helvetica Neue"/>
                <a:ea typeface="Helvetica Neue"/>
                <a:cs typeface="Helvetica Neue"/>
                <a:sym typeface="Helvetica Neue"/>
              </a:rPr>
              <a:t>P</a:t>
            </a:r>
            <a:r>
              <a:rPr b="0" baseline="-2500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wants </a:t>
            </a:r>
            <a:r>
              <a:rPr b="0" i="1" lang="en-US" sz="1800" u="none">
                <a:solidFill>
                  <a:schemeClr val="dk1"/>
                </a:solidFill>
                <a:latin typeface="Helvetica Neue"/>
                <a:ea typeface="Helvetica Neue"/>
                <a:cs typeface="Helvetica Neue"/>
                <a:sym typeface="Helvetica Neue"/>
              </a:rPr>
              <a:t>k</a:t>
            </a:r>
            <a:r>
              <a:rPr b="0" i="0" lang="en-US" sz="1800" u="none">
                <a:solidFill>
                  <a:schemeClr val="dk1"/>
                </a:solidFill>
                <a:latin typeface="Helvetica Neue"/>
                <a:ea typeface="Helvetica Neue"/>
                <a:cs typeface="Helvetica Neue"/>
                <a:sym typeface="Helvetica Neue"/>
              </a:rPr>
              <a:t> instances of resource type </a:t>
            </a:r>
            <a:r>
              <a:rPr b="0" i="1" lang="en-US" sz="1800" u="none">
                <a:solidFill>
                  <a:schemeClr val="dk1"/>
                </a:solidFill>
                <a:latin typeface="Helvetica Neue"/>
                <a:ea typeface="Helvetica Neue"/>
                <a:cs typeface="Helvetica Neue"/>
                <a:sym typeface="Helvetica Neue"/>
              </a:rPr>
              <a:t>R</a:t>
            </a:r>
            <a:r>
              <a:rPr b="0" baseline="-25000" i="1" lang="en-US" sz="1800" u="none">
                <a:solidFill>
                  <a:schemeClr val="dk1"/>
                </a:solidFill>
                <a:latin typeface="Helvetica Neue"/>
                <a:ea typeface="Helvetica Neue"/>
                <a:cs typeface="Helvetica Neue"/>
                <a:sym typeface="Helvetica Neue"/>
              </a:rPr>
              <a:t>j</a:t>
            </a:r>
            <a:r>
              <a:rPr b="0" baseline="-25000" i="0" lang="en-US" sz="1800" u="none">
                <a:solidFill>
                  <a:schemeClr val="dk1"/>
                </a:solidFill>
                <a:latin typeface="Helvetica Neue"/>
                <a:ea typeface="Helvetica Neue"/>
                <a:cs typeface="Helvetica Neue"/>
                <a:sym typeface="Helvetica Neue"/>
              </a:rPr>
              <a:t>.</a:t>
            </a:r>
            <a:endParaRPr/>
          </a:p>
          <a:p>
            <a:pPr indent="-285750" lvl="1" marL="742950" marR="0" rtl="0" algn="l">
              <a:lnSpc>
                <a:spcPct val="90000"/>
              </a:lnSpc>
              <a:spcBef>
                <a:spcPts val="630"/>
              </a:spcBef>
              <a:spcAft>
                <a:spcPts val="0"/>
              </a:spcAft>
              <a:buClr>
                <a:srgbClr val="CC6600"/>
              </a:buClr>
              <a:buSzPts val="1440"/>
              <a:buFont typeface="Arial"/>
              <a:buNone/>
            </a:pPr>
            <a:r>
              <a:rPr b="0" i="0" lang="en-US" sz="1800" u="none" cap="none" strike="noStrike">
                <a:solidFill>
                  <a:schemeClr val="dk1"/>
                </a:solidFill>
                <a:latin typeface="Helvetica Neue"/>
                <a:ea typeface="Helvetica Neue"/>
                <a:cs typeface="Helvetica Neue"/>
                <a:sym typeface="Helvetica Neue"/>
              </a:rPr>
              <a:t>1.	If </a:t>
            </a:r>
            <a:r>
              <a:rPr b="0" i="1" lang="en-US" sz="1800" u="none" cap="none" strike="noStrike">
                <a:solidFill>
                  <a:schemeClr val="dk1"/>
                </a:solidFill>
                <a:latin typeface="Helvetica Neue"/>
                <a:ea typeface="Helvetica Neue"/>
                <a:cs typeface="Helvetica Neue"/>
                <a:sym typeface="Helvetica Neue"/>
              </a:rPr>
              <a:t>Request</a:t>
            </a:r>
            <a:r>
              <a:rPr b="0" baseline="-25000" i="1" lang="en-US" sz="18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Need</a:t>
            </a:r>
            <a:r>
              <a:rPr b="0" baseline="-25000" i="1" lang="en-US" sz="18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go to step 2.  Otherwise, raise error condition, since process has exceeded its maximum claim.</a:t>
            </a:r>
            <a:endParaRPr/>
          </a:p>
          <a:p>
            <a:pPr indent="-285750" lvl="1" marL="742950" marR="0" rtl="0" algn="l">
              <a:lnSpc>
                <a:spcPct val="90000"/>
              </a:lnSpc>
              <a:spcBef>
                <a:spcPts val="630"/>
              </a:spcBef>
              <a:spcAft>
                <a:spcPts val="0"/>
              </a:spcAft>
              <a:buClr>
                <a:srgbClr val="CC6600"/>
              </a:buClr>
              <a:buSzPts val="1440"/>
              <a:buFont typeface="Arial"/>
              <a:buNone/>
            </a:pPr>
            <a:r>
              <a:rPr b="0" i="0" lang="en-US" sz="1800" u="none" cap="none" strike="noStrike">
                <a:solidFill>
                  <a:schemeClr val="dk1"/>
                </a:solidFill>
                <a:latin typeface="Helvetica Neue"/>
                <a:ea typeface="Helvetica Neue"/>
                <a:cs typeface="Helvetica Neue"/>
                <a:sym typeface="Helvetica Neue"/>
              </a:rPr>
              <a:t>2.	If </a:t>
            </a:r>
            <a:r>
              <a:rPr b="0" i="1" lang="en-US" sz="1800" u="none" cap="none" strike="noStrike">
                <a:solidFill>
                  <a:schemeClr val="dk1"/>
                </a:solidFill>
                <a:latin typeface="Helvetica Neue"/>
                <a:ea typeface="Helvetica Neue"/>
                <a:cs typeface="Helvetica Neue"/>
                <a:sym typeface="Helvetica Neue"/>
              </a:rPr>
              <a:t>Request</a:t>
            </a:r>
            <a:r>
              <a:rPr b="0" baseline="-2500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Available</a:t>
            </a:r>
            <a:r>
              <a:rPr b="0" i="0" lang="en-US" sz="1800" u="none" cap="none" strike="noStrike">
                <a:solidFill>
                  <a:schemeClr val="dk1"/>
                </a:solidFill>
                <a:latin typeface="Helvetica Neue"/>
                <a:ea typeface="Helvetica Neue"/>
                <a:cs typeface="Helvetica Neue"/>
                <a:sym typeface="Helvetica Neue"/>
              </a:rPr>
              <a:t>, go to step 3.  Otherwise </a:t>
            </a:r>
            <a:r>
              <a:rPr b="0" i="1" lang="en-US" sz="1800" u="none" cap="none" strike="noStrike">
                <a:solidFill>
                  <a:schemeClr val="dk1"/>
                </a:solidFill>
                <a:latin typeface="Helvetica Neue"/>
                <a:ea typeface="Helvetica Neue"/>
                <a:cs typeface="Helvetica Neue"/>
                <a:sym typeface="Helvetica Neue"/>
              </a:rPr>
              <a:t>P</a:t>
            </a:r>
            <a:r>
              <a:rPr b="0" baseline="-2500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must wait, since resources are not available.</a:t>
            </a:r>
            <a:endParaRPr/>
          </a:p>
          <a:p>
            <a:pPr indent="-285750" lvl="1" marL="742950" marR="0" rtl="0" algn="l">
              <a:lnSpc>
                <a:spcPct val="90000"/>
              </a:lnSpc>
              <a:spcBef>
                <a:spcPts val="630"/>
              </a:spcBef>
              <a:spcAft>
                <a:spcPts val="0"/>
              </a:spcAft>
              <a:buClr>
                <a:srgbClr val="CC6600"/>
              </a:buClr>
              <a:buSzPts val="1440"/>
              <a:buFont typeface="Arial"/>
              <a:buNone/>
            </a:pPr>
            <a:r>
              <a:rPr b="0" i="0" lang="en-US" sz="1800" u="none" cap="none" strike="noStrike">
                <a:solidFill>
                  <a:schemeClr val="dk1"/>
                </a:solidFill>
                <a:latin typeface="Helvetica Neue"/>
                <a:ea typeface="Helvetica Neue"/>
                <a:cs typeface="Helvetica Neue"/>
                <a:sym typeface="Helvetica Neue"/>
              </a:rPr>
              <a:t>3.	Pretend to allocate requested resources to </a:t>
            </a:r>
            <a:r>
              <a:rPr b="0" i="1" lang="en-US" sz="1800" u="none" cap="none" strike="noStrike">
                <a:solidFill>
                  <a:schemeClr val="dk1"/>
                </a:solidFill>
                <a:latin typeface="Helvetica Neue"/>
                <a:ea typeface="Helvetica Neue"/>
                <a:cs typeface="Helvetica Neue"/>
                <a:sym typeface="Helvetica Neue"/>
              </a:rPr>
              <a:t>P</a:t>
            </a:r>
            <a:r>
              <a:rPr b="0" baseline="-2500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by modifying the state as follows:</a:t>
            </a:r>
            <a:endParaRPr/>
          </a:p>
          <a:p>
            <a:pPr indent="-228600" lvl="3" marL="1428750" marR="0" rtl="0" algn="l">
              <a:lnSpc>
                <a:spcPct val="90000"/>
              </a:lnSpc>
              <a:spcBef>
                <a:spcPts val="630"/>
              </a:spcBef>
              <a:spcAft>
                <a:spcPts val="0"/>
              </a:spcAft>
              <a:buClr>
                <a:schemeClr val="hlink"/>
              </a:buClr>
              <a:buSzPts val="1350"/>
              <a:buFont typeface="Helvetica Neue"/>
              <a:buNone/>
            </a:pP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Available</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Available  </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 Request;</a:t>
            </a:r>
            <a:endParaRPr/>
          </a:p>
          <a:p>
            <a:pPr indent="-228600" lvl="3" marL="1428750" marR="0" rtl="0" algn="l">
              <a:lnSpc>
                <a:spcPct val="90000"/>
              </a:lnSpc>
              <a:spcBef>
                <a:spcPts val="630"/>
              </a:spcBef>
              <a:spcAft>
                <a:spcPts val="0"/>
              </a:spcAft>
              <a:buClr>
                <a:schemeClr val="hlink"/>
              </a:buClr>
              <a:buSzPts val="1350"/>
              <a:buFont typeface="Helvetica Neue"/>
              <a:buNone/>
            </a:pP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Allocation</a:t>
            </a:r>
            <a:r>
              <a:rPr b="0" baseline="-25000" i="1" lang="en-US" sz="1800" u="none" cap="none" strike="noStrike">
                <a:solidFill>
                  <a:schemeClr val="dk1"/>
                </a:solidFill>
                <a:latin typeface="Helvetica Neue"/>
                <a:ea typeface="Helvetica Neue"/>
                <a:cs typeface="Helvetica Neue"/>
                <a:sym typeface="Helvetica Neue"/>
              </a:rPr>
              <a:t>i</a:t>
            </a:r>
            <a:r>
              <a:rPr b="0" baseline="-25000" i="0"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Allocation</a:t>
            </a:r>
            <a:r>
              <a:rPr b="0" baseline="-2500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Request</a:t>
            </a:r>
            <a:r>
              <a:rPr b="0" baseline="-2500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a:t>
            </a:r>
            <a:endParaRPr/>
          </a:p>
          <a:p>
            <a:pPr indent="-228600" lvl="3" marL="1428750" marR="0" rtl="0" algn="l">
              <a:lnSpc>
                <a:spcPct val="90000"/>
              </a:lnSpc>
              <a:spcBef>
                <a:spcPts val="630"/>
              </a:spcBef>
              <a:spcAft>
                <a:spcPts val="0"/>
              </a:spcAft>
              <a:buClr>
                <a:schemeClr val="hlink"/>
              </a:buClr>
              <a:buSzPts val="1350"/>
              <a:buFont typeface="Helvetica Neue"/>
              <a:buNone/>
            </a:pP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Need</a:t>
            </a:r>
            <a:r>
              <a:rPr b="0" baseline="-25000" i="1" lang="en-US" sz="18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 Need</a:t>
            </a:r>
            <a:r>
              <a:rPr b="0" baseline="-2500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Request</a:t>
            </a:r>
            <a:r>
              <a:rPr b="0" baseline="-25000" i="1" lang="en-US" sz="18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a:t>
            </a:r>
            <a:endParaRPr/>
          </a:p>
          <a:p>
            <a:pPr indent="-228600" lvl="2" marL="1085850" marR="0" rtl="0" algn="l">
              <a:lnSpc>
                <a:spcPct val="90000"/>
              </a:lnSpc>
              <a:spcBef>
                <a:spcPts val="630"/>
              </a:spcBef>
              <a:spcAft>
                <a:spcPts val="0"/>
              </a:spcAft>
              <a:buClr>
                <a:srgbClr val="CC6600"/>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If safe ⇒ the resources are allocated to Pi. </a:t>
            </a:r>
            <a:endParaRPr/>
          </a:p>
          <a:p>
            <a:pPr indent="-228600" lvl="2" marL="1085850" marR="0" rtl="0" algn="l">
              <a:lnSpc>
                <a:spcPct val="90000"/>
              </a:lnSpc>
              <a:spcBef>
                <a:spcPts val="630"/>
              </a:spcBef>
              <a:spcAft>
                <a:spcPts val="0"/>
              </a:spcAft>
              <a:buClr>
                <a:srgbClr val="CC6600"/>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If unsafe ⇒ Pi must wait, and the old resource-allocation state is restored</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285" name="Shape 285"/>
        <p:cNvGrpSpPr/>
        <p:nvPr/>
      </p:nvGrpSpPr>
      <p:grpSpPr>
        <a:xfrm>
          <a:off x="0" y="0"/>
          <a:ext cx="0" cy="0"/>
          <a:chOff x="0" y="0"/>
          <a:chExt cx="0" cy="0"/>
        </a:xfrm>
      </p:grpSpPr>
      <p:sp>
        <p:nvSpPr>
          <p:cNvPr id="286" name="Google Shape;286;p30"/>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Example of Banker’s Algorithm</a:t>
            </a:r>
            <a:endParaRPr/>
          </a:p>
        </p:txBody>
      </p:sp>
      <p:sp>
        <p:nvSpPr>
          <p:cNvPr id="287" name="Google Shape;287;p30"/>
          <p:cNvSpPr txBox="1"/>
          <p:nvPr>
            <p:ph idx="1" type="body"/>
          </p:nvPr>
        </p:nvSpPr>
        <p:spPr>
          <a:xfrm>
            <a:off x="827087" y="1368425"/>
            <a:ext cx="7923212" cy="45402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5 processes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0  </a:t>
            </a:r>
            <a:r>
              <a:rPr b="0" i="0" lang="en-US" sz="1800" u="none">
                <a:solidFill>
                  <a:schemeClr val="dk1"/>
                </a:solidFill>
                <a:latin typeface="Helvetica Neue"/>
                <a:ea typeface="Helvetica Neue"/>
                <a:cs typeface="Helvetica Neue"/>
                <a:sym typeface="Helvetica Neue"/>
              </a:rPr>
              <a:t>through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4</a:t>
            </a:r>
            <a:r>
              <a:rPr b="0" i="0" lang="en-US" sz="1800" u="none">
                <a:solidFill>
                  <a:schemeClr val="dk1"/>
                </a:solidFill>
                <a:latin typeface="Helvetica Neue"/>
                <a:ea typeface="Helvetica Neue"/>
                <a:cs typeface="Helvetica Neue"/>
                <a:sym typeface="Helvetica Neue"/>
              </a:rPr>
              <a:t>; </a:t>
            </a:r>
            <a:endParaRPr/>
          </a:p>
          <a:p>
            <a:pPr indent="-342900" lvl="0" marL="342900" marR="0" rtl="0" algn="l">
              <a:lnSpc>
                <a:spcPct val="10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      3 resource types:</a:t>
            </a:r>
            <a:endParaRPr/>
          </a:p>
          <a:p>
            <a:pPr indent="-342900" lvl="0" marL="342900" marR="0" rtl="0" algn="l">
              <a:lnSpc>
                <a:spcPct val="10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A</a:t>
            </a:r>
            <a:r>
              <a:rPr b="0" i="0" lang="en-US" sz="1800" u="none">
                <a:solidFill>
                  <a:schemeClr val="dk1"/>
                </a:solidFill>
                <a:latin typeface="Helvetica Neue"/>
                <a:ea typeface="Helvetica Neue"/>
                <a:cs typeface="Helvetica Neue"/>
                <a:sym typeface="Helvetica Neue"/>
              </a:rPr>
              <a:t> (10 instances),  </a:t>
            </a:r>
            <a:r>
              <a:rPr b="0" i="1" lang="en-US" sz="1800" u="none">
                <a:solidFill>
                  <a:schemeClr val="dk1"/>
                </a:solidFill>
                <a:latin typeface="Helvetica Neue"/>
                <a:ea typeface="Helvetica Neue"/>
                <a:cs typeface="Helvetica Neue"/>
                <a:sym typeface="Helvetica Neue"/>
              </a:rPr>
              <a:t>B</a:t>
            </a:r>
            <a:r>
              <a:rPr b="0" i="0" lang="en-US" sz="1800" u="none">
                <a:solidFill>
                  <a:schemeClr val="dk1"/>
                </a:solidFill>
                <a:latin typeface="Helvetica Neue"/>
                <a:ea typeface="Helvetica Neue"/>
                <a:cs typeface="Helvetica Neue"/>
                <a:sym typeface="Helvetica Neue"/>
              </a:rPr>
              <a:t> (5instances), and </a:t>
            </a:r>
            <a:r>
              <a:rPr b="0" i="1" lang="en-US" sz="1800" u="none">
                <a:solidFill>
                  <a:schemeClr val="dk1"/>
                </a:solidFill>
                <a:latin typeface="Helvetica Neue"/>
                <a:ea typeface="Helvetica Neue"/>
                <a:cs typeface="Helvetica Neue"/>
                <a:sym typeface="Helvetica Neue"/>
              </a:rPr>
              <a:t>C</a:t>
            </a:r>
            <a:r>
              <a:rPr b="0" i="0" lang="en-US" sz="1800" u="none">
                <a:solidFill>
                  <a:schemeClr val="dk1"/>
                </a:solidFill>
                <a:latin typeface="Helvetica Neue"/>
                <a:ea typeface="Helvetica Neue"/>
                <a:cs typeface="Helvetica Neue"/>
                <a:sym typeface="Helvetica Neue"/>
              </a:rPr>
              <a:t> (7 instances).</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Snapshot at time </a:t>
            </a:r>
            <a:r>
              <a:rPr b="0" i="1" lang="en-US" sz="1800" u="none">
                <a:solidFill>
                  <a:schemeClr val="dk1"/>
                </a:solidFill>
                <a:latin typeface="Helvetica Neue"/>
                <a:ea typeface="Helvetica Neue"/>
                <a:cs typeface="Helvetica Neue"/>
                <a:sym typeface="Helvetica Neue"/>
              </a:rPr>
              <a:t>T</a:t>
            </a:r>
            <a:r>
              <a:rPr b="0" baseline="-25000" i="0" lang="en-US" sz="1800" u="none">
                <a:solidFill>
                  <a:schemeClr val="dk1"/>
                </a:solidFill>
                <a:latin typeface="Helvetica Neue"/>
                <a:ea typeface="Helvetica Neue"/>
                <a:cs typeface="Helvetica Neue"/>
                <a:sym typeface="Helvetica Neue"/>
              </a:rPr>
              <a:t>0</a:t>
            </a:r>
            <a:r>
              <a:rPr b="0" i="0" lang="en-US" sz="1800" u="non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			</a:t>
            </a:r>
            <a:r>
              <a:rPr b="0" i="1" lang="en-US" sz="1800" u="sng">
                <a:solidFill>
                  <a:schemeClr val="dk1"/>
                </a:solidFill>
                <a:latin typeface="Helvetica Neue"/>
                <a:ea typeface="Helvetica Neue"/>
                <a:cs typeface="Helvetica Neue"/>
                <a:sym typeface="Helvetica Neue"/>
              </a:rPr>
              <a:t>Allocation</a:t>
            </a:r>
            <a:r>
              <a:rPr b="0" i="1" lang="en-US" sz="1800" u="none">
                <a:solidFill>
                  <a:schemeClr val="dk1"/>
                </a:solidFill>
                <a:latin typeface="Helvetica Neue"/>
                <a:ea typeface="Helvetica Neue"/>
                <a:cs typeface="Helvetica Neue"/>
                <a:sym typeface="Helvetica Neue"/>
              </a:rPr>
              <a:t>	</a:t>
            </a:r>
            <a:r>
              <a:rPr b="0" i="1" lang="en-US" sz="1800" u="sng">
                <a:solidFill>
                  <a:schemeClr val="dk1"/>
                </a:solidFill>
                <a:latin typeface="Helvetica Neue"/>
                <a:ea typeface="Helvetica Neue"/>
                <a:cs typeface="Helvetica Neue"/>
                <a:sym typeface="Helvetica Neue"/>
              </a:rPr>
              <a:t>Max</a:t>
            </a:r>
            <a:r>
              <a:rPr b="0" i="1" lang="en-US" sz="1800" u="none">
                <a:solidFill>
                  <a:schemeClr val="dk1"/>
                </a:solidFill>
                <a:latin typeface="Helvetica Neue"/>
                <a:ea typeface="Helvetica Neue"/>
                <a:cs typeface="Helvetica Neue"/>
                <a:sym typeface="Helvetica Neue"/>
              </a:rPr>
              <a:t>		</a:t>
            </a:r>
            <a:r>
              <a:rPr b="0" i="1" lang="en-US" sz="1800" u="sng">
                <a:solidFill>
                  <a:schemeClr val="dk1"/>
                </a:solidFill>
                <a:latin typeface="Helvetica Neue"/>
                <a:ea typeface="Helvetica Neue"/>
                <a:cs typeface="Helvetica Neue"/>
                <a:sym typeface="Helvetica Neue"/>
              </a:rPr>
              <a:t>Available</a:t>
            </a:r>
            <a:endParaRPr/>
          </a:p>
          <a:p>
            <a:pPr indent="-342900" lvl="0" marL="342900" marR="0" rtl="0" algn="l">
              <a:lnSpc>
                <a:spcPct val="100000"/>
              </a:lnSpc>
              <a:spcBef>
                <a:spcPts val="630"/>
              </a:spcBef>
              <a:spcAft>
                <a:spcPts val="0"/>
              </a:spcAft>
              <a:buClr>
                <a:srgbClr val="993300"/>
              </a:buClr>
              <a:buSzPts val="1620"/>
              <a:buFont typeface="Arial"/>
              <a:buNone/>
            </a:pPr>
            <a:r>
              <a:rPr b="0" i="1" lang="en-US" sz="1800" u="none">
                <a:solidFill>
                  <a:schemeClr val="dk1"/>
                </a:solidFill>
                <a:latin typeface="Helvetica Neue"/>
                <a:ea typeface="Helvetica Neue"/>
                <a:cs typeface="Helvetica Neue"/>
                <a:sym typeface="Helvetica Neue"/>
              </a:rPr>
              <a:t>			A B C		A B C 	A B C</a:t>
            </a:r>
            <a:endParaRPr/>
          </a:p>
          <a:p>
            <a:pPr indent="-342900" lvl="0" marL="342900" marR="0" rtl="0" algn="l">
              <a:lnSpc>
                <a:spcPct val="10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0	</a:t>
            </a:r>
            <a:r>
              <a:rPr b="0" i="0" lang="en-US" sz="1800" u="none">
                <a:solidFill>
                  <a:schemeClr val="dk1"/>
                </a:solidFill>
                <a:latin typeface="Helvetica Neue"/>
                <a:ea typeface="Helvetica Neue"/>
                <a:cs typeface="Helvetica Neue"/>
                <a:sym typeface="Helvetica Neue"/>
              </a:rPr>
              <a:t>0 1 0		7 5 3 	3 3 2</a:t>
            </a:r>
            <a:endParaRPr/>
          </a:p>
          <a:p>
            <a:pPr indent="-342900" lvl="0" marL="342900" marR="0" rtl="0" algn="l">
              <a:lnSpc>
                <a:spcPct val="10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1	</a:t>
            </a:r>
            <a:r>
              <a:rPr b="0" i="0" lang="en-US" sz="1800" u="none">
                <a:solidFill>
                  <a:schemeClr val="dk1"/>
                </a:solidFill>
                <a:latin typeface="Helvetica Neue"/>
                <a:ea typeface="Helvetica Neue"/>
                <a:cs typeface="Helvetica Neue"/>
                <a:sym typeface="Helvetica Neue"/>
              </a:rPr>
              <a:t>2 0 0 		3 2 2  </a:t>
            </a:r>
            <a:endParaRPr/>
          </a:p>
          <a:p>
            <a:pPr indent="-342900" lvl="0" marL="342900" marR="0" rtl="0" algn="l">
              <a:lnSpc>
                <a:spcPct val="10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2</a:t>
            </a:r>
            <a:r>
              <a:rPr b="0" i="0" lang="en-US" sz="1800" u="none">
                <a:solidFill>
                  <a:schemeClr val="dk1"/>
                </a:solidFill>
                <a:latin typeface="Helvetica Neue"/>
                <a:ea typeface="Helvetica Neue"/>
                <a:cs typeface="Helvetica Neue"/>
                <a:sym typeface="Helvetica Neue"/>
              </a:rPr>
              <a:t>	3 0 2 		9 0 2</a:t>
            </a:r>
            <a:endParaRPr/>
          </a:p>
          <a:p>
            <a:pPr indent="-342900" lvl="0" marL="342900" marR="0" rtl="0" algn="l">
              <a:lnSpc>
                <a:spcPct val="10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3</a:t>
            </a:r>
            <a:r>
              <a:rPr b="0" i="0" lang="en-US" sz="1800" u="none">
                <a:solidFill>
                  <a:schemeClr val="dk1"/>
                </a:solidFill>
                <a:latin typeface="Helvetica Neue"/>
                <a:ea typeface="Helvetica Neue"/>
                <a:cs typeface="Helvetica Neue"/>
                <a:sym typeface="Helvetica Neue"/>
              </a:rPr>
              <a:t>	2 1 1 		2 2 2</a:t>
            </a:r>
            <a:endParaRPr/>
          </a:p>
          <a:p>
            <a:pPr indent="-342900" lvl="0" marL="342900" marR="0" rtl="0" algn="l">
              <a:lnSpc>
                <a:spcPct val="10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4</a:t>
            </a:r>
            <a:r>
              <a:rPr b="0" i="0" lang="en-US" sz="1800" u="none">
                <a:solidFill>
                  <a:schemeClr val="dk1"/>
                </a:solidFill>
                <a:latin typeface="Helvetica Neue"/>
                <a:ea typeface="Helvetica Neue"/>
                <a:cs typeface="Helvetica Neue"/>
                <a:sym typeface="Helvetica Neue"/>
              </a:rPr>
              <a:t>	0 0 2		4 3 3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291" name="Shape 291"/>
        <p:cNvGrpSpPr/>
        <p:nvPr/>
      </p:nvGrpSpPr>
      <p:grpSpPr>
        <a:xfrm>
          <a:off x="0" y="0"/>
          <a:ext cx="0" cy="0"/>
          <a:chOff x="0" y="0"/>
          <a:chExt cx="0" cy="0"/>
        </a:xfrm>
      </p:grpSpPr>
      <p:sp>
        <p:nvSpPr>
          <p:cNvPr id="292" name="Google Shape;292;p31"/>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Example (Cont.)</a:t>
            </a:r>
            <a:endParaRPr/>
          </a:p>
        </p:txBody>
      </p:sp>
      <p:sp>
        <p:nvSpPr>
          <p:cNvPr id="293" name="Google Shape;293;p31"/>
          <p:cNvSpPr txBox="1"/>
          <p:nvPr>
            <p:ph idx="1" type="body"/>
          </p:nvPr>
        </p:nvSpPr>
        <p:spPr>
          <a:xfrm>
            <a:off x="868362" y="1293812"/>
            <a:ext cx="7724775" cy="46402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The content of the matrix </a:t>
            </a:r>
            <a:r>
              <a:rPr b="0" i="1" lang="en-US" sz="1800" u="none">
                <a:solidFill>
                  <a:schemeClr val="dk1"/>
                </a:solidFill>
                <a:latin typeface="Helvetica Neue"/>
                <a:ea typeface="Helvetica Neue"/>
                <a:cs typeface="Helvetica Neue"/>
                <a:sym typeface="Helvetica Neue"/>
              </a:rPr>
              <a:t>Need</a:t>
            </a:r>
            <a:r>
              <a:rPr b="0" i="0" lang="en-US" sz="1800" u="none">
                <a:solidFill>
                  <a:schemeClr val="dk1"/>
                </a:solidFill>
                <a:latin typeface="Helvetica Neue"/>
                <a:ea typeface="Helvetica Neue"/>
                <a:cs typeface="Helvetica Neue"/>
                <a:sym typeface="Helvetica Neue"/>
              </a:rPr>
              <a:t> is defined to be </a:t>
            </a:r>
            <a:r>
              <a:rPr b="0" i="1" lang="en-US" sz="1800" u="none">
                <a:solidFill>
                  <a:schemeClr val="dk1"/>
                </a:solidFill>
                <a:latin typeface="Helvetica Neue"/>
                <a:ea typeface="Helvetica Neue"/>
                <a:cs typeface="Helvetica Neue"/>
                <a:sym typeface="Helvetica Neue"/>
              </a:rPr>
              <a:t>Max</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Allocation</a:t>
            </a:r>
            <a:r>
              <a:rPr b="0" i="0" lang="en-US" sz="1800" u="non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63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			</a:t>
            </a:r>
            <a:r>
              <a:rPr b="0" i="1" lang="en-US" sz="1800" u="sng">
                <a:solidFill>
                  <a:schemeClr val="dk1"/>
                </a:solidFill>
                <a:latin typeface="Helvetica Neue"/>
                <a:ea typeface="Helvetica Neue"/>
                <a:cs typeface="Helvetica Neue"/>
                <a:sym typeface="Helvetica Neue"/>
              </a:rPr>
              <a:t>Need</a:t>
            </a:r>
            <a:endParaRPr b="0" i="0" sz="1800" u="sng">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A B C</a:t>
            </a:r>
            <a:endParaRPr/>
          </a:p>
          <a:p>
            <a:pPr indent="-342900" lvl="0" marL="342900" marR="0" rtl="0" algn="l">
              <a:lnSpc>
                <a:spcPct val="10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0	</a:t>
            </a:r>
            <a:r>
              <a:rPr b="0" i="0" lang="en-US" sz="1800" u="none">
                <a:solidFill>
                  <a:schemeClr val="dk1"/>
                </a:solidFill>
                <a:latin typeface="Helvetica Neue"/>
                <a:ea typeface="Helvetica Neue"/>
                <a:cs typeface="Helvetica Neue"/>
                <a:sym typeface="Helvetica Neue"/>
              </a:rPr>
              <a:t>7 4 3 </a:t>
            </a:r>
            <a:endParaRPr/>
          </a:p>
          <a:p>
            <a:pPr indent="-342900" lvl="0" marL="342900" marR="0" rtl="0" algn="l">
              <a:lnSpc>
                <a:spcPct val="10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1	</a:t>
            </a:r>
            <a:r>
              <a:rPr b="0" i="0" lang="en-US" sz="1800" u="none">
                <a:solidFill>
                  <a:schemeClr val="dk1"/>
                </a:solidFill>
                <a:latin typeface="Helvetica Neue"/>
                <a:ea typeface="Helvetica Neue"/>
                <a:cs typeface="Helvetica Neue"/>
                <a:sym typeface="Helvetica Neue"/>
              </a:rPr>
              <a:t>1 2 2 </a:t>
            </a:r>
            <a:endParaRPr/>
          </a:p>
          <a:p>
            <a:pPr indent="-342900" lvl="0" marL="342900" marR="0" rtl="0" algn="l">
              <a:lnSpc>
                <a:spcPct val="10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2</a:t>
            </a:r>
            <a:r>
              <a:rPr b="0" i="0" lang="en-US" sz="1800" u="none">
                <a:solidFill>
                  <a:schemeClr val="dk1"/>
                </a:solidFill>
                <a:latin typeface="Helvetica Neue"/>
                <a:ea typeface="Helvetica Neue"/>
                <a:cs typeface="Helvetica Neue"/>
                <a:sym typeface="Helvetica Neue"/>
              </a:rPr>
              <a:t>	6 0 0 </a:t>
            </a:r>
            <a:endParaRPr/>
          </a:p>
          <a:p>
            <a:pPr indent="-342900" lvl="0" marL="342900" marR="0" rtl="0" algn="l">
              <a:lnSpc>
                <a:spcPct val="10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3</a:t>
            </a:r>
            <a:r>
              <a:rPr b="0" i="0" lang="en-US" sz="1800" u="none">
                <a:solidFill>
                  <a:schemeClr val="dk1"/>
                </a:solidFill>
                <a:latin typeface="Helvetica Neue"/>
                <a:ea typeface="Helvetica Neue"/>
                <a:cs typeface="Helvetica Neue"/>
                <a:sym typeface="Helvetica Neue"/>
              </a:rPr>
              <a:t>	0 1 1</a:t>
            </a:r>
            <a:endParaRPr/>
          </a:p>
          <a:p>
            <a:pPr indent="-342900" lvl="0" marL="342900" marR="0" rtl="0" algn="l">
              <a:lnSpc>
                <a:spcPct val="10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4</a:t>
            </a:r>
            <a:r>
              <a:rPr b="0" i="0" lang="en-US" sz="1800" u="none">
                <a:solidFill>
                  <a:schemeClr val="dk1"/>
                </a:solidFill>
                <a:latin typeface="Helvetica Neue"/>
                <a:ea typeface="Helvetica Neue"/>
                <a:cs typeface="Helvetica Neue"/>
                <a:sym typeface="Helvetica Neue"/>
              </a:rPr>
              <a:t>	4 3 1 </a:t>
            </a:r>
            <a:br>
              <a:rPr b="0" i="0" lang="en-US" sz="1800" u="none">
                <a:solidFill>
                  <a:schemeClr val="dk1"/>
                </a:solidFill>
                <a:latin typeface="Helvetica Neue"/>
                <a:ea typeface="Helvetica Neue"/>
                <a:cs typeface="Helvetica Neue"/>
                <a:sym typeface="Helvetica Neue"/>
              </a:rPr>
            </a:b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The system is in a safe state since the sequence &lt;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3</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4</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2</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0</a:t>
            </a:r>
            <a:r>
              <a:rPr b="0" i="0" lang="en-US" sz="1800" u="none">
                <a:solidFill>
                  <a:schemeClr val="dk1"/>
                </a:solidFill>
                <a:latin typeface="Helvetica Neue"/>
                <a:ea typeface="Helvetica Neue"/>
                <a:cs typeface="Helvetica Neue"/>
                <a:sym typeface="Helvetica Neue"/>
              </a:rPr>
              <a:t>&gt; satisfies safety criteria.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g3a0c7fb647f_1_0"/>
          <p:cNvSpPr txBox="1"/>
          <p:nvPr>
            <p:ph type="title"/>
          </p:nvPr>
        </p:nvSpPr>
        <p:spPr>
          <a:xfrm>
            <a:off x="685800" y="228600"/>
            <a:ext cx="8077200" cy="6096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t/>
            </a:r>
            <a:endParaRPr/>
          </a:p>
        </p:txBody>
      </p:sp>
      <p:sp>
        <p:nvSpPr>
          <p:cNvPr id="301" name="Google Shape;301;g3a0c7fb647f_1_0"/>
          <p:cNvSpPr txBox="1"/>
          <p:nvPr>
            <p:ph idx="1" type="body"/>
          </p:nvPr>
        </p:nvSpPr>
        <p:spPr>
          <a:xfrm>
            <a:off x="239250" y="1441325"/>
            <a:ext cx="4136700" cy="44832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400">
                <a:solidFill>
                  <a:srgbClr val="595959"/>
                </a:solidFill>
                <a:latin typeface="Arial"/>
                <a:ea typeface="Arial"/>
                <a:cs typeface="Arial"/>
                <a:sym typeface="Arial"/>
              </a:rPr>
              <a:t>| Process | Max | Allocation | Need (Max − Alloc) |</a:t>
            </a:r>
            <a:endParaRPr sz="1400">
              <a:solidFill>
                <a:srgbClr val="595959"/>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400">
                <a:solidFill>
                  <a:srgbClr val="595959"/>
                </a:solidFill>
                <a:latin typeface="Arial"/>
                <a:ea typeface="Arial"/>
                <a:cs typeface="Arial"/>
                <a:sym typeface="Arial"/>
              </a:rPr>
              <a:t>| ------- | --------- | ---------- | ------------------ |</a:t>
            </a:r>
            <a:endParaRPr sz="1400">
              <a:solidFill>
                <a:srgbClr val="595959"/>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400">
                <a:solidFill>
                  <a:srgbClr val="595959"/>
                </a:solidFill>
                <a:latin typeface="Arial"/>
                <a:ea typeface="Arial"/>
                <a:cs typeface="Arial"/>
                <a:sym typeface="Arial"/>
              </a:rPr>
              <a:t>| P0      | (7, 5, 3) | (0, 1, 0)  | (7, 4, 3)          |</a:t>
            </a:r>
            <a:endParaRPr sz="1400">
              <a:solidFill>
                <a:srgbClr val="595959"/>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400">
                <a:solidFill>
                  <a:srgbClr val="595959"/>
                </a:solidFill>
                <a:latin typeface="Arial"/>
                <a:ea typeface="Arial"/>
                <a:cs typeface="Arial"/>
                <a:sym typeface="Arial"/>
              </a:rPr>
              <a:t>| P1      | (3, 2, 2) | (2, 0, 0)  | (1, 2, 2)          |</a:t>
            </a:r>
            <a:endParaRPr sz="1400">
              <a:solidFill>
                <a:srgbClr val="595959"/>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400">
                <a:solidFill>
                  <a:srgbClr val="595959"/>
                </a:solidFill>
                <a:latin typeface="Arial"/>
                <a:ea typeface="Arial"/>
                <a:cs typeface="Arial"/>
                <a:sym typeface="Arial"/>
              </a:rPr>
              <a:t>| P2      | (9, 0, 2) | (3, 0, 2)  | (6, 0, 0)          |</a:t>
            </a:r>
            <a:endParaRPr sz="1400">
              <a:solidFill>
                <a:srgbClr val="595959"/>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400">
                <a:solidFill>
                  <a:srgbClr val="595959"/>
                </a:solidFill>
                <a:latin typeface="Arial"/>
                <a:ea typeface="Arial"/>
                <a:cs typeface="Arial"/>
                <a:sym typeface="Arial"/>
              </a:rPr>
              <a:t>| P3      | (2, 2, 2) | (2, 1, 1)  | (0, 1, 1)          |</a:t>
            </a:r>
            <a:endParaRPr sz="1400">
              <a:solidFill>
                <a:srgbClr val="595959"/>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400">
                <a:solidFill>
                  <a:srgbClr val="595959"/>
                </a:solidFill>
                <a:latin typeface="Arial"/>
                <a:ea typeface="Arial"/>
                <a:cs typeface="Arial"/>
                <a:sym typeface="Arial"/>
              </a:rPr>
              <a:t>| P4      | (4, 3, 3) | (0, 0, 2)  | (4, 3, 1)          |</a:t>
            </a:r>
            <a:endParaRPr sz="1400">
              <a:solidFill>
                <a:srgbClr val="595959"/>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400">
              <a:solidFill>
                <a:srgbClr val="595959"/>
              </a:solidFill>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rPr lang="en-US" sz="1400">
                <a:solidFill>
                  <a:srgbClr val="595959"/>
                </a:solidFill>
                <a:latin typeface="Arial"/>
                <a:ea typeface="Arial"/>
                <a:cs typeface="Arial"/>
                <a:sym typeface="Arial"/>
              </a:rPr>
              <a:t>Available = [3, 3, 2]</a:t>
            </a:r>
            <a:endParaRPr sz="1400"/>
          </a:p>
        </p:txBody>
      </p:sp>
      <p:sp>
        <p:nvSpPr>
          <p:cNvPr id="302" name="Google Shape;302;g3a0c7fb647f_1_0"/>
          <p:cNvSpPr txBox="1"/>
          <p:nvPr/>
        </p:nvSpPr>
        <p:spPr>
          <a:xfrm>
            <a:off x="4497350" y="1595525"/>
            <a:ext cx="4646700" cy="384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595959"/>
                </a:solidFill>
              </a:rPr>
              <a:t>P1 executes: </a:t>
            </a:r>
            <a:endParaRPr>
              <a:solidFill>
                <a:srgbClr val="595959"/>
              </a:solidFill>
            </a:endParaRPr>
          </a:p>
          <a:p>
            <a:pPr indent="0" lvl="0" marL="0" rtl="0" algn="l">
              <a:spcBef>
                <a:spcPts val="0"/>
              </a:spcBef>
              <a:spcAft>
                <a:spcPts val="0"/>
              </a:spcAft>
              <a:buNone/>
            </a:pPr>
            <a:r>
              <a:rPr lang="en-US">
                <a:solidFill>
                  <a:srgbClr val="595959"/>
                </a:solidFill>
              </a:rPr>
              <a:t>After P1, available = [3,3,2] + [2,0,0] = [5,3,2]</a:t>
            </a:r>
            <a:endParaRPr>
              <a:solidFill>
                <a:srgbClr val="595959"/>
              </a:solidFill>
            </a:endParaRPr>
          </a:p>
          <a:p>
            <a:pPr indent="0" lvl="0" marL="0" rtl="0" algn="l">
              <a:spcBef>
                <a:spcPts val="0"/>
              </a:spcBef>
              <a:spcAft>
                <a:spcPts val="0"/>
              </a:spcAft>
              <a:buNone/>
            </a:pPr>
            <a:r>
              <a:t/>
            </a:r>
            <a:endParaRPr>
              <a:solidFill>
                <a:srgbClr val="595959"/>
              </a:solidFill>
            </a:endParaRPr>
          </a:p>
          <a:p>
            <a:pPr indent="0" lvl="0" marL="0" rtl="0" algn="l">
              <a:spcBef>
                <a:spcPts val="0"/>
              </a:spcBef>
              <a:spcAft>
                <a:spcPts val="0"/>
              </a:spcAft>
              <a:buNone/>
            </a:pPr>
            <a:r>
              <a:rPr lang="en-US">
                <a:solidFill>
                  <a:srgbClr val="595959"/>
                </a:solidFill>
              </a:rPr>
              <a:t>P3 executes: </a:t>
            </a:r>
            <a:endParaRPr>
              <a:solidFill>
                <a:srgbClr val="595959"/>
              </a:solidFill>
            </a:endParaRPr>
          </a:p>
          <a:p>
            <a:pPr indent="0" lvl="0" marL="0" rtl="0" algn="l">
              <a:spcBef>
                <a:spcPts val="0"/>
              </a:spcBef>
              <a:spcAft>
                <a:spcPts val="0"/>
              </a:spcAft>
              <a:buNone/>
            </a:pPr>
            <a:r>
              <a:rPr lang="en-US">
                <a:solidFill>
                  <a:srgbClr val="595959"/>
                </a:solidFill>
              </a:rPr>
              <a:t>After P3, available = [5,3,2] + [2,1,1] = [7,4,3]</a:t>
            </a:r>
            <a:endParaRPr>
              <a:solidFill>
                <a:srgbClr val="595959"/>
              </a:solidFill>
            </a:endParaRPr>
          </a:p>
          <a:p>
            <a:pPr indent="0" lvl="0" marL="0" rtl="0" algn="l">
              <a:spcBef>
                <a:spcPts val="0"/>
              </a:spcBef>
              <a:spcAft>
                <a:spcPts val="0"/>
              </a:spcAft>
              <a:buNone/>
            </a:pPr>
            <a:r>
              <a:t/>
            </a:r>
            <a:endParaRPr>
              <a:solidFill>
                <a:srgbClr val="595959"/>
              </a:solidFill>
            </a:endParaRPr>
          </a:p>
          <a:p>
            <a:pPr indent="0" lvl="0" marL="0" rtl="0" algn="l">
              <a:spcBef>
                <a:spcPts val="0"/>
              </a:spcBef>
              <a:spcAft>
                <a:spcPts val="0"/>
              </a:spcAft>
              <a:buNone/>
            </a:pPr>
            <a:r>
              <a:rPr lang="en-US">
                <a:solidFill>
                  <a:srgbClr val="595959"/>
                </a:solidFill>
              </a:rPr>
              <a:t>After P0 finishes, Work = [7,4,3] + [0,1,0] = [7,5,3]</a:t>
            </a:r>
            <a:endParaRPr>
              <a:solidFill>
                <a:srgbClr val="595959"/>
              </a:solidFill>
            </a:endParaRPr>
          </a:p>
          <a:p>
            <a:pPr indent="0" lvl="0" marL="0" rtl="0" algn="l">
              <a:spcBef>
                <a:spcPts val="0"/>
              </a:spcBef>
              <a:spcAft>
                <a:spcPts val="0"/>
              </a:spcAft>
              <a:buNone/>
            </a:pPr>
            <a:r>
              <a:t/>
            </a:r>
            <a:endParaRPr>
              <a:solidFill>
                <a:srgbClr val="595959"/>
              </a:solidFill>
            </a:endParaRPr>
          </a:p>
          <a:p>
            <a:pPr indent="0" lvl="0" marL="0" rtl="0" algn="l">
              <a:spcBef>
                <a:spcPts val="0"/>
              </a:spcBef>
              <a:spcAft>
                <a:spcPts val="0"/>
              </a:spcAft>
              <a:buNone/>
            </a:pPr>
            <a:r>
              <a:rPr lang="en-US">
                <a:solidFill>
                  <a:srgbClr val="595959"/>
                </a:solidFill>
              </a:rPr>
              <a:t>After P2 finishes, Work = [7,5,3] + [3,0,2] = [10,5,5]</a:t>
            </a:r>
            <a:endParaRPr>
              <a:solidFill>
                <a:srgbClr val="595959"/>
              </a:solidFill>
            </a:endParaRPr>
          </a:p>
          <a:p>
            <a:pPr indent="0" lvl="0" marL="0" rtl="0" algn="l">
              <a:spcBef>
                <a:spcPts val="0"/>
              </a:spcBef>
              <a:spcAft>
                <a:spcPts val="0"/>
              </a:spcAft>
              <a:buNone/>
            </a:pPr>
            <a:r>
              <a:t/>
            </a:r>
            <a:endParaRPr>
              <a:solidFill>
                <a:srgbClr val="595959"/>
              </a:solidFill>
            </a:endParaRPr>
          </a:p>
          <a:p>
            <a:pPr indent="0" lvl="0" marL="0" rtl="0" algn="l">
              <a:spcBef>
                <a:spcPts val="0"/>
              </a:spcBef>
              <a:spcAft>
                <a:spcPts val="0"/>
              </a:spcAft>
              <a:buNone/>
            </a:pPr>
            <a:r>
              <a:rPr lang="en-US">
                <a:solidFill>
                  <a:srgbClr val="595959"/>
                </a:solidFill>
              </a:rPr>
              <a:t>After P4 finishes, Work = [10,5,5] + [0,0,2] = [10,5,7]</a:t>
            </a:r>
            <a:endParaRPr>
              <a:solidFill>
                <a:srgbClr val="595959"/>
              </a:solidFill>
            </a:endParaRPr>
          </a:p>
          <a:p>
            <a:pPr indent="0" lvl="0" marL="0" rtl="0" algn="l">
              <a:spcBef>
                <a:spcPts val="0"/>
              </a:spcBef>
              <a:spcAft>
                <a:spcPts val="0"/>
              </a:spcAft>
              <a:buNone/>
            </a:pPr>
            <a:r>
              <a:t/>
            </a:r>
            <a:endParaRPr>
              <a:solidFill>
                <a:srgbClr val="595959"/>
              </a:solidFill>
            </a:endParaRPr>
          </a:p>
          <a:p>
            <a:pPr indent="0" lvl="0" marL="0" rtl="0" algn="l">
              <a:spcBef>
                <a:spcPts val="0"/>
              </a:spcBef>
              <a:spcAft>
                <a:spcPts val="0"/>
              </a:spcAft>
              <a:buNone/>
            </a:pPr>
            <a:r>
              <a:t/>
            </a:r>
            <a:endParaRPr>
              <a:solidFill>
                <a:srgbClr val="595959"/>
              </a:solidFill>
            </a:endParaRPr>
          </a:p>
          <a:p>
            <a:pPr indent="0" lvl="0" marL="0" rtl="0" algn="l">
              <a:spcBef>
                <a:spcPts val="0"/>
              </a:spcBef>
              <a:spcAft>
                <a:spcPts val="0"/>
              </a:spcAft>
              <a:buNone/>
            </a:pPr>
            <a:r>
              <a:rPr lang="en-US">
                <a:solidFill>
                  <a:srgbClr val="595959"/>
                </a:solidFill>
              </a:rPr>
              <a:t>[P1, P3, P0, P2, P4]</a:t>
            </a:r>
            <a:endParaRPr>
              <a:solidFill>
                <a:srgbClr val="595959"/>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306" name="Shape 306"/>
        <p:cNvGrpSpPr/>
        <p:nvPr/>
      </p:nvGrpSpPr>
      <p:grpSpPr>
        <a:xfrm>
          <a:off x="0" y="0"/>
          <a:ext cx="0" cy="0"/>
          <a:chOff x="0" y="0"/>
          <a:chExt cx="0" cy="0"/>
        </a:xfrm>
      </p:grpSpPr>
      <p:sp>
        <p:nvSpPr>
          <p:cNvPr id="307" name="Google Shape;307;p33"/>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Deadlock Detection</a:t>
            </a:r>
            <a:endParaRPr/>
          </a:p>
        </p:txBody>
      </p:sp>
      <p:sp>
        <p:nvSpPr>
          <p:cNvPr id="308" name="Google Shape;308;p33"/>
          <p:cNvSpPr txBox="1"/>
          <p:nvPr>
            <p:ph idx="1" type="body"/>
          </p:nvPr>
        </p:nvSpPr>
        <p:spPr>
          <a:xfrm>
            <a:off x="827087" y="1282700"/>
            <a:ext cx="7351712" cy="4483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Allow system to enter deadlock state </a:t>
            </a:r>
            <a:br>
              <a:rPr b="0" i="0" lang="en-US" sz="1800" u="none">
                <a:solidFill>
                  <a:schemeClr val="dk1"/>
                </a:solidFill>
                <a:latin typeface="Helvetica Neue"/>
                <a:ea typeface="Helvetica Neue"/>
                <a:cs typeface="Helvetica Neue"/>
                <a:sym typeface="Helvetica Neue"/>
              </a:rPr>
            </a:b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Detection algorithm</a:t>
            </a:r>
            <a:br>
              <a:rPr b="0" i="0" lang="en-US" sz="1800" u="none">
                <a:solidFill>
                  <a:schemeClr val="dk1"/>
                </a:solidFill>
                <a:latin typeface="Helvetica Neue"/>
                <a:ea typeface="Helvetica Neue"/>
                <a:cs typeface="Helvetica Neue"/>
                <a:sym typeface="Helvetica Neue"/>
              </a:rPr>
            </a:b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Recovery scheme</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312" name="Shape 312"/>
        <p:cNvGrpSpPr/>
        <p:nvPr/>
      </p:nvGrpSpPr>
      <p:grpSpPr>
        <a:xfrm>
          <a:off x="0" y="0"/>
          <a:ext cx="0" cy="0"/>
          <a:chOff x="0" y="0"/>
          <a:chExt cx="0" cy="0"/>
        </a:xfrm>
      </p:grpSpPr>
      <p:sp>
        <p:nvSpPr>
          <p:cNvPr id="313" name="Google Shape;313;p34"/>
          <p:cNvSpPr txBox="1"/>
          <p:nvPr>
            <p:ph type="title"/>
          </p:nvPr>
        </p:nvSpPr>
        <p:spPr>
          <a:xfrm>
            <a:off x="1047750" y="0"/>
            <a:ext cx="7772400" cy="84455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Single Instance of Each Resource Type</a:t>
            </a:r>
            <a:endParaRPr/>
          </a:p>
        </p:txBody>
      </p:sp>
      <p:sp>
        <p:nvSpPr>
          <p:cNvPr id="314" name="Google Shape;314;p34"/>
          <p:cNvSpPr txBox="1"/>
          <p:nvPr>
            <p:ph idx="1" type="body"/>
          </p:nvPr>
        </p:nvSpPr>
        <p:spPr>
          <a:xfrm>
            <a:off x="827087" y="1425575"/>
            <a:ext cx="6562725" cy="45116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Maintain </a:t>
            </a:r>
            <a:r>
              <a:rPr b="0" i="1" lang="en-US" sz="1800" u="none">
                <a:solidFill>
                  <a:schemeClr val="dk1"/>
                </a:solidFill>
                <a:latin typeface="Helvetica Neue"/>
                <a:ea typeface="Helvetica Neue"/>
                <a:cs typeface="Helvetica Neue"/>
                <a:sym typeface="Helvetica Neue"/>
              </a:rPr>
              <a:t>wait-for</a:t>
            </a:r>
            <a:r>
              <a:rPr b="0" i="0" lang="en-US" sz="1800" u="none">
                <a:solidFill>
                  <a:schemeClr val="dk1"/>
                </a:solidFill>
                <a:latin typeface="Helvetica Neue"/>
                <a:ea typeface="Helvetica Neue"/>
                <a:cs typeface="Helvetica Neue"/>
                <a:sym typeface="Helvetica Neue"/>
              </a:rPr>
              <a:t> graph</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Nodes are processes.</a:t>
            </a:r>
            <a:endParaRPr/>
          </a:p>
          <a:p>
            <a:pPr indent="-285750" lvl="1" marL="742950" marR="0" rtl="0" algn="l">
              <a:lnSpc>
                <a:spcPct val="100000"/>
              </a:lnSpc>
              <a:spcBef>
                <a:spcPts val="630"/>
              </a:spcBef>
              <a:spcAft>
                <a:spcPts val="0"/>
              </a:spcAft>
              <a:buClr>
                <a:srgbClr val="CC6600"/>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P</a:t>
            </a:r>
            <a:r>
              <a:rPr b="0" baseline="-2500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P</a:t>
            </a:r>
            <a:r>
              <a:rPr b="0" baseline="-25000" i="1" lang="en-US" sz="1800" u="none" cap="none" strike="noStrike">
                <a:solidFill>
                  <a:schemeClr val="dk1"/>
                </a:solidFill>
                <a:latin typeface="Helvetica Neue"/>
                <a:ea typeface="Helvetica Neue"/>
                <a:cs typeface="Helvetica Neue"/>
                <a:sym typeface="Helvetica Neue"/>
              </a:rPr>
              <a:t>j   </a:t>
            </a:r>
            <a:r>
              <a:rPr b="0" i="0" lang="en-US" sz="1800" u="none" cap="none" strike="noStrike">
                <a:solidFill>
                  <a:schemeClr val="dk1"/>
                </a:solidFill>
                <a:latin typeface="Helvetica Neue"/>
                <a:ea typeface="Helvetica Neue"/>
                <a:cs typeface="Helvetica Neue"/>
                <a:sym typeface="Helvetica Neue"/>
              </a:rPr>
              <a:t>if </a:t>
            </a:r>
            <a:r>
              <a:rPr b="0" i="1" lang="en-US" sz="1800" u="none" cap="none" strike="noStrike">
                <a:solidFill>
                  <a:schemeClr val="dk1"/>
                </a:solidFill>
                <a:latin typeface="Helvetica Neue"/>
                <a:ea typeface="Helvetica Neue"/>
                <a:cs typeface="Helvetica Neue"/>
                <a:sym typeface="Helvetica Neue"/>
              </a:rPr>
              <a:t>P</a:t>
            </a:r>
            <a:r>
              <a:rPr b="0" baseline="-25000" i="1" lang="en-US" sz="1800" u="none" cap="none" strike="noStrike">
                <a:solidFill>
                  <a:schemeClr val="dk1"/>
                </a:solidFill>
                <a:latin typeface="Helvetica Neue"/>
                <a:ea typeface="Helvetica Neue"/>
                <a:cs typeface="Helvetica Neue"/>
                <a:sym typeface="Helvetica Neue"/>
              </a:rPr>
              <a:t>i</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is waiting for</a:t>
            </a:r>
            <a:r>
              <a:rPr b="0" i="1" lang="en-US" sz="1800" u="none" cap="none" strike="noStrike">
                <a:solidFill>
                  <a:schemeClr val="dk1"/>
                </a:solidFill>
                <a:latin typeface="Helvetica Neue"/>
                <a:ea typeface="Helvetica Neue"/>
                <a:cs typeface="Helvetica Neue"/>
                <a:sym typeface="Helvetica Neue"/>
              </a:rPr>
              <a:t> P</a:t>
            </a:r>
            <a:r>
              <a:rPr b="0" baseline="-25000" i="1" lang="en-US" sz="1800" u="none" cap="none" strike="noStrike">
                <a:solidFill>
                  <a:schemeClr val="dk1"/>
                </a:solidFill>
                <a:latin typeface="Helvetica Neue"/>
                <a:ea typeface="Helvetica Neue"/>
                <a:cs typeface="Helvetica Neue"/>
                <a:sym typeface="Helvetica Neue"/>
              </a:rPr>
              <a:t>j</a:t>
            </a:r>
            <a:r>
              <a:rPr b="0" i="1" lang="en-US" sz="1800" u="none" cap="none" strike="noStrike">
                <a:solidFill>
                  <a:schemeClr val="dk1"/>
                </a:solidFill>
                <a:latin typeface="Helvetica Neue"/>
                <a:ea typeface="Helvetica Neue"/>
                <a:cs typeface="Helvetica Neue"/>
                <a:sym typeface="Helvetica Neue"/>
              </a:rPr>
              <a:t>.</a:t>
            </a:r>
            <a:br>
              <a:rPr b="0" i="1" lang="en-US" sz="1800" u="none" cap="none" strike="noStrike">
                <a:solidFill>
                  <a:schemeClr val="dk1"/>
                </a:solidFill>
                <a:latin typeface="Helvetica Neue"/>
                <a:ea typeface="Helvetica Neue"/>
                <a:cs typeface="Helvetica Neue"/>
                <a:sym typeface="Helvetica Neue"/>
              </a:rPr>
            </a:b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Periodically invoke an algorithm that searches for a cycle in the graph. If there is a cycle, there exists a deadlock.</a:t>
            </a:r>
            <a:endParaRPr/>
          </a:p>
          <a:p>
            <a:pPr indent="-342900" lvl="0" marL="342900" marR="0" rtl="0" algn="l">
              <a:lnSpc>
                <a:spcPct val="100000"/>
              </a:lnSpc>
              <a:spcBef>
                <a:spcPts val="63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An algorithm to detect a cycle in a graph requires an order of</a:t>
            </a:r>
            <a:r>
              <a:rPr b="0" i="1" lang="en-US" sz="1800" u="none">
                <a:solidFill>
                  <a:schemeClr val="dk1"/>
                </a:solidFill>
                <a:latin typeface="Helvetica Neue"/>
                <a:ea typeface="Helvetica Neue"/>
                <a:cs typeface="Helvetica Neue"/>
                <a:sym typeface="Helvetica Neue"/>
              </a:rPr>
              <a:t> n</a:t>
            </a:r>
            <a:r>
              <a:rPr b="0" baseline="30000" i="0" lang="en-US" sz="1800" u="none">
                <a:solidFill>
                  <a:schemeClr val="dk1"/>
                </a:solidFill>
                <a:latin typeface="Helvetica Neue"/>
                <a:ea typeface="Helvetica Neue"/>
                <a:cs typeface="Helvetica Neue"/>
                <a:sym typeface="Helvetica Neue"/>
              </a:rPr>
              <a:t>2</a:t>
            </a:r>
            <a:r>
              <a:rPr b="0" i="0" lang="en-US" sz="1800" u="none">
                <a:solidFill>
                  <a:schemeClr val="dk1"/>
                </a:solidFill>
                <a:latin typeface="Helvetica Neue"/>
                <a:ea typeface="Helvetica Neue"/>
                <a:cs typeface="Helvetica Neue"/>
                <a:sym typeface="Helvetica Neue"/>
              </a:rPr>
              <a:t> operations, where </a:t>
            </a:r>
            <a:r>
              <a:rPr b="0" i="1" lang="en-US" sz="1800" u="none">
                <a:solidFill>
                  <a:schemeClr val="dk1"/>
                </a:solidFill>
                <a:latin typeface="Helvetica Neue"/>
                <a:ea typeface="Helvetica Neue"/>
                <a:cs typeface="Helvetica Neue"/>
                <a:sym typeface="Helvetica Neue"/>
              </a:rPr>
              <a:t>n</a:t>
            </a:r>
            <a:r>
              <a:rPr b="0" i="0" lang="en-US" sz="1800" u="none">
                <a:solidFill>
                  <a:schemeClr val="dk1"/>
                </a:solidFill>
                <a:latin typeface="Helvetica Neue"/>
                <a:ea typeface="Helvetica Neue"/>
                <a:cs typeface="Helvetica Neue"/>
                <a:sym typeface="Helvetica Neue"/>
              </a:rPr>
              <a:t> is the number of vertices in the graph.</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318" name="Shape 318"/>
        <p:cNvGrpSpPr/>
        <p:nvPr/>
      </p:nvGrpSpPr>
      <p:grpSpPr>
        <a:xfrm>
          <a:off x="0" y="0"/>
          <a:ext cx="0" cy="0"/>
          <a:chOff x="0" y="0"/>
          <a:chExt cx="0" cy="0"/>
        </a:xfrm>
      </p:grpSpPr>
      <p:sp>
        <p:nvSpPr>
          <p:cNvPr id="319" name="Google Shape;319;p35"/>
          <p:cNvSpPr txBox="1"/>
          <p:nvPr>
            <p:ph type="title"/>
          </p:nvPr>
        </p:nvSpPr>
        <p:spPr>
          <a:xfrm>
            <a:off x="1131887" y="123825"/>
            <a:ext cx="7285037" cy="4572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2400"/>
              <a:buFont typeface="Helvetica Neue"/>
              <a:buNone/>
            </a:pPr>
            <a:r>
              <a:rPr b="1" i="0" lang="en-US" sz="2400" u="none">
                <a:solidFill>
                  <a:srgbClr val="993300"/>
                </a:solidFill>
                <a:latin typeface="Helvetica Neue"/>
                <a:ea typeface="Helvetica Neue"/>
                <a:cs typeface="Helvetica Neue"/>
                <a:sym typeface="Helvetica Neue"/>
              </a:rPr>
              <a:t>Resource-Allocation Graph and Wait-for Graph</a:t>
            </a:r>
            <a:endParaRPr/>
          </a:p>
        </p:txBody>
      </p:sp>
      <p:sp>
        <p:nvSpPr>
          <p:cNvPr id="320" name="Google Shape;320;p35"/>
          <p:cNvSpPr txBox="1"/>
          <p:nvPr/>
        </p:nvSpPr>
        <p:spPr>
          <a:xfrm>
            <a:off x="1647825" y="5294312"/>
            <a:ext cx="2927350" cy="366712"/>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Resource-Allocation Graph</a:t>
            </a:r>
            <a:endParaRPr/>
          </a:p>
        </p:txBody>
      </p:sp>
      <p:sp>
        <p:nvSpPr>
          <p:cNvPr id="321" name="Google Shape;321;p35"/>
          <p:cNvSpPr txBox="1"/>
          <p:nvPr/>
        </p:nvSpPr>
        <p:spPr>
          <a:xfrm>
            <a:off x="4810125" y="5294312"/>
            <a:ext cx="3143250" cy="366712"/>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Corresponding wait-for graph</a:t>
            </a:r>
            <a:endParaRPr/>
          </a:p>
        </p:txBody>
      </p:sp>
      <p:pic>
        <p:nvPicPr>
          <p:cNvPr id="322" name="Google Shape;322;p35"/>
          <p:cNvPicPr preferRelativeResize="0"/>
          <p:nvPr/>
        </p:nvPicPr>
        <p:blipFill rotWithShape="1">
          <a:blip r:embed="rId3">
            <a:alphaModFix/>
          </a:blip>
          <a:srcRect b="7356" l="758" r="522" t="7357"/>
          <a:stretch/>
        </p:blipFill>
        <p:spPr>
          <a:xfrm>
            <a:off x="1849437" y="1562100"/>
            <a:ext cx="5313362" cy="3443287"/>
          </a:xfrm>
          <a:prstGeom prst="rect">
            <a:avLst/>
          </a:prstGeom>
          <a:noFill/>
          <a:ln cap="flat" cmpd="dbl" w="38100">
            <a:solidFill>
              <a:srgbClr val="CC6600"/>
            </a:solidFill>
            <a:prstDash val="solid"/>
            <a:miter lim="800000"/>
            <a:headEnd len="sm" w="sm" type="none"/>
            <a:tailEnd len="sm" w="sm" type="none"/>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326" name="Shape 326"/>
        <p:cNvGrpSpPr/>
        <p:nvPr/>
      </p:nvGrpSpPr>
      <p:grpSpPr>
        <a:xfrm>
          <a:off x="0" y="0"/>
          <a:ext cx="0" cy="0"/>
          <a:chOff x="0" y="0"/>
          <a:chExt cx="0" cy="0"/>
        </a:xfrm>
      </p:grpSpPr>
      <p:sp>
        <p:nvSpPr>
          <p:cNvPr id="327" name="Google Shape;327;p36"/>
          <p:cNvSpPr txBox="1"/>
          <p:nvPr>
            <p:ph type="title"/>
          </p:nvPr>
        </p:nvSpPr>
        <p:spPr>
          <a:xfrm>
            <a:off x="1171575" y="-85725"/>
            <a:ext cx="7772400" cy="84455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Several Instances of a Resource Type</a:t>
            </a:r>
            <a:endParaRPr/>
          </a:p>
        </p:txBody>
      </p:sp>
      <p:sp>
        <p:nvSpPr>
          <p:cNvPr id="328" name="Google Shape;328;p36"/>
          <p:cNvSpPr txBox="1"/>
          <p:nvPr>
            <p:ph idx="1" type="body"/>
          </p:nvPr>
        </p:nvSpPr>
        <p:spPr>
          <a:xfrm>
            <a:off x="852487" y="1392237"/>
            <a:ext cx="6784975" cy="38115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1" i="1" lang="en-US" sz="1800" u="none">
                <a:solidFill>
                  <a:srgbClr val="FF0000"/>
                </a:solidFill>
                <a:latin typeface="Helvetica Neue"/>
                <a:ea typeface="Helvetica Neue"/>
                <a:cs typeface="Helvetica Neue"/>
                <a:sym typeface="Helvetica Neue"/>
              </a:rPr>
              <a:t>Available</a:t>
            </a:r>
            <a:r>
              <a:rPr b="0" i="1" lang="en-US" sz="18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  A vector of length </a:t>
            </a:r>
            <a:r>
              <a:rPr b="0" i="1" lang="en-US" sz="1800" u="none">
                <a:solidFill>
                  <a:schemeClr val="dk1"/>
                </a:solidFill>
                <a:latin typeface="Helvetica Neue"/>
                <a:ea typeface="Helvetica Neue"/>
                <a:cs typeface="Helvetica Neue"/>
                <a:sym typeface="Helvetica Neue"/>
              </a:rPr>
              <a:t>m</a:t>
            </a:r>
            <a:r>
              <a:rPr b="0" i="0" lang="en-US" sz="1800" u="none">
                <a:solidFill>
                  <a:schemeClr val="dk1"/>
                </a:solidFill>
                <a:latin typeface="Helvetica Neue"/>
                <a:ea typeface="Helvetica Neue"/>
                <a:cs typeface="Helvetica Neue"/>
                <a:sym typeface="Helvetica Neue"/>
              </a:rPr>
              <a:t> indicates the number of available resources of each type.</a:t>
            </a:r>
            <a:br>
              <a:rPr b="0" i="0" lang="en-US" sz="1800" u="none">
                <a:solidFill>
                  <a:schemeClr val="dk1"/>
                </a:solidFill>
                <a:latin typeface="Helvetica Neue"/>
                <a:ea typeface="Helvetica Neue"/>
                <a:cs typeface="Helvetica Neue"/>
                <a:sym typeface="Helvetica Neue"/>
              </a:rPr>
            </a:br>
            <a:endParaRPr/>
          </a:p>
          <a:p>
            <a:pPr indent="-342900" lvl="0" marL="342900" marR="0" rtl="0" algn="l">
              <a:lnSpc>
                <a:spcPct val="100000"/>
              </a:lnSpc>
              <a:spcBef>
                <a:spcPts val="630"/>
              </a:spcBef>
              <a:spcAft>
                <a:spcPts val="0"/>
              </a:spcAft>
              <a:buClr>
                <a:srgbClr val="993300"/>
              </a:buClr>
              <a:buSzPts val="1620"/>
              <a:buFont typeface="Arial"/>
              <a:buChar char="●"/>
            </a:pPr>
            <a:r>
              <a:rPr b="1" i="1" lang="en-US" sz="1800" u="none">
                <a:solidFill>
                  <a:srgbClr val="FF0000"/>
                </a:solidFill>
                <a:latin typeface="Helvetica Neue"/>
                <a:ea typeface="Helvetica Neue"/>
                <a:cs typeface="Helvetica Neue"/>
                <a:sym typeface="Helvetica Neue"/>
              </a:rPr>
              <a:t>Allocation</a:t>
            </a:r>
            <a:r>
              <a:rPr b="0" i="1" lang="en-US" sz="18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  An </a:t>
            </a:r>
            <a:r>
              <a:rPr b="0" i="1" lang="en-US" sz="1800" u="none">
                <a:solidFill>
                  <a:schemeClr val="dk1"/>
                </a:solidFill>
                <a:latin typeface="Helvetica Neue"/>
                <a:ea typeface="Helvetica Neue"/>
                <a:cs typeface="Helvetica Neue"/>
                <a:sym typeface="Helvetica Neue"/>
              </a:rPr>
              <a:t>n </a:t>
            </a:r>
            <a:r>
              <a:rPr b="0" i="0" lang="en-US" sz="1800" u="none">
                <a:solidFill>
                  <a:schemeClr val="dk1"/>
                </a:solidFill>
                <a:latin typeface="Helvetica Neue"/>
                <a:ea typeface="Helvetica Neue"/>
                <a:cs typeface="Helvetica Neue"/>
                <a:sym typeface="Helvetica Neue"/>
              </a:rPr>
              <a:t>x</a:t>
            </a:r>
            <a:r>
              <a:rPr b="0" i="1" lang="en-US" sz="1800" u="none">
                <a:solidFill>
                  <a:schemeClr val="dk1"/>
                </a:solidFill>
                <a:latin typeface="Helvetica Neue"/>
                <a:ea typeface="Helvetica Neue"/>
                <a:cs typeface="Helvetica Neue"/>
                <a:sym typeface="Helvetica Neue"/>
              </a:rPr>
              <a:t> m</a:t>
            </a:r>
            <a:r>
              <a:rPr b="0" i="0" lang="en-US" sz="1800" u="none">
                <a:solidFill>
                  <a:schemeClr val="dk1"/>
                </a:solidFill>
                <a:latin typeface="Helvetica Neue"/>
                <a:ea typeface="Helvetica Neue"/>
                <a:cs typeface="Helvetica Neue"/>
                <a:sym typeface="Helvetica Neue"/>
              </a:rPr>
              <a:t> matrix defines the number of resources of each type currently allocated to each process.</a:t>
            </a:r>
            <a:br>
              <a:rPr b="0" i="0" lang="en-US" sz="1800" u="none">
                <a:solidFill>
                  <a:schemeClr val="dk1"/>
                </a:solidFill>
                <a:latin typeface="Helvetica Neue"/>
                <a:ea typeface="Helvetica Neue"/>
                <a:cs typeface="Helvetica Neue"/>
                <a:sym typeface="Helvetica Neue"/>
              </a:rPr>
            </a:br>
            <a:endParaRPr/>
          </a:p>
          <a:p>
            <a:pPr indent="-342900" lvl="0" marL="342900" marR="0" rtl="0" algn="l">
              <a:lnSpc>
                <a:spcPct val="100000"/>
              </a:lnSpc>
              <a:spcBef>
                <a:spcPts val="630"/>
              </a:spcBef>
              <a:spcAft>
                <a:spcPts val="0"/>
              </a:spcAft>
              <a:buClr>
                <a:srgbClr val="993300"/>
              </a:buClr>
              <a:buSzPts val="1620"/>
              <a:buFont typeface="Arial"/>
              <a:buChar char="●"/>
            </a:pPr>
            <a:r>
              <a:rPr b="1" i="1" lang="en-US" sz="1800" u="none">
                <a:solidFill>
                  <a:srgbClr val="FF0000"/>
                </a:solidFill>
                <a:latin typeface="Helvetica Neue"/>
                <a:ea typeface="Helvetica Neue"/>
                <a:cs typeface="Helvetica Neue"/>
                <a:sym typeface="Helvetica Neue"/>
              </a:rPr>
              <a:t>Request</a:t>
            </a:r>
            <a:r>
              <a:rPr b="0" i="1" lang="en-US" sz="1800" u="none">
                <a:solidFill>
                  <a:schemeClr val="dk1"/>
                </a:solidFill>
                <a:latin typeface="Helvetica Neue"/>
                <a:ea typeface="Helvetica Neue"/>
                <a:cs typeface="Helvetica Neue"/>
                <a:sym typeface="Helvetica Neue"/>
              </a:rPr>
              <a:t>:</a:t>
            </a:r>
            <a:r>
              <a:rPr b="0" i="0" lang="en-US" sz="1800" u="none">
                <a:solidFill>
                  <a:schemeClr val="dk1"/>
                </a:solidFill>
                <a:latin typeface="Helvetica Neue"/>
                <a:ea typeface="Helvetica Neue"/>
                <a:cs typeface="Helvetica Neue"/>
                <a:sym typeface="Helvetica Neue"/>
              </a:rPr>
              <a:t>  An </a:t>
            </a:r>
            <a:r>
              <a:rPr b="0" i="1" lang="en-US" sz="1800" u="none">
                <a:solidFill>
                  <a:schemeClr val="dk1"/>
                </a:solidFill>
                <a:latin typeface="Helvetica Neue"/>
                <a:ea typeface="Helvetica Neue"/>
                <a:cs typeface="Helvetica Neue"/>
                <a:sym typeface="Helvetica Neue"/>
              </a:rPr>
              <a:t>n </a:t>
            </a:r>
            <a:r>
              <a:rPr b="0" i="0" lang="en-US" sz="1800" u="none">
                <a:solidFill>
                  <a:schemeClr val="dk1"/>
                </a:solidFill>
                <a:latin typeface="Helvetica Neue"/>
                <a:ea typeface="Helvetica Neue"/>
                <a:cs typeface="Helvetica Neue"/>
                <a:sym typeface="Helvetica Neue"/>
              </a:rPr>
              <a:t>x</a:t>
            </a:r>
            <a:r>
              <a:rPr b="0" i="1" lang="en-US" sz="1800" u="none">
                <a:solidFill>
                  <a:schemeClr val="dk1"/>
                </a:solidFill>
                <a:latin typeface="Helvetica Neue"/>
                <a:ea typeface="Helvetica Neue"/>
                <a:cs typeface="Helvetica Neue"/>
                <a:sym typeface="Helvetica Neue"/>
              </a:rPr>
              <a:t> m</a:t>
            </a:r>
            <a:r>
              <a:rPr b="0" i="0" lang="en-US" sz="1800" u="none">
                <a:solidFill>
                  <a:schemeClr val="dk1"/>
                </a:solidFill>
                <a:latin typeface="Helvetica Neue"/>
                <a:ea typeface="Helvetica Neue"/>
                <a:cs typeface="Helvetica Neue"/>
                <a:sym typeface="Helvetica Neue"/>
              </a:rPr>
              <a:t> matrix indicates the current request  of each process.  If </a:t>
            </a:r>
            <a:r>
              <a:rPr b="0" i="1" lang="en-US" sz="1800" u="none">
                <a:solidFill>
                  <a:schemeClr val="dk1"/>
                </a:solidFill>
                <a:latin typeface="Helvetica Neue"/>
                <a:ea typeface="Helvetica Neue"/>
                <a:cs typeface="Helvetica Neue"/>
                <a:sym typeface="Helvetica Neue"/>
              </a:rPr>
              <a:t>Request </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i</a:t>
            </a:r>
            <a:r>
              <a:rPr b="0" baseline="-25000" i="1" lang="en-US" sz="1800" u="none">
                <a:solidFill>
                  <a:schemeClr val="dk1"/>
                </a:solidFill>
                <a:latin typeface="Helvetica Neue"/>
                <a:ea typeface="Helvetica Neue"/>
                <a:cs typeface="Helvetica Neue"/>
                <a:sym typeface="Helvetica Neue"/>
              </a:rPr>
              <a:t>j</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k</a:t>
            </a:r>
            <a:r>
              <a:rPr b="0" i="0" lang="en-US" sz="1800" u="none">
                <a:solidFill>
                  <a:schemeClr val="dk1"/>
                </a:solidFill>
                <a:latin typeface="Helvetica Neue"/>
                <a:ea typeface="Helvetica Neue"/>
                <a:cs typeface="Helvetica Neue"/>
                <a:sym typeface="Helvetica Neue"/>
              </a:rPr>
              <a:t>, then process</a:t>
            </a:r>
            <a:r>
              <a:rPr b="0" i="1" lang="en-US" sz="1800" u="none">
                <a:solidFill>
                  <a:schemeClr val="dk1"/>
                </a:solidFill>
                <a:latin typeface="Helvetica Neue"/>
                <a:ea typeface="Helvetica Neue"/>
                <a:cs typeface="Helvetica Neue"/>
                <a:sym typeface="Helvetica Neue"/>
              </a:rPr>
              <a:t> P</a:t>
            </a:r>
            <a:r>
              <a:rPr b="0" baseline="-2500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is requesting</a:t>
            </a:r>
            <a:r>
              <a:rPr b="0" i="1" lang="en-US" sz="1800" u="none">
                <a:solidFill>
                  <a:schemeClr val="dk1"/>
                </a:solidFill>
                <a:latin typeface="Helvetica Neue"/>
                <a:ea typeface="Helvetica Neue"/>
                <a:cs typeface="Helvetica Neue"/>
                <a:sym typeface="Helvetica Neue"/>
              </a:rPr>
              <a:t> k</a:t>
            </a:r>
            <a:r>
              <a:rPr b="0" i="0" lang="en-US" sz="1800" u="none">
                <a:solidFill>
                  <a:schemeClr val="dk1"/>
                </a:solidFill>
                <a:latin typeface="Helvetica Neue"/>
                <a:ea typeface="Helvetica Neue"/>
                <a:cs typeface="Helvetica Neue"/>
                <a:sym typeface="Helvetica Neue"/>
              </a:rPr>
              <a:t> more instances of resource type. </a:t>
            </a:r>
            <a:r>
              <a:rPr b="0" i="1" lang="en-US" sz="1800" u="none">
                <a:solidFill>
                  <a:schemeClr val="dk1"/>
                </a:solidFill>
                <a:latin typeface="Helvetica Neue"/>
                <a:ea typeface="Helvetica Neue"/>
                <a:cs typeface="Helvetica Neue"/>
                <a:sym typeface="Helvetica Neue"/>
              </a:rPr>
              <a:t>R</a:t>
            </a:r>
            <a:r>
              <a:rPr b="0" baseline="-25000" i="1" lang="en-US" sz="1800" u="none">
                <a:solidFill>
                  <a:schemeClr val="dk1"/>
                </a:solidFill>
                <a:latin typeface="Helvetica Neue"/>
                <a:ea typeface="Helvetica Neue"/>
                <a:cs typeface="Helvetica Neue"/>
                <a:sym typeface="Helvetica Neue"/>
              </a:rPr>
              <a:t>j</a:t>
            </a:r>
            <a:r>
              <a:rPr b="0" i="0" lang="en-US" sz="1800" u="none">
                <a:solidFill>
                  <a:schemeClr val="dk1"/>
                </a:solidFill>
                <a:latin typeface="Helvetica Neue"/>
                <a:ea typeface="Helvetica Neue"/>
                <a:cs typeface="Helvetica Neue"/>
                <a:sym typeface="Helvetica Neue"/>
              </a:rPr>
              <a: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332" name="Shape 332"/>
        <p:cNvGrpSpPr/>
        <p:nvPr/>
      </p:nvGrpSpPr>
      <p:grpSpPr>
        <a:xfrm>
          <a:off x="0" y="0"/>
          <a:ext cx="0" cy="0"/>
          <a:chOff x="0" y="0"/>
          <a:chExt cx="0" cy="0"/>
        </a:xfrm>
      </p:grpSpPr>
      <p:sp>
        <p:nvSpPr>
          <p:cNvPr id="333" name="Google Shape;333;p37"/>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Detection Algorithm</a:t>
            </a:r>
            <a:endParaRPr/>
          </a:p>
        </p:txBody>
      </p:sp>
      <p:sp>
        <p:nvSpPr>
          <p:cNvPr id="334" name="Google Shape;334;p37"/>
          <p:cNvSpPr txBox="1"/>
          <p:nvPr>
            <p:ph idx="1" type="body"/>
          </p:nvPr>
        </p:nvSpPr>
        <p:spPr>
          <a:xfrm>
            <a:off x="827087" y="1282700"/>
            <a:ext cx="7351712" cy="4483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1.	Let </a:t>
            </a:r>
            <a:r>
              <a:rPr b="0" i="1" lang="en-US" sz="1800" u="none">
                <a:solidFill>
                  <a:schemeClr val="dk1"/>
                </a:solidFill>
                <a:latin typeface="Helvetica Neue"/>
                <a:ea typeface="Helvetica Neue"/>
                <a:cs typeface="Helvetica Neue"/>
                <a:sym typeface="Helvetica Neue"/>
              </a:rPr>
              <a:t>Work</a:t>
            </a:r>
            <a:r>
              <a:rPr b="0" i="0" lang="en-US" sz="1800" u="none">
                <a:solidFill>
                  <a:schemeClr val="dk1"/>
                </a:solidFill>
                <a:latin typeface="Helvetica Neue"/>
                <a:ea typeface="Helvetica Neue"/>
                <a:cs typeface="Helvetica Neue"/>
                <a:sym typeface="Helvetica Neue"/>
              </a:rPr>
              <a:t> and </a:t>
            </a:r>
            <a:r>
              <a:rPr b="0" i="1" lang="en-US" sz="1800" u="none">
                <a:solidFill>
                  <a:schemeClr val="dk1"/>
                </a:solidFill>
                <a:latin typeface="Helvetica Neue"/>
                <a:ea typeface="Helvetica Neue"/>
                <a:cs typeface="Helvetica Neue"/>
                <a:sym typeface="Helvetica Neue"/>
              </a:rPr>
              <a:t>Finish</a:t>
            </a:r>
            <a:r>
              <a:rPr b="0" i="0" lang="en-US" sz="1800" u="none">
                <a:solidFill>
                  <a:schemeClr val="dk1"/>
                </a:solidFill>
                <a:latin typeface="Helvetica Neue"/>
                <a:ea typeface="Helvetica Neue"/>
                <a:cs typeface="Helvetica Neue"/>
                <a:sym typeface="Helvetica Neue"/>
              </a:rPr>
              <a:t> be vectors of length </a:t>
            </a:r>
            <a:r>
              <a:rPr b="0" i="1" lang="en-US" sz="1800" u="none">
                <a:solidFill>
                  <a:schemeClr val="dk1"/>
                </a:solidFill>
                <a:latin typeface="Helvetica Neue"/>
                <a:ea typeface="Helvetica Neue"/>
                <a:cs typeface="Helvetica Neue"/>
                <a:sym typeface="Helvetica Neue"/>
              </a:rPr>
              <a:t>m</a:t>
            </a:r>
            <a:r>
              <a:rPr b="0" i="0" lang="en-US" sz="1800" u="none">
                <a:solidFill>
                  <a:schemeClr val="dk1"/>
                </a:solidFill>
                <a:latin typeface="Helvetica Neue"/>
                <a:ea typeface="Helvetica Neue"/>
                <a:cs typeface="Helvetica Neue"/>
                <a:sym typeface="Helvetica Neue"/>
              </a:rPr>
              <a:t> and </a:t>
            </a:r>
            <a:r>
              <a:rPr b="0" i="1" lang="en-US" sz="1800" u="none">
                <a:solidFill>
                  <a:schemeClr val="dk1"/>
                </a:solidFill>
                <a:latin typeface="Helvetica Neue"/>
                <a:ea typeface="Helvetica Neue"/>
                <a:cs typeface="Helvetica Neue"/>
                <a:sym typeface="Helvetica Neue"/>
              </a:rPr>
              <a:t>n</a:t>
            </a:r>
            <a:r>
              <a:rPr b="0" i="0" lang="en-US" sz="1800" u="none">
                <a:solidFill>
                  <a:schemeClr val="dk1"/>
                </a:solidFill>
                <a:latin typeface="Helvetica Neue"/>
                <a:ea typeface="Helvetica Neue"/>
                <a:cs typeface="Helvetica Neue"/>
                <a:sym typeface="Helvetica Neue"/>
              </a:rPr>
              <a:t>, respectively Initialize:</a:t>
            </a:r>
            <a:endParaRPr/>
          </a:p>
          <a:p>
            <a:pPr indent="-285750" lvl="1" marL="742950" marR="0" rtl="0" algn="l">
              <a:lnSpc>
                <a:spcPct val="100000"/>
              </a:lnSpc>
              <a:spcBef>
                <a:spcPts val="630"/>
              </a:spcBef>
              <a:spcAft>
                <a:spcPts val="0"/>
              </a:spcAft>
              <a:buClr>
                <a:srgbClr val="CC6600"/>
              </a:buClr>
              <a:buSzPts val="1440"/>
              <a:buFont typeface="Arial"/>
              <a:buNone/>
            </a:pPr>
            <a:r>
              <a:rPr b="0" i="0" lang="en-US" sz="1800" u="none" cap="none" strike="noStrike">
                <a:solidFill>
                  <a:schemeClr val="dk1"/>
                </a:solidFill>
                <a:latin typeface="Helvetica Neue"/>
                <a:ea typeface="Helvetica Neue"/>
                <a:cs typeface="Helvetica Neue"/>
                <a:sym typeface="Helvetica Neue"/>
              </a:rPr>
              <a:t>(a) </a:t>
            </a:r>
            <a:r>
              <a:rPr b="0" i="1" lang="en-US" sz="1800" u="none" cap="none" strike="noStrike">
                <a:solidFill>
                  <a:schemeClr val="dk1"/>
                </a:solidFill>
                <a:latin typeface="Helvetica Neue"/>
                <a:ea typeface="Helvetica Neue"/>
                <a:cs typeface="Helvetica Neue"/>
                <a:sym typeface="Helvetica Neue"/>
              </a:rPr>
              <a:t>Work</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Available</a:t>
            </a:r>
            <a:endParaRPr/>
          </a:p>
          <a:p>
            <a:pPr indent="-285750" lvl="1" marL="742950" marR="0" rtl="0" algn="l">
              <a:lnSpc>
                <a:spcPct val="100000"/>
              </a:lnSpc>
              <a:spcBef>
                <a:spcPts val="630"/>
              </a:spcBef>
              <a:spcAft>
                <a:spcPts val="0"/>
              </a:spcAft>
              <a:buClr>
                <a:srgbClr val="CC6600"/>
              </a:buClr>
              <a:buSzPts val="1440"/>
              <a:buFont typeface="Arial"/>
              <a:buNone/>
            </a:pPr>
            <a:r>
              <a:rPr b="0" i="0" lang="en-US" sz="1800" u="none" cap="none" strike="noStrike">
                <a:solidFill>
                  <a:schemeClr val="dk1"/>
                </a:solidFill>
                <a:latin typeface="Helvetica Neue"/>
                <a:ea typeface="Helvetica Neue"/>
                <a:cs typeface="Helvetica Neue"/>
                <a:sym typeface="Helvetica Neue"/>
              </a:rPr>
              <a:t>(b)	For </a:t>
            </a:r>
            <a:r>
              <a:rPr b="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 1,2, …,</a:t>
            </a:r>
            <a:r>
              <a:rPr b="0" i="1" lang="en-US" sz="1800" u="none" cap="none" strike="noStrike">
                <a:solidFill>
                  <a:schemeClr val="dk1"/>
                </a:solidFill>
                <a:latin typeface="Helvetica Neue"/>
                <a:ea typeface="Helvetica Neue"/>
                <a:cs typeface="Helvetica Neue"/>
                <a:sym typeface="Helvetica Neue"/>
              </a:rPr>
              <a:t> n</a:t>
            </a:r>
            <a:r>
              <a:rPr b="0" i="0" lang="en-US" sz="1800" u="none" cap="none" strike="noStrike">
                <a:solidFill>
                  <a:schemeClr val="dk1"/>
                </a:solidFill>
                <a:latin typeface="Helvetica Neue"/>
                <a:ea typeface="Helvetica Neue"/>
                <a:cs typeface="Helvetica Neue"/>
                <a:sym typeface="Helvetica Neue"/>
              </a:rPr>
              <a:t>, if </a:t>
            </a:r>
            <a:r>
              <a:rPr b="0" i="1" lang="en-US" sz="1800" u="none" cap="none" strike="noStrike">
                <a:solidFill>
                  <a:schemeClr val="dk1"/>
                </a:solidFill>
                <a:latin typeface="Helvetica Neue"/>
                <a:ea typeface="Helvetica Neue"/>
                <a:cs typeface="Helvetica Neue"/>
                <a:sym typeface="Helvetica Neue"/>
              </a:rPr>
              <a:t>Allocation</a:t>
            </a:r>
            <a:r>
              <a:rPr b="0" baseline="-2500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 0, then </a:t>
            </a:r>
            <a:br>
              <a:rPr b="0" i="0" lang="en-US" sz="1800" u="none" cap="none" strike="noStrike">
                <a:solidFill>
                  <a:schemeClr val="dk1"/>
                </a:solidFill>
                <a:latin typeface="Helvetica Neue"/>
                <a:ea typeface="Helvetica Neue"/>
                <a:cs typeface="Helvetica Neue"/>
                <a:sym typeface="Helvetica Neue"/>
              </a:rPr>
            </a:br>
            <a:r>
              <a:rPr b="0" i="1" lang="en-US" sz="1800" u="none" cap="none" strike="noStrike">
                <a:solidFill>
                  <a:schemeClr val="dk1"/>
                </a:solidFill>
                <a:latin typeface="Helvetica Neue"/>
                <a:ea typeface="Helvetica Neue"/>
                <a:cs typeface="Helvetica Neue"/>
                <a:sym typeface="Helvetica Neue"/>
              </a:rPr>
              <a:t>Finish</a:t>
            </a:r>
            <a:r>
              <a:rPr b="0" i="0" lang="en-US" sz="1800" u="none" cap="none" strike="noStrike">
                <a:solidFill>
                  <a:schemeClr val="dk1"/>
                </a:solidFill>
                <a:latin typeface="Helvetica Neue"/>
                <a:ea typeface="Helvetica Neue"/>
                <a:cs typeface="Helvetica Neue"/>
                <a:sym typeface="Helvetica Neue"/>
              </a:rPr>
              <a:t>[i] = false;otherwise, </a:t>
            </a:r>
            <a:r>
              <a:rPr b="0" i="1" lang="en-US" sz="1800" u="none" cap="none" strike="noStrike">
                <a:solidFill>
                  <a:schemeClr val="dk1"/>
                </a:solidFill>
                <a:latin typeface="Helvetica Neue"/>
                <a:ea typeface="Helvetica Neue"/>
                <a:cs typeface="Helvetica Neue"/>
                <a:sym typeface="Helvetica Neue"/>
              </a:rPr>
              <a:t>Finish</a:t>
            </a:r>
            <a:r>
              <a:rPr b="0" i="0" lang="en-US" sz="1800" u="none" cap="none" strike="noStrike">
                <a:solidFill>
                  <a:schemeClr val="dk1"/>
                </a:solidFill>
                <a:latin typeface="Helvetica Neue"/>
                <a:ea typeface="Helvetica Neue"/>
                <a:cs typeface="Helvetica Neue"/>
                <a:sym typeface="Helvetica Neue"/>
              </a:rPr>
              <a:t>[i] = </a:t>
            </a:r>
            <a:r>
              <a:rPr b="0" i="1" lang="en-US" sz="1800" u="none" cap="none" strike="noStrike">
                <a:solidFill>
                  <a:schemeClr val="dk1"/>
                </a:solidFill>
                <a:latin typeface="Helvetica Neue"/>
                <a:ea typeface="Helvetica Neue"/>
                <a:cs typeface="Helvetica Neue"/>
                <a:sym typeface="Helvetica Neue"/>
              </a:rPr>
              <a:t>true</a:t>
            </a:r>
            <a:r>
              <a:rPr b="0" i="0" lang="en-US" sz="1800" u="none" cap="none" strike="noStrik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2.	Find an index </a:t>
            </a:r>
            <a:r>
              <a:rPr b="0" i="1" lang="en-US" sz="1800" u="none">
                <a:solidFill>
                  <a:schemeClr val="dk1"/>
                </a:solidFill>
                <a:latin typeface="Helvetica Neue"/>
                <a:ea typeface="Helvetica Neue"/>
                <a:cs typeface="Helvetica Neue"/>
                <a:sym typeface="Helvetica Neue"/>
              </a:rPr>
              <a:t>i </a:t>
            </a:r>
            <a:r>
              <a:rPr b="0" i="0" lang="en-US" sz="1800" u="none">
                <a:solidFill>
                  <a:schemeClr val="dk1"/>
                </a:solidFill>
                <a:latin typeface="Helvetica Neue"/>
                <a:ea typeface="Helvetica Neue"/>
                <a:cs typeface="Helvetica Neue"/>
                <a:sym typeface="Helvetica Neue"/>
              </a:rPr>
              <a:t>such that both:</a:t>
            </a:r>
            <a:endParaRPr/>
          </a:p>
          <a:p>
            <a:pPr indent="-285750" lvl="1" marL="742950" marR="0" rtl="0" algn="l">
              <a:lnSpc>
                <a:spcPct val="100000"/>
              </a:lnSpc>
              <a:spcBef>
                <a:spcPts val="630"/>
              </a:spcBef>
              <a:spcAft>
                <a:spcPts val="0"/>
              </a:spcAft>
              <a:buClr>
                <a:srgbClr val="CC6600"/>
              </a:buClr>
              <a:buSzPts val="1440"/>
              <a:buFont typeface="Arial"/>
              <a:buNone/>
            </a:pPr>
            <a:r>
              <a:rPr b="0" i="0" lang="en-US" sz="1800" u="none" cap="none" strike="noStrike">
                <a:solidFill>
                  <a:schemeClr val="dk1"/>
                </a:solidFill>
                <a:latin typeface="Helvetica Neue"/>
                <a:ea typeface="Helvetica Neue"/>
                <a:cs typeface="Helvetica Neue"/>
                <a:sym typeface="Helvetica Neue"/>
              </a:rPr>
              <a:t>(a)	</a:t>
            </a:r>
            <a:r>
              <a:rPr b="0" i="1" lang="en-US" sz="1800" u="none" cap="none" strike="noStrike">
                <a:solidFill>
                  <a:schemeClr val="dk1"/>
                </a:solidFill>
                <a:latin typeface="Helvetica Neue"/>
                <a:ea typeface="Helvetica Neue"/>
                <a:cs typeface="Helvetica Neue"/>
                <a:sym typeface="Helvetica Neue"/>
              </a:rPr>
              <a:t>Finish</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false</a:t>
            </a:r>
            <a:endParaRPr/>
          </a:p>
          <a:p>
            <a:pPr indent="-285750" lvl="1" marL="742950" marR="0" rtl="0" algn="l">
              <a:lnSpc>
                <a:spcPct val="100000"/>
              </a:lnSpc>
              <a:spcBef>
                <a:spcPts val="630"/>
              </a:spcBef>
              <a:spcAft>
                <a:spcPts val="0"/>
              </a:spcAft>
              <a:buClr>
                <a:srgbClr val="CC6600"/>
              </a:buClr>
              <a:buSzPts val="1440"/>
              <a:buFont typeface="Arial"/>
              <a:buNone/>
            </a:pPr>
            <a:r>
              <a:rPr b="0" i="0" lang="en-US" sz="1800" u="none" cap="none" strike="noStrike">
                <a:solidFill>
                  <a:schemeClr val="dk1"/>
                </a:solidFill>
                <a:latin typeface="Helvetica Neue"/>
                <a:ea typeface="Helvetica Neue"/>
                <a:cs typeface="Helvetica Neue"/>
                <a:sym typeface="Helvetica Neue"/>
              </a:rPr>
              <a:t>(b)	</a:t>
            </a:r>
            <a:r>
              <a:rPr b="0" i="1" lang="en-US" sz="1800" u="none" cap="none" strike="noStrike">
                <a:solidFill>
                  <a:schemeClr val="dk1"/>
                </a:solidFill>
                <a:latin typeface="Helvetica Neue"/>
                <a:ea typeface="Helvetica Neue"/>
                <a:cs typeface="Helvetica Neue"/>
                <a:sym typeface="Helvetica Neue"/>
              </a:rPr>
              <a:t>Request</a:t>
            </a:r>
            <a:r>
              <a:rPr b="0" baseline="-2500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 </a:t>
            </a:r>
            <a:r>
              <a:rPr b="0" i="1" lang="en-US" sz="1800" u="none" cap="none" strike="noStrike">
                <a:solidFill>
                  <a:schemeClr val="dk1"/>
                </a:solidFill>
                <a:latin typeface="Helvetica Neue"/>
                <a:ea typeface="Helvetica Neue"/>
                <a:cs typeface="Helvetica Neue"/>
                <a:sym typeface="Helvetica Neue"/>
              </a:rPr>
              <a:t>Work</a:t>
            </a:r>
            <a:br>
              <a:rPr b="0" i="1" lang="en-US" sz="1800" u="none" cap="none" strike="noStrike">
                <a:solidFill>
                  <a:schemeClr val="dk1"/>
                </a:solidFill>
                <a:latin typeface="Helvetica Neue"/>
                <a:ea typeface="Helvetica Neue"/>
                <a:cs typeface="Helvetica Neue"/>
                <a:sym typeface="Helvetica Neue"/>
              </a:rPr>
            </a:br>
            <a:endParaRPr/>
          </a:p>
          <a:p>
            <a:pPr indent="-285750" lvl="1" marL="742950" marR="0" rtl="0" algn="l">
              <a:lnSpc>
                <a:spcPct val="100000"/>
              </a:lnSpc>
              <a:spcBef>
                <a:spcPts val="630"/>
              </a:spcBef>
              <a:spcAft>
                <a:spcPts val="0"/>
              </a:spcAft>
              <a:buClr>
                <a:srgbClr val="CC6600"/>
              </a:buClr>
              <a:buSzPts val="1440"/>
              <a:buFont typeface="Arial"/>
              <a:buNone/>
            </a:pPr>
            <a:r>
              <a:rPr b="0" i="0" lang="en-US" sz="1800" u="none" cap="none" strike="noStrike">
                <a:solidFill>
                  <a:schemeClr val="dk1"/>
                </a:solidFill>
                <a:latin typeface="Helvetica Neue"/>
                <a:ea typeface="Helvetica Neue"/>
                <a:cs typeface="Helvetica Neue"/>
                <a:sym typeface="Helvetica Neue"/>
              </a:rPr>
              <a:t>If no such </a:t>
            </a:r>
            <a:r>
              <a:rPr b="0" i="1" lang="en-US" sz="1800" u="none" cap="none" strike="noStrike">
                <a:solidFill>
                  <a:schemeClr val="dk1"/>
                </a:solidFill>
                <a:latin typeface="Helvetica Neue"/>
                <a:ea typeface="Helvetica Neue"/>
                <a:cs typeface="Helvetica Neue"/>
                <a:sym typeface="Helvetica Neue"/>
              </a:rPr>
              <a:t>i</a:t>
            </a:r>
            <a:r>
              <a:rPr b="0" i="0" lang="en-US" sz="1800" u="none" cap="none" strike="noStrike">
                <a:solidFill>
                  <a:schemeClr val="dk1"/>
                </a:solidFill>
                <a:latin typeface="Helvetica Neue"/>
                <a:ea typeface="Helvetica Neue"/>
                <a:cs typeface="Helvetica Neue"/>
                <a:sym typeface="Helvetica Neue"/>
              </a:rPr>
              <a:t> exists, go to step 4.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338" name="Shape 338"/>
        <p:cNvGrpSpPr/>
        <p:nvPr/>
      </p:nvGrpSpPr>
      <p:grpSpPr>
        <a:xfrm>
          <a:off x="0" y="0"/>
          <a:ext cx="0" cy="0"/>
          <a:chOff x="0" y="0"/>
          <a:chExt cx="0" cy="0"/>
        </a:xfrm>
      </p:grpSpPr>
      <p:sp>
        <p:nvSpPr>
          <p:cNvPr id="339" name="Google Shape;339;p38"/>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Detection Algorithm (Cont.)</a:t>
            </a:r>
            <a:endParaRPr/>
          </a:p>
        </p:txBody>
      </p:sp>
      <p:sp>
        <p:nvSpPr>
          <p:cNvPr id="340" name="Google Shape;340;p38"/>
          <p:cNvSpPr txBox="1"/>
          <p:nvPr>
            <p:ph idx="1" type="body"/>
          </p:nvPr>
        </p:nvSpPr>
        <p:spPr>
          <a:xfrm>
            <a:off x="827087" y="1497012"/>
            <a:ext cx="7351712" cy="22717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3.	</a:t>
            </a:r>
            <a:r>
              <a:rPr b="0" i="1" lang="en-US" sz="1800" u="none">
                <a:solidFill>
                  <a:schemeClr val="dk1"/>
                </a:solidFill>
                <a:latin typeface="Helvetica Neue"/>
                <a:ea typeface="Helvetica Neue"/>
                <a:cs typeface="Helvetica Neue"/>
                <a:sym typeface="Helvetica Neue"/>
              </a:rPr>
              <a:t>Work</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Work</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Allocation</a:t>
            </a:r>
            <a:r>
              <a:rPr b="0" baseline="-25000" i="1" lang="en-US" sz="1800" u="none">
                <a:solidFill>
                  <a:schemeClr val="dk1"/>
                </a:solidFill>
                <a:latin typeface="Helvetica Neue"/>
                <a:ea typeface="Helvetica Neue"/>
                <a:cs typeface="Helvetica Neue"/>
                <a:sym typeface="Helvetica Neue"/>
              </a:rPr>
              <a:t>i</a:t>
            </a:r>
            <a:br>
              <a:rPr b="0" i="0" lang="en-US" sz="1800" u="none">
                <a:solidFill>
                  <a:schemeClr val="dk1"/>
                </a:solidFill>
                <a:latin typeface="Helvetica Neue"/>
                <a:ea typeface="Helvetica Neue"/>
                <a:cs typeface="Helvetica Neue"/>
                <a:sym typeface="Helvetica Neue"/>
              </a:rPr>
            </a:br>
            <a:r>
              <a:rPr b="0" i="1" lang="en-US" sz="1800" u="none">
                <a:solidFill>
                  <a:schemeClr val="dk1"/>
                </a:solidFill>
                <a:latin typeface="Helvetica Neue"/>
                <a:ea typeface="Helvetica Neue"/>
                <a:cs typeface="Helvetica Neue"/>
                <a:sym typeface="Helvetica Neue"/>
              </a:rPr>
              <a:t>Finish</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true</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go to step 2.</a:t>
            </a:r>
            <a:br>
              <a:rPr b="0" i="0" lang="en-US" sz="1800" u="none">
                <a:solidFill>
                  <a:schemeClr val="dk1"/>
                </a:solidFill>
                <a:latin typeface="Helvetica Neue"/>
                <a:ea typeface="Helvetica Neue"/>
                <a:cs typeface="Helvetica Neue"/>
                <a:sym typeface="Helvetica Neue"/>
              </a:rPr>
            </a:br>
            <a:endParaRPr/>
          </a:p>
          <a:p>
            <a:pPr indent="-342900" lvl="0" marL="342900" marR="0" rtl="0" algn="l">
              <a:lnSpc>
                <a:spcPct val="9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4.	If </a:t>
            </a:r>
            <a:r>
              <a:rPr b="0" i="1" lang="en-US" sz="1800" u="none">
                <a:solidFill>
                  <a:schemeClr val="dk1"/>
                </a:solidFill>
                <a:latin typeface="Helvetica Neue"/>
                <a:ea typeface="Helvetica Neue"/>
                <a:cs typeface="Helvetica Neue"/>
                <a:sym typeface="Helvetica Neue"/>
              </a:rPr>
              <a:t>Finish</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 false, for some </a:t>
            </a:r>
            <a:r>
              <a:rPr b="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1 ≤ </a:t>
            </a:r>
            <a:r>
              <a:rPr b="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n</a:t>
            </a:r>
            <a:r>
              <a:rPr b="0" i="0" lang="en-US" sz="1800" u="none">
                <a:solidFill>
                  <a:schemeClr val="dk1"/>
                </a:solidFill>
                <a:latin typeface="Helvetica Neue"/>
                <a:ea typeface="Helvetica Neue"/>
                <a:cs typeface="Helvetica Neue"/>
                <a:sym typeface="Helvetica Neue"/>
              </a:rPr>
              <a:t>, then the system is in deadlock state. Moreover, if </a:t>
            </a:r>
            <a:r>
              <a:rPr b="0" i="1" lang="en-US" sz="1800" u="none">
                <a:solidFill>
                  <a:schemeClr val="dk1"/>
                </a:solidFill>
                <a:latin typeface="Helvetica Neue"/>
                <a:ea typeface="Helvetica Neue"/>
                <a:cs typeface="Helvetica Neue"/>
                <a:sym typeface="Helvetica Neue"/>
              </a:rPr>
              <a:t>Finish</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 </a:t>
            </a:r>
            <a:r>
              <a:rPr b="0" i="1" lang="en-US" sz="1800" u="none">
                <a:solidFill>
                  <a:schemeClr val="dk1"/>
                </a:solidFill>
                <a:latin typeface="Helvetica Neue"/>
                <a:ea typeface="Helvetica Neue"/>
                <a:cs typeface="Helvetica Neue"/>
                <a:sym typeface="Helvetica Neue"/>
              </a:rPr>
              <a:t>false</a:t>
            </a:r>
            <a:r>
              <a:rPr b="0" i="0" lang="en-US" sz="1800" u="none">
                <a:solidFill>
                  <a:schemeClr val="dk1"/>
                </a:solidFill>
                <a:latin typeface="Helvetica Neue"/>
                <a:ea typeface="Helvetica Neue"/>
                <a:cs typeface="Helvetica Neue"/>
                <a:sym typeface="Helvetica Neue"/>
              </a:rPr>
              <a:t>, then </a:t>
            </a:r>
            <a:r>
              <a:rPr b="0" i="1" lang="en-US" sz="1800" u="none">
                <a:solidFill>
                  <a:schemeClr val="dk1"/>
                </a:solidFill>
                <a:latin typeface="Helvetica Neue"/>
                <a:ea typeface="Helvetica Neue"/>
                <a:cs typeface="Helvetica Neue"/>
                <a:sym typeface="Helvetica Neue"/>
              </a:rPr>
              <a:t>P</a:t>
            </a:r>
            <a:r>
              <a:rPr b="0" baseline="-2500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is deadlocked.</a:t>
            </a:r>
            <a:endParaRPr/>
          </a:p>
          <a:p>
            <a:pPr indent="-342900" lvl="0" marL="342900" marR="0" rtl="0" algn="l">
              <a:lnSpc>
                <a:spcPct val="9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	</a:t>
            </a:r>
            <a:endParaRPr/>
          </a:p>
        </p:txBody>
      </p:sp>
      <p:sp>
        <p:nvSpPr>
          <p:cNvPr id="341" name="Google Shape;341;p38"/>
          <p:cNvSpPr txBox="1"/>
          <p:nvPr/>
        </p:nvSpPr>
        <p:spPr>
          <a:xfrm>
            <a:off x="852487" y="3892550"/>
            <a:ext cx="7694612" cy="10541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66"/>
              </a:buClr>
              <a:buSzPts val="1800"/>
              <a:buFont typeface="Helvetica Neue"/>
              <a:buNone/>
            </a:pPr>
            <a:r>
              <a:rPr b="1" i="0" lang="en-US" sz="1800" u="none">
                <a:solidFill>
                  <a:srgbClr val="FF0066"/>
                </a:solidFill>
                <a:latin typeface="Helvetica Neue"/>
                <a:ea typeface="Helvetica Neue"/>
                <a:cs typeface="Helvetica Neue"/>
                <a:sym typeface="Helvetica Neue"/>
              </a:rPr>
              <a:t>Algorithm requires an order of O(</a:t>
            </a:r>
            <a:r>
              <a:rPr b="1" i="1" lang="en-US" sz="1800" u="none">
                <a:solidFill>
                  <a:srgbClr val="FF0066"/>
                </a:solidFill>
                <a:latin typeface="Helvetica Neue"/>
                <a:ea typeface="Helvetica Neue"/>
                <a:cs typeface="Helvetica Neue"/>
                <a:sym typeface="Helvetica Neue"/>
              </a:rPr>
              <a:t>m </a:t>
            </a:r>
            <a:r>
              <a:rPr b="1" i="0" lang="en-US" sz="1800" u="none">
                <a:solidFill>
                  <a:srgbClr val="FF0066"/>
                </a:solidFill>
                <a:latin typeface="Helvetica Neue"/>
                <a:ea typeface="Helvetica Neue"/>
                <a:cs typeface="Helvetica Neue"/>
                <a:sym typeface="Helvetica Neue"/>
              </a:rPr>
              <a:t>x</a:t>
            </a:r>
            <a:r>
              <a:rPr b="1" i="1" lang="en-US" sz="1800" u="none">
                <a:solidFill>
                  <a:srgbClr val="FF0066"/>
                </a:solidFill>
                <a:latin typeface="Helvetica Neue"/>
                <a:ea typeface="Helvetica Neue"/>
                <a:cs typeface="Helvetica Neue"/>
                <a:sym typeface="Helvetica Neue"/>
              </a:rPr>
              <a:t> n</a:t>
            </a:r>
            <a:r>
              <a:rPr b="1" baseline="30000" i="0" lang="en-US" sz="1800" u="none">
                <a:solidFill>
                  <a:srgbClr val="FF0066"/>
                </a:solidFill>
                <a:latin typeface="Helvetica Neue"/>
                <a:ea typeface="Helvetica Neue"/>
                <a:cs typeface="Helvetica Neue"/>
                <a:sym typeface="Helvetica Neue"/>
              </a:rPr>
              <a:t>2)</a:t>
            </a:r>
            <a:r>
              <a:rPr b="1" i="0" lang="en-US" sz="1800" u="none">
                <a:solidFill>
                  <a:srgbClr val="FF0066"/>
                </a:solidFill>
                <a:latin typeface="Helvetica Neue"/>
                <a:ea typeface="Helvetica Neue"/>
                <a:cs typeface="Helvetica Neue"/>
                <a:sym typeface="Helvetica Neue"/>
              </a:rPr>
              <a:t> operations to detect whether the system is in deadlocked state</a:t>
            </a:r>
            <a:r>
              <a:rPr b="0" i="0" lang="en-US" sz="1800" u="none">
                <a:solidFill>
                  <a:srgbClr val="FF0066"/>
                </a:solidFill>
                <a:latin typeface="Helvetica Neue"/>
                <a:ea typeface="Helvetica Neue"/>
                <a:cs typeface="Helvetica Neue"/>
                <a:sym typeface="Helvetica Neue"/>
              </a:rPr>
              <a:t>. </a:t>
            </a:r>
            <a:endParaRPr b="0" i="0" sz="1800" u="none">
              <a:solidFill>
                <a:srgbClr val="FF0066"/>
              </a:solidFill>
              <a:latin typeface="Helvetica Neue"/>
              <a:ea typeface="Helvetica Neue"/>
              <a:cs typeface="Helvetica Neue"/>
              <a:sym typeface="Helvetica Neue"/>
            </a:endParaRPr>
          </a:p>
          <a:p>
            <a:pPr indent="0" lvl="0" marL="0" marR="0" rtl="0" algn="l">
              <a:lnSpc>
                <a:spcPct val="100000"/>
              </a:lnSpc>
              <a:spcBef>
                <a:spcPts val="0"/>
              </a:spcBef>
              <a:spcAft>
                <a:spcPts val="0"/>
              </a:spcAft>
              <a:buNone/>
            </a:pPr>
            <a:r>
              <a:t/>
            </a:r>
            <a:endParaRPr b="0" i="0" sz="1800" u="none">
              <a:solidFill>
                <a:srgbClr val="FF0066"/>
              </a:solidFill>
              <a:latin typeface="Helvetica Neue"/>
              <a:ea typeface="Helvetica Neue"/>
              <a:cs typeface="Helvetica Neue"/>
              <a:sym typeface="Helvetica Neue"/>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345" name="Shape 345"/>
        <p:cNvGrpSpPr/>
        <p:nvPr/>
      </p:nvGrpSpPr>
      <p:grpSpPr>
        <a:xfrm>
          <a:off x="0" y="0"/>
          <a:ext cx="0" cy="0"/>
          <a:chOff x="0" y="0"/>
          <a:chExt cx="0" cy="0"/>
        </a:xfrm>
      </p:grpSpPr>
      <p:sp>
        <p:nvSpPr>
          <p:cNvPr id="346" name="Google Shape;346;p39"/>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Example of Detection Algorithm</a:t>
            </a:r>
            <a:endParaRPr/>
          </a:p>
        </p:txBody>
      </p:sp>
      <p:sp>
        <p:nvSpPr>
          <p:cNvPr id="347" name="Google Shape;347;p39"/>
          <p:cNvSpPr txBox="1"/>
          <p:nvPr>
            <p:ph idx="1" type="body"/>
          </p:nvPr>
        </p:nvSpPr>
        <p:spPr>
          <a:xfrm>
            <a:off x="827087" y="1282700"/>
            <a:ext cx="7351712" cy="4483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Five processes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0</a:t>
            </a:r>
            <a:r>
              <a:rPr b="0" i="0" lang="en-US" sz="1800" u="none">
                <a:solidFill>
                  <a:schemeClr val="dk1"/>
                </a:solidFill>
                <a:latin typeface="Helvetica Neue"/>
                <a:ea typeface="Helvetica Neue"/>
                <a:cs typeface="Helvetica Neue"/>
                <a:sym typeface="Helvetica Neue"/>
              </a:rPr>
              <a:t> through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4</a:t>
            </a:r>
            <a:r>
              <a:rPr b="0" i="0" lang="en-US" sz="1800" u="none">
                <a:solidFill>
                  <a:schemeClr val="dk1"/>
                </a:solidFill>
                <a:latin typeface="Helvetica Neue"/>
                <a:ea typeface="Helvetica Neue"/>
                <a:cs typeface="Helvetica Neue"/>
                <a:sym typeface="Helvetica Neue"/>
              </a:rPr>
              <a:t>;</a:t>
            </a:r>
            <a:r>
              <a:rPr b="0" baseline="-25000" i="0" lang="en-US" sz="1800" u="none">
                <a:solidFill>
                  <a:schemeClr val="dk1"/>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three resource types </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A (7 instances), </a:t>
            </a:r>
            <a:r>
              <a:rPr b="0" i="1" lang="en-US" sz="1800" u="none">
                <a:solidFill>
                  <a:schemeClr val="dk1"/>
                </a:solidFill>
                <a:latin typeface="Helvetica Neue"/>
                <a:ea typeface="Helvetica Neue"/>
                <a:cs typeface="Helvetica Neue"/>
                <a:sym typeface="Helvetica Neue"/>
              </a:rPr>
              <a:t>B </a:t>
            </a:r>
            <a:r>
              <a:rPr b="0" i="0" lang="en-US" sz="1800" u="none">
                <a:solidFill>
                  <a:schemeClr val="dk1"/>
                </a:solidFill>
                <a:latin typeface="Helvetica Neue"/>
                <a:ea typeface="Helvetica Neue"/>
                <a:cs typeface="Helvetica Neue"/>
                <a:sym typeface="Helvetica Neue"/>
              </a:rPr>
              <a:t>(2 instances), and </a:t>
            </a:r>
            <a:r>
              <a:rPr b="0" i="1" lang="en-US" sz="1800" u="none">
                <a:solidFill>
                  <a:schemeClr val="dk1"/>
                </a:solidFill>
                <a:latin typeface="Helvetica Neue"/>
                <a:ea typeface="Helvetica Neue"/>
                <a:cs typeface="Helvetica Neue"/>
                <a:sym typeface="Helvetica Neue"/>
              </a:rPr>
              <a:t>C</a:t>
            </a:r>
            <a:r>
              <a:rPr b="0" i="0" lang="en-US" sz="1800" u="none">
                <a:solidFill>
                  <a:schemeClr val="dk1"/>
                </a:solidFill>
                <a:latin typeface="Helvetica Neue"/>
                <a:ea typeface="Helvetica Neue"/>
                <a:cs typeface="Helvetica Neue"/>
                <a:sym typeface="Helvetica Neue"/>
              </a:rPr>
              <a:t> (6 instances).</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Snapshot at time </a:t>
            </a:r>
            <a:r>
              <a:rPr b="0" i="1" lang="en-US" sz="1800" u="none">
                <a:solidFill>
                  <a:schemeClr val="dk1"/>
                </a:solidFill>
                <a:latin typeface="Helvetica Neue"/>
                <a:ea typeface="Helvetica Neue"/>
                <a:cs typeface="Helvetica Neue"/>
                <a:sym typeface="Helvetica Neue"/>
              </a:rPr>
              <a:t>T</a:t>
            </a:r>
            <a:r>
              <a:rPr b="0" baseline="-25000" i="0" lang="en-US" sz="1800" u="none">
                <a:solidFill>
                  <a:schemeClr val="dk1"/>
                </a:solidFill>
                <a:latin typeface="Helvetica Neue"/>
                <a:ea typeface="Helvetica Neue"/>
                <a:cs typeface="Helvetica Neue"/>
                <a:sym typeface="Helvetica Neue"/>
              </a:rPr>
              <a:t>0</a:t>
            </a:r>
            <a:r>
              <a:rPr b="0" i="0" lang="en-US" sz="1800" u="non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			 </a:t>
            </a:r>
            <a:r>
              <a:rPr b="0" i="1" lang="en-US" sz="1800" u="sng">
                <a:solidFill>
                  <a:schemeClr val="dk1"/>
                </a:solidFill>
                <a:latin typeface="Helvetica Neue"/>
                <a:ea typeface="Helvetica Neue"/>
                <a:cs typeface="Helvetica Neue"/>
                <a:sym typeface="Helvetica Neue"/>
              </a:rPr>
              <a:t>Allocation</a:t>
            </a:r>
            <a:r>
              <a:rPr b="0" i="1" lang="en-US" sz="1800" u="none">
                <a:solidFill>
                  <a:schemeClr val="dk1"/>
                </a:solidFill>
                <a:latin typeface="Helvetica Neue"/>
                <a:ea typeface="Helvetica Neue"/>
                <a:cs typeface="Helvetica Neue"/>
                <a:sym typeface="Helvetica Neue"/>
              </a:rPr>
              <a:t>	</a:t>
            </a:r>
            <a:r>
              <a:rPr b="0" i="1" lang="en-US" sz="1800" u="sng">
                <a:solidFill>
                  <a:schemeClr val="dk1"/>
                </a:solidFill>
                <a:latin typeface="Helvetica Neue"/>
                <a:ea typeface="Helvetica Neue"/>
                <a:cs typeface="Helvetica Neue"/>
                <a:sym typeface="Helvetica Neue"/>
              </a:rPr>
              <a:t>Request</a:t>
            </a:r>
            <a:r>
              <a:rPr b="0" i="1" lang="en-US" sz="1800" u="none">
                <a:solidFill>
                  <a:schemeClr val="dk1"/>
                </a:solidFill>
                <a:latin typeface="Helvetica Neue"/>
                <a:ea typeface="Helvetica Neue"/>
                <a:cs typeface="Helvetica Neue"/>
                <a:sym typeface="Helvetica Neue"/>
              </a:rPr>
              <a:t>	</a:t>
            </a:r>
            <a:r>
              <a:rPr b="0" i="1" lang="en-US" sz="1800" u="sng">
                <a:solidFill>
                  <a:schemeClr val="dk1"/>
                </a:solidFill>
                <a:latin typeface="Helvetica Neue"/>
                <a:ea typeface="Helvetica Neue"/>
                <a:cs typeface="Helvetica Neue"/>
                <a:sym typeface="Helvetica Neue"/>
              </a:rPr>
              <a:t>Available</a:t>
            </a:r>
            <a:endParaRPr/>
          </a:p>
          <a:p>
            <a:pPr indent="-342900" lvl="0" marL="342900" marR="0" rtl="0" algn="l">
              <a:lnSpc>
                <a:spcPct val="10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A B C 	A B C 	A B C</a:t>
            </a:r>
            <a:endParaRPr/>
          </a:p>
          <a:p>
            <a:pPr indent="-342900" lvl="0" marL="342900" marR="0" rtl="0" algn="l">
              <a:lnSpc>
                <a:spcPct val="10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0</a:t>
            </a:r>
            <a:r>
              <a:rPr b="0" i="0" lang="en-US" sz="1800" u="none">
                <a:solidFill>
                  <a:schemeClr val="dk1"/>
                </a:solidFill>
                <a:latin typeface="Helvetica Neue"/>
                <a:ea typeface="Helvetica Neue"/>
                <a:cs typeface="Helvetica Neue"/>
                <a:sym typeface="Helvetica Neue"/>
              </a:rPr>
              <a:t>	0 1 0 	0 0 0 	0 0 0</a:t>
            </a:r>
            <a:endParaRPr/>
          </a:p>
          <a:p>
            <a:pPr indent="-342900" lvl="0" marL="342900" marR="0" rtl="0" algn="l">
              <a:lnSpc>
                <a:spcPct val="10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	2 0 0 	2 0 2</a:t>
            </a:r>
            <a:endParaRPr/>
          </a:p>
          <a:p>
            <a:pPr indent="-342900" lvl="0" marL="342900" marR="0" rtl="0" algn="l">
              <a:lnSpc>
                <a:spcPct val="10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2</a:t>
            </a:r>
            <a:r>
              <a:rPr b="0" i="0" lang="en-US" sz="1800" u="none">
                <a:solidFill>
                  <a:schemeClr val="dk1"/>
                </a:solidFill>
                <a:latin typeface="Helvetica Neue"/>
                <a:ea typeface="Helvetica Neue"/>
                <a:cs typeface="Helvetica Neue"/>
                <a:sym typeface="Helvetica Neue"/>
              </a:rPr>
              <a:t>	3 0 3	0 0 0 </a:t>
            </a:r>
            <a:endParaRPr/>
          </a:p>
          <a:p>
            <a:pPr indent="-342900" lvl="0" marL="342900" marR="0" rtl="0" algn="l">
              <a:lnSpc>
                <a:spcPct val="10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3</a:t>
            </a:r>
            <a:r>
              <a:rPr b="0" i="0" lang="en-US" sz="1800" u="none">
                <a:solidFill>
                  <a:schemeClr val="dk1"/>
                </a:solidFill>
                <a:latin typeface="Helvetica Neue"/>
                <a:ea typeface="Helvetica Neue"/>
                <a:cs typeface="Helvetica Neue"/>
                <a:sym typeface="Helvetica Neue"/>
              </a:rPr>
              <a:t>	2 1 1 	1 0 0 </a:t>
            </a:r>
            <a:endParaRPr/>
          </a:p>
          <a:p>
            <a:pPr indent="-342900" lvl="0" marL="342900" marR="0" rtl="0" algn="l">
              <a:lnSpc>
                <a:spcPct val="10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4</a:t>
            </a:r>
            <a:r>
              <a:rPr b="0" i="0" lang="en-US" sz="1800" u="none">
                <a:solidFill>
                  <a:schemeClr val="dk1"/>
                </a:solidFill>
                <a:latin typeface="Helvetica Neue"/>
                <a:ea typeface="Helvetica Neue"/>
                <a:cs typeface="Helvetica Neue"/>
                <a:sym typeface="Helvetica Neue"/>
              </a:rPr>
              <a:t>	0 0 2 	0 0 2</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Sequence &lt;</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0</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2</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3</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4</a:t>
            </a:r>
            <a:r>
              <a:rPr b="0" i="0" lang="en-US" sz="1800" u="none">
                <a:solidFill>
                  <a:schemeClr val="dk1"/>
                </a:solidFill>
                <a:latin typeface="Helvetica Neue"/>
                <a:ea typeface="Helvetica Neue"/>
                <a:cs typeface="Helvetica Neue"/>
                <a:sym typeface="Helvetica Neue"/>
              </a:rPr>
              <a:t>&gt; will result in </a:t>
            </a:r>
            <a:r>
              <a:rPr b="0" i="1" lang="en-US" sz="1800" u="none">
                <a:solidFill>
                  <a:schemeClr val="dk1"/>
                </a:solidFill>
                <a:latin typeface="Helvetica Neue"/>
                <a:ea typeface="Helvetica Neue"/>
                <a:cs typeface="Helvetica Neue"/>
                <a:sym typeface="Helvetica Neue"/>
              </a:rPr>
              <a:t>Finish</a:t>
            </a:r>
            <a:r>
              <a:rPr b="0" i="0" lang="en-US" sz="1800" u="none">
                <a:solidFill>
                  <a:schemeClr val="dk1"/>
                </a:solidFill>
                <a:latin typeface="Helvetica Neue"/>
                <a:ea typeface="Helvetica Neue"/>
                <a:cs typeface="Helvetica Neue"/>
                <a:sym typeface="Helvetica Neue"/>
              </a:rPr>
              <a:t>[</a:t>
            </a:r>
            <a:r>
              <a:rPr b="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 true for all </a:t>
            </a:r>
            <a:r>
              <a:rPr b="0" i="1" lang="en-US" sz="1800" u="none">
                <a:solidFill>
                  <a:schemeClr val="dk1"/>
                </a:solidFill>
                <a:latin typeface="Helvetica Neue"/>
                <a:ea typeface="Helvetica Neue"/>
                <a:cs typeface="Helvetica Neue"/>
                <a:sym typeface="Helvetica Neue"/>
              </a:rPr>
              <a:t>i</a:t>
            </a:r>
            <a:r>
              <a:rPr b="0" i="0" lang="en-US" sz="1800" u="none">
                <a:solidFill>
                  <a:schemeClr val="dk1"/>
                </a:solidFill>
                <a:latin typeface="Helvetica Neue"/>
                <a:ea typeface="Helvetica Neue"/>
                <a:cs typeface="Helvetica Neue"/>
                <a:sym typeface="Helvetica Neue"/>
              </a:rPr>
              <a:t>. </a:t>
            </a:r>
            <a:endParaRPr/>
          </a:p>
          <a:p>
            <a:pPr indent="-240030" lvl="0" marL="342900" marR="0" rtl="0" algn="l">
              <a:lnSpc>
                <a:spcPct val="100000"/>
              </a:lnSpc>
              <a:spcBef>
                <a:spcPts val="63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g3a0c7fb647f_1_8"/>
          <p:cNvSpPr txBox="1"/>
          <p:nvPr>
            <p:ph type="title"/>
          </p:nvPr>
        </p:nvSpPr>
        <p:spPr>
          <a:xfrm>
            <a:off x="685800" y="228600"/>
            <a:ext cx="8077200" cy="6096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Clr>
                <a:srgbClr val="993300"/>
              </a:buClr>
              <a:buSzPts val="3200"/>
              <a:buFont typeface="Helvetica Neue"/>
              <a:buNone/>
            </a:pPr>
            <a:r>
              <a:rPr lang="en-US"/>
              <a:t>Example of Detection Algorithm</a:t>
            </a:r>
            <a:endParaRPr/>
          </a:p>
        </p:txBody>
      </p:sp>
      <p:sp>
        <p:nvSpPr>
          <p:cNvPr id="355" name="Google Shape;355;g3a0c7fb647f_1_8"/>
          <p:cNvSpPr txBox="1"/>
          <p:nvPr>
            <p:ph idx="1" type="body"/>
          </p:nvPr>
        </p:nvSpPr>
        <p:spPr>
          <a:xfrm>
            <a:off x="896112" y="1049450"/>
            <a:ext cx="7351800" cy="4483200"/>
          </a:xfrm>
          <a:prstGeom prst="rect">
            <a:avLst/>
          </a:prstGeom>
        </p:spPr>
        <p:txBody>
          <a:bodyPr anchorCtr="0" anchor="t" bIns="45700" lIns="91425" spcFirstLastPara="1" rIns="91425" wrap="square" tIns="45700">
            <a:noAutofit/>
          </a:bodyPr>
          <a:lstStyle/>
          <a:p>
            <a:pPr indent="0" lvl="0" marL="0" rtl="0" algn="l">
              <a:spcBef>
                <a:spcPts val="630"/>
              </a:spcBef>
              <a:spcAft>
                <a:spcPts val="0"/>
              </a:spcAft>
              <a:buNone/>
            </a:pPr>
            <a:r>
              <a:rPr lang="en-US" sz="1100"/>
              <a:t>Start: Work = (0,0,0).</a:t>
            </a:r>
            <a:endParaRPr sz="1100"/>
          </a:p>
          <a:p>
            <a:pPr indent="0" lvl="0" marL="0" rtl="0" algn="l">
              <a:spcBef>
                <a:spcPts val="630"/>
              </a:spcBef>
              <a:spcAft>
                <a:spcPts val="0"/>
              </a:spcAft>
              <a:buNone/>
            </a:pPr>
            <a:r>
              <a:rPr b="1" lang="en-US" sz="1100"/>
              <a:t>P0: Request = (0,0,0) ≤ Work → can finish.</a:t>
            </a:r>
            <a:endParaRPr b="1" sz="1100"/>
          </a:p>
          <a:p>
            <a:pPr indent="0" lvl="0" marL="0" rtl="0" algn="l">
              <a:spcBef>
                <a:spcPts val="630"/>
              </a:spcBef>
              <a:spcAft>
                <a:spcPts val="0"/>
              </a:spcAft>
              <a:buNone/>
            </a:pPr>
            <a:r>
              <a:rPr lang="en-US" sz="1100"/>
              <a:t>Work = Work + Allocation(P0) = (0,0,0) + (0,1,0) = (0,1,0)</a:t>
            </a:r>
            <a:endParaRPr sz="1100"/>
          </a:p>
          <a:p>
            <a:pPr indent="0" lvl="0" marL="0" rtl="0" algn="l">
              <a:spcBef>
                <a:spcPts val="630"/>
              </a:spcBef>
              <a:spcAft>
                <a:spcPts val="0"/>
              </a:spcAft>
              <a:buNone/>
            </a:pPr>
            <a:r>
              <a:rPr lang="en-US" sz="1100"/>
              <a:t>Finish[P0] = true</a:t>
            </a:r>
            <a:endParaRPr sz="1100"/>
          </a:p>
          <a:p>
            <a:pPr indent="0" lvl="0" marL="0" rtl="0" algn="l">
              <a:spcBef>
                <a:spcPts val="630"/>
              </a:spcBef>
              <a:spcAft>
                <a:spcPts val="0"/>
              </a:spcAft>
              <a:buNone/>
            </a:pPr>
            <a:r>
              <a:t/>
            </a:r>
            <a:endParaRPr sz="1100"/>
          </a:p>
          <a:p>
            <a:pPr indent="0" lvl="0" marL="0" rtl="0" algn="l">
              <a:spcBef>
                <a:spcPts val="630"/>
              </a:spcBef>
              <a:spcAft>
                <a:spcPts val="0"/>
              </a:spcAft>
              <a:buNone/>
            </a:pPr>
            <a:r>
              <a:rPr b="1" lang="en-US" sz="1100"/>
              <a:t>P2: Request = (0,0,0) ≤ Work → can finish.</a:t>
            </a:r>
            <a:endParaRPr b="1" sz="1100"/>
          </a:p>
          <a:p>
            <a:pPr indent="0" lvl="0" marL="0" rtl="0" algn="l">
              <a:spcBef>
                <a:spcPts val="630"/>
              </a:spcBef>
              <a:spcAft>
                <a:spcPts val="0"/>
              </a:spcAft>
              <a:buNone/>
            </a:pPr>
            <a:r>
              <a:rPr lang="en-US" sz="1100"/>
              <a:t>Work = (0,1,0) + (3,0,3) = (3,1,3)</a:t>
            </a:r>
            <a:endParaRPr sz="1100"/>
          </a:p>
          <a:p>
            <a:pPr indent="0" lvl="0" marL="0" rtl="0" algn="l">
              <a:spcBef>
                <a:spcPts val="630"/>
              </a:spcBef>
              <a:spcAft>
                <a:spcPts val="0"/>
              </a:spcAft>
              <a:buNone/>
            </a:pPr>
            <a:r>
              <a:rPr lang="en-US" sz="1100"/>
              <a:t>Finish[P2] = true</a:t>
            </a:r>
            <a:endParaRPr sz="1100"/>
          </a:p>
          <a:p>
            <a:pPr indent="0" lvl="0" marL="0" rtl="0" algn="l">
              <a:spcBef>
                <a:spcPts val="630"/>
              </a:spcBef>
              <a:spcAft>
                <a:spcPts val="0"/>
              </a:spcAft>
              <a:buNone/>
            </a:pPr>
            <a:r>
              <a:t/>
            </a:r>
            <a:endParaRPr sz="1100"/>
          </a:p>
          <a:p>
            <a:pPr indent="0" lvl="0" marL="0" rtl="0" algn="l">
              <a:spcBef>
                <a:spcPts val="630"/>
              </a:spcBef>
              <a:spcAft>
                <a:spcPts val="0"/>
              </a:spcAft>
              <a:buNone/>
            </a:pPr>
            <a:r>
              <a:rPr b="1" lang="en-US" sz="1100"/>
              <a:t>P3: Request = (1,0,0) ≤ Work = (3,1,3) → can finish.</a:t>
            </a:r>
            <a:endParaRPr b="1" sz="1100"/>
          </a:p>
          <a:p>
            <a:pPr indent="0" lvl="0" marL="0" rtl="0" algn="l">
              <a:spcBef>
                <a:spcPts val="630"/>
              </a:spcBef>
              <a:spcAft>
                <a:spcPts val="0"/>
              </a:spcAft>
              <a:buNone/>
            </a:pPr>
            <a:r>
              <a:rPr lang="en-US" sz="1100"/>
              <a:t>Work = (3,1,3) + (2,1,1) = (5,2,4)</a:t>
            </a:r>
            <a:endParaRPr sz="1100"/>
          </a:p>
          <a:p>
            <a:pPr indent="0" lvl="0" marL="0" rtl="0" algn="l">
              <a:spcBef>
                <a:spcPts val="630"/>
              </a:spcBef>
              <a:spcAft>
                <a:spcPts val="0"/>
              </a:spcAft>
              <a:buNone/>
            </a:pPr>
            <a:r>
              <a:rPr lang="en-US" sz="1100"/>
              <a:t>Finish[P3] = true</a:t>
            </a:r>
            <a:endParaRPr sz="1100"/>
          </a:p>
          <a:p>
            <a:pPr indent="0" lvl="0" marL="0" rtl="0" algn="l">
              <a:spcBef>
                <a:spcPts val="630"/>
              </a:spcBef>
              <a:spcAft>
                <a:spcPts val="0"/>
              </a:spcAft>
              <a:buNone/>
            </a:pPr>
            <a:r>
              <a:t/>
            </a:r>
            <a:endParaRPr sz="1100"/>
          </a:p>
          <a:p>
            <a:pPr indent="0" lvl="0" marL="0" rtl="0" algn="l">
              <a:spcBef>
                <a:spcPts val="630"/>
              </a:spcBef>
              <a:spcAft>
                <a:spcPts val="0"/>
              </a:spcAft>
              <a:buNone/>
            </a:pPr>
            <a:r>
              <a:rPr b="1" lang="en-US" sz="1100"/>
              <a:t>P1: Request = (2,0,2) ≤ Work = (5,2,4) → can finish.</a:t>
            </a:r>
            <a:endParaRPr b="1" sz="1100"/>
          </a:p>
          <a:p>
            <a:pPr indent="0" lvl="0" marL="0" rtl="0" algn="l">
              <a:spcBef>
                <a:spcPts val="630"/>
              </a:spcBef>
              <a:spcAft>
                <a:spcPts val="0"/>
              </a:spcAft>
              <a:buNone/>
            </a:pPr>
            <a:r>
              <a:rPr lang="en-US" sz="1100"/>
              <a:t>Work = (5,2,4) + (2,0,0) = (7,2,4)</a:t>
            </a:r>
            <a:endParaRPr sz="1100"/>
          </a:p>
          <a:p>
            <a:pPr indent="0" lvl="0" marL="0" rtl="0" algn="l">
              <a:spcBef>
                <a:spcPts val="630"/>
              </a:spcBef>
              <a:spcAft>
                <a:spcPts val="0"/>
              </a:spcAft>
              <a:buNone/>
            </a:pPr>
            <a:r>
              <a:rPr lang="en-US" sz="1100"/>
              <a:t>Finish[P1] = true</a:t>
            </a:r>
            <a:endParaRPr sz="1100"/>
          </a:p>
          <a:p>
            <a:pPr indent="0" lvl="0" marL="0" rtl="0" algn="l">
              <a:spcBef>
                <a:spcPts val="630"/>
              </a:spcBef>
              <a:spcAft>
                <a:spcPts val="0"/>
              </a:spcAft>
              <a:buNone/>
            </a:pPr>
            <a:r>
              <a:t/>
            </a:r>
            <a:endParaRPr sz="1100"/>
          </a:p>
          <a:p>
            <a:pPr indent="0" lvl="0" marL="0" rtl="0" algn="l">
              <a:spcBef>
                <a:spcPts val="630"/>
              </a:spcBef>
              <a:spcAft>
                <a:spcPts val="0"/>
              </a:spcAft>
              <a:buNone/>
            </a:pPr>
            <a:r>
              <a:rPr b="1" lang="en-US" sz="1100"/>
              <a:t>P4: Request = (0,0,2) ≤ Work = (7,2,4) → can finish.</a:t>
            </a:r>
            <a:endParaRPr b="1" sz="1100"/>
          </a:p>
          <a:p>
            <a:pPr indent="0" lvl="0" marL="0" rtl="0" algn="l">
              <a:spcBef>
                <a:spcPts val="630"/>
              </a:spcBef>
              <a:spcAft>
                <a:spcPts val="0"/>
              </a:spcAft>
              <a:buNone/>
            </a:pPr>
            <a:r>
              <a:rPr lang="en-US" sz="1100"/>
              <a:t>Work = (7,2,4) + (0,0,2) = (7,2,6)</a:t>
            </a:r>
            <a:endParaRPr sz="1100"/>
          </a:p>
          <a:p>
            <a:pPr indent="0" lvl="0" marL="0" rtl="0" algn="l">
              <a:spcBef>
                <a:spcPts val="630"/>
              </a:spcBef>
              <a:spcAft>
                <a:spcPts val="0"/>
              </a:spcAft>
              <a:buNone/>
            </a:pPr>
            <a:r>
              <a:rPr lang="en-US" sz="1100"/>
              <a:t>Finish[P4] = true</a:t>
            </a:r>
            <a:endParaRPr sz="11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359" name="Shape 359"/>
        <p:cNvGrpSpPr/>
        <p:nvPr/>
      </p:nvGrpSpPr>
      <p:grpSpPr>
        <a:xfrm>
          <a:off x="0" y="0"/>
          <a:ext cx="0" cy="0"/>
          <a:chOff x="0" y="0"/>
          <a:chExt cx="0" cy="0"/>
        </a:xfrm>
      </p:grpSpPr>
      <p:sp>
        <p:nvSpPr>
          <p:cNvPr id="360" name="Google Shape;360;p40"/>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Example (Cont.)</a:t>
            </a:r>
            <a:endParaRPr/>
          </a:p>
        </p:txBody>
      </p:sp>
      <p:sp>
        <p:nvSpPr>
          <p:cNvPr id="361" name="Google Shape;361;p40"/>
          <p:cNvSpPr txBox="1"/>
          <p:nvPr>
            <p:ph idx="1" type="body"/>
          </p:nvPr>
        </p:nvSpPr>
        <p:spPr>
          <a:xfrm>
            <a:off x="827087" y="1282700"/>
            <a:ext cx="7351712" cy="4483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2</a:t>
            </a:r>
            <a:r>
              <a:rPr b="0" i="0" lang="en-US" sz="1800" u="none">
                <a:solidFill>
                  <a:schemeClr val="dk1"/>
                </a:solidFill>
                <a:latin typeface="Helvetica Neue"/>
                <a:ea typeface="Helvetica Neue"/>
                <a:cs typeface="Helvetica Neue"/>
                <a:sym typeface="Helvetica Neue"/>
              </a:rPr>
              <a:t> requests an additional instance of type</a:t>
            </a:r>
            <a:r>
              <a:rPr b="0" i="1" lang="en-US" sz="1800" u="none">
                <a:solidFill>
                  <a:schemeClr val="dk1"/>
                </a:solidFill>
                <a:latin typeface="Helvetica Neue"/>
                <a:ea typeface="Helvetica Neue"/>
                <a:cs typeface="Helvetica Neue"/>
                <a:sym typeface="Helvetica Neue"/>
              </a:rPr>
              <a:t> C</a:t>
            </a:r>
            <a:r>
              <a:rPr b="0" i="0" lang="en-US" sz="1800" u="non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			</a:t>
            </a:r>
            <a:r>
              <a:rPr b="0" i="1" lang="en-US" sz="1800" u="sng">
                <a:solidFill>
                  <a:schemeClr val="dk1"/>
                </a:solidFill>
                <a:latin typeface="Helvetica Neue"/>
                <a:ea typeface="Helvetica Neue"/>
                <a:cs typeface="Helvetica Neue"/>
                <a:sym typeface="Helvetica Neue"/>
              </a:rPr>
              <a:t>Request</a:t>
            </a:r>
            <a:endParaRPr/>
          </a:p>
          <a:p>
            <a:pPr indent="-342900" lvl="0" marL="342900" marR="0" rtl="0" algn="l">
              <a:lnSpc>
                <a:spcPct val="100000"/>
              </a:lnSpc>
              <a:spcBef>
                <a:spcPts val="630"/>
              </a:spcBef>
              <a:spcAft>
                <a:spcPts val="0"/>
              </a:spcAft>
              <a:buClr>
                <a:srgbClr val="993300"/>
              </a:buClr>
              <a:buSzPts val="1620"/>
              <a:buFont typeface="Arial"/>
              <a:buNone/>
            </a:pPr>
            <a:r>
              <a:rPr b="0" i="1" lang="en-US" sz="1800" u="none">
                <a:solidFill>
                  <a:schemeClr val="dk1"/>
                </a:solidFill>
                <a:latin typeface="Helvetica Neue"/>
                <a:ea typeface="Helvetica Neue"/>
                <a:cs typeface="Helvetica Neue"/>
                <a:sym typeface="Helvetica Neue"/>
              </a:rPr>
              <a:t>			A B C</a:t>
            </a:r>
            <a:endParaRPr/>
          </a:p>
          <a:p>
            <a:pPr indent="-342900" lvl="0" marL="342900" marR="0" rtl="0" algn="l">
              <a:lnSpc>
                <a:spcPct val="10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0</a:t>
            </a:r>
            <a:r>
              <a:rPr b="0" i="0" lang="en-US" sz="1800" u="none">
                <a:solidFill>
                  <a:schemeClr val="dk1"/>
                </a:solidFill>
                <a:latin typeface="Helvetica Neue"/>
                <a:ea typeface="Helvetica Neue"/>
                <a:cs typeface="Helvetica Neue"/>
                <a:sym typeface="Helvetica Neue"/>
              </a:rPr>
              <a:t>	0 0 0</a:t>
            </a:r>
            <a:endParaRPr/>
          </a:p>
          <a:p>
            <a:pPr indent="-342900" lvl="0" marL="342900" marR="0" rtl="0" algn="l">
              <a:lnSpc>
                <a:spcPct val="10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1</a:t>
            </a:r>
            <a:r>
              <a:rPr b="0" i="0" lang="en-US" sz="1800" u="none">
                <a:solidFill>
                  <a:schemeClr val="dk1"/>
                </a:solidFill>
                <a:latin typeface="Helvetica Neue"/>
                <a:ea typeface="Helvetica Neue"/>
                <a:cs typeface="Helvetica Neue"/>
                <a:sym typeface="Helvetica Neue"/>
              </a:rPr>
              <a:t>	2 0 1</a:t>
            </a:r>
            <a:endParaRPr/>
          </a:p>
          <a:p>
            <a:pPr indent="-342900" lvl="0" marL="342900" marR="0" rtl="0" algn="l">
              <a:lnSpc>
                <a:spcPct val="10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2</a:t>
            </a:r>
            <a:r>
              <a:rPr b="0" i="0" lang="en-US" sz="1800" u="none">
                <a:solidFill>
                  <a:schemeClr val="dk1"/>
                </a:solidFill>
                <a:latin typeface="Helvetica Neue"/>
                <a:ea typeface="Helvetica Neue"/>
                <a:cs typeface="Helvetica Neue"/>
                <a:sym typeface="Helvetica Neue"/>
              </a:rPr>
              <a:t>	0 0 1</a:t>
            </a:r>
            <a:endParaRPr/>
          </a:p>
          <a:p>
            <a:pPr indent="-342900" lvl="0" marL="342900" marR="0" rtl="0" algn="l">
              <a:lnSpc>
                <a:spcPct val="10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3</a:t>
            </a:r>
            <a:r>
              <a:rPr b="0" i="0" lang="en-US" sz="1800" u="none">
                <a:solidFill>
                  <a:schemeClr val="dk1"/>
                </a:solidFill>
                <a:latin typeface="Helvetica Neue"/>
                <a:ea typeface="Helvetica Neue"/>
                <a:cs typeface="Helvetica Neue"/>
                <a:sym typeface="Helvetica Neue"/>
              </a:rPr>
              <a:t>	1 0 0 </a:t>
            </a:r>
            <a:endParaRPr/>
          </a:p>
          <a:p>
            <a:pPr indent="-342900" lvl="0" marL="342900" marR="0" rtl="0" algn="l">
              <a:lnSpc>
                <a:spcPct val="10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		</a:t>
            </a:r>
            <a:r>
              <a:rPr b="0" i="1" lang="en-US" sz="1800" u="none">
                <a:solidFill>
                  <a:schemeClr val="dk1"/>
                </a:solidFill>
                <a:latin typeface="Helvetica Neue"/>
                <a:ea typeface="Helvetica Neue"/>
                <a:cs typeface="Helvetica Neue"/>
                <a:sym typeface="Helvetica Neue"/>
              </a:rPr>
              <a:t>P</a:t>
            </a:r>
            <a:r>
              <a:rPr b="0" baseline="-25000" i="0" lang="en-US" sz="1800" u="none">
                <a:solidFill>
                  <a:schemeClr val="dk1"/>
                </a:solidFill>
                <a:latin typeface="Helvetica Neue"/>
                <a:ea typeface="Helvetica Neue"/>
                <a:cs typeface="Helvetica Neue"/>
                <a:sym typeface="Helvetica Neue"/>
              </a:rPr>
              <a:t>4</a:t>
            </a:r>
            <a:r>
              <a:rPr b="0" i="0" lang="en-US" sz="1800" u="none">
                <a:solidFill>
                  <a:schemeClr val="dk1"/>
                </a:solidFill>
                <a:latin typeface="Helvetica Neue"/>
                <a:ea typeface="Helvetica Neue"/>
                <a:cs typeface="Helvetica Neue"/>
                <a:sym typeface="Helvetica Neue"/>
              </a:rPr>
              <a:t>	0 0 2</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State of system?</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Can reclaim resources held by process </a:t>
            </a:r>
            <a:r>
              <a:rPr b="0" i="1" lang="en-US" sz="1800" u="none" cap="none" strike="noStrike">
                <a:solidFill>
                  <a:schemeClr val="dk1"/>
                </a:solidFill>
                <a:latin typeface="Helvetica Neue"/>
                <a:ea typeface="Helvetica Neue"/>
                <a:cs typeface="Helvetica Neue"/>
                <a:sym typeface="Helvetica Neue"/>
              </a:rPr>
              <a:t>P</a:t>
            </a:r>
            <a:r>
              <a:rPr b="0" baseline="-25000" i="0" lang="en-US" sz="1800" u="none" cap="none" strike="noStrike">
                <a:solidFill>
                  <a:schemeClr val="dk1"/>
                </a:solidFill>
                <a:latin typeface="Helvetica Neue"/>
                <a:ea typeface="Helvetica Neue"/>
                <a:cs typeface="Helvetica Neue"/>
                <a:sym typeface="Helvetica Neue"/>
              </a:rPr>
              <a:t>0</a:t>
            </a:r>
            <a:r>
              <a:rPr b="0" i="0" lang="en-US" sz="1800" u="none" cap="none" strike="noStrike">
                <a:solidFill>
                  <a:schemeClr val="dk1"/>
                </a:solidFill>
                <a:latin typeface="Helvetica Neue"/>
                <a:ea typeface="Helvetica Neue"/>
                <a:cs typeface="Helvetica Neue"/>
                <a:sym typeface="Helvetica Neue"/>
              </a:rPr>
              <a:t>, but insufficient resources to fulfill other processes; requests.</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Deadlock exists, consisting of processes </a:t>
            </a:r>
            <a:r>
              <a:rPr b="0" i="1" lang="en-US" sz="1800" u="none" cap="none" strike="noStrike">
                <a:solidFill>
                  <a:schemeClr val="dk1"/>
                </a:solidFill>
                <a:latin typeface="Helvetica Neue"/>
                <a:ea typeface="Helvetica Neue"/>
                <a:cs typeface="Helvetica Neue"/>
                <a:sym typeface="Helvetica Neue"/>
              </a:rPr>
              <a:t>P</a:t>
            </a:r>
            <a:r>
              <a:rPr b="0" baseline="-25000" i="0" lang="en-US" sz="1800" u="none" cap="none" strike="noStrike">
                <a:solidFill>
                  <a:schemeClr val="dk1"/>
                </a:solidFill>
                <a:latin typeface="Helvetica Neue"/>
                <a:ea typeface="Helvetica Neue"/>
                <a:cs typeface="Helvetica Neue"/>
                <a:sym typeface="Helvetica Neue"/>
              </a:rPr>
              <a:t>1</a:t>
            </a:r>
            <a:r>
              <a:rPr b="0" i="0" lang="en-US" sz="1800" u="none" cap="none" strike="noStrike">
                <a:solidFill>
                  <a:schemeClr val="dk1"/>
                </a:solidFill>
                <a:latin typeface="Helvetica Neue"/>
                <a:ea typeface="Helvetica Neue"/>
                <a:cs typeface="Helvetica Neue"/>
                <a:sym typeface="Helvetica Neue"/>
              </a:rPr>
              <a:t>, </a:t>
            </a:r>
            <a:r>
              <a:rPr b="0" baseline="-2500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P</a:t>
            </a:r>
            <a:r>
              <a:rPr b="0" baseline="-25000" i="0" lang="en-US" sz="1800" u="none" cap="none" strike="noStrike">
                <a:solidFill>
                  <a:schemeClr val="dk1"/>
                </a:solidFill>
                <a:latin typeface="Helvetica Neue"/>
                <a:ea typeface="Helvetica Neue"/>
                <a:cs typeface="Helvetica Neue"/>
                <a:sym typeface="Helvetica Neue"/>
              </a:rPr>
              <a:t>2</a:t>
            </a:r>
            <a:r>
              <a:rPr b="0" i="0" lang="en-US" sz="1800" u="none" cap="none" strike="noStrike">
                <a:solidFill>
                  <a:schemeClr val="dk1"/>
                </a:solidFill>
                <a:latin typeface="Helvetica Neue"/>
                <a:ea typeface="Helvetica Neue"/>
                <a:cs typeface="Helvetica Neue"/>
                <a:sym typeface="Helvetica Neue"/>
              </a:rPr>
              <a:t>, </a:t>
            </a:r>
            <a:r>
              <a:rPr b="0" i="1" lang="en-US" sz="1800" u="none" cap="none" strike="noStrike">
                <a:solidFill>
                  <a:schemeClr val="dk1"/>
                </a:solidFill>
                <a:latin typeface="Helvetica Neue"/>
                <a:ea typeface="Helvetica Neue"/>
                <a:cs typeface="Helvetica Neue"/>
                <a:sym typeface="Helvetica Neue"/>
              </a:rPr>
              <a:t>P</a:t>
            </a:r>
            <a:r>
              <a:rPr b="0" baseline="-25000" i="0" lang="en-US" sz="1800" u="none" cap="none" strike="noStrike">
                <a:solidFill>
                  <a:schemeClr val="dk1"/>
                </a:solidFill>
                <a:latin typeface="Helvetica Neue"/>
                <a:ea typeface="Helvetica Neue"/>
                <a:cs typeface="Helvetica Neue"/>
                <a:sym typeface="Helvetica Neue"/>
              </a:rPr>
              <a:t>3</a:t>
            </a:r>
            <a:r>
              <a:rPr b="0" i="0" lang="en-US" sz="1800" u="none" cap="none" strike="noStrike">
                <a:solidFill>
                  <a:schemeClr val="dk1"/>
                </a:solidFill>
                <a:latin typeface="Helvetica Neue"/>
                <a:ea typeface="Helvetica Neue"/>
                <a:cs typeface="Helvetica Neue"/>
                <a:sym typeface="Helvetica Neue"/>
              </a:rPr>
              <a:t>, and </a:t>
            </a:r>
            <a:r>
              <a:rPr b="0" i="1" lang="en-US" sz="1800" u="none" cap="none" strike="noStrike">
                <a:solidFill>
                  <a:schemeClr val="dk1"/>
                </a:solidFill>
                <a:latin typeface="Helvetica Neue"/>
                <a:ea typeface="Helvetica Neue"/>
                <a:cs typeface="Helvetica Neue"/>
                <a:sym typeface="Helvetica Neue"/>
              </a:rPr>
              <a:t>P</a:t>
            </a:r>
            <a:r>
              <a:rPr b="0" baseline="-25000" i="0" lang="en-US" sz="1800" u="none" cap="none" strike="noStrike">
                <a:solidFill>
                  <a:schemeClr val="dk1"/>
                </a:solidFill>
                <a:latin typeface="Helvetica Neue"/>
                <a:ea typeface="Helvetica Neue"/>
                <a:cs typeface="Helvetica Neue"/>
                <a:sym typeface="Helvetica Neue"/>
              </a:rPr>
              <a:t>4</a:t>
            </a:r>
            <a:r>
              <a:rPr b="0" i="0" lang="en-US" sz="1800" u="none" cap="none" strike="noStrike">
                <a:solidFill>
                  <a:schemeClr val="dk1"/>
                </a:solidFill>
                <a:latin typeface="Helvetica Neue"/>
                <a:ea typeface="Helvetica Neue"/>
                <a:cs typeface="Helvetica Neue"/>
                <a:sym typeface="Helvetica Neue"/>
              </a:rPr>
              <a: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g3a0c7fb647f_1_23"/>
          <p:cNvSpPr txBox="1"/>
          <p:nvPr>
            <p:ph type="title"/>
          </p:nvPr>
        </p:nvSpPr>
        <p:spPr>
          <a:xfrm>
            <a:off x="685800" y="228600"/>
            <a:ext cx="8077200" cy="6096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rPr lang="en-US"/>
              <a:t>Example of Detection Algorithm</a:t>
            </a:r>
            <a:endParaRPr/>
          </a:p>
        </p:txBody>
      </p:sp>
      <p:sp>
        <p:nvSpPr>
          <p:cNvPr id="369" name="Google Shape;369;g3a0c7fb647f_1_23"/>
          <p:cNvSpPr txBox="1"/>
          <p:nvPr>
            <p:ph idx="1" type="body"/>
          </p:nvPr>
        </p:nvSpPr>
        <p:spPr>
          <a:xfrm>
            <a:off x="896112" y="1049450"/>
            <a:ext cx="7351800" cy="4483200"/>
          </a:xfrm>
          <a:prstGeom prst="rect">
            <a:avLst/>
          </a:prstGeom>
        </p:spPr>
        <p:txBody>
          <a:bodyPr anchorCtr="0" anchor="t" bIns="45700" lIns="91425" spcFirstLastPara="1" rIns="91425" wrap="square" tIns="45700">
            <a:noAutofit/>
          </a:bodyPr>
          <a:lstStyle/>
          <a:p>
            <a:pPr indent="0" lvl="0" marL="0" rtl="0" algn="l">
              <a:spcBef>
                <a:spcPts val="630"/>
              </a:spcBef>
              <a:spcAft>
                <a:spcPts val="0"/>
              </a:spcAft>
              <a:buNone/>
            </a:pPr>
            <a:r>
              <a:rPr lang="en-US" sz="1100"/>
              <a:t>Start: Work = (0,0,0).</a:t>
            </a:r>
            <a:endParaRPr sz="1100"/>
          </a:p>
          <a:p>
            <a:pPr indent="0" lvl="0" marL="0" rtl="0" algn="l">
              <a:spcBef>
                <a:spcPts val="630"/>
              </a:spcBef>
              <a:spcAft>
                <a:spcPts val="0"/>
              </a:spcAft>
              <a:buNone/>
            </a:pPr>
            <a:r>
              <a:rPr b="1" lang="en-US" sz="1100"/>
              <a:t>P0: Request = (0,0,0) ≤ Work → can finish.</a:t>
            </a:r>
            <a:endParaRPr b="1" sz="1100"/>
          </a:p>
          <a:p>
            <a:pPr indent="0" lvl="0" marL="0" rtl="0" algn="l">
              <a:spcBef>
                <a:spcPts val="630"/>
              </a:spcBef>
              <a:spcAft>
                <a:spcPts val="0"/>
              </a:spcAft>
              <a:buNone/>
            </a:pPr>
            <a:r>
              <a:rPr lang="en-US" sz="1100"/>
              <a:t>Work = Work + Allocation(P0) = (0,0,0) + (0,1,0) = (0,1,0)</a:t>
            </a:r>
            <a:endParaRPr sz="1100"/>
          </a:p>
          <a:p>
            <a:pPr indent="0" lvl="0" marL="0" rtl="0" algn="l">
              <a:spcBef>
                <a:spcPts val="630"/>
              </a:spcBef>
              <a:spcAft>
                <a:spcPts val="0"/>
              </a:spcAft>
              <a:buNone/>
            </a:pPr>
            <a:r>
              <a:rPr lang="en-US" sz="1100"/>
              <a:t>Finish[P0] = true</a:t>
            </a:r>
            <a:endParaRPr sz="1100"/>
          </a:p>
          <a:p>
            <a:pPr indent="0" lvl="0" marL="0" rtl="0" algn="l">
              <a:spcBef>
                <a:spcPts val="630"/>
              </a:spcBef>
              <a:spcAft>
                <a:spcPts val="0"/>
              </a:spcAft>
              <a:buNone/>
            </a:pPr>
            <a:r>
              <a:t/>
            </a:r>
            <a:endParaRPr sz="1100"/>
          </a:p>
          <a:p>
            <a:pPr indent="0" lvl="0" marL="0" rtl="0" algn="l">
              <a:spcBef>
                <a:spcPts val="630"/>
              </a:spcBef>
              <a:spcAft>
                <a:spcPts val="0"/>
              </a:spcAft>
              <a:buNone/>
            </a:pPr>
            <a:r>
              <a:rPr b="1" lang="en-US" sz="1100"/>
              <a:t>P2: Request = (0,0,1) ≤ Work </a:t>
            </a:r>
            <a:r>
              <a:rPr b="1" lang="en-US" sz="1100"/>
              <a:t>(0,1,0) </a:t>
            </a:r>
            <a:r>
              <a:rPr b="1" lang="en-US" sz="1100"/>
              <a:t>→ can no run.</a:t>
            </a:r>
            <a:endParaRPr b="1" sz="1100"/>
          </a:p>
          <a:p>
            <a:pPr indent="0" lvl="0" marL="0" rtl="0" algn="l">
              <a:spcBef>
                <a:spcPts val="630"/>
              </a:spcBef>
              <a:spcAft>
                <a:spcPts val="0"/>
              </a:spcAft>
              <a:buClr>
                <a:schemeClr val="dk1"/>
              </a:buClr>
              <a:buSzPts val="1100"/>
              <a:buFont typeface="Arial"/>
              <a:buNone/>
            </a:pPr>
            <a:r>
              <a:rPr lang="en-US" sz="1100"/>
              <a:t>Finish[P2] = false</a:t>
            </a:r>
            <a:endParaRPr b="1" sz="1100"/>
          </a:p>
          <a:p>
            <a:pPr indent="0" lvl="0" marL="0" rtl="0" algn="l">
              <a:spcBef>
                <a:spcPts val="630"/>
              </a:spcBef>
              <a:spcAft>
                <a:spcPts val="0"/>
              </a:spcAft>
              <a:buNone/>
            </a:pPr>
            <a:r>
              <a:t/>
            </a:r>
            <a:endParaRPr sz="1100"/>
          </a:p>
          <a:p>
            <a:pPr indent="0" lvl="0" marL="0" rtl="0" algn="l">
              <a:spcBef>
                <a:spcPts val="630"/>
              </a:spcBef>
              <a:spcAft>
                <a:spcPts val="0"/>
              </a:spcAft>
              <a:buNone/>
            </a:pPr>
            <a:r>
              <a:rPr b="1" lang="en-US" sz="1100"/>
              <a:t>P3: Request = (1,0,0) ≤ </a:t>
            </a:r>
            <a:r>
              <a:rPr b="1" lang="en-US" sz="1100"/>
              <a:t>Work (0,1,0)</a:t>
            </a:r>
            <a:r>
              <a:rPr b="1" lang="en-US" sz="1100"/>
              <a:t> → </a:t>
            </a:r>
            <a:r>
              <a:rPr b="1" lang="en-US" sz="1100"/>
              <a:t>can no run.</a:t>
            </a:r>
            <a:endParaRPr sz="1100"/>
          </a:p>
          <a:p>
            <a:pPr indent="0" lvl="0" marL="0" rtl="0" algn="l">
              <a:spcBef>
                <a:spcPts val="630"/>
              </a:spcBef>
              <a:spcAft>
                <a:spcPts val="0"/>
              </a:spcAft>
              <a:buNone/>
            </a:pPr>
            <a:r>
              <a:rPr lang="en-US" sz="1100"/>
              <a:t>Finish[P3] = false</a:t>
            </a:r>
            <a:endParaRPr sz="1100"/>
          </a:p>
          <a:p>
            <a:pPr indent="0" lvl="0" marL="0" rtl="0" algn="l">
              <a:spcBef>
                <a:spcPts val="630"/>
              </a:spcBef>
              <a:spcAft>
                <a:spcPts val="0"/>
              </a:spcAft>
              <a:buNone/>
            </a:pPr>
            <a:r>
              <a:t/>
            </a:r>
            <a:endParaRPr sz="1100"/>
          </a:p>
          <a:p>
            <a:pPr indent="0" lvl="0" marL="0" rtl="0" algn="l">
              <a:spcBef>
                <a:spcPts val="630"/>
              </a:spcBef>
              <a:spcAft>
                <a:spcPts val="0"/>
              </a:spcAft>
              <a:buNone/>
            </a:pPr>
            <a:r>
              <a:rPr b="1" lang="en-US" sz="1100"/>
              <a:t>P1: Request = (2,0,2) ≤ </a:t>
            </a:r>
            <a:r>
              <a:rPr b="1" lang="en-US" sz="1100"/>
              <a:t>Work (0,1,0)</a:t>
            </a:r>
            <a:r>
              <a:rPr b="1" lang="en-US" sz="1100"/>
              <a:t> → </a:t>
            </a:r>
            <a:r>
              <a:rPr b="1" lang="en-US" sz="1100"/>
              <a:t>can no run.</a:t>
            </a:r>
            <a:endParaRPr sz="1100"/>
          </a:p>
          <a:p>
            <a:pPr indent="0" lvl="0" marL="0" rtl="0" algn="l">
              <a:spcBef>
                <a:spcPts val="630"/>
              </a:spcBef>
              <a:spcAft>
                <a:spcPts val="0"/>
              </a:spcAft>
              <a:buNone/>
            </a:pPr>
            <a:r>
              <a:rPr lang="en-US" sz="1100"/>
              <a:t>Finish[P1] = false</a:t>
            </a:r>
            <a:endParaRPr sz="1100"/>
          </a:p>
          <a:p>
            <a:pPr indent="0" lvl="0" marL="0" rtl="0" algn="l">
              <a:spcBef>
                <a:spcPts val="630"/>
              </a:spcBef>
              <a:spcAft>
                <a:spcPts val="0"/>
              </a:spcAft>
              <a:buNone/>
            </a:pPr>
            <a:r>
              <a:t/>
            </a:r>
            <a:endParaRPr sz="1100"/>
          </a:p>
          <a:p>
            <a:pPr indent="0" lvl="0" marL="0" rtl="0" algn="l">
              <a:spcBef>
                <a:spcPts val="630"/>
              </a:spcBef>
              <a:spcAft>
                <a:spcPts val="0"/>
              </a:spcAft>
              <a:buNone/>
            </a:pPr>
            <a:r>
              <a:rPr b="1" lang="en-US" sz="1100"/>
              <a:t>P4: Request = (0,0,2) ≤ </a:t>
            </a:r>
            <a:r>
              <a:rPr b="1" lang="en-US" sz="1100"/>
              <a:t>Work (0,1,0)</a:t>
            </a:r>
            <a:r>
              <a:rPr b="1" lang="en-US" sz="1100"/>
              <a:t> → </a:t>
            </a:r>
            <a:r>
              <a:rPr b="1" lang="en-US" sz="1100"/>
              <a:t>can no run.</a:t>
            </a:r>
            <a:endParaRPr sz="1100"/>
          </a:p>
          <a:p>
            <a:pPr indent="0" lvl="0" marL="0" rtl="0" algn="l">
              <a:spcBef>
                <a:spcPts val="630"/>
              </a:spcBef>
              <a:spcAft>
                <a:spcPts val="0"/>
              </a:spcAft>
              <a:buNone/>
            </a:pPr>
            <a:r>
              <a:rPr lang="en-US" sz="1100"/>
              <a:t>Finish[P4] = false</a:t>
            </a:r>
            <a:endParaRPr sz="11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373" name="Shape 373"/>
        <p:cNvGrpSpPr/>
        <p:nvPr/>
      </p:nvGrpSpPr>
      <p:grpSpPr>
        <a:xfrm>
          <a:off x="0" y="0"/>
          <a:ext cx="0" cy="0"/>
          <a:chOff x="0" y="0"/>
          <a:chExt cx="0" cy="0"/>
        </a:xfrm>
      </p:grpSpPr>
      <p:sp>
        <p:nvSpPr>
          <p:cNvPr id="374" name="Google Shape;374;p41"/>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Detection-Algorithm Usage</a:t>
            </a:r>
            <a:endParaRPr/>
          </a:p>
        </p:txBody>
      </p:sp>
      <p:sp>
        <p:nvSpPr>
          <p:cNvPr id="375" name="Google Shape;375;p41"/>
          <p:cNvSpPr txBox="1"/>
          <p:nvPr>
            <p:ph idx="1" type="body"/>
          </p:nvPr>
        </p:nvSpPr>
        <p:spPr>
          <a:xfrm>
            <a:off x="827087" y="1282700"/>
            <a:ext cx="7351712" cy="4483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When, and how often, to invoke depends on:</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How often a deadlock is likely to occur?</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How many processes will need to be rolled back?</a:t>
            </a:r>
            <a:endParaRPr/>
          </a:p>
          <a:p>
            <a:pPr indent="-228600" lvl="2" marL="1085850" marR="0" rtl="0" algn="l">
              <a:lnSpc>
                <a:spcPct val="100000"/>
              </a:lnSpc>
              <a:spcBef>
                <a:spcPts val="630"/>
              </a:spcBef>
              <a:spcAft>
                <a:spcPts val="0"/>
              </a:spcAft>
              <a:buClr>
                <a:srgbClr val="009900"/>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one for each disjoint cycle</a:t>
            </a:r>
            <a:br>
              <a:rPr b="0" i="0" lang="en-US" sz="1800" u="none" cap="none" strike="noStrike">
                <a:solidFill>
                  <a:schemeClr val="dk1"/>
                </a:solidFill>
                <a:latin typeface="Helvetica Neue"/>
                <a:ea typeface="Helvetica Neue"/>
                <a:cs typeface="Helvetica Neue"/>
                <a:sym typeface="Helvetica Neue"/>
              </a:rPr>
            </a:b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If detection algorithm is invoked arbitrarily, there may be many cycles in the resource graph and so we would not be able to tell which of the many deadlocked processes “caused” the deadlock.</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379" name="Shape 379"/>
        <p:cNvGrpSpPr/>
        <p:nvPr/>
      </p:nvGrpSpPr>
      <p:grpSpPr>
        <a:xfrm>
          <a:off x="0" y="0"/>
          <a:ext cx="0" cy="0"/>
          <a:chOff x="0" y="0"/>
          <a:chExt cx="0" cy="0"/>
        </a:xfrm>
      </p:grpSpPr>
      <p:sp>
        <p:nvSpPr>
          <p:cNvPr id="380" name="Google Shape;380;p42"/>
          <p:cNvSpPr txBox="1"/>
          <p:nvPr>
            <p:ph type="title"/>
          </p:nvPr>
        </p:nvSpPr>
        <p:spPr>
          <a:xfrm>
            <a:off x="504825" y="350837"/>
            <a:ext cx="8763000" cy="4572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2700"/>
              <a:buFont typeface="Helvetica Neue"/>
              <a:buNone/>
            </a:pPr>
            <a:br>
              <a:rPr b="1" i="0" lang="en-US" sz="2700" u="none">
                <a:solidFill>
                  <a:srgbClr val="993300"/>
                </a:solidFill>
                <a:latin typeface="Helvetica Neue"/>
                <a:ea typeface="Helvetica Neue"/>
                <a:cs typeface="Helvetica Neue"/>
                <a:sym typeface="Helvetica Neue"/>
              </a:rPr>
            </a:br>
            <a:r>
              <a:rPr b="1" i="0" lang="en-US" sz="2700" u="none">
                <a:solidFill>
                  <a:srgbClr val="993300"/>
                </a:solidFill>
                <a:latin typeface="Helvetica Neue"/>
                <a:ea typeface="Helvetica Neue"/>
                <a:cs typeface="Helvetica Neue"/>
                <a:sym typeface="Helvetica Neue"/>
              </a:rPr>
              <a:t>Recovery from Deadlock:  Process Termination</a:t>
            </a:r>
            <a:endParaRPr/>
          </a:p>
        </p:txBody>
      </p:sp>
      <p:sp>
        <p:nvSpPr>
          <p:cNvPr id="381" name="Google Shape;381;p42"/>
          <p:cNvSpPr txBox="1"/>
          <p:nvPr>
            <p:ph idx="1" type="body"/>
          </p:nvPr>
        </p:nvSpPr>
        <p:spPr>
          <a:xfrm>
            <a:off x="827087" y="1282700"/>
            <a:ext cx="7351712" cy="4483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Abort all deadlocked processes.</a:t>
            </a:r>
            <a:br>
              <a:rPr b="0" i="0" lang="en-US" sz="1800" u="none">
                <a:solidFill>
                  <a:schemeClr val="dk1"/>
                </a:solidFill>
                <a:latin typeface="Helvetica Neue"/>
                <a:ea typeface="Helvetica Neue"/>
                <a:cs typeface="Helvetica Neue"/>
                <a:sym typeface="Helvetica Neue"/>
              </a:rPr>
            </a:b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Abort one process at a time until the deadlock cycle is eliminated.</a:t>
            </a:r>
            <a:br>
              <a:rPr b="0" i="0" lang="en-US" sz="1800" u="none">
                <a:solidFill>
                  <a:schemeClr val="dk1"/>
                </a:solidFill>
                <a:latin typeface="Helvetica Neue"/>
                <a:ea typeface="Helvetica Neue"/>
                <a:cs typeface="Helvetica Neue"/>
                <a:sym typeface="Helvetica Neue"/>
              </a:rPr>
            </a:b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In which order should we choose to abort?</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Priority of the process.</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How long process has computed, and how much longer to completion.</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Resources the process has used.</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Resources process needs to complete.</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How many processes will need to be terminated. </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Is process interactive or batch?</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385" name="Shape 385"/>
        <p:cNvGrpSpPr/>
        <p:nvPr/>
      </p:nvGrpSpPr>
      <p:grpSpPr>
        <a:xfrm>
          <a:off x="0" y="0"/>
          <a:ext cx="0" cy="0"/>
          <a:chOff x="0" y="0"/>
          <a:chExt cx="0" cy="0"/>
        </a:xfrm>
      </p:grpSpPr>
      <p:sp>
        <p:nvSpPr>
          <p:cNvPr id="386" name="Google Shape;386;p43"/>
          <p:cNvSpPr txBox="1"/>
          <p:nvPr>
            <p:ph type="title"/>
          </p:nvPr>
        </p:nvSpPr>
        <p:spPr>
          <a:xfrm>
            <a:off x="852487" y="312737"/>
            <a:ext cx="8020050" cy="4572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2700"/>
              <a:buFont typeface="Helvetica Neue"/>
              <a:buNone/>
            </a:pPr>
            <a:r>
              <a:rPr b="1" i="0" lang="en-US" sz="2700" u="none">
                <a:solidFill>
                  <a:srgbClr val="993300"/>
                </a:solidFill>
                <a:latin typeface="Helvetica Neue"/>
                <a:ea typeface="Helvetica Neue"/>
                <a:cs typeface="Helvetica Neue"/>
                <a:sym typeface="Helvetica Neue"/>
              </a:rPr>
              <a:t>Recovery from Deadlock: Resource Preemption</a:t>
            </a:r>
            <a:endParaRPr/>
          </a:p>
        </p:txBody>
      </p:sp>
      <p:sp>
        <p:nvSpPr>
          <p:cNvPr id="387" name="Google Shape;387;p43"/>
          <p:cNvSpPr txBox="1"/>
          <p:nvPr>
            <p:ph idx="1" type="body"/>
          </p:nvPr>
        </p:nvSpPr>
        <p:spPr>
          <a:xfrm>
            <a:off x="827087" y="1482725"/>
            <a:ext cx="7351712" cy="4483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Selecting a victim – minimize cost.</a:t>
            </a:r>
            <a:br>
              <a:rPr b="0" i="0" lang="en-US" sz="1800" u="none">
                <a:solidFill>
                  <a:schemeClr val="dk1"/>
                </a:solidFill>
                <a:latin typeface="Helvetica Neue"/>
                <a:ea typeface="Helvetica Neue"/>
                <a:cs typeface="Helvetica Neue"/>
                <a:sym typeface="Helvetica Neue"/>
              </a:rPr>
            </a:b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Rollback – return to some safe state, restart process for that state.</a:t>
            </a:r>
            <a:br>
              <a:rPr b="0" i="0" lang="en-US" sz="1800" u="none">
                <a:solidFill>
                  <a:schemeClr val="dk1"/>
                </a:solidFill>
                <a:latin typeface="Helvetica Neue"/>
                <a:ea typeface="Helvetica Neue"/>
                <a:cs typeface="Helvetica Neue"/>
                <a:sym typeface="Helvetica Neue"/>
              </a:rPr>
            </a:b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Starvation –  same process may always be picked as victim, include number of rollback in cost factor.</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99CCFF"/>
            </a:gs>
          </a:gsLst>
          <a:lin ang="5400000" scaled="0"/>
        </a:gradFill>
      </p:bgPr>
    </p:bg>
    <p:spTree>
      <p:nvGrpSpPr>
        <p:cNvPr id="391" name="Shape 391"/>
        <p:cNvGrpSpPr/>
        <p:nvPr/>
      </p:nvGrpSpPr>
      <p:grpSpPr>
        <a:xfrm>
          <a:off x="0" y="0"/>
          <a:ext cx="0" cy="0"/>
          <a:chOff x="0" y="0"/>
          <a:chExt cx="0" cy="0"/>
        </a:xfrm>
      </p:grpSpPr>
      <p:sp>
        <p:nvSpPr>
          <p:cNvPr id="392" name="Google Shape;392;p44"/>
          <p:cNvSpPr txBox="1"/>
          <p:nvPr>
            <p:ph type="ctrTitle"/>
          </p:nvPr>
        </p:nvSpPr>
        <p:spPr>
          <a:xfrm>
            <a:off x="685800" y="2286000"/>
            <a:ext cx="7772400" cy="1143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End of Chapter 7</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12" scaled="0"/>
        </a:gradFill>
      </p:bgPr>
    </p:bg>
    <p:spTree>
      <p:nvGrpSpPr>
        <p:cNvPr id="396" name="Shape 396"/>
        <p:cNvGrpSpPr/>
        <p:nvPr/>
      </p:nvGrpSpPr>
      <p:grpSpPr>
        <a:xfrm>
          <a:off x="0" y="0"/>
          <a:ext cx="0" cy="0"/>
          <a:chOff x="0" y="0"/>
          <a:chExt cx="0" cy="0"/>
        </a:xfrm>
      </p:grpSpPr>
      <p:sp>
        <p:nvSpPr>
          <p:cNvPr id="397" name="Google Shape;397;g3a0c7fb647f_1_44"/>
          <p:cNvSpPr txBox="1"/>
          <p:nvPr>
            <p:ph type="title"/>
          </p:nvPr>
        </p:nvSpPr>
        <p:spPr>
          <a:xfrm>
            <a:off x="852487" y="312737"/>
            <a:ext cx="8020200" cy="4572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2700"/>
              <a:buFont typeface="Helvetica Neue"/>
              <a:buNone/>
            </a:pPr>
            <a:r>
              <a:rPr lang="en-US" sz="2700"/>
              <a:t>Project</a:t>
            </a:r>
            <a:endParaRPr/>
          </a:p>
        </p:txBody>
      </p:sp>
      <p:sp>
        <p:nvSpPr>
          <p:cNvPr id="398" name="Google Shape;398;g3a0c7fb647f_1_44"/>
          <p:cNvSpPr txBox="1"/>
          <p:nvPr>
            <p:ph idx="1" type="body"/>
          </p:nvPr>
        </p:nvSpPr>
        <p:spPr>
          <a:xfrm>
            <a:off x="827075" y="886400"/>
            <a:ext cx="7351800" cy="507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a:p>
          <a:p>
            <a:pPr indent="-342900" lvl="0" marL="342900" marR="0" rtl="0" algn="l">
              <a:lnSpc>
                <a:spcPct val="100000"/>
              </a:lnSpc>
              <a:spcBef>
                <a:spcPts val="0"/>
              </a:spcBef>
              <a:spcAft>
                <a:spcPts val="0"/>
              </a:spcAft>
              <a:buClr>
                <a:srgbClr val="993300"/>
              </a:buClr>
              <a:buSzPts val="1620"/>
              <a:buFont typeface="Arial"/>
              <a:buChar char="●"/>
            </a:pPr>
            <a:r>
              <a:rPr lang="en-US"/>
              <a:t>A report includes the description of the challenges you had faced using STAR format</a:t>
            </a:r>
            <a:endParaRPr/>
          </a:p>
          <a:p>
            <a:pPr indent="-297180" lvl="1" marL="742950" marR="0" rtl="0" algn="l">
              <a:lnSpc>
                <a:spcPct val="100000"/>
              </a:lnSpc>
              <a:spcBef>
                <a:spcPts val="0"/>
              </a:spcBef>
              <a:spcAft>
                <a:spcPts val="0"/>
              </a:spcAft>
              <a:buClr>
                <a:srgbClr val="993300"/>
              </a:buClr>
              <a:buSzPts val="1620"/>
              <a:buFont typeface="Arial"/>
              <a:buChar char="●"/>
            </a:pPr>
            <a:r>
              <a:rPr lang="en-US"/>
              <a:t>Situation (what was the challenges)</a:t>
            </a:r>
            <a:endParaRPr/>
          </a:p>
          <a:p>
            <a:pPr indent="-297180" lvl="1" marL="742950" marR="0" rtl="0" algn="l">
              <a:lnSpc>
                <a:spcPct val="100000"/>
              </a:lnSpc>
              <a:spcBef>
                <a:spcPts val="0"/>
              </a:spcBef>
              <a:spcAft>
                <a:spcPts val="0"/>
              </a:spcAft>
              <a:buClr>
                <a:srgbClr val="993300"/>
              </a:buClr>
              <a:buSzPts val="1620"/>
              <a:buFont typeface="Arial"/>
              <a:buChar char="●"/>
            </a:pPr>
            <a:r>
              <a:rPr lang="en-US"/>
              <a:t>Task (what you were doing previously)</a:t>
            </a:r>
            <a:endParaRPr/>
          </a:p>
          <a:p>
            <a:pPr indent="-297180" lvl="1" marL="742950" marR="0" rtl="0" algn="l">
              <a:lnSpc>
                <a:spcPct val="100000"/>
              </a:lnSpc>
              <a:spcBef>
                <a:spcPts val="0"/>
              </a:spcBef>
              <a:spcAft>
                <a:spcPts val="0"/>
              </a:spcAft>
              <a:buClr>
                <a:srgbClr val="993300"/>
              </a:buClr>
              <a:buSzPts val="1620"/>
              <a:buFont typeface="Arial"/>
              <a:buChar char="●"/>
            </a:pPr>
            <a:r>
              <a:rPr lang="en-US"/>
              <a:t>Action (what did you do to </a:t>
            </a:r>
            <a:r>
              <a:rPr lang="en-US"/>
              <a:t>address</a:t>
            </a:r>
            <a:r>
              <a:rPr lang="en-US"/>
              <a:t> the issue)</a:t>
            </a:r>
            <a:endParaRPr/>
          </a:p>
          <a:p>
            <a:pPr indent="-297180" lvl="1" marL="742950" marR="0" rtl="0" algn="l">
              <a:lnSpc>
                <a:spcPct val="100000"/>
              </a:lnSpc>
              <a:spcBef>
                <a:spcPts val="0"/>
              </a:spcBef>
              <a:spcAft>
                <a:spcPts val="0"/>
              </a:spcAft>
              <a:buClr>
                <a:srgbClr val="993300"/>
              </a:buClr>
              <a:buSzPts val="1620"/>
              <a:buFont typeface="Arial"/>
              <a:buChar char="●"/>
            </a:pPr>
            <a:r>
              <a:rPr lang="en-US"/>
              <a:t>Result (what was the outcome of your action)</a:t>
            </a:r>
            <a:endParaRPr/>
          </a:p>
          <a:p>
            <a:pPr indent="0" lvl="0" marL="742950" marR="0" rtl="0" algn="l">
              <a:lnSpc>
                <a:spcPct val="100000"/>
              </a:lnSpc>
              <a:spcBef>
                <a:spcPts val="0"/>
              </a:spcBef>
              <a:spcAft>
                <a:spcPts val="0"/>
              </a:spcAft>
              <a:buNone/>
            </a:pPr>
            <a:r>
              <a:t/>
            </a:r>
            <a:endParaRPr/>
          </a:p>
          <a:p>
            <a:pPr indent="-342900" lvl="0" marL="342900" rtl="0" algn="l">
              <a:spcBef>
                <a:spcPts val="0"/>
              </a:spcBef>
              <a:spcAft>
                <a:spcPts val="0"/>
              </a:spcAft>
              <a:buSzPts val="1620"/>
              <a:buChar char="●"/>
            </a:pPr>
            <a:r>
              <a:rPr lang="en-US"/>
              <a:t>github page link submission</a:t>
            </a:r>
            <a:endParaRPr/>
          </a:p>
          <a:p>
            <a:pPr indent="-285750" lvl="1" marL="742950" rtl="0" algn="l">
              <a:spcBef>
                <a:spcPts val="0"/>
              </a:spcBef>
              <a:spcAft>
                <a:spcPts val="0"/>
              </a:spcAft>
              <a:buSzPts val="1440"/>
              <a:buChar char="●"/>
            </a:pPr>
            <a:r>
              <a:rPr lang="en-US"/>
              <a:t>submission video demo for 2-5 minutes </a:t>
            </a:r>
            <a:endParaRPr/>
          </a:p>
          <a:p>
            <a:pPr indent="-297180" lvl="1" marL="742950" marR="0" rtl="0" algn="l">
              <a:lnSpc>
                <a:spcPct val="100000"/>
              </a:lnSpc>
              <a:spcBef>
                <a:spcPts val="0"/>
              </a:spcBef>
              <a:spcAft>
                <a:spcPts val="0"/>
              </a:spcAft>
              <a:buClr>
                <a:srgbClr val="993300"/>
              </a:buClr>
              <a:buSzPts val="1620"/>
              <a:buFont typeface="Arial"/>
              <a:buChar char="●"/>
            </a:pPr>
            <a:r>
              <a:rPr lang="en-US"/>
              <a:t>short introduction of your project</a:t>
            </a:r>
            <a:endParaRPr/>
          </a:p>
          <a:p>
            <a:pPr indent="-297180" lvl="1" marL="742950" marR="0" rtl="0" algn="l">
              <a:lnSpc>
                <a:spcPct val="100000"/>
              </a:lnSpc>
              <a:spcBef>
                <a:spcPts val="0"/>
              </a:spcBef>
              <a:spcAft>
                <a:spcPts val="0"/>
              </a:spcAft>
              <a:buClr>
                <a:srgbClr val="993300"/>
              </a:buClr>
              <a:buSzPts val="1620"/>
              <a:buFont typeface="Arial"/>
              <a:buChar char="●"/>
            </a:pPr>
            <a:r>
              <a:rPr lang="en-US"/>
              <a:t>be creative about highlighting your skills and the project</a:t>
            </a:r>
            <a:endParaRPr/>
          </a:p>
          <a:p>
            <a:pPr indent="0" lvl="0" marL="742950" marR="0" rtl="0" algn="l">
              <a:lnSpc>
                <a:spcPct val="100000"/>
              </a:lnSpc>
              <a:spcBef>
                <a:spcPts val="0"/>
              </a:spcBef>
              <a:spcAft>
                <a:spcPts val="0"/>
              </a:spcAft>
              <a:buNone/>
            </a:pPr>
            <a:r>
              <a:t/>
            </a:r>
            <a:endParaRPr/>
          </a:p>
          <a:p>
            <a:pPr indent="-342900" lvl="0" marL="342900" marR="0" rtl="0" algn="l">
              <a:lnSpc>
                <a:spcPct val="100000"/>
              </a:lnSpc>
              <a:spcBef>
                <a:spcPts val="0"/>
              </a:spcBef>
              <a:spcAft>
                <a:spcPts val="0"/>
              </a:spcAft>
              <a:buClr>
                <a:srgbClr val="993300"/>
              </a:buClr>
              <a:buSzPts val="1620"/>
              <a:buFont typeface="Arial"/>
              <a:buChar char="●"/>
            </a:pPr>
            <a:r>
              <a:rPr lang="en-US"/>
              <a:t>github folder submission</a:t>
            </a:r>
            <a:br>
              <a:rPr lang="en-US"/>
            </a:br>
            <a:r>
              <a:rPr lang="en-US"/>
              <a:t>Deadline : December 17, 2025</a:t>
            </a:r>
            <a:endParaRPr/>
          </a:p>
          <a:p>
            <a:pPr indent="0" lvl="0" marL="342900" marR="0" rtl="0" algn="l">
              <a:lnSpc>
                <a:spcPct val="100000"/>
              </a:lnSpc>
              <a:spcBef>
                <a:spcPts val="0"/>
              </a:spcBef>
              <a:spcAft>
                <a:spcPts val="0"/>
              </a:spcAft>
              <a:buNone/>
            </a:pPr>
            <a:r>
              <a:t/>
            </a:r>
            <a:endParaRPr/>
          </a:p>
          <a:p>
            <a:pPr indent="-342900" lvl="0" marL="342900" marR="0" rtl="0" algn="l">
              <a:lnSpc>
                <a:spcPct val="100000"/>
              </a:lnSpc>
              <a:spcBef>
                <a:spcPts val="0"/>
              </a:spcBef>
              <a:spcAft>
                <a:spcPts val="0"/>
              </a:spcAft>
              <a:buClr>
                <a:srgbClr val="993300"/>
              </a:buClr>
              <a:buSzPts val="1620"/>
              <a:buFont typeface="Arial"/>
              <a:buChar char="●"/>
            </a:pPr>
            <a:r>
              <a:rPr lang="en-US" u="sng">
                <a:solidFill>
                  <a:schemeClr val="hlink"/>
                </a:solidFill>
                <a:hlinkClick r:id="rId3"/>
              </a:rPr>
              <a:t>Project ideas</a:t>
            </a:r>
            <a:br>
              <a:rPr b="0" i="0" lang="en-US" sz="1800" u="none">
                <a:solidFill>
                  <a:schemeClr val="dk1"/>
                </a:solidFill>
                <a:latin typeface="Helvetica Neue"/>
                <a:ea typeface="Helvetica Neue"/>
                <a:cs typeface="Helvetica Neue"/>
                <a:sym typeface="Helvetica Neue"/>
              </a:rPr>
            </a:b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s-w-java">
  <a:themeElements>
    <a:clrScheme name="default">
      <a:dk1>
        <a:srgbClr val="000000"/>
      </a:dk1>
      <a:lt1>
        <a:srgbClr val="FFFF99"/>
      </a:lt1>
      <a:dk2>
        <a:srgbClr val="CC3300"/>
      </a:dk2>
      <a:lt2>
        <a:srgbClr val="666699"/>
      </a:lt2>
      <a:accent1>
        <a:srgbClr val="FFCCCC"/>
      </a:accent1>
      <a:accent2>
        <a:srgbClr val="CCCC00"/>
      </a:accent2>
      <a:accent3>
        <a:srgbClr val="FFFF99"/>
      </a:accent3>
      <a:accent4>
        <a:srgbClr val="FFCCCC"/>
      </a:accent4>
      <a:accent5>
        <a:srgbClr val="CCCC00"/>
      </a:accent5>
      <a:accent6>
        <a:srgbClr val="FFFF99"/>
      </a:accent6>
      <a:hlink>
        <a:srgbClr val="FF9900"/>
      </a:hlink>
      <a:folHlink>
        <a:srgbClr val="FF993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1999-07-28T12:46:11Z</dcterms:created>
  <dc:creator>Marilyn Turnamian</dc:creator>
</cp:coreProperties>
</file>