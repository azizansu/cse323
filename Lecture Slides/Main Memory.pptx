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</p:sldIdLst>
  <p:sldSz cy="6858000" cx="9144000"/>
  <p:notesSz cx="7315200" cy="9601200"/>
  <p:embeddedFontLst>
    <p:embeddedFont>
      <p:font typeface="Helvetica Neue"/>
      <p:regular r:id="rId66"/>
      <p:bold r:id="rId67"/>
      <p:italic r:id="rId68"/>
      <p:boldItalic r:id="rId6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868">
          <p15:clr>
            <a:srgbClr val="000000"/>
          </p15:clr>
        </p15:guide>
        <p15:guide id="2" pos="480">
          <p15:clr>
            <a:srgbClr val="000000"/>
          </p15:clr>
        </p15:guide>
      </p15:sldGuideLst>
    </p:ext>
    <p:ext uri="GoogleSlidesCustomDataVersion2">
      <go:slidesCustomData xmlns:go="http://customooxmlschemas.google.com/" r:id="rId70" roundtripDataSignature="AMtx7mjdBzyCWlowuL+sZDfRbQhqJHALo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87482FF-10A4-4E73-8A43-4CE85025BFA6}">
  <a:tblStyle styleId="{287482FF-10A4-4E73-8A43-4CE85025BFA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868" orient="horz"/>
        <p:guide pos="4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70" Type="http://customschemas.google.com/relationships/presentationmetadata" Target="metadata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22" Type="http://schemas.openxmlformats.org/officeDocument/2006/relationships/slide" Target="slides/slide16.xml"/><Relationship Id="rId66" Type="http://schemas.openxmlformats.org/officeDocument/2006/relationships/font" Target="fonts/HelveticaNeue-regular.fntdata"/><Relationship Id="rId21" Type="http://schemas.openxmlformats.org/officeDocument/2006/relationships/slide" Target="slides/slide15.xml"/><Relationship Id="rId65" Type="http://schemas.openxmlformats.org/officeDocument/2006/relationships/slide" Target="slides/slide59.xml"/><Relationship Id="rId24" Type="http://schemas.openxmlformats.org/officeDocument/2006/relationships/slide" Target="slides/slide18.xml"/><Relationship Id="rId68" Type="http://schemas.openxmlformats.org/officeDocument/2006/relationships/font" Target="fonts/HelveticaNeue-italic.fntdata"/><Relationship Id="rId23" Type="http://schemas.openxmlformats.org/officeDocument/2006/relationships/slide" Target="slides/slide17.xml"/><Relationship Id="rId67" Type="http://schemas.openxmlformats.org/officeDocument/2006/relationships/font" Target="fonts/HelveticaNeue-bold.fntdata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schemas.openxmlformats.org/officeDocument/2006/relationships/font" Target="fonts/HelveticaNeue-boldItalic.fnt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12" type="sldNum"/>
          </p:nvPr>
        </p:nvSpPr>
        <p:spPr>
          <a:xfrm>
            <a:off x="4146550" y="9121775"/>
            <a:ext cx="3168650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4" name="Google Shape;4;n"/>
          <p:cNvSpPr txBox="1"/>
          <p:nvPr>
            <p:ph idx="2" type="hdr"/>
          </p:nvPr>
        </p:nvSpPr>
        <p:spPr>
          <a:xfrm>
            <a:off x="0" y="0"/>
            <a:ext cx="3168650" cy="479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8325" lIns="96650" spcFirstLastPara="1" rIns="96650" wrap="square" tIns="483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5" name="Google Shape;5;n"/>
          <p:cNvSpPr txBox="1"/>
          <p:nvPr>
            <p:ph idx="10" type="dt"/>
          </p:nvPr>
        </p:nvSpPr>
        <p:spPr>
          <a:xfrm>
            <a:off x="4146550" y="0"/>
            <a:ext cx="3168650" cy="479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8325" lIns="96650" spcFirstLastPara="1" rIns="96650" wrap="square" tIns="4832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6" name="Google Shape;6;n"/>
          <p:cNvSpPr/>
          <p:nvPr>
            <p:ph idx="3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7" name="Google Shape;7;n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8325" lIns="96650" spcFirstLastPara="1" rIns="96650" wrap="square" tIns="48325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1" type="ftr"/>
          </p:nvPr>
        </p:nvSpPr>
        <p:spPr>
          <a:xfrm>
            <a:off x="0" y="9121775"/>
            <a:ext cx="3168650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9" name="Google Shape;9;n"/>
          <p:cNvSpPr txBox="1"/>
          <p:nvPr>
            <p:ph idx="4" type="sldNum"/>
          </p:nvPr>
        </p:nvSpPr>
        <p:spPr>
          <a:xfrm>
            <a:off x="4146550" y="9121775"/>
            <a:ext cx="3168650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Helvetica Neue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1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2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3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4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4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5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6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6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7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7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8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8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9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9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0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1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2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2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3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3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4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4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5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5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6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6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7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7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8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8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99f517bf6d_0_9:notes"/>
          <p:cNvSpPr txBox="1"/>
          <p:nvPr>
            <p:ph idx="12" type="sldNum"/>
          </p:nvPr>
        </p:nvSpPr>
        <p:spPr>
          <a:xfrm>
            <a:off x="4146550" y="9121775"/>
            <a:ext cx="3168600" cy="479400"/>
          </a:xfrm>
          <a:prstGeom prst="rect">
            <a:avLst/>
          </a:prstGeom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g399f517bf6d_0_9:notes"/>
          <p:cNvSpPr/>
          <p:nvPr>
            <p:ph idx="2" type="sldImg"/>
          </p:nvPr>
        </p:nvSpPr>
        <p:spPr>
          <a:xfrm>
            <a:off x="1257300" y="720725"/>
            <a:ext cx="4800600" cy="3600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99f517bf6d_0_9:notes"/>
          <p:cNvSpPr txBox="1"/>
          <p:nvPr>
            <p:ph idx="1" type="body"/>
          </p:nvPr>
        </p:nvSpPr>
        <p:spPr>
          <a:xfrm>
            <a:off x="974725" y="4560887"/>
            <a:ext cx="5365800" cy="4319700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g399f517bf6d_0_9:notes"/>
          <p:cNvSpPr txBox="1"/>
          <p:nvPr>
            <p:ph idx="3" type="sldNum"/>
          </p:nvPr>
        </p:nvSpPr>
        <p:spPr>
          <a:xfrm>
            <a:off x="4146550" y="9121775"/>
            <a:ext cx="3168600" cy="479400"/>
          </a:xfrm>
          <a:prstGeom prst="rect">
            <a:avLst/>
          </a:prstGeom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Helvetica Neue"/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9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9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0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20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1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21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2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22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3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3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4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24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5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5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6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26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7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27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8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28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9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29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99f517bf6d_0_0:notes"/>
          <p:cNvSpPr txBox="1"/>
          <p:nvPr>
            <p:ph idx="12" type="sldNum"/>
          </p:nvPr>
        </p:nvSpPr>
        <p:spPr>
          <a:xfrm>
            <a:off x="4146550" y="9121775"/>
            <a:ext cx="3168600" cy="479400"/>
          </a:xfrm>
          <a:prstGeom prst="rect">
            <a:avLst/>
          </a:prstGeom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g399f517bf6d_0_0:notes"/>
          <p:cNvSpPr/>
          <p:nvPr>
            <p:ph idx="2" type="sldImg"/>
          </p:nvPr>
        </p:nvSpPr>
        <p:spPr>
          <a:xfrm>
            <a:off x="1257300" y="720725"/>
            <a:ext cx="4800600" cy="3600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399f517bf6d_0_0:notes"/>
          <p:cNvSpPr txBox="1"/>
          <p:nvPr>
            <p:ph idx="1" type="body"/>
          </p:nvPr>
        </p:nvSpPr>
        <p:spPr>
          <a:xfrm>
            <a:off x="974725" y="4560887"/>
            <a:ext cx="5365800" cy="4319700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g399f517bf6d_0_0:notes"/>
          <p:cNvSpPr txBox="1"/>
          <p:nvPr>
            <p:ph idx="3" type="sldNum"/>
          </p:nvPr>
        </p:nvSpPr>
        <p:spPr>
          <a:xfrm>
            <a:off x="4146550" y="9121775"/>
            <a:ext cx="3168600" cy="479400"/>
          </a:xfrm>
          <a:prstGeom prst="rect">
            <a:avLst/>
          </a:prstGeom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Helvetica Neue"/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99f517bf6d_0_21:notes"/>
          <p:cNvSpPr txBox="1"/>
          <p:nvPr>
            <p:ph idx="12" type="sldNum"/>
          </p:nvPr>
        </p:nvSpPr>
        <p:spPr>
          <a:xfrm>
            <a:off x="4146550" y="9121775"/>
            <a:ext cx="3168600" cy="479400"/>
          </a:xfrm>
          <a:prstGeom prst="rect">
            <a:avLst/>
          </a:prstGeom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g399f517bf6d_0_21:notes"/>
          <p:cNvSpPr/>
          <p:nvPr>
            <p:ph idx="2" type="sldImg"/>
          </p:nvPr>
        </p:nvSpPr>
        <p:spPr>
          <a:xfrm>
            <a:off x="1257300" y="720725"/>
            <a:ext cx="4800600" cy="3600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399f517bf6d_0_21:notes"/>
          <p:cNvSpPr txBox="1"/>
          <p:nvPr>
            <p:ph idx="1" type="body"/>
          </p:nvPr>
        </p:nvSpPr>
        <p:spPr>
          <a:xfrm>
            <a:off x="974725" y="4560887"/>
            <a:ext cx="5365800" cy="4319700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g399f517bf6d_0_21:notes"/>
          <p:cNvSpPr txBox="1"/>
          <p:nvPr>
            <p:ph idx="3" type="sldNum"/>
          </p:nvPr>
        </p:nvSpPr>
        <p:spPr>
          <a:xfrm>
            <a:off x="4146550" y="9121775"/>
            <a:ext cx="3168600" cy="479400"/>
          </a:xfrm>
          <a:prstGeom prst="rect">
            <a:avLst/>
          </a:prstGeom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Helvetica Neue"/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0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30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1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31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2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32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33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33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4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34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35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35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36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36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37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37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38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38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39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39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40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40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41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41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42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42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43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43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399f517bf6d_0_28:notes"/>
          <p:cNvSpPr txBox="1"/>
          <p:nvPr>
            <p:ph idx="12" type="sldNum"/>
          </p:nvPr>
        </p:nvSpPr>
        <p:spPr>
          <a:xfrm>
            <a:off x="4146550" y="9121775"/>
            <a:ext cx="3168600" cy="479400"/>
          </a:xfrm>
          <a:prstGeom prst="rect">
            <a:avLst/>
          </a:prstGeom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g399f517bf6d_0_28:notes"/>
          <p:cNvSpPr/>
          <p:nvPr>
            <p:ph idx="2" type="sldImg"/>
          </p:nvPr>
        </p:nvSpPr>
        <p:spPr>
          <a:xfrm>
            <a:off x="1257300" y="720725"/>
            <a:ext cx="4800600" cy="3600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6" name="Google Shape;406;g399f517bf6d_0_28:notes"/>
          <p:cNvSpPr txBox="1"/>
          <p:nvPr>
            <p:ph idx="1" type="body"/>
          </p:nvPr>
        </p:nvSpPr>
        <p:spPr>
          <a:xfrm>
            <a:off x="974725" y="4560887"/>
            <a:ext cx="5365800" cy="4319700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g399f517bf6d_0_28:notes"/>
          <p:cNvSpPr txBox="1"/>
          <p:nvPr>
            <p:ph idx="3" type="sldNum"/>
          </p:nvPr>
        </p:nvSpPr>
        <p:spPr>
          <a:xfrm>
            <a:off x="4146550" y="9121775"/>
            <a:ext cx="3168600" cy="479400"/>
          </a:xfrm>
          <a:prstGeom prst="rect">
            <a:avLst/>
          </a:prstGeom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Helvetica Neue"/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399f517bf6d_0_56:notes"/>
          <p:cNvSpPr txBox="1"/>
          <p:nvPr>
            <p:ph idx="12" type="sldNum"/>
          </p:nvPr>
        </p:nvSpPr>
        <p:spPr>
          <a:xfrm>
            <a:off x="4146550" y="9121775"/>
            <a:ext cx="3168600" cy="479400"/>
          </a:xfrm>
          <a:prstGeom prst="rect">
            <a:avLst/>
          </a:prstGeom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g399f517bf6d_0_56:notes"/>
          <p:cNvSpPr/>
          <p:nvPr>
            <p:ph idx="2" type="sldImg"/>
          </p:nvPr>
        </p:nvSpPr>
        <p:spPr>
          <a:xfrm>
            <a:off x="1257300" y="720725"/>
            <a:ext cx="4800600" cy="3600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4" name="Google Shape;414;g399f517bf6d_0_56:notes"/>
          <p:cNvSpPr txBox="1"/>
          <p:nvPr>
            <p:ph idx="1" type="body"/>
          </p:nvPr>
        </p:nvSpPr>
        <p:spPr>
          <a:xfrm>
            <a:off x="974725" y="4560887"/>
            <a:ext cx="5365800" cy="4319700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g399f517bf6d_0_56:notes"/>
          <p:cNvSpPr txBox="1"/>
          <p:nvPr>
            <p:ph idx="3" type="sldNum"/>
          </p:nvPr>
        </p:nvSpPr>
        <p:spPr>
          <a:xfrm>
            <a:off x="4146550" y="9121775"/>
            <a:ext cx="3168600" cy="479400"/>
          </a:xfrm>
          <a:prstGeom prst="rect">
            <a:avLst/>
          </a:prstGeom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Helvetica Neue"/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44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44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45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45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46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46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50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50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51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51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52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52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53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53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54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54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55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55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56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56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57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57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17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bg>
      <p:bgPr>
        <a:gradFill>
          <a:gsLst>
            <a:gs pos="0">
              <a:srgbClr val="F8F8F8"/>
            </a:gs>
            <a:gs pos="100000">
              <a:srgbClr val="99CCFF"/>
            </a:gs>
          </a:gsLst>
          <a:lin ang="5400000" scaled="0"/>
        </a:gra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9"/>
          <p:cNvSpPr txBox="1"/>
          <p:nvPr>
            <p:ph type="ctrTitle"/>
          </p:nvPr>
        </p:nvSpPr>
        <p:spPr>
          <a:xfrm>
            <a:off x="685800" y="22860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9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620"/>
              <a:buChar char="●"/>
              <a:defRPr/>
            </a:lvl1pPr>
            <a:lvl2pPr lvl="1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40"/>
              <a:buChar char="●"/>
              <a:defRPr/>
            </a:lvl2pPr>
            <a:lvl3pPr lvl="2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350"/>
              <a:buChar char="4"/>
              <a:defRPr/>
            </a:lvl3pPr>
            <a:lvl4pPr lvl="3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350"/>
              <a:buChar char="–"/>
              <a:defRPr/>
            </a:lvl4pPr>
            <a:lvl5pPr lvl="4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5pPr>
            <a:lvl6pPr lvl="5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6pPr>
            <a:lvl7pPr lvl="6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7pPr>
            <a:lvl8pPr lvl="7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8pPr>
            <a:lvl9pPr lvl="8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9pPr>
          </a:lstStyle>
          <a:p/>
        </p:txBody>
      </p:sp>
      <p:sp>
        <p:nvSpPr>
          <p:cNvPr id="33" name="Google Shape;33;p59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 b="0" i="0" sz="1400" u="none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34" name="Google Shape;34;p59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 b="0" i="0" sz="1400" u="none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35" name="Google Shape;35;p59"/>
          <p:cNvSpPr/>
          <p:nvPr/>
        </p:nvSpPr>
        <p:spPr>
          <a:xfrm>
            <a:off x="1524000" y="1397000"/>
            <a:ext cx="6096000" cy="40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6" name="Google Shape;36;p5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179762" y="4829175"/>
            <a:ext cx="2349500" cy="1419225"/>
          </a:xfrm>
          <a:prstGeom prst="rect">
            <a:avLst/>
          </a:prstGeom>
          <a:noFill/>
          <a:ln cap="flat" cmpd="dbl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  <p:pic>
        <p:nvPicPr>
          <p:cNvPr id="37" name="Google Shape;37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39875" y="3603625"/>
            <a:ext cx="6035675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 type="tx">
  <p:cSld name="TITLE_AND_BODY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0"/>
          <p:cNvSpPr txBox="1"/>
          <p:nvPr>
            <p:ph type="title"/>
          </p:nvPr>
        </p:nvSpPr>
        <p:spPr>
          <a:xfrm>
            <a:off x="685800" y="22860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0"/>
          <p:cNvSpPr txBox="1"/>
          <p:nvPr>
            <p:ph idx="1" type="body"/>
          </p:nvPr>
        </p:nvSpPr>
        <p:spPr>
          <a:xfrm>
            <a:off x="827087" y="1282700"/>
            <a:ext cx="7351712" cy="44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1470" lvl="0" marL="45720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620"/>
              <a:buChar char="●"/>
              <a:defRPr/>
            </a:lvl1pPr>
            <a:lvl2pPr indent="-320040" lvl="1" marL="91440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40"/>
              <a:buChar char="●"/>
              <a:defRPr/>
            </a:lvl2pPr>
            <a:lvl3pPr indent="-314325" lvl="2" marL="137160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350"/>
              <a:buChar char="4"/>
              <a:defRPr/>
            </a:lvl3pPr>
            <a:lvl4pPr indent="-314325" lvl="3" marL="182880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350"/>
              <a:buChar char="–"/>
              <a:defRPr/>
            </a:lvl4pPr>
            <a:lvl5pPr indent="-314325" lvl="4" marL="228600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5pPr>
            <a:lvl6pPr indent="-314325" lvl="5" marL="274320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6pPr>
            <a:lvl7pPr indent="-314325" lvl="6" marL="320040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7pPr>
            <a:lvl8pPr indent="-314325" lvl="7" marL="365760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8pPr>
            <a:lvl9pPr indent="-314325" lvl="8" marL="411480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9pPr>
          </a:lstStyle>
          <a:p/>
        </p:txBody>
      </p:sp>
      <p:sp>
        <p:nvSpPr>
          <p:cNvPr id="41" name="Google Shape;41;p60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42" name="Google Shape;42;p60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43" name="Google Shape;43;p60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61"/>
          <p:cNvSpPr txBox="1"/>
          <p:nvPr>
            <p:ph type="title"/>
          </p:nvPr>
        </p:nvSpPr>
        <p:spPr>
          <a:xfrm>
            <a:off x="685800" y="22860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61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47" name="Google Shape;47;p61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48" name="Google Shape;48;p61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jpg"/><Relationship Id="rId2" Type="http://schemas.openxmlformats.org/officeDocument/2006/relationships/image" Target="../media/image6.jp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8F8F8"/>
            </a:gs>
            <a:gs pos="100000">
              <a:srgbClr val="CCECFF"/>
            </a:gs>
          </a:gsLst>
          <a:lin ang="5400000" scaled="0"/>
        </a:gra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58"/>
          <p:cNvSpPr txBox="1"/>
          <p:nvPr>
            <p:ph idx="1" type="body"/>
          </p:nvPr>
        </p:nvSpPr>
        <p:spPr>
          <a:xfrm>
            <a:off x="827087" y="1282700"/>
            <a:ext cx="7351712" cy="44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1470" lvl="0" marL="4572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20040" lvl="1" marL="9144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14325" lvl="2" marL="13716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009900"/>
              </a:buClr>
              <a:buSzPts val="1350"/>
              <a:buFont typeface="Arimo"/>
              <a:buChar char="4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14325" lvl="3" marL="18288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350"/>
              <a:buFont typeface="Helvetica Neue"/>
              <a:buChar char="–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14325" lvl="4" marL="22860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FF0066"/>
              </a:buClr>
              <a:buSzPts val="135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14325" lvl="5" marL="27432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FF0066"/>
              </a:buClr>
              <a:buSzPts val="135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14325" lvl="6" marL="32004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FF0066"/>
              </a:buClr>
              <a:buSzPts val="135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14325" lvl="7" marL="36576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FF0066"/>
              </a:buClr>
              <a:buSzPts val="135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14325" lvl="8" marL="41148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FF0066"/>
              </a:buClr>
              <a:buSzPts val="135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12" name="Google Shape;12;p58"/>
          <p:cNvSpPr txBox="1"/>
          <p:nvPr/>
        </p:nvSpPr>
        <p:spPr>
          <a:xfrm>
            <a:off x="4267200" y="6613525"/>
            <a:ext cx="44450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1000"/>
              <a:buFont typeface="Helvetica Neue"/>
              <a:buNone/>
            </a:pPr>
            <a:r>
              <a:rPr b="1" i="0" lang="en-US" sz="1000" u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8.</a:t>
            </a:r>
            <a:fld id="{00000000-1234-1234-1234-123412341234}" type="slidenum">
              <a:rPr b="1" i="0" lang="en-US" sz="1000" u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/>
          </a:p>
        </p:txBody>
      </p:sp>
      <p:sp>
        <p:nvSpPr>
          <p:cNvPr id="13" name="Google Shape;13;p58"/>
          <p:cNvSpPr txBox="1"/>
          <p:nvPr>
            <p:ph type="title"/>
          </p:nvPr>
        </p:nvSpPr>
        <p:spPr>
          <a:xfrm>
            <a:off x="685800" y="22860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14" name="Google Shape;14;p58"/>
          <p:cNvSpPr/>
          <p:nvPr/>
        </p:nvSpPr>
        <p:spPr>
          <a:xfrm flipH="1" rot="-2400000">
            <a:off x="1609725" y="4962525"/>
            <a:ext cx="9525" cy="1587"/>
          </a:xfrm>
          <a:custGeom>
            <a:rect b="b" l="l" r="r" t="t"/>
            <a:pathLst>
              <a:path extrusionOk="0" h="4" w="20">
                <a:moveTo>
                  <a:pt x="20" y="4"/>
                </a:moveTo>
                <a:lnTo>
                  <a:pt x="0" y="0"/>
                </a:lnTo>
                <a:lnTo>
                  <a:pt x="16" y="0"/>
                </a:lnTo>
                <a:lnTo>
                  <a:pt x="20" y="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" name="Google Shape;15;p58"/>
          <p:cNvSpPr/>
          <p:nvPr/>
        </p:nvSpPr>
        <p:spPr>
          <a:xfrm flipH="1" rot="-120000">
            <a:off x="1189037" y="4205287"/>
            <a:ext cx="4762" cy="1587"/>
          </a:xfrm>
          <a:custGeom>
            <a:rect b="b" l="l" r="r" t="t"/>
            <a:pathLst>
              <a:path extrusionOk="0" h="4" w="12">
                <a:moveTo>
                  <a:pt x="12" y="4"/>
                </a:moveTo>
                <a:lnTo>
                  <a:pt x="0" y="0"/>
                </a:lnTo>
                <a:lnTo>
                  <a:pt x="12" y="0"/>
                </a:lnTo>
                <a:lnTo>
                  <a:pt x="12" y="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" name="Google Shape;16;p58"/>
          <p:cNvSpPr/>
          <p:nvPr/>
        </p:nvSpPr>
        <p:spPr>
          <a:xfrm>
            <a:off x="5164137" y="4206875"/>
            <a:ext cx="7937" cy="9525"/>
          </a:xfrm>
          <a:custGeom>
            <a:rect b="b" l="l" r="r" t="t"/>
            <a:pathLst>
              <a:path extrusionOk="0" h="12" w="12">
                <a:moveTo>
                  <a:pt x="7" y="12"/>
                </a:moveTo>
                <a:lnTo>
                  <a:pt x="0" y="10"/>
                </a:lnTo>
                <a:lnTo>
                  <a:pt x="12" y="0"/>
                </a:lnTo>
                <a:lnTo>
                  <a:pt x="7" y="1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" name="Google Shape;17;p58"/>
          <p:cNvSpPr txBox="1"/>
          <p:nvPr/>
        </p:nvSpPr>
        <p:spPr>
          <a:xfrm>
            <a:off x="6489700" y="6588125"/>
            <a:ext cx="2713037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1000"/>
              <a:buFont typeface="Helvetica Neue"/>
              <a:buNone/>
            </a:pPr>
            <a:r>
              <a:rPr b="1" i="0" lang="en-US" sz="1000" u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Silberschatz, Galvin and Gagne ©2005</a:t>
            </a:r>
            <a:endParaRPr/>
          </a:p>
        </p:txBody>
      </p:sp>
      <p:sp>
        <p:nvSpPr>
          <p:cNvPr id="18" name="Google Shape;18;p58"/>
          <p:cNvSpPr txBox="1"/>
          <p:nvPr/>
        </p:nvSpPr>
        <p:spPr>
          <a:xfrm>
            <a:off x="0" y="6613525"/>
            <a:ext cx="345440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1000"/>
              <a:buFont typeface="Helvetica Neue"/>
              <a:buNone/>
            </a:pPr>
            <a:r>
              <a:rPr b="1" i="0" lang="en-US" sz="1000" u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Operating System Concepts – 7</a:t>
            </a:r>
            <a:r>
              <a:rPr b="1" baseline="30000" i="0" lang="en-US" sz="1000" u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</a:t>
            </a:r>
            <a:r>
              <a:rPr b="1" i="0" lang="en-US" sz="1000" u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Edition, Feb 22, 2005</a:t>
            </a:r>
            <a:endParaRPr/>
          </a:p>
        </p:txBody>
      </p:sp>
      <p:sp>
        <p:nvSpPr>
          <p:cNvPr id="19" name="Google Shape;19;p58"/>
          <p:cNvSpPr/>
          <p:nvPr/>
        </p:nvSpPr>
        <p:spPr>
          <a:xfrm>
            <a:off x="-1658937" y="1109662"/>
            <a:ext cx="4762" cy="1587"/>
          </a:xfrm>
          <a:custGeom>
            <a:rect b="b" l="l" r="r" t="t"/>
            <a:pathLst>
              <a:path extrusionOk="0" h="120000" w="13">
                <a:moveTo>
                  <a:pt x="13" y="0"/>
                </a:moveTo>
                <a:lnTo>
                  <a:pt x="0" y="0"/>
                </a:lnTo>
                <a:lnTo>
                  <a:pt x="7" y="0"/>
                </a:lnTo>
                <a:lnTo>
                  <a:pt x="13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" name="Google Shape;20;p58"/>
          <p:cNvSpPr/>
          <p:nvPr/>
        </p:nvSpPr>
        <p:spPr>
          <a:xfrm>
            <a:off x="-898525" y="1169987"/>
            <a:ext cx="3175" cy="1587"/>
          </a:xfrm>
          <a:custGeom>
            <a:rect b="b" l="l" r="r" t="t"/>
            <a:pathLst>
              <a:path extrusionOk="0" h="120000" w="10">
                <a:moveTo>
                  <a:pt x="0" y="0"/>
                </a:moveTo>
                <a:lnTo>
                  <a:pt x="10" y="0"/>
                </a:lnTo>
                <a:lnTo>
                  <a:pt x="6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" name="Google Shape;21;p58"/>
          <p:cNvSpPr/>
          <p:nvPr/>
        </p:nvSpPr>
        <p:spPr>
          <a:xfrm>
            <a:off x="-1479550" y="423862"/>
            <a:ext cx="1587" cy="158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" name="Google Shape;22;p58"/>
          <p:cNvSpPr/>
          <p:nvPr/>
        </p:nvSpPr>
        <p:spPr>
          <a:xfrm>
            <a:off x="-1466850" y="889000"/>
            <a:ext cx="6350" cy="1587"/>
          </a:xfrm>
          <a:custGeom>
            <a:rect b="b" l="l" r="r" t="t"/>
            <a:pathLst>
              <a:path extrusionOk="0" h="7" w="18">
                <a:moveTo>
                  <a:pt x="0" y="7"/>
                </a:moveTo>
                <a:lnTo>
                  <a:pt x="12" y="0"/>
                </a:lnTo>
                <a:lnTo>
                  <a:pt x="18" y="0"/>
                </a:lnTo>
                <a:lnTo>
                  <a:pt x="0" y="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" name="Google Shape;23;p58"/>
          <p:cNvSpPr/>
          <p:nvPr/>
        </p:nvSpPr>
        <p:spPr>
          <a:xfrm>
            <a:off x="-1639887" y="1144587"/>
            <a:ext cx="1587" cy="6350"/>
          </a:xfrm>
          <a:custGeom>
            <a:rect b="b" l="l" r="r" t="t"/>
            <a:pathLst>
              <a:path extrusionOk="0" h="16" w="6">
                <a:moveTo>
                  <a:pt x="0" y="16"/>
                </a:moveTo>
                <a:lnTo>
                  <a:pt x="6" y="0"/>
                </a:lnTo>
                <a:lnTo>
                  <a:pt x="3" y="13"/>
                </a:lnTo>
                <a:lnTo>
                  <a:pt x="0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" name="Google Shape;24;p58"/>
          <p:cNvSpPr/>
          <p:nvPr/>
        </p:nvSpPr>
        <p:spPr>
          <a:xfrm>
            <a:off x="-1247775" y="1146175"/>
            <a:ext cx="4762" cy="7937"/>
          </a:xfrm>
          <a:custGeom>
            <a:rect b="b" l="l" r="r" t="t"/>
            <a:pathLst>
              <a:path extrusionOk="0" h="20" w="11">
                <a:moveTo>
                  <a:pt x="8" y="20"/>
                </a:moveTo>
                <a:lnTo>
                  <a:pt x="0" y="0"/>
                </a:lnTo>
                <a:lnTo>
                  <a:pt x="11" y="16"/>
                </a:lnTo>
                <a:lnTo>
                  <a:pt x="8" y="2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" name="Google Shape;25;p58"/>
          <p:cNvSpPr/>
          <p:nvPr/>
        </p:nvSpPr>
        <p:spPr>
          <a:xfrm>
            <a:off x="-1101725" y="1228725"/>
            <a:ext cx="1587" cy="6350"/>
          </a:xfrm>
          <a:custGeom>
            <a:rect b="b" l="l" r="r" t="t"/>
            <a:pathLst>
              <a:path extrusionOk="0" h="14" w="7">
                <a:moveTo>
                  <a:pt x="0" y="14"/>
                </a:moveTo>
                <a:lnTo>
                  <a:pt x="7" y="0"/>
                </a:lnTo>
                <a:lnTo>
                  <a:pt x="7" y="7"/>
                </a:lnTo>
                <a:lnTo>
                  <a:pt x="0" y="1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" name="Google Shape;26;p58"/>
          <p:cNvSpPr/>
          <p:nvPr/>
        </p:nvSpPr>
        <p:spPr>
          <a:xfrm>
            <a:off x="-1303337" y="1270000"/>
            <a:ext cx="12700" cy="1587"/>
          </a:xfrm>
          <a:custGeom>
            <a:rect b="b" l="l" r="r" t="t"/>
            <a:pathLst>
              <a:path extrusionOk="0" h="3" w="30">
                <a:moveTo>
                  <a:pt x="0" y="3"/>
                </a:moveTo>
                <a:lnTo>
                  <a:pt x="15" y="0"/>
                </a:lnTo>
                <a:lnTo>
                  <a:pt x="30" y="0"/>
                </a:lnTo>
                <a:lnTo>
                  <a:pt x="0" y="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" name="Google Shape;27;p58"/>
          <p:cNvSpPr/>
          <p:nvPr/>
        </p:nvSpPr>
        <p:spPr>
          <a:xfrm>
            <a:off x="1176337" y="885825"/>
            <a:ext cx="4762" cy="9525"/>
          </a:xfrm>
          <a:custGeom>
            <a:rect b="b" l="l" r="r" t="t"/>
            <a:pathLst>
              <a:path extrusionOk="0" h="24" w="9">
                <a:moveTo>
                  <a:pt x="0" y="24"/>
                </a:moveTo>
                <a:lnTo>
                  <a:pt x="9" y="0"/>
                </a:lnTo>
                <a:lnTo>
                  <a:pt x="6" y="17"/>
                </a:lnTo>
                <a:lnTo>
                  <a:pt x="0" y="2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8" name="Google Shape;28;p58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8118475" y="6010275"/>
            <a:ext cx="1011237" cy="6111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29;p5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600075" cy="110172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  <p:sldLayoutId id="2147483651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8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5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0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0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4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3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5.png"/><Relationship Id="rId4" Type="http://schemas.openxmlformats.org/officeDocument/2006/relationships/image" Target="../media/image7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1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29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14.png"/><Relationship Id="rId4" Type="http://schemas.openxmlformats.org/officeDocument/2006/relationships/image" Target="../media/image20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32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18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28.png"/><Relationship Id="rId4" Type="http://schemas.openxmlformats.org/officeDocument/2006/relationships/image" Target="../media/image22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26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19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27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31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8F8F8"/>
            </a:gs>
            <a:gs pos="100000">
              <a:srgbClr val="99CCFF"/>
            </a:gs>
          </a:gsLst>
          <a:lin ang="5400000" scaled="0"/>
        </a:gra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"/>
          <p:cNvSpPr txBox="1"/>
          <p:nvPr>
            <p:ph type="ctrTitle"/>
          </p:nvPr>
        </p:nvSpPr>
        <p:spPr>
          <a:xfrm>
            <a:off x="685800" y="22860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Chapter 8:  Main Memory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8F8F8"/>
            </a:gs>
            <a:gs pos="100000">
              <a:srgbClr val="CCECFF"/>
            </a:gs>
          </a:gsLst>
          <a:lin ang="5400000" scaled="0"/>
        </a:gra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"/>
          <p:cNvSpPr txBox="1"/>
          <p:nvPr>
            <p:ph type="title"/>
          </p:nvPr>
        </p:nvSpPr>
        <p:spPr>
          <a:xfrm>
            <a:off x="685800" y="22860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Chapter 8:  Memory Management</a:t>
            </a:r>
            <a:endParaRPr/>
          </a:p>
        </p:txBody>
      </p:sp>
      <p:sp>
        <p:nvSpPr>
          <p:cNvPr id="59" name="Google Shape;59;p2"/>
          <p:cNvSpPr txBox="1"/>
          <p:nvPr>
            <p:ph idx="1" type="body"/>
          </p:nvPr>
        </p:nvSpPr>
        <p:spPr>
          <a:xfrm>
            <a:off x="762000" y="1377950"/>
            <a:ext cx="7351712" cy="44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Background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Swapping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Contiguous Memory Allocation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Paging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Structure of the Page Table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Segmentation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Example: The Intel Pentium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8F8F8"/>
            </a:gs>
            <a:gs pos="100000">
              <a:srgbClr val="CCECFF"/>
            </a:gs>
          </a:gsLst>
          <a:lin ang="5400000" scaled="0"/>
        </a:gra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"/>
          <p:cNvSpPr txBox="1"/>
          <p:nvPr>
            <p:ph type="title"/>
          </p:nvPr>
        </p:nvSpPr>
        <p:spPr>
          <a:xfrm>
            <a:off x="685800" y="22860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Objectives</a:t>
            </a:r>
            <a:endParaRPr/>
          </a:p>
        </p:txBody>
      </p:sp>
      <p:sp>
        <p:nvSpPr>
          <p:cNvPr id="65" name="Google Shape;65;p3"/>
          <p:cNvSpPr txBox="1"/>
          <p:nvPr>
            <p:ph idx="1" type="body"/>
          </p:nvPr>
        </p:nvSpPr>
        <p:spPr>
          <a:xfrm>
            <a:off x="827087" y="1425575"/>
            <a:ext cx="6651625" cy="4440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 provide a detailed description of various ways of organizing memory hardware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 discuss various memory-management techniques, including paging and segmentation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 provide a detailed description of the Intel Pentium, which supports both pure segmentation and segmentation with paging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8F8F8"/>
            </a:gs>
            <a:gs pos="100000">
              <a:srgbClr val="CCECFF"/>
            </a:gs>
          </a:gsLst>
          <a:lin ang="5400000" scaled="0"/>
        </a:gra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"/>
          <p:cNvSpPr txBox="1"/>
          <p:nvPr>
            <p:ph type="title"/>
          </p:nvPr>
        </p:nvSpPr>
        <p:spPr>
          <a:xfrm>
            <a:off x="685800" y="228600"/>
            <a:ext cx="7231062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Background</a:t>
            </a:r>
            <a:endParaRPr/>
          </a:p>
        </p:txBody>
      </p:sp>
      <p:sp>
        <p:nvSpPr>
          <p:cNvPr id="71" name="Google Shape;71;p4"/>
          <p:cNvSpPr txBox="1"/>
          <p:nvPr>
            <p:ph idx="1" type="body"/>
          </p:nvPr>
        </p:nvSpPr>
        <p:spPr>
          <a:xfrm>
            <a:off x="762000" y="1377950"/>
            <a:ext cx="7351712" cy="44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Program must be brought (from disk)  into memory and placed within a process for it to be run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Main memory and registers are only storage CPU can access directly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Register access in one CPU clock (or less)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Main memory can take many cycles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Cache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sits between main memory and CPU registers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Protection of memory required to ensure correct operation</a:t>
            </a:r>
            <a:endParaRPr/>
          </a:p>
          <a:p>
            <a:pPr indent="-24003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8F8F8"/>
            </a:gs>
            <a:gs pos="100000">
              <a:srgbClr val="CCECFF"/>
            </a:gs>
          </a:gsLst>
          <a:lin ang="5400000" scaled="0"/>
        </a:gra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"/>
          <p:cNvSpPr txBox="1"/>
          <p:nvPr>
            <p:ph type="title"/>
          </p:nvPr>
        </p:nvSpPr>
        <p:spPr>
          <a:xfrm>
            <a:off x="685800" y="228600"/>
            <a:ext cx="7231062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Base and Limit Registers</a:t>
            </a:r>
            <a:endParaRPr/>
          </a:p>
        </p:txBody>
      </p:sp>
      <p:sp>
        <p:nvSpPr>
          <p:cNvPr id="77" name="Google Shape;77;p5"/>
          <p:cNvSpPr txBox="1"/>
          <p:nvPr>
            <p:ph idx="1" type="body"/>
          </p:nvPr>
        </p:nvSpPr>
        <p:spPr>
          <a:xfrm>
            <a:off x="762000" y="1239837"/>
            <a:ext cx="7351712" cy="44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pair of </a:t>
            </a:r>
            <a:r>
              <a:rPr b="1" i="0" lang="en-US" sz="1800" u="none">
                <a:solidFill>
                  <a:srgbClr val="FF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base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and</a:t>
            </a:r>
            <a:r>
              <a:rPr b="1" i="0" lang="en-US" sz="1800" u="none">
                <a:solidFill>
                  <a:srgbClr val="FF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limit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registers define the logical address space</a:t>
            </a:r>
            <a:endParaRPr/>
          </a:p>
        </p:txBody>
      </p:sp>
      <p:pic>
        <p:nvPicPr>
          <p:cNvPr id="78" name="Google Shape;78;p5"/>
          <p:cNvPicPr preferRelativeResize="0"/>
          <p:nvPr/>
        </p:nvPicPr>
        <p:blipFill rotWithShape="1">
          <a:blip r:embed="rId3">
            <a:alphaModFix/>
          </a:blip>
          <a:srcRect b="875" l="16725" r="16430" t="875"/>
          <a:stretch/>
        </p:blipFill>
        <p:spPr>
          <a:xfrm>
            <a:off x="3046412" y="2109787"/>
            <a:ext cx="3228975" cy="3559175"/>
          </a:xfrm>
          <a:prstGeom prst="rect">
            <a:avLst/>
          </a:prstGeom>
          <a:noFill/>
          <a:ln cap="flat" cmpd="dbl" w="38100">
            <a:solidFill>
              <a:srgbClr val="CC6600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8F8F8"/>
            </a:gs>
            <a:gs pos="100000">
              <a:srgbClr val="CCECFF"/>
            </a:gs>
          </a:gsLst>
          <a:lin ang="5400000" scaled="0"/>
        </a:gra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6"/>
          <p:cNvSpPr txBox="1"/>
          <p:nvPr>
            <p:ph type="title"/>
          </p:nvPr>
        </p:nvSpPr>
        <p:spPr>
          <a:xfrm>
            <a:off x="1009650" y="307975"/>
            <a:ext cx="81343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2800"/>
              <a:buFont typeface="Helvetica Neue"/>
              <a:buNone/>
            </a:pPr>
            <a:r>
              <a:rPr b="1" i="0" lang="en-US" sz="2800" u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Binding of Instructions and Data to Memory</a:t>
            </a:r>
            <a:endParaRPr/>
          </a:p>
        </p:txBody>
      </p:sp>
      <p:sp>
        <p:nvSpPr>
          <p:cNvPr id="84" name="Google Shape;84;p6"/>
          <p:cNvSpPr txBox="1"/>
          <p:nvPr>
            <p:ph idx="1" type="body"/>
          </p:nvPr>
        </p:nvSpPr>
        <p:spPr>
          <a:xfrm>
            <a:off x="1047750" y="1139825"/>
            <a:ext cx="702945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Address binding of instructions and data to memory addresses can happen at three different stages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Compile time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 If memory location known a priori, </a:t>
            </a: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absolute code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can be generated; must recompile code if starting location changes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Load time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 Must generate </a:t>
            </a: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relocatable code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if memory location is not known at compile time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Execution time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 Binding delayed until run time if the process can be moved during its execution from one memory segment to another.  Need hardware support for address maps (e.g., base and limit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registers)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8F8F8"/>
            </a:gs>
            <a:gs pos="100000">
              <a:srgbClr val="CCECFF"/>
            </a:gs>
          </a:gsLst>
          <a:lin ang="5400000" scaled="0"/>
        </a:gra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7"/>
          <p:cNvSpPr txBox="1"/>
          <p:nvPr>
            <p:ph type="title"/>
          </p:nvPr>
        </p:nvSpPr>
        <p:spPr>
          <a:xfrm>
            <a:off x="685800" y="22860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2800"/>
              <a:buFont typeface="Helvetica Neue"/>
              <a:buNone/>
            </a:pPr>
            <a:r>
              <a:rPr b="1" i="0" lang="en-US" sz="2800" u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Multistep Processing of a User Program </a:t>
            </a:r>
            <a:endParaRPr/>
          </a:p>
        </p:txBody>
      </p:sp>
      <p:pic>
        <p:nvPicPr>
          <p:cNvPr id="90" name="Google Shape;90;p7"/>
          <p:cNvPicPr preferRelativeResize="0"/>
          <p:nvPr/>
        </p:nvPicPr>
        <p:blipFill rotWithShape="1">
          <a:blip r:embed="rId3">
            <a:alphaModFix/>
          </a:blip>
          <a:srcRect b="656" l="30182" r="30392" t="1003"/>
          <a:stretch/>
        </p:blipFill>
        <p:spPr>
          <a:xfrm>
            <a:off x="3200400" y="1438275"/>
            <a:ext cx="2552700" cy="4773612"/>
          </a:xfrm>
          <a:prstGeom prst="rect">
            <a:avLst/>
          </a:prstGeom>
          <a:noFill/>
          <a:ln cap="flat" cmpd="dbl" w="38100">
            <a:solidFill>
              <a:srgbClr val="CC6600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8F8F8"/>
            </a:gs>
            <a:gs pos="100000">
              <a:srgbClr val="CCECFF"/>
            </a:gs>
          </a:gsLst>
          <a:lin ang="5400000" scaled="0"/>
        </a:gra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8"/>
          <p:cNvSpPr txBox="1"/>
          <p:nvPr>
            <p:ph type="title"/>
          </p:nvPr>
        </p:nvSpPr>
        <p:spPr>
          <a:xfrm>
            <a:off x="685800" y="22860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Logical vs. Physical Address Space</a:t>
            </a:r>
            <a:endParaRPr/>
          </a:p>
        </p:txBody>
      </p:sp>
      <p:sp>
        <p:nvSpPr>
          <p:cNvPr id="96" name="Google Shape;96;p8"/>
          <p:cNvSpPr txBox="1"/>
          <p:nvPr>
            <p:ph idx="1" type="body"/>
          </p:nvPr>
        </p:nvSpPr>
        <p:spPr>
          <a:xfrm>
            <a:off x="762000" y="1377950"/>
            <a:ext cx="6937375" cy="44688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concept of a logical address space that is bound to a separate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physical address space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central to proper memory management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Logical address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– generated by the CPU; also referred to as </a:t>
            </a: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virtual address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Physical address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– address seen by the memory unit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Logical and physical addresses are the same in compile-time and load-time address-binding schemes; logical (virtual) and physical addresses differ in execution-time address-binding scheme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8F8F8"/>
            </a:gs>
            <a:gs pos="100000">
              <a:srgbClr val="CCECFF"/>
            </a:gs>
          </a:gsLst>
          <a:lin ang="5400000" scaled="0"/>
        </a:gra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9"/>
          <p:cNvSpPr txBox="1"/>
          <p:nvPr>
            <p:ph type="title"/>
          </p:nvPr>
        </p:nvSpPr>
        <p:spPr>
          <a:xfrm>
            <a:off x="685800" y="22860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Memory-Management Unit (</a:t>
            </a:r>
            <a:r>
              <a:rPr b="1" i="0" lang="en-US" sz="2400" u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MMU</a:t>
            </a:r>
            <a:r>
              <a:rPr b="1" i="0" lang="en-US" sz="3200" u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/>
          </a:p>
        </p:txBody>
      </p:sp>
      <p:sp>
        <p:nvSpPr>
          <p:cNvPr id="102" name="Google Shape;102;p9"/>
          <p:cNvSpPr txBox="1"/>
          <p:nvPr>
            <p:ph idx="1" type="body"/>
          </p:nvPr>
        </p:nvSpPr>
        <p:spPr>
          <a:xfrm>
            <a:off x="762000" y="1377950"/>
            <a:ext cx="7351712" cy="44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Hardware device that maps virtual to physical address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 MMU scheme, the value in the relocation register is added to every address generated by a user process at the time it is sent to memory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user program deals with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logical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addresses; it never sees the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real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physical addresses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8F8F8"/>
            </a:gs>
            <a:gs pos="100000">
              <a:srgbClr val="CCECFF"/>
            </a:gs>
          </a:gsLst>
          <a:lin ang="5400000" scaled="0"/>
        </a:gra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0"/>
          <p:cNvSpPr txBox="1"/>
          <p:nvPr>
            <p:ph type="title"/>
          </p:nvPr>
        </p:nvSpPr>
        <p:spPr>
          <a:xfrm>
            <a:off x="889000" y="0"/>
            <a:ext cx="8054975" cy="8445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2800"/>
              <a:buFont typeface="Helvetica Neue"/>
              <a:buNone/>
            </a:pPr>
            <a:r>
              <a:rPr b="1" i="0" lang="en-US" sz="2800" u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Dynamic relocation using a relocation register</a:t>
            </a:r>
            <a:endParaRPr/>
          </a:p>
        </p:txBody>
      </p:sp>
      <p:pic>
        <p:nvPicPr>
          <p:cNvPr id="108" name="Google Shape;108;p10"/>
          <p:cNvPicPr preferRelativeResize="0"/>
          <p:nvPr/>
        </p:nvPicPr>
        <p:blipFill rotWithShape="1">
          <a:blip r:embed="rId3">
            <a:alphaModFix/>
          </a:blip>
          <a:srcRect b="3783" l="840" r="1089" t="3482"/>
          <a:stretch/>
        </p:blipFill>
        <p:spPr>
          <a:xfrm>
            <a:off x="1819275" y="1941512"/>
            <a:ext cx="5384800" cy="3959225"/>
          </a:xfrm>
          <a:prstGeom prst="rect">
            <a:avLst/>
          </a:prstGeom>
          <a:noFill/>
          <a:ln cap="flat" cmpd="dbl" w="38100">
            <a:solidFill>
              <a:srgbClr val="CC6600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8F8F8"/>
            </a:gs>
            <a:gs pos="100000">
              <a:srgbClr val="CCECFF"/>
            </a:gs>
          </a:gsLst>
          <a:lin ang="5400000" scaled="0"/>
        </a:gra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1"/>
          <p:cNvSpPr txBox="1"/>
          <p:nvPr>
            <p:ph type="title"/>
          </p:nvPr>
        </p:nvSpPr>
        <p:spPr>
          <a:xfrm>
            <a:off x="685800" y="22860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Dynamic Loading</a:t>
            </a:r>
            <a:endParaRPr/>
          </a:p>
        </p:txBody>
      </p:sp>
      <p:sp>
        <p:nvSpPr>
          <p:cNvPr id="114" name="Google Shape;114;p11"/>
          <p:cNvSpPr txBox="1"/>
          <p:nvPr>
            <p:ph idx="1" type="body"/>
          </p:nvPr>
        </p:nvSpPr>
        <p:spPr>
          <a:xfrm>
            <a:off x="762000" y="1377950"/>
            <a:ext cx="7351712" cy="44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Routine is not loaded until it is called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Better memory-space utilization; unused routine is never loaded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Useful when large amounts of code are needed to handle infrequently occurring cases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 special support from the operating system is required implemented through program design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8F8F8"/>
            </a:gs>
            <a:gs pos="100000">
              <a:srgbClr val="CCECFF"/>
            </a:gs>
          </a:gsLst>
          <a:lin ang="5400000" scaled="0"/>
        </a:gra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2"/>
          <p:cNvSpPr txBox="1"/>
          <p:nvPr>
            <p:ph type="title"/>
          </p:nvPr>
        </p:nvSpPr>
        <p:spPr>
          <a:xfrm>
            <a:off x="685800" y="22860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Dynamic Linking</a:t>
            </a:r>
            <a:endParaRPr/>
          </a:p>
        </p:txBody>
      </p:sp>
      <p:sp>
        <p:nvSpPr>
          <p:cNvPr id="120" name="Google Shape;120;p12"/>
          <p:cNvSpPr txBox="1"/>
          <p:nvPr>
            <p:ph idx="1" type="body"/>
          </p:nvPr>
        </p:nvSpPr>
        <p:spPr>
          <a:xfrm>
            <a:off x="762000" y="1377950"/>
            <a:ext cx="6734175" cy="43418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Linking postponed until execution time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Small piece of code,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stub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used to locate the appropriate memory-resident library routine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Stub replaces itself with the address of the routine, and executes the routine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Operating system needed to check if routine is in processes’ memory address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Dynamic linking is particularly useful for libraries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System also known as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shared libraries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8F8F8"/>
            </a:gs>
            <a:gs pos="100000">
              <a:srgbClr val="CCECFF"/>
            </a:gs>
          </a:gsLst>
          <a:lin ang="5400000" scaled="0"/>
        </a:gra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3"/>
          <p:cNvSpPr txBox="1"/>
          <p:nvPr>
            <p:ph type="title"/>
          </p:nvPr>
        </p:nvSpPr>
        <p:spPr>
          <a:xfrm>
            <a:off x="685800" y="22860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Swapping</a:t>
            </a:r>
            <a:endParaRPr/>
          </a:p>
        </p:txBody>
      </p:sp>
      <p:sp>
        <p:nvSpPr>
          <p:cNvPr id="126" name="Google Shape;126;p13"/>
          <p:cNvSpPr txBox="1"/>
          <p:nvPr>
            <p:ph idx="1" type="body"/>
          </p:nvPr>
        </p:nvSpPr>
        <p:spPr>
          <a:xfrm>
            <a:off x="762000" y="1377950"/>
            <a:ext cx="7351712" cy="44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1440"/>
              <a:buFont typeface="Arial"/>
              <a:buChar char="●"/>
            </a:pP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process can be swapped temporarily out of memory to a backing store, and then brought back into memory for continued execution</a:t>
            </a:r>
            <a:b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rgbClr val="993300"/>
              </a:buClr>
              <a:buSzPts val="1440"/>
              <a:buFont typeface="Arial"/>
              <a:buChar char="●"/>
            </a:pPr>
            <a:r>
              <a:rPr b="1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Backing store</a:t>
            </a: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– fast disk large enough to accommodate copies of all memory images for all users; must provide direct access to these memory images</a:t>
            </a:r>
            <a:b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rgbClr val="993300"/>
              </a:buClr>
              <a:buSzPts val="1440"/>
              <a:buFont typeface="Arial"/>
              <a:buChar char="●"/>
            </a:pPr>
            <a:r>
              <a:rPr b="1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Roll out, roll in</a:t>
            </a: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– swapping variant used for priority-based scheduling algorithms; lower-priority process is swapped out so higher-priority process can be loaded and executed</a:t>
            </a:r>
            <a:b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rgbClr val="993300"/>
              </a:buClr>
              <a:buSzPts val="1440"/>
              <a:buFont typeface="Arial"/>
              <a:buChar char="●"/>
            </a:pP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Major part of swap time is transfer time; total transfer time is directly proportional to the amount of memory swapped</a:t>
            </a:r>
            <a:b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rgbClr val="993300"/>
              </a:buClr>
              <a:buSzPts val="1440"/>
              <a:buFont typeface="Arial"/>
              <a:buChar char="●"/>
            </a:pP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Modified versions of swapping are found on many systems (i.e., UNIX, Linux, and Windows)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rgbClr val="993300"/>
              </a:buClr>
              <a:buSzPts val="1440"/>
              <a:buFont typeface="Arial"/>
              <a:buChar char="●"/>
            </a:pP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System maintains a </a:t>
            </a:r>
            <a:r>
              <a:rPr b="1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ready queue</a:t>
            </a: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of ready-to-run processes which have memory images on disk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8F8F8"/>
            </a:gs>
            <a:gs pos="100000">
              <a:srgbClr val="CCECFF"/>
            </a:gs>
          </a:gsLst>
          <a:lin ang="5400000" scaled="0"/>
        </a:gra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4"/>
          <p:cNvSpPr txBox="1"/>
          <p:nvPr>
            <p:ph type="title"/>
          </p:nvPr>
        </p:nvSpPr>
        <p:spPr>
          <a:xfrm>
            <a:off x="685800" y="22860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Schematic View of Swapping</a:t>
            </a:r>
            <a:endParaRPr/>
          </a:p>
        </p:txBody>
      </p:sp>
      <p:pic>
        <p:nvPicPr>
          <p:cNvPr id="132" name="Google Shape;132;p14"/>
          <p:cNvPicPr preferRelativeResize="0"/>
          <p:nvPr/>
        </p:nvPicPr>
        <p:blipFill rotWithShape="1">
          <a:blip r:embed="rId3">
            <a:alphaModFix/>
          </a:blip>
          <a:srcRect b="1297" l="743" r="486" t="341"/>
          <a:stretch/>
        </p:blipFill>
        <p:spPr>
          <a:xfrm>
            <a:off x="1722437" y="1692275"/>
            <a:ext cx="5578475" cy="4165600"/>
          </a:xfrm>
          <a:prstGeom prst="rect">
            <a:avLst/>
          </a:prstGeom>
          <a:noFill/>
          <a:ln cap="flat" cmpd="dbl" w="38100">
            <a:solidFill>
              <a:srgbClr val="CC6600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8F8F8"/>
            </a:gs>
            <a:gs pos="100000">
              <a:srgbClr val="CCECFF"/>
            </a:gs>
          </a:gsLst>
          <a:lin ang="5400000" scaled="0"/>
        </a:gra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5"/>
          <p:cNvSpPr txBox="1"/>
          <p:nvPr>
            <p:ph type="title"/>
          </p:nvPr>
        </p:nvSpPr>
        <p:spPr>
          <a:xfrm>
            <a:off x="685800" y="22860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Contiguous Allocation</a:t>
            </a:r>
            <a:endParaRPr/>
          </a:p>
        </p:txBody>
      </p:sp>
      <p:sp>
        <p:nvSpPr>
          <p:cNvPr id="138" name="Google Shape;138;p15"/>
          <p:cNvSpPr txBox="1"/>
          <p:nvPr>
            <p:ph idx="1" type="body"/>
          </p:nvPr>
        </p:nvSpPr>
        <p:spPr>
          <a:xfrm>
            <a:off x="762000" y="1377950"/>
            <a:ext cx="7037387" cy="4511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Main memory usually into two partitions: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Resident operating system, usually held in low memory with interrupt vector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User processes then held in high memory</a:t>
            </a:r>
            <a:b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Relocation registers used to protect user processes from each other, and from changing operating-system code and data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Base register contains value of smallest physical address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Limit register contains range of logical addresses – each logical address must be less than the limit register 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MMU maps logical address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dynamically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8F8F8"/>
            </a:gs>
            <a:gs pos="100000">
              <a:srgbClr val="CCECFF"/>
            </a:gs>
          </a:gsLst>
          <a:lin ang="5400000" scaled="0"/>
        </a:gra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6"/>
          <p:cNvSpPr txBox="1"/>
          <p:nvPr>
            <p:ph type="title"/>
          </p:nvPr>
        </p:nvSpPr>
        <p:spPr>
          <a:xfrm>
            <a:off x="317500" y="228600"/>
            <a:ext cx="9018587" cy="5953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2400"/>
              <a:buFont typeface="Helvetica Neue"/>
              <a:buNone/>
            </a:pPr>
            <a:r>
              <a:rPr b="1" i="0" lang="en-US" sz="2400" u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HW address protection with base and limit registers</a:t>
            </a:r>
            <a:endParaRPr/>
          </a:p>
        </p:txBody>
      </p:sp>
      <p:pic>
        <p:nvPicPr>
          <p:cNvPr id="144" name="Google Shape;144;p16"/>
          <p:cNvPicPr preferRelativeResize="0"/>
          <p:nvPr/>
        </p:nvPicPr>
        <p:blipFill rotWithShape="1">
          <a:blip r:embed="rId3">
            <a:alphaModFix/>
          </a:blip>
          <a:srcRect b="21426" l="465" r="441" t="20837"/>
          <a:stretch/>
        </p:blipFill>
        <p:spPr>
          <a:xfrm>
            <a:off x="1389062" y="2455862"/>
            <a:ext cx="6261100" cy="2736850"/>
          </a:xfrm>
          <a:prstGeom prst="rect">
            <a:avLst/>
          </a:prstGeom>
          <a:noFill/>
          <a:ln cap="flat" cmpd="dbl" w="38100">
            <a:solidFill>
              <a:srgbClr val="CC6600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8F8F8"/>
            </a:gs>
            <a:gs pos="100000">
              <a:srgbClr val="CCECFF"/>
            </a:gs>
          </a:gsLst>
          <a:lin ang="5400000" scaled="0"/>
        </a:gra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7"/>
          <p:cNvSpPr txBox="1"/>
          <p:nvPr>
            <p:ph type="title"/>
          </p:nvPr>
        </p:nvSpPr>
        <p:spPr>
          <a:xfrm>
            <a:off x="685800" y="22860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Contiguous Allocation (Cont.)</a:t>
            </a:r>
            <a:endParaRPr/>
          </a:p>
        </p:txBody>
      </p:sp>
      <p:sp>
        <p:nvSpPr>
          <p:cNvPr id="150" name="Google Shape;150;p17"/>
          <p:cNvSpPr txBox="1"/>
          <p:nvPr>
            <p:ph idx="1" type="body"/>
          </p:nvPr>
        </p:nvSpPr>
        <p:spPr>
          <a:xfrm>
            <a:off x="762000" y="1335087"/>
            <a:ext cx="7351712" cy="26050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Multiple-partition allocation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Hole – block of available memory; holes of various size are scattered throughout memory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When a process arrives, it is allocated memory from a hole large enough to accommodate it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Operating system maintains information about: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a) allocated partitions    b) free partitions (hole)</a:t>
            </a:r>
            <a:endParaRPr/>
          </a:p>
        </p:txBody>
      </p:sp>
      <p:sp>
        <p:nvSpPr>
          <p:cNvPr id="151" name="Google Shape;151;p17"/>
          <p:cNvSpPr/>
          <p:nvPr/>
        </p:nvSpPr>
        <p:spPr>
          <a:xfrm>
            <a:off x="1104900" y="4067175"/>
            <a:ext cx="1143000" cy="213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52" name="Google Shape;152;p17"/>
          <p:cNvCxnSpPr/>
          <p:nvPr/>
        </p:nvCxnSpPr>
        <p:spPr>
          <a:xfrm>
            <a:off x="1104900" y="4430712"/>
            <a:ext cx="1143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53" name="Google Shape;153;p17"/>
          <p:cNvCxnSpPr/>
          <p:nvPr/>
        </p:nvCxnSpPr>
        <p:spPr>
          <a:xfrm>
            <a:off x="1104900" y="4841875"/>
            <a:ext cx="1143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54" name="Google Shape;154;p17"/>
          <p:cNvCxnSpPr/>
          <p:nvPr/>
        </p:nvCxnSpPr>
        <p:spPr>
          <a:xfrm>
            <a:off x="1104900" y="5773737"/>
            <a:ext cx="1143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55" name="Google Shape;155;p17"/>
          <p:cNvSpPr txBox="1"/>
          <p:nvPr/>
        </p:nvSpPr>
        <p:spPr>
          <a:xfrm>
            <a:off x="1409700" y="4067175"/>
            <a:ext cx="4413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</a:pPr>
            <a:r>
              <a:rPr b="0" i="0" lang="en-US" sz="14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OS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1104900" y="4511675"/>
            <a:ext cx="1066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</a:pPr>
            <a:r>
              <a:rPr b="0" i="0" lang="en-US" sz="14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process 5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1104900" y="5194300"/>
            <a:ext cx="1066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</a:pPr>
            <a:r>
              <a:rPr b="0" i="0" lang="en-US" sz="14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process 8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1104900" y="5791200"/>
            <a:ext cx="1066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</a:pPr>
            <a:r>
              <a:rPr b="0" i="0" lang="en-US" sz="14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process 2</a:t>
            </a:r>
            <a:endParaRPr/>
          </a:p>
        </p:txBody>
      </p:sp>
      <p:sp>
        <p:nvSpPr>
          <p:cNvPr id="159" name="Google Shape;159;p17"/>
          <p:cNvSpPr/>
          <p:nvPr/>
        </p:nvSpPr>
        <p:spPr>
          <a:xfrm>
            <a:off x="2933700" y="4067175"/>
            <a:ext cx="1143000" cy="213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60" name="Google Shape;160;p17"/>
          <p:cNvCxnSpPr/>
          <p:nvPr/>
        </p:nvCxnSpPr>
        <p:spPr>
          <a:xfrm>
            <a:off x="2933700" y="4430712"/>
            <a:ext cx="1143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61" name="Google Shape;161;p17"/>
          <p:cNvCxnSpPr/>
          <p:nvPr/>
        </p:nvCxnSpPr>
        <p:spPr>
          <a:xfrm>
            <a:off x="2933700" y="4841875"/>
            <a:ext cx="1143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62" name="Google Shape;162;p17"/>
          <p:cNvCxnSpPr/>
          <p:nvPr/>
        </p:nvCxnSpPr>
        <p:spPr>
          <a:xfrm>
            <a:off x="2933700" y="5773737"/>
            <a:ext cx="1143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63" name="Google Shape;163;p17"/>
          <p:cNvSpPr txBox="1"/>
          <p:nvPr/>
        </p:nvSpPr>
        <p:spPr>
          <a:xfrm>
            <a:off x="3238500" y="4067175"/>
            <a:ext cx="4413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</a:pPr>
            <a:r>
              <a:rPr b="0" i="0" lang="en-US" sz="14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OS</a:t>
            </a:r>
            <a:endParaRPr/>
          </a:p>
        </p:txBody>
      </p:sp>
      <p:sp>
        <p:nvSpPr>
          <p:cNvPr id="164" name="Google Shape;164;p17"/>
          <p:cNvSpPr txBox="1"/>
          <p:nvPr/>
        </p:nvSpPr>
        <p:spPr>
          <a:xfrm>
            <a:off x="2933700" y="4511675"/>
            <a:ext cx="1066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</a:pPr>
            <a:r>
              <a:rPr b="0" i="0" lang="en-US" sz="14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process 5</a:t>
            </a:r>
            <a:endParaRPr/>
          </a:p>
        </p:txBody>
      </p:sp>
      <p:sp>
        <p:nvSpPr>
          <p:cNvPr id="165" name="Google Shape;165;p17"/>
          <p:cNvSpPr txBox="1"/>
          <p:nvPr/>
        </p:nvSpPr>
        <p:spPr>
          <a:xfrm>
            <a:off x="2933700" y="5791200"/>
            <a:ext cx="1066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</a:pPr>
            <a:r>
              <a:rPr b="0" i="0" lang="en-US" sz="14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process 2</a:t>
            </a:r>
            <a:endParaRPr/>
          </a:p>
        </p:txBody>
      </p:sp>
      <p:sp>
        <p:nvSpPr>
          <p:cNvPr id="166" name="Google Shape;166;p17"/>
          <p:cNvSpPr/>
          <p:nvPr/>
        </p:nvSpPr>
        <p:spPr>
          <a:xfrm>
            <a:off x="4762500" y="4067175"/>
            <a:ext cx="1143000" cy="213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67" name="Google Shape;167;p17"/>
          <p:cNvCxnSpPr/>
          <p:nvPr/>
        </p:nvCxnSpPr>
        <p:spPr>
          <a:xfrm>
            <a:off x="4762500" y="4430712"/>
            <a:ext cx="1143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68" name="Google Shape;168;p17"/>
          <p:cNvCxnSpPr/>
          <p:nvPr/>
        </p:nvCxnSpPr>
        <p:spPr>
          <a:xfrm>
            <a:off x="4762500" y="4841875"/>
            <a:ext cx="1143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69" name="Google Shape;169;p17"/>
          <p:cNvCxnSpPr/>
          <p:nvPr/>
        </p:nvCxnSpPr>
        <p:spPr>
          <a:xfrm>
            <a:off x="4762500" y="5773737"/>
            <a:ext cx="1143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70" name="Google Shape;170;p17"/>
          <p:cNvSpPr txBox="1"/>
          <p:nvPr/>
        </p:nvSpPr>
        <p:spPr>
          <a:xfrm>
            <a:off x="5067300" y="4067175"/>
            <a:ext cx="4413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</a:pPr>
            <a:r>
              <a:rPr b="0" i="0" lang="en-US" sz="14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OS</a:t>
            </a:r>
            <a:endParaRPr/>
          </a:p>
        </p:txBody>
      </p:sp>
      <p:sp>
        <p:nvSpPr>
          <p:cNvPr id="171" name="Google Shape;171;p17"/>
          <p:cNvSpPr txBox="1"/>
          <p:nvPr/>
        </p:nvSpPr>
        <p:spPr>
          <a:xfrm>
            <a:off x="4762500" y="4511675"/>
            <a:ext cx="1066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</a:pPr>
            <a:r>
              <a:rPr b="0" i="0" lang="en-US" sz="14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process 5</a:t>
            </a:r>
            <a:endParaRPr/>
          </a:p>
        </p:txBody>
      </p:sp>
      <p:sp>
        <p:nvSpPr>
          <p:cNvPr id="172" name="Google Shape;172;p17"/>
          <p:cNvSpPr txBox="1"/>
          <p:nvPr/>
        </p:nvSpPr>
        <p:spPr>
          <a:xfrm>
            <a:off x="4762500" y="5791200"/>
            <a:ext cx="1066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</a:pPr>
            <a:r>
              <a:rPr b="0" i="0" lang="en-US" sz="14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process 2</a:t>
            </a:r>
            <a:endParaRPr/>
          </a:p>
        </p:txBody>
      </p:sp>
      <p:sp>
        <p:nvSpPr>
          <p:cNvPr id="173" name="Google Shape;173;p17"/>
          <p:cNvSpPr/>
          <p:nvPr/>
        </p:nvSpPr>
        <p:spPr>
          <a:xfrm>
            <a:off x="6591300" y="4067175"/>
            <a:ext cx="1143000" cy="213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74" name="Google Shape;174;p17"/>
          <p:cNvCxnSpPr/>
          <p:nvPr/>
        </p:nvCxnSpPr>
        <p:spPr>
          <a:xfrm>
            <a:off x="6591300" y="4430712"/>
            <a:ext cx="1143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75" name="Google Shape;175;p17"/>
          <p:cNvCxnSpPr/>
          <p:nvPr/>
        </p:nvCxnSpPr>
        <p:spPr>
          <a:xfrm>
            <a:off x="6591300" y="4841875"/>
            <a:ext cx="1143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76" name="Google Shape;176;p17"/>
          <p:cNvCxnSpPr/>
          <p:nvPr/>
        </p:nvCxnSpPr>
        <p:spPr>
          <a:xfrm>
            <a:off x="6591300" y="5773737"/>
            <a:ext cx="1143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77" name="Google Shape;177;p17"/>
          <p:cNvSpPr txBox="1"/>
          <p:nvPr/>
        </p:nvSpPr>
        <p:spPr>
          <a:xfrm>
            <a:off x="6896100" y="4067175"/>
            <a:ext cx="4413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</a:pPr>
            <a:r>
              <a:rPr b="0" i="0" lang="en-US" sz="14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OS</a:t>
            </a:r>
            <a:endParaRPr/>
          </a:p>
        </p:txBody>
      </p:sp>
      <p:sp>
        <p:nvSpPr>
          <p:cNvPr id="178" name="Google Shape;178;p17"/>
          <p:cNvSpPr txBox="1"/>
          <p:nvPr/>
        </p:nvSpPr>
        <p:spPr>
          <a:xfrm>
            <a:off x="6591300" y="4511675"/>
            <a:ext cx="1066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</a:pPr>
            <a:r>
              <a:rPr b="0" i="0" lang="en-US" sz="14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process 5</a:t>
            </a:r>
            <a:endParaRPr/>
          </a:p>
        </p:txBody>
      </p:sp>
      <p:sp>
        <p:nvSpPr>
          <p:cNvPr id="179" name="Google Shape;179;p17"/>
          <p:cNvSpPr txBox="1"/>
          <p:nvPr/>
        </p:nvSpPr>
        <p:spPr>
          <a:xfrm>
            <a:off x="6591300" y="4829175"/>
            <a:ext cx="1066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</a:pPr>
            <a:r>
              <a:rPr b="0" i="0" lang="en-US" sz="14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process 9</a:t>
            </a:r>
            <a:endParaRPr/>
          </a:p>
        </p:txBody>
      </p:sp>
      <p:sp>
        <p:nvSpPr>
          <p:cNvPr id="180" name="Google Shape;180;p17"/>
          <p:cNvSpPr txBox="1"/>
          <p:nvPr/>
        </p:nvSpPr>
        <p:spPr>
          <a:xfrm>
            <a:off x="6591300" y="5791200"/>
            <a:ext cx="1066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</a:pPr>
            <a:r>
              <a:rPr b="0" i="0" lang="en-US" sz="14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process 2</a:t>
            </a:r>
            <a:endParaRPr/>
          </a:p>
        </p:txBody>
      </p:sp>
      <p:sp>
        <p:nvSpPr>
          <p:cNvPr id="181" name="Google Shape;181;p17"/>
          <p:cNvSpPr/>
          <p:nvPr/>
        </p:nvSpPr>
        <p:spPr>
          <a:xfrm>
            <a:off x="2933700" y="4829175"/>
            <a:ext cx="1143000" cy="990600"/>
          </a:xfrm>
          <a:prstGeom prst="rect">
            <a:avLst/>
          </a:prstGeom>
          <a:solidFill>
            <a:srgbClr val="DDDDDD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2" name="Google Shape;182;p17"/>
          <p:cNvSpPr/>
          <p:nvPr/>
        </p:nvSpPr>
        <p:spPr>
          <a:xfrm>
            <a:off x="4762500" y="5210175"/>
            <a:ext cx="1143000" cy="609600"/>
          </a:xfrm>
          <a:prstGeom prst="rect">
            <a:avLst/>
          </a:prstGeom>
          <a:solidFill>
            <a:srgbClr val="DDDDDD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3" name="Google Shape;183;p17"/>
          <p:cNvSpPr txBox="1"/>
          <p:nvPr/>
        </p:nvSpPr>
        <p:spPr>
          <a:xfrm>
            <a:off x="4762500" y="4829175"/>
            <a:ext cx="1066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</a:pPr>
            <a:r>
              <a:rPr b="0" i="0" lang="en-US" sz="14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process 9</a:t>
            </a:r>
            <a:endParaRPr/>
          </a:p>
        </p:txBody>
      </p:sp>
      <p:sp>
        <p:nvSpPr>
          <p:cNvPr id="184" name="Google Shape;184;p17"/>
          <p:cNvSpPr/>
          <p:nvPr/>
        </p:nvSpPr>
        <p:spPr>
          <a:xfrm>
            <a:off x="6591300" y="5514975"/>
            <a:ext cx="1143000" cy="304800"/>
          </a:xfrm>
          <a:prstGeom prst="rect">
            <a:avLst/>
          </a:prstGeom>
          <a:solidFill>
            <a:srgbClr val="DDDDDD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85" name="Google Shape;185;p17"/>
          <p:cNvCxnSpPr/>
          <p:nvPr/>
        </p:nvCxnSpPr>
        <p:spPr>
          <a:xfrm>
            <a:off x="6591300" y="5165725"/>
            <a:ext cx="1143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86" name="Google Shape;186;p17"/>
          <p:cNvSpPr txBox="1"/>
          <p:nvPr/>
        </p:nvSpPr>
        <p:spPr>
          <a:xfrm>
            <a:off x="6591300" y="5210175"/>
            <a:ext cx="1066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</a:pPr>
            <a:r>
              <a:rPr b="0" i="0" lang="en-US" sz="14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process 10</a:t>
            </a:r>
            <a:endParaRPr/>
          </a:p>
        </p:txBody>
      </p:sp>
      <p:sp>
        <p:nvSpPr>
          <p:cNvPr id="187" name="Google Shape;187;p17"/>
          <p:cNvSpPr/>
          <p:nvPr/>
        </p:nvSpPr>
        <p:spPr>
          <a:xfrm>
            <a:off x="2324100" y="5210175"/>
            <a:ext cx="533400" cy="2286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8" name="Google Shape;188;p17"/>
          <p:cNvSpPr/>
          <p:nvPr/>
        </p:nvSpPr>
        <p:spPr>
          <a:xfrm>
            <a:off x="4152900" y="5210175"/>
            <a:ext cx="533400" cy="2286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9" name="Google Shape;189;p17"/>
          <p:cNvSpPr/>
          <p:nvPr/>
        </p:nvSpPr>
        <p:spPr>
          <a:xfrm>
            <a:off x="5981700" y="5210175"/>
            <a:ext cx="533400" cy="2286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8F8F8"/>
            </a:gs>
            <a:gs pos="100000">
              <a:srgbClr val="CCECFF"/>
            </a:gs>
          </a:gsLst>
          <a:lin ang="5400000" scaled="0"/>
        </a:gra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8"/>
          <p:cNvSpPr txBox="1"/>
          <p:nvPr>
            <p:ph type="title"/>
          </p:nvPr>
        </p:nvSpPr>
        <p:spPr>
          <a:xfrm>
            <a:off x="685800" y="22860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Dynamic Storage-Allocation Problem</a:t>
            </a:r>
            <a:endParaRPr/>
          </a:p>
        </p:txBody>
      </p:sp>
      <p:sp>
        <p:nvSpPr>
          <p:cNvPr id="195" name="Google Shape;195;p18"/>
          <p:cNvSpPr txBox="1"/>
          <p:nvPr>
            <p:ph idx="1" type="body"/>
          </p:nvPr>
        </p:nvSpPr>
        <p:spPr>
          <a:xfrm>
            <a:off x="850900" y="1914525"/>
            <a:ext cx="6713537" cy="22685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First-fit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 Allocate the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first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hole that is big enough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Best-fit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 Allocate the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smallest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hole that is big enough; must search entire list, unless ordered by size  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Produces the smallest leftover hole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Worst-fit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 Allocate the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largest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hole; must also search entire list  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Produces the largest leftover hole</a:t>
            </a:r>
            <a:endParaRPr/>
          </a:p>
        </p:txBody>
      </p:sp>
      <p:sp>
        <p:nvSpPr>
          <p:cNvPr id="196" name="Google Shape;196;p18"/>
          <p:cNvSpPr txBox="1"/>
          <p:nvPr/>
        </p:nvSpPr>
        <p:spPr>
          <a:xfrm>
            <a:off x="762000" y="1377950"/>
            <a:ext cx="65341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</a:pP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How to satisfy a request of size </a:t>
            </a: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from a list of free holes</a:t>
            </a:r>
            <a:endParaRPr/>
          </a:p>
        </p:txBody>
      </p:sp>
      <p:sp>
        <p:nvSpPr>
          <p:cNvPr id="197" name="Google Shape;197;p18"/>
          <p:cNvSpPr txBox="1"/>
          <p:nvPr/>
        </p:nvSpPr>
        <p:spPr>
          <a:xfrm>
            <a:off x="762000" y="4333875"/>
            <a:ext cx="6530975" cy="70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</a:pP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First-fit and best-fit better than worst-fit in terms of speed and storage utilization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99f517bf6d_0_9"/>
          <p:cNvSpPr txBox="1"/>
          <p:nvPr>
            <p:ph type="title"/>
          </p:nvPr>
        </p:nvSpPr>
        <p:spPr>
          <a:xfrm>
            <a:off x="685800" y="228600"/>
            <a:ext cx="8077200" cy="6096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g399f517bf6d_0_9"/>
          <p:cNvSpPr txBox="1"/>
          <p:nvPr>
            <p:ph idx="1" type="body"/>
          </p:nvPr>
        </p:nvSpPr>
        <p:spPr>
          <a:xfrm>
            <a:off x="827087" y="1282700"/>
            <a:ext cx="7351800" cy="4483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630"/>
              </a:spcBef>
              <a:spcAft>
                <a:spcPts val="0"/>
              </a:spcAft>
              <a:buNone/>
            </a:pPr>
            <a:r>
              <a:rPr lang="en-US"/>
              <a:t>Given six memory partitions of 300 KB, 600 KB, 350 KB, 200 KB, 750 KB, and 125 KB (in order), how would the first-fit, best-fit, and worst-fit algorithms place processes of size 115 KB, 500 KB, 358 KB, 200 KB, and 375 KB (in order)?</a:t>
            </a:r>
            <a:endParaRPr/>
          </a:p>
          <a:p>
            <a:pPr indent="0" lvl="0" marL="0" rtl="0" algn="l">
              <a:spcBef>
                <a:spcPts val="63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3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30"/>
              </a:spcBef>
              <a:spcAft>
                <a:spcPts val="0"/>
              </a:spcAft>
              <a:buNone/>
            </a:pPr>
            <a:r>
              <a:rPr lang="en-US"/>
              <a:t>First-Fit:  </a:t>
            </a:r>
            <a:r>
              <a:rPr lang="en-US"/>
              <a:t>300 KB (remaining size 185 KB)</a:t>
            </a:r>
            <a:endParaRPr/>
          </a:p>
          <a:p>
            <a:pPr indent="0" lvl="0" marL="0" rtl="0" algn="l">
              <a:spcBef>
                <a:spcPts val="630"/>
              </a:spcBef>
              <a:spcAft>
                <a:spcPts val="0"/>
              </a:spcAft>
              <a:buNone/>
            </a:pPr>
            <a:r>
              <a:rPr lang="en-US"/>
              <a:t>Best Fit: 125 KB (remaining size 10 KB)</a:t>
            </a:r>
            <a:endParaRPr/>
          </a:p>
          <a:p>
            <a:pPr indent="0" lvl="0" marL="0" rtl="0" algn="l">
              <a:spcBef>
                <a:spcPts val="630"/>
              </a:spcBef>
              <a:spcAft>
                <a:spcPts val="0"/>
              </a:spcAft>
              <a:buNone/>
            </a:pPr>
            <a:r>
              <a:rPr lang="en-US"/>
              <a:t>Worst Fit: 750 KB (remaining size 635 KB)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8F8F8"/>
            </a:gs>
            <a:gs pos="100000">
              <a:srgbClr val="CCECFF"/>
            </a:gs>
          </a:gsLst>
          <a:lin ang="5400000" scaled="0"/>
        </a:gra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9"/>
          <p:cNvSpPr txBox="1"/>
          <p:nvPr>
            <p:ph type="title"/>
          </p:nvPr>
        </p:nvSpPr>
        <p:spPr>
          <a:xfrm>
            <a:off x="685800" y="22860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Fragmentation</a:t>
            </a:r>
            <a:endParaRPr/>
          </a:p>
        </p:txBody>
      </p:sp>
      <p:sp>
        <p:nvSpPr>
          <p:cNvPr id="211" name="Google Shape;211;p19"/>
          <p:cNvSpPr txBox="1"/>
          <p:nvPr>
            <p:ph idx="1" type="body"/>
          </p:nvPr>
        </p:nvSpPr>
        <p:spPr>
          <a:xfrm>
            <a:off x="762000" y="1377950"/>
            <a:ext cx="7351712" cy="44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External Fragmentation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– total memory space exists to satisfy a request, but it is not contiguous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Internal Fragmentation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– allocated memory may be slightly larger than requested memory; this size difference is memory internal to a partition, but not being used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Reduce external fragmentation by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compaction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Shuffle memory contents to place all free memory together in one large block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Compaction is possible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only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if relocation is dynamic, and is done at execution time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I/O problem</a:t>
            </a:r>
            <a:endParaRPr/>
          </a:p>
          <a:p>
            <a:pPr indent="-228600" lvl="2" marL="10858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009900"/>
              </a:buClr>
              <a:buSzPts val="1350"/>
              <a:buFont typeface="Arimo"/>
              <a:buChar char="4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Latch job in memory while it is involved in I/O</a:t>
            </a:r>
            <a:endParaRPr/>
          </a:p>
          <a:p>
            <a:pPr indent="-228600" lvl="2" marL="10858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009900"/>
              </a:buClr>
              <a:buSzPts val="1350"/>
              <a:buFont typeface="Arimo"/>
              <a:buChar char="4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Do I/O only into OS buffers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8F8F8"/>
            </a:gs>
            <a:gs pos="100000">
              <a:srgbClr val="CCECFF"/>
            </a:gs>
          </a:gsLst>
          <a:lin ang="5400000" scaled="0"/>
        </a:gra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0"/>
          <p:cNvSpPr txBox="1"/>
          <p:nvPr>
            <p:ph type="title"/>
          </p:nvPr>
        </p:nvSpPr>
        <p:spPr>
          <a:xfrm>
            <a:off x="685800" y="22860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Paging</a:t>
            </a:r>
            <a:endParaRPr/>
          </a:p>
        </p:txBody>
      </p:sp>
      <p:sp>
        <p:nvSpPr>
          <p:cNvPr id="217" name="Google Shape;217;p20"/>
          <p:cNvSpPr txBox="1"/>
          <p:nvPr>
            <p:ph idx="1" type="body"/>
          </p:nvPr>
        </p:nvSpPr>
        <p:spPr>
          <a:xfrm>
            <a:off x="919162" y="1449387"/>
            <a:ext cx="6883400" cy="4524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Logical address space of a process can be noncontiguous; process is allocated physical memory whenever the latter is available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Divide physical memory into fixed-sized blocks called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frames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(size is power of 2, between 512 bytes and 8,192 bytes)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Divide logical memory into blocks of same size called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pages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Keep track of all free frames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 run a program of size </a:t>
            </a:r>
            <a:r>
              <a:rPr b="1" i="1" lang="en-US" sz="1800" u="none">
                <a:solidFill>
                  <a:srgbClr val="FF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pages, need to find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free frames and load program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Set up a page table to translate logical to physical addresses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Internal fragmentation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8F8F8"/>
            </a:gs>
            <a:gs pos="100000">
              <a:srgbClr val="CCECFF"/>
            </a:gs>
          </a:gsLst>
          <a:lin ang="5400000" scaled="0"/>
        </a:gra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1"/>
          <p:cNvSpPr txBox="1"/>
          <p:nvPr>
            <p:ph type="title"/>
          </p:nvPr>
        </p:nvSpPr>
        <p:spPr>
          <a:xfrm>
            <a:off x="685800" y="22860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Address Translation Scheme</a:t>
            </a:r>
            <a:endParaRPr/>
          </a:p>
        </p:txBody>
      </p:sp>
      <p:sp>
        <p:nvSpPr>
          <p:cNvPr id="223" name="Google Shape;223;p21"/>
          <p:cNvSpPr txBox="1"/>
          <p:nvPr>
            <p:ph idx="1" type="body"/>
          </p:nvPr>
        </p:nvSpPr>
        <p:spPr>
          <a:xfrm>
            <a:off x="762000" y="1377950"/>
            <a:ext cx="6689725" cy="44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1440"/>
              <a:buFont typeface="Arial"/>
              <a:buChar char="●"/>
            </a:pP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Address generated by CPU is divided into:</a:t>
            </a:r>
            <a:b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C6600"/>
              </a:buClr>
              <a:buSzPts val="1280"/>
              <a:buFont typeface="Arial"/>
              <a:buChar char="●"/>
            </a:pPr>
            <a:r>
              <a:rPr b="1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Page number (</a:t>
            </a:r>
            <a:r>
              <a:rPr b="1" i="1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</a:t>
            </a:r>
            <a:r>
              <a:rPr b="1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– used as an index into a </a:t>
            </a:r>
            <a:r>
              <a:rPr b="0" i="1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page</a:t>
            </a:r>
            <a: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1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table</a:t>
            </a:r>
            <a: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which contains base address of each page in physical memory</a:t>
            </a:r>
            <a:b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C6600"/>
              </a:buClr>
              <a:buSzPts val="1280"/>
              <a:buFont typeface="Arial"/>
              <a:buChar char="●"/>
            </a:pPr>
            <a:r>
              <a:rPr b="1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Page offset (d)</a:t>
            </a:r>
            <a: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– combined with base address to define the physical memory address that is sent to the memory unit</a:t>
            </a:r>
            <a:endParaRPr/>
          </a:p>
          <a:p>
            <a:pPr indent="-204469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C6600"/>
              </a:buClr>
              <a:buSzPts val="128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04469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C6600"/>
              </a:buClr>
              <a:buSzPts val="128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04469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C6600"/>
              </a:buClr>
              <a:buSzPts val="128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04469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C6600"/>
              </a:buClr>
              <a:buSzPts val="128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04469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C6600"/>
              </a:buClr>
              <a:buSzPts val="128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C6600"/>
              </a:buClr>
              <a:buSzPts val="1280"/>
              <a:buFont typeface="Arial"/>
              <a:buChar char="●"/>
            </a:pPr>
            <a: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 given logical address space 2</a:t>
            </a:r>
            <a:r>
              <a:rPr b="0" baseline="30000" i="1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 </a:t>
            </a:r>
            <a:r>
              <a:rPr b="0" i="1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and page size</a:t>
            </a:r>
            <a:r>
              <a:rPr b="0" baseline="30000" i="1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1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b="0" baseline="3000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endParaRPr/>
          </a:p>
        </p:txBody>
      </p:sp>
      <p:sp>
        <p:nvSpPr>
          <p:cNvPr id="224" name="Google Shape;224;p21"/>
          <p:cNvSpPr/>
          <p:nvPr/>
        </p:nvSpPr>
        <p:spPr>
          <a:xfrm>
            <a:off x="2592387" y="3913187"/>
            <a:ext cx="3105150" cy="43815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25" name="Google Shape;225;p21"/>
          <p:cNvCxnSpPr/>
          <p:nvPr/>
        </p:nvCxnSpPr>
        <p:spPr>
          <a:xfrm>
            <a:off x="4225925" y="3570287"/>
            <a:ext cx="0" cy="762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226" name="Google Shape;226;p21"/>
          <p:cNvSpPr txBox="1"/>
          <p:nvPr/>
        </p:nvSpPr>
        <p:spPr>
          <a:xfrm>
            <a:off x="2433637" y="3481387"/>
            <a:ext cx="15303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page number</a:t>
            </a:r>
            <a:endParaRPr/>
          </a:p>
        </p:txBody>
      </p:sp>
      <p:sp>
        <p:nvSpPr>
          <p:cNvPr id="227" name="Google Shape;227;p21"/>
          <p:cNvSpPr txBox="1"/>
          <p:nvPr/>
        </p:nvSpPr>
        <p:spPr>
          <a:xfrm>
            <a:off x="4297362" y="3494087"/>
            <a:ext cx="13144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page offset</a:t>
            </a:r>
            <a:endParaRPr/>
          </a:p>
        </p:txBody>
      </p:sp>
      <p:sp>
        <p:nvSpPr>
          <p:cNvPr id="228" name="Google Shape;228;p21"/>
          <p:cNvSpPr txBox="1"/>
          <p:nvPr/>
        </p:nvSpPr>
        <p:spPr>
          <a:xfrm>
            <a:off x="3146425" y="3940175"/>
            <a:ext cx="311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</a:t>
            </a:r>
            <a:endParaRPr/>
          </a:p>
        </p:txBody>
      </p:sp>
      <p:sp>
        <p:nvSpPr>
          <p:cNvPr id="229" name="Google Shape;229;p21"/>
          <p:cNvSpPr txBox="1"/>
          <p:nvPr/>
        </p:nvSpPr>
        <p:spPr>
          <a:xfrm>
            <a:off x="4595812" y="3970337"/>
            <a:ext cx="311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</a:t>
            </a:r>
            <a:endParaRPr/>
          </a:p>
        </p:txBody>
      </p:sp>
      <p:sp>
        <p:nvSpPr>
          <p:cNvPr id="230" name="Google Shape;230;p21"/>
          <p:cNvSpPr txBox="1"/>
          <p:nvPr/>
        </p:nvSpPr>
        <p:spPr>
          <a:xfrm>
            <a:off x="2952750" y="4387850"/>
            <a:ext cx="7937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 - n</a:t>
            </a:r>
            <a:endParaRPr/>
          </a:p>
        </p:txBody>
      </p:sp>
      <p:sp>
        <p:nvSpPr>
          <p:cNvPr id="231" name="Google Shape;231;p21"/>
          <p:cNvSpPr txBox="1"/>
          <p:nvPr/>
        </p:nvSpPr>
        <p:spPr>
          <a:xfrm>
            <a:off x="4549775" y="4397375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8F8F8"/>
            </a:gs>
            <a:gs pos="100000">
              <a:srgbClr val="CCECFF"/>
            </a:gs>
          </a:gsLst>
          <a:lin ang="5400000" scaled="0"/>
        </a:gra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2"/>
          <p:cNvSpPr txBox="1"/>
          <p:nvPr>
            <p:ph type="title"/>
          </p:nvPr>
        </p:nvSpPr>
        <p:spPr>
          <a:xfrm>
            <a:off x="685800" y="22860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Paging Hardware</a:t>
            </a:r>
            <a:endParaRPr/>
          </a:p>
        </p:txBody>
      </p:sp>
      <p:pic>
        <p:nvPicPr>
          <p:cNvPr id="237" name="Google Shape;237;p22"/>
          <p:cNvPicPr preferRelativeResize="0"/>
          <p:nvPr/>
        </p:nvPicPr>
        <p:blipFill rotWithShape="1">
          <a:blip r:embed="rId3">
            <a:alphaModFix/>
          </a:blip>
          <a:srcRect b="11161" l="587" r="619" t="10748"/>
          <a:stretch/>
        </p:blipFill>
        <p:spPr>
          <a:xfrm>
            <a:off x="1233487" y="1506537"/>
            <a:ext cx="7251700" cy="4298950"/>
          </a:xfrm>
          <a:prstGeom prst="rect">
            <a:avLst/>
          </a:prstGeom>
          <a:noFill/>
          <a:ln cap="flat" cmpd="dbl" w="38100">
            <a:solidFill>
              <a:srgbClr val="CC6600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8F8F8"/>
            </a:gs>
            <a:gs pos="100000">
              <a:srgbClr val="CCECFF"/>
            </a:gs>
          </a:gsLst>
          <a:lin ang="5400000" scaled="0"/>
        </a:gra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3"/>
          <p:cNvSpPr txBox="1"/>
          <p:nvPr>
            <p:ph type="title"/>
          </p:nvPr>
        </p:nvSpPr>
        <p:spPr>
          <a:xfrm>
            <a:off x="685800" y="22860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2800"/>
              <a:buFont typeface="Helvetica Neue"/>
              <a:buNone/>
            </a:pPr>
            <a:r>
              <a:rPr b="1" i="0" lang="en-US" sz="2800" u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Paging Model of Logical and Physical Memory</a:t>
            </a:r>
            <a:endParaRPr/>
          </a:p>
        </p:txBody>
      </p:sp>
      <p:pic>
        <p:nvPicPr>
          <p:cNvPr id="243" name="Google Shape;243;p23"/>
          <p:cNvPicPr preferRelativeResize="0"/>
          <p:nvPr/>
        </p:nvPicPr>
        <p:blipFill rotWithShape="1">
          <a:blip r:embed="rId3">
            <a:alphaModFix/>
          </a:blip>
          <a:srcRect b="950" l="10390" r="10610" t="622"/>
          <a:stretch/>
        </p:blipFill>
        <p:spPr>
          <a:xfrm>
            <a:off x="2225675" y="1824037"/>
            <a:ext cx="4429125" cy="4138612"/>
          </a:xfrm>
          <a:prstGeom prst="rect">
            <a:avLst/>
          </a:prstGeom>
          <a:noFill/>
          <a:ln cap="flat" cmpd="dbl" w="38100">
            <a:solidFill>
              <a:srgbClr val="CC6600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8F8F8"/>
            </a:gs>
            <a:gs pos="100000">
              <a:srgbClr val="CCECFF"/>
            </a:gs>
          </a:gsLst>
          <a:lin ang="5400000" scaled="0"/>
        </a:gra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4"/>
          <p:cNvSpPr txBox="1"/>
          <p:nvPr>
            <p:ph type="title"/>
          </p:nvPr>
        </p:nvSpPr>
        <p:spPr>
          <a:xfrm>
            <a:off x="485775" y="22860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Paging Example</a:t>
            </a:r>
            <a:endParaRPr/>
          </a:p>
        </p:txBody>
      </p:sp>
      <p:pic>
        <p:nvPicPr>
          <p:cNvPr id="249" name="Google Shape;249;p24"/>
          <p:cNvPicPr preferRelativeResize="0"/>
          <p:nvPr/>
        </p:nvPicPr>
        <p:blipFill rotWithShape="1">
          <a:blip r:embed="rId3">
            <a:alphaModFix/>
          </a:blip>
          <a:srcRect b="638" l="19978" r="20578" t="639"/>
          <a:stretch/>
        </p:blipFill>
        <p:spPr>
          <a:xfrm>
            <a:off x="2663825" y="1411287"/>
            <a:ext cx="3617912" cy="4505325"/>
          </a:xfrm>
          <a:prstGeom prst="rect">
            <a:avLst/>
          </a:prstGeom>
          <a:noFill/>
          <a:ln cap="flat" cmpd="dbl" w="38100">
            <a:solidFill>
              <a:srgbClr val="CC6600"/>
            </a:solidFill>
            <a:prstDash val="solid"/>
            <a:miter lim="800000"/>
            <a:headEnd len="sm" w="sm" type="none"/>
            <a:tailEnd len="sm" w="sm" type="none"/>
          </a:ln>
        </p:spPr>
      </p:pic>
      <p:sp>
        <p:nvSpPr>
          <p:cNvPr id="250" name="Google Shape;250;p24"/>
          <p:cNvSpPr txBox="1"/>
          <p:nvPr/>
        </p:nvSpPr>
        <p:spPr>
          <a:xfrm>
            <a:off x="2506662" y="6107112"/>
            <a:ext cx="4078287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32-byte memory and 4-byte pages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8F8F8"/>
            </a:gs>
            <a:gs pos="100000">
              <a:srgbClr val="CCECFF"/>
            </a:gs>
          </a:gsLst>
          <a:lin ang="5400000" scaled="0"/>
        </a:gra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5"/>
          <p:cNvSpPr txBox="1"/>
          <p:nvPr>
            <p:ph type="title"/>
          </p:nvPr>
        </p:nvSpPr>
        <p:spPr>
          <a:xfrm>
            <a:off x="685800" y="22860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Free Frames</a:t>
            </a:r>
            <a:endParaRPr/>
          </a:p>
        </p:txBody>
      </p:sp>
      <p:sp>
        <p:nvSpPr>
          <p:cNvPr id="256" name="Google Shape;256;p25"/>
          <p:cNvSpPr txBox="1"/>
          <p:nvPr/>
        </p:nvSpPr>
        <p:spPr>
          <a:xfrm>
            <a:off x="1936750" y="6002337"/>
            <a:ext cx="18859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Before allocation</a:t>
            </a:r>
            <a:endParaRPr/>
          </a:p>
        </p:txBody>
      </p:sp>
      <p:sp>
        <p:nvSpPr>
          <p:cNvPr id="257" name="Google Shape;257;p25"/>
          <p:cNvSpPr txBox="1"/>
          <p:nvPr/>
        </p:nvSpPr>
        <p:spPr>
          <a:xfrm>
            <a:off x="5351462" y="5964237"/>
            <a:ext cx="16954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After allocation</a:t>
            </a:r>
            <a:endParaRPr/>
          </a:p>
        </p:txBody>
      </p:sp>
      <p:pic>
        <p:nvPicPr>
          <p:cNvPr id="258" name="Google Shape;258;p25"/>
          <p:cNvPicPr preferRelativeResize="0"/>
          <p:nvPr/>
        </p:nvPicPr>
        <p:blipFill rotWithShape="1">
          <a:blip r:embed="rId3">
            <a:alphaModFix/>
          </a:blip>
          <a:srcRect b="3086" l="698" r="698" t="2475"/>
          <a:stretch/>
        </p:blipFill>
        <p:spPr>
          <a:xfrm>
            <a:off x="1590675" y="1535112"/>
            <a:ext cx="5929312" cy="4257675"/>
          </a:xfrm>
          <a:prstGeom prst="rect">
            <a:avLst/>
          </a:prstGeom>
          <a:noFill/>
          <a:ln cap="flat" cmpd="dbl" w="38100">
            <a:solidFill>
              <a:srgbClr val="CC6600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8F8F8"/>
            </a:gs>
            <a:gs pos="100000">
              <a:srgbClr val="CCECFF"/>
            </a:gs>
          </a:gsLst>
          <a:lin ang="5400000" scaled="0"/>
        </a:gra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6"/>
          <p:cNvSpPr txBox="1"/>
          <p:nvPr>
            <p:ph type="title"/>
          </p:nvPr>
        </p:nvSpPr>
        <p:spPr>
          <a:xfrm>
            <a:off x="685800" y="22860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Implementation of Page Table</a:t>
            </a:r>
            <a:endParaRPr/>
          </a:p>
        </p:txBody>
      </p:sp>
      <p:sp>
        <p:nvSpPr>
          <p:cNvPr id="264" name="Google Shape;264;p26"/>
          <p:cNvSpPr txBox="1"/>
          <p:nvPr>
            <p:ph idx="1" type="body"/>
          </p:nvPr>
        </p:nvSpPr>
        <p:spPr>
          <a:xfrm>
            <a:off x="762000" y="1377950"/>
            <a:ext cx="6675437" cy="4454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Page table is kept in main memory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Page-table base register (PTBR)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points to the page table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Page-table length register (PRLR)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indicates size of the page table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 this scheme every data/instruction access requires two memory accesses.  One for the page table and one for the data/instruction.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two memory access problem can be solved by the use of a special fast-lookup hardware cache called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associative memory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or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translation look-aside buffers (TLBs)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Some TLBs store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address-space identifiers (ASIDs)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 each TLB entry – uniquely identifies each process to provide address-space protection for that process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8F8F8"/>
            </a:gs>
            <a:gs pos="100000">
              <a:srgbClr val="CCECFF"/>
            </a:gs>
          </a:gsLst>
          <a:lin ang="5400000" scaled="0"/>
        </a:gra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7"/>
          <p:cNvSpPr txBox="1"/>
          <p:nvPr>
            <p:ph type="title"/>
          </p:nvPr>
        </p:nvSpPr>
        <p:spPr>
          <a:xfrm>
            <a:off x="685800" y="22860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Associative Memory</a:t>
            </a:r>
            <a:endParaRPr/>
          </a:p>
        </p:txBody>
      </p:sp>
      <p:sp>
        <p:nvSpPr>
          <p:cNvPr id="270" name="Google Shape;270;p27"/>
          <p:cNvSpPr txBox="1"/>
          <p:nvPr>
            <p:ph idx="1" type="body"/>
          </p:nvPr>
        </p:nvSpPr>
        <p:spPr>
          <a:xfrm>
            <a:off x="762000" y="1306512"/>
            <a:ext cx="7351712" cy="44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Associative memory – parallel search </a:t>
            </a:r>
            <a:endParaRPr/>
          </a:p>
          <a:p>
            <a:pPr indent="-24003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4003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4003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4003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4003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Address translation (p, d)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If p is in associative register, get frame # out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Otherwise get frame # from page table in memory</a:t>
            </a:r>
            <a:endParaRPr/>
          </a:p>
          <a:p>
            <a:pPr indent="-24003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71" name="Google Shape;271;p27"/>
          <p:cNvSpPr/>
          <p:nvPr/>
        </p:nvSpPr>
        <p:spPr>
          <a:xfrm>
            <a:off x="3059112" y="2105025"/>
            <a:ext cx="2895600" cy="1219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72" name="Google Shape;272;p27"/>
          <p:cNvCxnSpPr/>
          <p:nvPr/>
        </p:nvCxnSpPr>
        <p:spPr>
          <a:xfrm>
            <a:off x="4506912" y="1647825"/>
            <a:ext cx="0" cy="1676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73" name="Google Shape;273;p27"/>
          <p:cNvCxnSpPr/>
          <p:nvPr/>
        </p:nvCxnSpPr>
        <p:spPr>
          <a:xfrm>
            <a:off x="3059112" y="2409825"/>
            <a:ext cx="2895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74" name="Google Shape;274;p27"/>
          <p:cNvCxnSpPr/>
          <p:nvPr/>
        </p:nvCxnSpPr>
        <p:spPr>
          <a:xfrm>
            <a:off x="3059112" y="2714625"/>
            <a:ext cx="2895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75" name="Google Shape;275;p27"/>
          <p:cNvCxnSpPr/>
          <p:nvPr/>
        </p:nvCxnSpPr>
        <p:spPr>
          <a:xfrm>
            <a:off x="3059112" y="3095625"/>
            <a:ext cx="2895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276" name="Google Shape;276;p27"/>
          <p:cNvSpPr txBox="1"/>
          <p:nvPr/>
        </p:nvSpPr>
        <p:spPr>
          <a:xfrm>
            <a:off x="3363912" y="1724025"/>
            <a:ext cx="1295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</a:pPr>
            <a:r>
              <a:rPr b="0" i="0" lang="en-US" sz="14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Page #</a:t>
            </a:r>
            <a:endParaRPr/>
          </a:p>
        </p:txBody>
      </p:sp>
      <p:sp>
        <p:nvSpPr>
          <p:cNvPr id="277" name="Google Shape;277;p27"/>
          <p:cNvSpPr txBox="1"/>
          <p:nvPr/>
        </p:nvSpPr>
        <p:spPr>
          <a:xfrm>
            <a:off x="4735512" y="1724025"/>
            <a:ext cx="1295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</a:pPr>
            <a:r>
              <a:rPr b="0" i="0" lang="en-US" sz="14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Frame #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8F8F8"/>
            </a:gs>
            <a:gs pos="100000">
              <a:srgbClr val="CCECFF"/>
            </a:gs>
          </a:gsLst>
          <a:lin ang="5400000" scaled="0"/>
        </a:gra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8"/>
          <p:cNvSpPr txBox="1"/>
          <p:nvPr>
            <p:ph type="title"/>
          </p:nvPr>
        </p:nvSpPr>
        <p:spPr>
          <a:xfrm>
            <a:off x="685800" y="22860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Paging Hardware With TLB</a:t>
            </a:r>
            <a:endParaRPr/>
          </a:p>
        </p:txBody>
      </p:sp>
      <p:pic>
        <p:nvPicPr>
          <p:cNvPr id="283" name="Google Shape;283;p28"/>
          <p:cNvPicPr preferRelativeResize="0"/>
          <p:nvPr/>
        </p:nvPicPr>
        <p:blipFill rotWithShape="1">
          <a:blip r:embed="rId3">
            <a:alphaModFix/>
          </a:blip>
          <a:srcRect b="682" l="1292" r="1292" t="1040"/>
          <a:stretch/>
        </p:blipFill>
        <p:spPr>
          <a:xfrm>
            <a:off x="1658937" y="1670050"/>
            <a:ext cx="5770562" cy="4365625"/>
          </a:xfrm>
          <a:prstGeom prst="rect">
            <a:avLst/>
          </a:prstGeom>
          <a:noFill/>
          <a:ln cap="flat" cmpd="dbl" w="38100">
            <a:solidFill>
              <a:srgbClr val="CC6600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8F8F8"/>
            </a:gs>
            <a:gs pos="100000">
              <a:srgbClr val="CCECFF"/>
            </a:gs>
          </a:gsLst>
          <a:lin ang="5400000" scaled="0"/>
        </a:gradFill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9"/>
          <p:cNvSpPr txBox="1"/>
          <p:nvPr>
            <p:ph type="title"/>
          </p:nvPr>
        </p:nvSpPr>
        <p:spPr>
          <a:xfrm>
            <a:off x="685800" y="22860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Effective Access Time</a:t>
            </a:r>
            <a:endParaRPr/>
          </a:p>
        </p:txBody>
      </p:sp>
      <p:sp>
        <p:nvSpPr>
          <p:cNvPr id="289" name="Google Shape;289;p29"/>
          <p:cNvSpPr txBox="1"/>
          <p:nvPr>
            <p:ph idx="1" type="body"/>
          </p:nvPr>
        </p:nvSpPr>
        <p:spPr>
          <a:xfrm>
            <a:off x="827073" y="1354124"/>
            <a:ext cx="7542600" cy="45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Associative Lookup = ε time unit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Assume memory cycle time is 1 microsecond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Hit ratio – percentage of times that a page number is found in the associative registers; ratio related to number of associative registers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Hit ratio = α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Effective Access Time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(EAT)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EAT = (1 + ε) α + (2 + ε)(1 – α)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	= 2 + ε – α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None/>
            </a:pPr>
            <a:r>
              <a:rPr lang="en-US"/>
              <a:t>Higher hit ratio α → lower EAT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None/>
            </a:pPr>
            <a:r>
              <a:rPr lang="en-US"/>
              <a:t>Smaller ε → faster associative lookup → lower EAT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None/>
            </a:pPr>
            <a:r>
              <a:rPr lang="en-US"/>
              <a:t>EAT is always between 1 + ε (best case) and 2 + ε (worst case)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99f517bf6d_0_0"/>
          <p:cNvSpPr txBox="1"/>
          <p:nvPr>
            <p:ph type="title"/>
          </p:nvPr>
        </p:nvSpPr>
        <p:spPr>
          <a:xfrm>
            <a:off x="685800" y="228600"/>
            <a:ext cx="8077200" cy="6096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g399f517bf6d_0_0"/>
          <p:cNvSpPr txBox="1"/>
          <p:nvPr>
            <p:ph idx="1" type="body"/>
          </p:nvPr>
        </p:nvSpPr>
        <p:spPr>
          <a:xfrm>
            <a:off x="817800" y="965475"/>
            <a:ext cx="7813200" cy="5370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630"/>
              </a:spcBef>
              <a:spcAft>
                <a:spcPts val="0"/>
              </a:spcAft>
              <a:buNone/>
            </a:pPr>
            <a:r>
              <a:rPr lang="en-US" sz="1400"/>
              <a:t>Consider a logical address space of 64 pages of 1,024 words each, mapped onto a physical memory of 32 frames. </a:t>
            </a:r>
            <a:endParaRPr sz="1400"/>
          </a:p>
          <a:p>
            <a:pPr indent="457200" lvl="0" marL="0" rtl="0" algn="l">
              <a:spcBef>
                <a:spcPts val="630"/>
              </a:spcBef>
              <a:spcAft>
                <a:spcPts val="0"/>
              </a:spcAft>
              <a:buNone/>
            </a:pPr>
            <a:r>
              <a:rPr lang="en-US" sz="1400"/>
              <a:t>a. How many bits are there in the logical address? </a:t>
            </a:r>
            <a:endParaRPr sz="1400"/>
          </a:p>
          <a:p>
            <a:pPr indent="457200" lvl="0" marL="0" rtl="0" algn="l">
              <a:spcBef>
                <a:spcPts val="630"/>
              </a:spcBef>
              <a:spcAft>
                <a:spcPts val="0"/>
              </a:spcAft>
              <a:buNone/>
            </a:pPr>
            <a:r>
              <a:rPr lang="en-US" sz="1400"/>
              <a:t>b. How many bits are there in the physical address?</a:t>
            </a:r>
            <a:endParaRPr sz="1400"/>
          </a:p>
          <a:p>
            <a:pPr indent="457200" lvl="0" marL="0" rtl="0" algn="l">
              <a:spcBef>
                <a:spcPts val="63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630"/>
              </a:spcBef>
              <a:spcAft>
                <a:spcPts val="0"/>
              </a:spcAft>
              <a:buSzPts val="1400"/>
              <a:buChar char="-"/>
            </a:pPr>
            <a:r>
              <a:rPr lang="en-US" sz="1400"/>
              <a:t>Logical Address=(page number p,offset d)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 sz="1400"/>
              <a:t>Page size = 1,024 words = 2¹⁰ words; 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 sz="1400"/>
              <a:t>Offset requires 10 bits (because 2¹⁰ = 1,024)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 sz="1400"/>
              <a:t>Number of pages = 64 = 2⁶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 sz="1400"/>
              <a:t>Page number requires 6 bits</a:t>
            </a:r>
            <a:endParaRPr sz="1400"/>
          </a:p>
          <a:p>
            <a:pPr indent="457200" lvl="0" marL="457200" rtl="0" algn="l">
              <a:spcBef>
                <a:spcPts val="630"/>
              </a:spcBef>
              <a:spcAft>
                <a:spcPts val="0"/>
              </a:spcAft>
              <a:buNone/>
            </a:pPr>
            <a:r>
              <a:rPr lang="en-US" sz="1400"/>
              <a:t>Logical address bits=p+d=6+10=16 bits</a:t>
            </a:r>
            <a:endParaRPr sz="1400"/>
          </a:p>
          <a:p>
            <a:pPr indent="0" lvl="0" marL="0" rtl="0" algn="l">
              <a:spcBef>
                <a:spcPts val="63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630"/>
              </a:spcBef>
              <a:spcAft>
                <a:spcPts val="0"/>
              </a:spcAft>
              <a:buSzPts val="1400"/>
              <a:buChar char="-"/>
            </a:pPr>
            <a:r>
              <a:rPr lang="en-US" sz="1400"/>
              <a:t>Physical Address=(frame number f,offset d)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 sz="1400"/>
              <a:t>Offset within frame = same as page size = 1,024 words -&gt; 10 bits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 sz="1400"/>
              <a:t>Physical memory has 32 frames = 2⁵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 sz="1400"/>
              <a:t>Frame number requires 5 bits</a:t>
            </a:r>
            <a:endParaRPr sz="1400"/>
          </a:p>
          <a:p>
            <a:pPr indent="457200" lvl="0" marL="457200" rtl="0" algn="l">
              <a:spcBef>
                <a:spcPts val="630"/>
              </a:spcBef>
              <a:spcAft>
                <a:spcPts val="0"/>
              </a:spcAft>
              <a:buNone/>
            </a:pPr>
            <a:r>
              <a:rPr lang="en-US" sz="1400"/>
              <a:t>Physical address bits=f+d=5+10=15 bits</a:t>
            </a:r>
            <a:endParaRPr sz="14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99f517bf6d_0_21"/>
          <p:cNvSpPr txBox="1"/>
          <p:nvPr>
            <p:ph type="title"/>
          </p:nvPr>
        </p:nvSpPr>
        <p:spPr>
          <a:xfrm>
            <a:off x="685800" y="228600"/>
            <a:ext cx="8077200" cy="6096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g399f517bf6d_0_21"/>
          <p:cNvSpPr txBox="1"/>
          <p:nvPr>
            <p:ph idx="1" type="body"/>
          </p:nvPr>
        </p:nvSpPr>
        <p:spPr>
          <a:xfrm>
            <a:off x="685775" y="886400"/>
            <a:ext cx="8077200" cy="5635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A program of size 26 KB needs to be loaded into memory using paging. The page size is 8 KB, and the main memory size is 64 KB. Pages are loaded into consecutive physical frames starting from frame 0.		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lphaLcPeriod"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How many pages are required to load the program?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lphaLcPeriod"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Show the page table mapping logical pages to physical frames.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lphaLcPeriod"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If the program accesses logical address 20 KB, show how it is translated to a physical address.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lphaLcPeriod"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Draw a diagram showing the page table and the memory layout.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Program size =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26 KB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Page size =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8 KB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pages=⌈8 KB / 26 KB​⌉=⌈3.25⌉= 4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So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4 pages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are required.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Translate logical address 20 KB → physical address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Page number = floor(20 KB ÷ 8KB) = floor(2.5) =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2</a:t>
            </a:r>
            <a:br>
              <a:rPr b="1" lang="en-US" sz="1100">
                <a:latin typeface="Arial"/>
                <a:ea typeface="Arial"/>
                <a:cs typeface="Arial"/>
                <a:sym typeface="Arial"/>
              </a:rPr>
            </a:br>
            <a:r>
              <a:rPr lang="en-US" sz="1100">
                <a:latin typeface="Arial"/>
                <a:ea typeface="Arial"/>
                <a:cs typeface="Arial"/>
                <a:sym typeface="Arial"/>
              </a:rPr>
              <a:t>Offset = 20 KB − (2 × 8 KB) = 20 KB − 16 KB = 4 KB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Physical memory: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+--------+--------+--------+--------+--------+--------+--------+--------+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| Frame0 | Frame1 | Frame2 | Frame3 | Frame4 | Frame5 | Frame6 | Frame7 |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| P0     | P1     | P2     | P3     | free   | free   | free   | free   |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+--------+--------+--------+--------+--------+--------+--------+--------+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 addresses: 0KB    8KB    16KB   24KB   32KB   40KB   48KB   56KB  (end 64KB)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Example translation shown: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 Logical addr = 20 KB → page 2, offset 4 KB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 Page 2 maps → Frame 2 → physical addr = 16 KB + 4 KB = 20 KB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06" name="Google Shape;306;g399f517bf6d_0_21"/>
          <p:cNvGraphicFramePr/>
          <p:nvPr/>
        </p:nvGraphicFramePr>
        <p:xfrm>
          <a:off x="6095975" y="2418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{287482FF-10A4-4E73-8A43-4CE85025BFA6}</a:tableStyleId>
              </a:tblPr>
              <a:tblGrid>
                <a:gridCol w="889000"/>
                <a:gridCol w="889000"/>
                <a:gridCol w="889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page 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frame 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0 - 7KB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page 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frame 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8</a:t>
                      </a:r>
                      <a:r>
                        <a:rPr lang="en-US">
                          <a:solidFill>
                            <a:schemeClr val="dk1"/>
                          </a:solidFill>
                        </a:rPr>
                        <a:t> - 15KB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page 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frame 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16-31KB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page 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frame 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32-39KB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free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frame 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40-47KB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free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frame 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48-55KB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free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frame 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56-63KB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8F8F8"/>
            </a:gs>
            <a:gs pos="100000">
              <a:srgbClr val="CCECFF"/>
            </a:gs>
          </a:gsLst>
          <a:lin ang="5400000" scaled="0"/>
        </a:gradFill>
      </p:bgPr>
    </p:bg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30"/>
          <p:cNvSpPr txBox="1"/>
          <p:nvPr>
            <p:ph type="title"/>
          </p:nvPr>
        </p:nvSpPr>
        <p:spPr>
          <a:xfrm>
            <a:off x="685800" y="22860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Memory Protection</a:t>
            </a:r>
            <a:endParaRPr/>
          </a:p>
        </p:txBody>
      </p:sp>
      <p:sp>
        <p:nvSpPr>
          <p:cNvPr id="312" name="Google Shape;312;p30"/>
          <p:cNvSpPr txBox="1"/>
          <p:nvPr>
            <p:ph idx="1" type="body"/>
          </p:nvPr>
        </p:nvSpPr>
        <p:spPr>
          <a:xfrm>
            <a:off x="762000" y="1377950"/>
            <a:ext cx="6873875" cy="44688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Memory protection implemented by associating protection bit with each frame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Valid-invalid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bit attached to each entry in the page table: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“valid” indicates that the associated page is in the process’ logical address space, and is thus a legal page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“invalid” indicates that the page is not in the process’ logical address space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8F8F8"/>
            </a:gs>
            <a:gs pos="100000">
              <a:srgbClr val="CCECFF"/>
            </a:gs>
          </a:gsLst>
          <a:lin ang="5400000" scaled="0"/>
        </a:gradFill>
      </p:bgPr>
    </p:bg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31"/>
          <p:cNvSpPr txBox="1"/>
          <p:nvPr>
            <p:ph type="title"/>
          </p:nvPr>
        </p:nvSpPr>
        <p:spPr>
          <a:xfrm>
            <a:off x="922337" y="0"/>
            <a:ext cx="8161337" cy="8445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Valid (v) or Invalid (i) Bit In A Page Table</a:t>
            </a:r>
            <a:endParaRPr/>
          </a:p>
        </p:txBody>
      </p:sp>
      <p:pic>
        <p:nvPicPr>
          <p:cNvPr id="318" name="Google Shape;318;p31"/>
          <p:cNvPicPr preferRelativeResize="0"/>
          <p:nvPr/>
        </p:nvPicPr>
        <p:blipFill rotWithShape="1">
          <a:blip r:embed="rId3">
            <a:alphaModFix/>
          </a:blip>
          <a:srcRect b="602" l="7300" r="7300" t="602"/>
          <a:stretch/>
        </p:blipFill>
        <p:spPr>
          <a:xfrm>
            <a:off x="1836737" y="1493837"/>
            <a:ext cx="5329237" cy="4624387"/>
          </a:xfrm>
          <a:prstGeom prst="rect">
            <a:avLst/>
          </a:prstGeom>
          <a:noFill/>
          <a:ln cap="flat" cmpd="dbl" w="38100">
            <a:solidFill>
              <a:srgbClr val="CC6600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8F8F8"/>
            </a:gs>
            <a:gs pos="100000">
              <a:srgbClr val="CCECFF"/>
            </a:gs>
          </a:gsLst>
          <a:lin ang="5400000" scaled="0"/>
        </a:gradFill>
      </p:bgPr>
    </p:bg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2"/>
          <p:cNvSpPr txBox="1"/>
          <p:nvPr>
            <p:ph type="title"/>
          </p:nvPr>
        </p:nvSpPr>
        <p:spPr>
          <a:xfrm>
            <a:off x="685800" y="22860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Shared Pages</a:t>
            </a:r>
            <a:endParaRPr/>
          </a:p>
        </p:txBody>
      </p:sp>
      <p:sp>
        <p:nvSpPr>
          <p:cNvPr id="324" name="Google Shape;324;p32"/>
          <p:cNvSpPr txBox="1"/>
          <p:nvPr>
            <p:ph idx="1" type="body"/>
          </p:nvPr>
        </p:nvSpPr>
        <p:spPr>
          <a:xfrm>
            <a:off x="762000" y="1377950"/>
            <a:ext cx="6821487" cy="44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Shared code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One copy of read-only (reentrant) code shared among processes (i.e., text editors, compilers, window systems).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Shared code must appear in same location in the logical address space of all processes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Private code and data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Each process keeps a separate copy of the code and data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pages for the private code and data can appear anywhere in the logical address space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8F8F8"/>
            </a:gs>
            <a:gs pos="100000">
              <a:srgbClr val="CCECFF"/>
            </a:gs>
          </a:gsLst>
          <a:lin ang="5400000" scaled="0"/>
        </a:gradFill>
      </p:bgPr>
    </p:bg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3"/>
          <p:cNvSpPr txBox="1"/>
          <p:nvPr>
            <p:ph type="title"/>
          </p:nvPr>
        </p:nvSpPr>
        <p:spPr>
          <a:xfrm>
            <a:off x="685800" y="22860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Shared Pages Example</a:t>
            </a:r>
            <a:endParaRPr/>
          </a:p>
        </p:txBody>
      </p:sp>
      <p:pic>
        <p:nvPicPr>
          <p:cNvPr id="330" name="Google Shape;330;p33"/>
          <p:cNvPicPr preferRelativeResize="0"/>
          <p:nvPr/>
        </p:nvPicPr>
        <p:blipFill rotWithShape="1">
          <a:blip r:embed="rId3">
            <a:alphaModFix/>
          </a:blip>
          <a:srcRect b="1774" l="13407" r="13441" t="1319"/>
          <a:stretch/>
        </p:blipFill>
        <p:spPr>
          <a:xfrm>
            <a:off x="2301875" y="1395412"/>
            <a:ext cx="4792662" cy="4760912"/>
          </a:xfrm>
          <a:prstGeom prst="rect">
            <a:avLst/>
          </a:prstGeom>
          <a:noFill/>
          <a:ln cap="flat" cmpd="dbl" w="38100">
            <a:solidFill>
              <a:srgbClr val="CC6600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8F8F8"/>
            </a:gs>
            <a:gs pos="100000">
              <a:srgbClr val="CCECFF"/>
            </a:gs>
          </a:gsLst>
          <a:lin ang="5400000" scaled="0"/>
        </a:gra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34"/>
          <p:cNvSpPr txBox="1"/>
          <p:nvPr>
            <p:ph type="title"/>
          </p:nvPr>
        </p:nvSpPr>
        <p:spPr>
          <a:xfrm>
            <a:off x="685800" y="22860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Structure of the Page Table</a:t>
            </a:r>
            <a:endParaRPr/>
          </a:p>
        </p:txBody>
      </p:sp>
      <p:sp>
        <p:nvSpPr>
          <p:cNvPr id="336" name="Google Shape;336;p34"/>
          <p:cNvSpPr txBox="1"/>
          <p:nvPr>
            <p:ph idx="1" type="body"/>
          </p:nvPr>
        </p:nvSpPr>
        <p:spPr>
          <a:xfrm>
            <a:off x="762000" y="1377950"/>
            <a:ext cx="7351800" cy="44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Hierarchical Paging</a:t>
            </a:r>
            <a:endParaRPr/>
          </a:p>
          <a:p>
            <a:pPr indent="-24003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Hashed Page Tables</a:t>
            </a:r>
            <a:endParaRPr/>
          </a:p>
          <a:p>
            <a:pPr indent="-24003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Inverted Page Tables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8F8F8"/>
            </a:gs>
            <a:gs pos="100000">
              <a:srgbClr val="CCECFF"/>
            </a:gs>
          </a:gsLst>
          <a:lin ang="5400000" scaled="0"/>
        </a:gradFill>
      </p:bgPr>
    </p:bg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5"/>
          <p:cNvSpPr txBox="1"/>
          <p:nvPr>
            <p:ph type="title"/>
          </p:nvPr>
        </p:nvSpPr>
        <p:spPr>
          <a:xfrm>
            <a:off x="685800" y="22860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Hierarchical Page Tables</a:t>
            </a:r>
            <a:endParaRPr/>
          </a:p>
        </p:txBody>
      </p:sp>
      <p:sp>
        <p:nvSpPr>
          <p:cNvPr id="342" name="Google Shape;342;p35"/>
          <p:cNvSpPr txBox="1"/>
          <p:nvPr>
            <p:ph idx="1" type="body"/>
          </p:nvPr>
        </p:nvSpPr>
        <p:spPr>
          <a:xfrm>
            <a:off x="762000" y="1377950"/>
            <a:ext cx="7351712" cy="44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Break up the logical address space into multiple page tables</a:t>
            </a:r>
            <a:endParaRPr/>
          </a:p>
          <a:p>
            <a:pPr indent="-24003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simple technique is a two-level page table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8F8F8"/>
            </a:gs>
            <a:gs pos="100000">
              <a:srgbClr val="CCECFF"/>
            </a:gs>
          </a:gsLst>
          <a:lin ang="5400000" scaled="0"/>
        </a:gradFill>
      </p:bgPr>
    </p:bg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36"/>
          <p:cNvSpPr txBox="1"/>
          <p:nvPr>
            <p:ph type="title"/>
          </p:nvPr>
        </p:nvSpPr>
        <p:spPr>
          <a:xfrm>
            <a:off x="685800" y="22860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Two-Level Page-Table Scheme</a:t>
            </a:r>
            <a:endParaRPr/>
          </a:p>
        </p:txBody>
      </p:sp>
      <p:pic>
        <p:nvPicPr>
          <p:cNvPr id="348" name="Google Shape;348;p36"/>
          <p:cNvPicPr preferRelativeResize="0"/>
          <p:nvPr/>
        </p:nvPicPr>
        <p:blipFill rotWithShape="1">
          <a:blip r:embed="rId3">
            <a:alphaModFix/>
          </a:blip>
          <a:srcRect b="1042" l="14991" r="15004" t="846"/>
          <a:stretch/>
        </p:blipFill>
        <p:spPr>
          <a:xfrm>
            <a:off x="2379662" y="1630362"/>
            <a:ext cx="4305300" cy="4525962"/>
          </a:xfrm>
          <a:prstGeom prst="rect">
            <a:avLst/>
          </a:prstGeom>
          <a:noFill/>
          <a:ln cap="flat" cmpd="dbl" w="38100">
            <a:solidFill>
              <a:srgbClr val="CC6600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8F8F8"/>
            </a:gs>
            <a:gs pos="100000">
              <a:srgbClr val="CCECFF"/>
            </a:gs>
          </a:gsLst>
          <a:lin ang="5400000" scaled="0"/>
        </a:gradFill>
      </p:bgPr>
    </p:bg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37"/>
          <p:cNvSpPr txBox="1"/>
          <p:nvPr>
            <p:ph type="title"/>
          </p:nvPr>
        </p:nvSpPr>
        <p:spPr>
          <a:xfrm>
            <a:off x="685800" y="22860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Two-Level Paging Example</a:t>
            </a:r>
            <a:endParaRPr/>
          </a:p>
        </p:txBody>
      </p:sp>
      <p:sp>
        <p:nvSpPr>
          <p:cNvPr id="354" name="Google Shape;354;p37"/>
          <p:cNvSpPr txBox="1"/>
          <p:nvPr>
            <p:ph idx="1" type="body"/>
          </p:nvPr>
        </p:nvSpPr>
        <p:spPr>
          <a:xfrm>
            <a:off x="1081087" y="1533525"/>
            <a:ext cx="710565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1440"/>
              <a:buFont typeface="Arial"/>
              <a:buChar char="●"/>
            </a:pP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logical address (on 32-bit machine with 1K page size) is divided into: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CC6600"/>
              </a:buClr>
              <a:buSzPts val="1280"/>
              <a:buFont typeface="Arial"/>
              <a:buChar char="●"/>
            </a:pPr>
            <a: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page number consisting of 22 bits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CC6600"/>
              </a:buClr>
              <a:buSzPts val="1280"/>
              <a:buFont typeface="Arial"/>
              <a:buChar char="●"/>
            </a:pPr>
            <a: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page offset consisting of 10 bits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993300"/>
              </a:buClr>
              <a:buSzPts val="1440"/>
              <a:buFont typeface="Arial"/>
              <a:buChar char="●"/>
            </a:pP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Since the page table is paged, the page number is further divided into: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CC6600"/>
              </a:buClr>
              <a:buSzPts val="1280"/>
              <a:buFont typeface="Arial"/>
              <a:buChar char="●"/>
            </a:pPr>
            <a: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12-bit page number 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CC6600"/>
              </a:buClr>
              <a:buSzPts val="1280"/>
              <a:buFont typeface="Arial"/>
              <a:buChar char="●"/>
            </a:pPr>
            <a: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10-bit page offset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993300"/>
              </a:buClr>
              <a:buSzPts val="1440"/>
              <a:buFont typeface="Arial"/>
              <a:buChar char="●"/>
            </a:pP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Thus, a logical address is as follows:</a:t>
            </a:r>
            <a:b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b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b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b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b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b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b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b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b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b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where</a:t>
            </a:r>
            <a:r>
              <a:rPr b="0" i="1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p</a:t>
            </a:r>
            <a:r>
              <a:rPr b="0" baseline="-25000" i="1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an index into the outer page table, and </a:t>
            </a:r>
            <a:r>
              <a:rPr b="0" i="1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</a:t>
            </a:r>
            <a:r>
              <a:rPr b="0" baseline="-25000" i="1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the displacement within the page of the outer page table</a:t>
            </a:r>
            <a:endParaRPr/>
          </a:p>
        </p:txBody>
      </p:sp>
      <p:sp>
        <p:nvSpPr>
          <p:cNvPr id="355" name="Google Shape;355;p37"/>
          <p:cNvSpPr/>
          <p:nvPr/>
        </p:nvSpPr>
        <p:spPr>
          <a:xfrm>
            <a:off x="3067050" y="4387850"/>
            <a:ext cx="3105150" cy="43815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56" name="Google Shape;356;p37"/>
          <p:cNvCxnSpPr/>
          <p:nvPr/>
        </p:nvCxnSpPr>
        <p:spPr>
          <a:xfrm>
            <a:off x="3905250" y="4425950"/>
            <a:ext cx="0" cy="45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357" name="Google Shape;357;p37"/>
          <p:cNvCxnSpPr/>
          <p:nvPr/>
        </p:nvCxnSpPr>
        <p:spPr>
          <a:xfrm>
            <a:off x="4700587" y="4044950"/>
            <a:ext cx="0" cy="762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358" name="Google Shape;358;p37"/>
          <p:cNvSpPr txBox="1"/>
          <p:nvPr/>
        </p:nvSpPr>
        <p:spPr>
          <a:xfrm>
            <a:off x="2908300" y="3956050"/>
            <a:ext cx="15303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page number</a:t>
            </a:r>
            <a:endParaRPr/>
          </a:p>
        </p:txBody>
      </p:sp>
      <p:sp>
        <p:nvSpPr>
          <p:cNvPr id="359" name="Google Shape;359;p37"/>
          <p:cNvSpPr txBox="1"/>
          <p:nvPr/>
        </p:nvSpPr>
        <p:spPr>
          <a:xfrm>
            <a:off x="4772025" y="3968750"/>
            <a:ext cx="13144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page offset</a:t>
            </a:r>
            <a:endParaRPr/>
          </a:p>
        </p:txBody>
      </p:sp>
      <p:sp>
        <p:nvSpPr>
          <p:cNvPr id="360" name="Google Shape;360;p37"/>
          <p:cNvSpPr txBox="1"/>
          <p:nvPr/>
        </p:nvSpPr>
        <p:spPr>
          <a:xfrm>
            <a:off x="3295650" y="4414837"/>
            <a:ext cx="344487" cy="366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</a:t>
            </a:r>
            <a:r>
              <a:rPr b="0" baseline="-2500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endParaRPr/>
          </a:p>
        </p:txBody>
      </p:sp>
      <p:sp>
        <p:nvSpPr>
          <p:cNvPr id="361" name="Google Shape;361;p37"/>
          <p:cNvSpPr txBox="1"/>
          <p:nvPr/>
        </p:nvSpPr>
        <p:spPr>
          <a:xfrm>
            <a:off x="4070350" y="4406900"/>
            <a:ext cx="395287" cy="366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</a:t>
            </a:r>
            <a:r>
              <a:rPr b="0" baseline="-2500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/>
          </a:p>
        </p:txBody>
      </p:sp>
      <p:sp>
        <p:nvSpPr>
          <p:cNvPr id="362" name="Google Shape;362;p37"/>
          <p:cNvSpPr txBox="1"/>
          <p:nvPr/>
        </p:nvSpPr>
        <p:spPr>
          <a:xfrm>
            <a:off x="5070475" y="4445000"/>
            <a:ext cx="311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</a:t>
            </a:r>
            <a:endParaRPr/>
          </a:p>
        </p:txBody>
      </p:sp>
      <p:sp>
        <p:nvSpPr>
          <p:cNvPr id="363" name="Google Shape;363;p37"/>
          <p:cNvSpPr txBox="1"/>
          <p:nvPr/>
        </p:nvSpPr>
        <p:spPr>
          <a:xfrm>
            <a:off x="3371850" y="5064125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12</a:t>
            </a:r>
            <a:endParaRPr/>
          </a:p>
        </p:txBody>
      </p:sp>
      <p:sp>
        <p:nvSpPr>
          <p:cNvPr id="364" name="Google Shape;364;p37"/>
          <p:cNvSpPr txBox="1"/>
          <p:nvPr/>
        </p:nvSpPr>
        <p:spPr>
          <a:xfrm>
            <a:off x="4038600" y="5035550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10</a:t>
            </a:r>
            <a:endParaRPr/>
          </a:p>
        </p:txBody>
      </p:sp>
      <p:sp>
        <p:nvSpPr>
          <p:cNvPr id="365" name="Google Shape;365;p37"/>
          <p:cNvSpPr txBox="1"/>
          <p:nvPr/>
        </p:nvSpPr>
        <p:spPr>
          <a:xfrm>
            <a:off x="5105400" y="5035550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10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8F8F8"/>
            </a:gs>
            <a:gs pos="100000">
              <a:srgbClr val="CCECFF"/>
            </a:gs>
          </a:gsLst>
          <a:lin ang="5400000" scaled="0"/>
        </a:gradFill>
      </p:bgPr>
    </p:bg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38"/>
          <p:cNvSpPr txBox="1"/>
          <p:nvPr>
            <p:ph type="title"/>
          </p:nvPr>
        </p:nvSpPr>
        <p:spPr>
          <a:xfrm>
            <a:off x="671512" y="242887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Address-Translation Scheme</a:t>
            </a:r>
            <a:endParaRPr/>
          </a:p>
        </p:txBody>
      </p:sp>
      <p:pic>
        <p:nvPicPr>
          <p:cNvPr id="371" name="Google Shape;371;p38"/>
          <p:cNvPicPr preferRelativeResize="0"/>
          <p:nvPr/>
        </p:nvPicPr>
        <p:blipFill rotWithShape="1">
          <a:blip r:embed="rId3">
            <a:alphaModFix/>
          </a:blip>
          <a:srcRect b="22413" l="510" r="511" t="22413"/>
          <a:stretch/>
        </p:blipFill>
        <p:spPr>
          <a:xfrm>
            <a:off x="1349375" y="2349500"/>
            <a:ext cx="6265862" cy="2619375"/>
          </a:xfrm>
          <a:prstGeom prst="rect">
            <a:avLst/>
          </a:prstGeom>
          <a:noFill/>
          <a:ln cap="flat" cmpd="dbl" w="38100">
            <a:solidFill>
              <a:srgbClr val="CC6600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8F8F8"/>
            </a:gs>
            <a:gs pos="100000">
              <a:srgbClr val="CCECFF"/>
            </a:gs>
          </a:gsLst>
          <a:lin ang="5400000" scaled="0"/>
        </a:gradFill>
      </p:bgPr>
    </p:bg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39"/>
          <p:cNvSpPr txBox="1"/>
          <p:nvPr>
            <p:ph type="title"/>
          </p:nvPr>
        </p:nvSpPr>
        <p:spPr>
          <a:xfrm>
            <a:off x="685800" y="22860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Three-level Paging Scheme</a:t>
            </a:r>
            <a:endParaRPr/>
          </a:p>
        </p:txBody>
      </p:sp>
      <p:pic>
        <p:nvPicPr>
          <p:cNvPr id="377" name="Google Shape;377;p39"/>
          <p:cNvPicPr preferRelativeResize="0"/>
          <p:nvPr/>
        </p:nvPicPr>
        <p:blipFill rotWithShape="1">
          <a:blip r:embed="rId3">
            <a:alphaModFix/>
          </a:blip>
          <a:srcRect b="37974" l="697" r="457" t="38261"/>
          <a:stretch/>
        </p:blipFill>
        <p:spPr>
          <a:xfrm>
            <a:off x="1147762" y="4275137"/>
            <a:ext cx="6675437" cy="1203325"/>
          </a:xfrm>
          <a:prstGeom prst="rect">
            <a:avLst/>
          </a:prstGeom>
          <a:noFill/>
          <a:ln cap="flat" cmpd="dbl" w="38100">
            <a:solidFill>
              <a:srgbClr val="CC6600"/>
            </a:solidFill>
            <a:prstDash val="solid"/>
            <a:miter lim="800000"/>
            <a:headEnd len="sm" w="sm" type="none"/>
            <a:tailEnd len="sm" w="sm" type="none"/>
          </a:ln>
        </p:spPr>
      </p:pic>
      <p:pic>
        <p:nvPicPr>
          <p:cNvPr id="378" name="Google Shape;378;p39"/>
          <p:cNvPicPr preferRelativeResize="0"/>
          <p:nvPr/>
        </p:nvPicPr>
        <p:blipFill rotWithShape="1">
          <a:blip r:embed="rId4">
            <a:alphaModFix/>
          </a:blip>
          <a:srcRect b="35501" l="645" r="646" t="35191"/>
          <a:stretch/>
        </p:blipFill>
        <p:spPr>
          <a:xfrm>
            <a:off x="1168400" y="1871662"/>
            <a:ext cx="6065837" cy="1350962"/>
          </a:xfrm>
          <a:prstGeom prst="rect">
            <a:avLst/>
          </a:prstGeom>
          <a:noFill/>
          <a:ln cap="flat" cmpd="dbl" w="38100">
            <a:solidFill>
              <a:srgbClr val="CC6600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8F8F8"/>
            </a:gs>
            <a:gs pos="100000">
              <a:srgbClr val="CCECFF"/>
            </a:gs>
          </a:gsLst>
          <a:lin ang="5400000" scaled="0"/>
        </a:gradFill>
      </p:bgPr>
    </p:bg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40"/>
          <p:cNvSpPr txBox="1"/>
          <p:nvPr>
            <p:ph type="title"/>
          </p:nvPr>
        </p:nvSpPr>
        <p:spPr>
          <a:xfrm>
            <a:off x="685800" y="22860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Hashed Page Tables</a:t>
            </a:r>
            <a:endParaRPr/>
          </a:p>
        </p:txBody>
      </p:sp>
      <p:sp>
        <p:nvSpPr>
          <p:cNvPr id="384" name="Google Shape;384;p40"/>
          <p:cNvSpPr txBox="1"/>
          <p:nvPr>
            <p:ph idx="1" type="body"/>
          </p:nvPr>
        </p:nvSpPr>
        <p:spPr>
          <a:xfrm>
            <a:off x="762000" y="1377950"/>
            <a:ext cx="7351712" cy="44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Common in address spaces &gt; 32 bits</a:t>
            </a:r>
            <a:endParaRPr/>
          </a:p>
          <a:p>
            <a:pPr indent="-24003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virtual page number is hashed into a page table. This page table contains a chain of elements hashing to the same location.</a:t>
            </a:r>
            <a:endParaRPr/>
          </a:p>
          <a:p>
            <a:pPr indent="-24003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Virtual page numbers are compared in this chain searching for a match. If a match is found, the corresponding physical frame is extracted.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8F8F8"/>
            </a:gs>
            <a:gs pos="100000">
              <a:srgbClr val="CCECFF"/>
            </a:gs>
          </a:gsLst>
          <a:lin ang="5400000" scaled="0"/>
        </a:gradFill>
      </p:bgPr>
    </p:bg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41"/>
          <p:cNvSpPr txBox="1"/>
          <p:nvPr>
            <p:ph type="title"/>
          </p:nvPr>
        </p:nvSpPr>
        <p:spPr>
          <a:xfrm>
            <a:off x="685800" y="22860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Hashed Page Table</a:t>
            </a:r>
            <a:endParaRPr/>
          </a:p>
        </p:txBody>
      </p:sp>
      <p:pic>
        <p:nvPicPr>
          <p:cNvPr id="390" name="Google Shape;390;p41"/>
          <p:cNvPicPr preferRelativeResize="0"/>
          <p:nvPr/>
        </p:nvPicPr>
        <p:blipFill rotWithShape="1">
          <a:blip r:embed="rId3">
            <a:alphaModFix/>
          </a:blip>
          <a:srcRect b="13897" l="439" r="668" t="14205"/>
          <a:stretch/>
        </p:blipFill>
        <p:spPr>
          <a:xfrm>
            <a:off x="1198562" y="1906587"/>
            <a:ext cx="6591300" cy="3594100"/>
          </a:xfrm>
          <a:prstGeom prst="rect">
            <a:avLst/>
          </a:prstGeom>
          <a:noFill/>
          <a:ln cap="flat" cmpd="dbl" w="38100">
            <a:solidFill>
              <a:srgbClr val="CC6600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8F8F8"/>
            </a:gs>
            <a:gs pos="100000">
              <a:srgbClr val="CCECFF"/>
            </a:gs>
          </a:gsLst>
          <a:lin ang="5400000" scaled="0"/>
        </a:gradFill>
      </p:bgPr>
    </p:bg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42"/>
          <p:cNvSpPr txBox="1"/>
          <p:nvPr>
            <p:ph type="title"/>
          </p:nvPr>
        </p:nvSpPr>
        <p:spPr>
          <a:xfrm>
            <a:off x="685800" y="22860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Inverted Page Table</a:t>
            </a:r>
            <a:endParaRPr/>
          </a:p>
        </p:txBody>
      </p:sp>
      <p:sp>
        <p:nvSpPr>
          <p:cNvPr id="396" name="Google Shape;396;p42"/>
          <p:cNvSpPr txBox="1"/>
          <p:nvPr>
            <p:ph idx="1" type="body"/>
          </p:nvPr>
        </p:nvSpPr>
        <p:spPr>
          <a:xfrm>
            <a:off x="1019175" y="1420812"/>
            <a:ext cx="6516687" cy="47926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One entry for each real page of memory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Entry consists of the virtual address of the page stored in that real memory location, with information about the process that owns that page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Decreases memory needed to store each page table, but increases time needed to search the table when a page reference occurs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Use hash table to limit the search to one — or at most a few — page-table entries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8F8F8"/>
            </a:gs>
            <a:gs pos="100000">
              <a:srgbClr val="CCECFF"/>
            </a:gs>
          </a:gsLst>
          <a:lin ang="5400000" scaled="0"/>
        </a:gradFill>
      </p:bgPr>
    </p:bg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43"/>
          <p:cNvSpPr txBox="1"/>
          <p:nvPr>
            <p:ph type="title"/>
          </p:nvPr>
        </p:nvSpPr>
        <p:spPr>
          <a:xfrm>
            <a:off x="685800" y="22860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Inverted Page Table Architecture</a:t>
            </a:r>
            <a:endParaRPr/>
          </a:p>
        </p:txBody>
      </p:sp>
      <p:pic>
        <p:nvPicPr>
          <p:cNvPr id="402" name="Google Shape;402;p43"/>
          <p:cNvPicPr preferRelativeResize="0"/>
          <p:nvPr/>
        </p:nvPicPr>
        <p:blipFill rotWithShape="1">
          <a:blip r:embed="rId3">
            <a:alphaModFix/>
          </a:blip>
          <a:srcRect b="4672" l="706" r="705" t="4347"/>
          <a:stretch/>
        </p:blipFill>
        <p:spPr>
          <a:xfrm>
            <a:off x="1668462" y="1900237"/>
            <a:ext cx="5654675" cy="3913187"/>
          </a:xfrm>
          <a:prstGeom prst="rect">
            <a:avLst/>
          </a:prstGeom>
          <a:noFill/>
          <a:ln cap="flat" cmpd="dbl" w="38100">
            <a:solidFill>
              <a:srgbClr val="CC6600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399f517bf6d_0_28"/>
          <p:cNvSpPr txBox="1"/>
          <p:nvPr>
            <p:ph type="title"/>
          </p:nvPr>
        </p:nvSpPr>
        <p:spPr>
          <a:xfrm>
            <a:off x="685800" y="228600"/>
            <a:ext cx="8077200" cy="6096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410" name="Google Shape;410;g399f517bf6d_0_28"/>
          <p:cNvGraphicFramePr/>
          <p:nvPr/>
        </p:nvGraphicFramePr>
        <p:xfrm>
          <a:off x="915175" y="1579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{287482FF-10A4-4E73-8A43-4CE85025BFA6}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654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name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Structure of the page table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Advantages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Disadvantages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654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Hierarchical (Multi-level)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Page table divided into multiple levels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Reduces memory usage, easy to extend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Slightly slower due to multi-level lookup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Hashed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Page number → hash table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Good for sparse, very large address spaces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Hash collisions, slower lookup than array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Inverted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One entry per physical frame, stores page number + process ID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Memory usage depends on physical memory, not logical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Lookup slower, more hardware/OS support needed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399f517bf6d_0_56"/>
          <p:cNvSpPr txBox="1"/>
          <p:nvPr>
            <p:ph type="title"/>
          </p:nvPr>
        </p:nvSpPr>
        <p:spPr>
          <a:xfrm>
            <a:off x="685800" y="228600"/>
            <a:ext cx="8077200" cy="6096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g399f517bf6d_0_56"/>
          <p:cNvSpPr txBox="1"/>
          <p:nvPr/>
        </p:nvSpPr>
        <p:spPr>
          <a:xfrm>
            <a:off x="681125" y="1194325"/>
            <a:ext cx="8082000" cy="52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Consider a computer system with a 32-bit logical address and 8-KB page size. The system supports up to 1 GB of physical memory. How many entries are there in each of the following? </a:t>
            </a:r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a. A conventional, single-level page table </a:t>
            </a:r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b. An inverted page table</a:t>
            </a:r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Single-level page table entries</a:t>
            </a:r>
            <a:endParaRPr b="1"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Page size = 8 KB = 2¹³ bytes</a:t>
            </a:r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Offset bits = 13</a:t>
            </a:r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Logical address space = </a:t>
            </a:r>
            <a:r>
              <a:rPr b="1" lang="en-US" sz="1100">
                <a:solidFill>
                  <a:schemeClr val="dk1"/>
                </a:solidFill>
              </a:rPr>
              <a:t>32 bits</a:t>
            </a:r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So number of pages = </a:t>
            </a:r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 inverted page table</a:t>
            </a:r>
            <a:endParaRPr b="1"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Physical memory = 1 GB = 2³⁰ bytes</a:t>
            </a:r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Frame size = 8 KB = 2¹³ bytes</a:t>
            </a:r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Number of frames = </a:t>
            </a:r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419" name="Google Shape;419;g399f517bf6d_0_56" title="Screenshot 2025-11-20 at 11.22.30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71650" y="3399050"/>
            <a:ext cx="801550" cy="545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0" name="Google Shape;420;g399f517bf6d_0_56" title="Screenshot 2025-11-20 at 11.23.24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85925" y="5091600"/>
            <a:ext cx="801550" cy="5549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8F8F8"/>
            </a:gs>
            <a:gs pos="100000">
              <a:srgbClr val="CCECFF"/>
            </a:gs>
          </a:gsLst>
          <a:lin ang="5400000" scaled="0"/>
        </a:gradFill>
      </p:bgPr>
    </p:bg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44"/>
          <p:cNvSpPr txBox="1"/>
          <p:nvPr>
            <p:ph type="title"/>
          </p:nvPr>
        </p:nvSpPr>
        <p:spPr>
          <a:xfrm>
            <a:off x="685800" y="22860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Segmentation</a:t>
            </a:r>
            <a:endParaRPr/>
          </a:p>
        </p:txBody>
      </p:sp>
      <p:sp>
        <p:nvSpPr>
          <p:cNvPr id="426" name="Google Shape;426;p44"/>
          <p:cNvSpPr txBox="1"/>
          <p:nvPr>
            <p:ph idx="1" type="body"/>
          </p:nvPr>
        </p:nvSpPr>
        <p:spPr>
          <a:xfrm>
            <a:off x="762000" y="1377950"/>
            <a:ext cx="7351712" cy="44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Memory-management scheme that supports user view of memory 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program is a collection of segments.  A segment is a logical unit such as: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main program,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procedure, 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function,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method,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object,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local variables, global variables,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common block,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stack,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symbol table, arrays</a:t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8F8F8"/>
            </a:gs>
            <a:gs pos="100000">
              <a:srgbClr val="CCECFF"/>
            </a:gs>
          </a:gsLst>
          <a:lin ang="5400000" scaled="0"/>
        </a:gradFill>
      </p:bgPr>
    </p:bg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45"/>
          <p:cNvSpPr txBox="1"/>
          <p:nvPr>
            <p:ph type="title"/>
          </p:nvPr>
        </p:nvSpPr>
        <p:spPr>
          <a:xfrm>
            <a:off x="685800" y="22860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User’s View of a Program</a:t>
            </a:r>
            <a:endParaRPr/>
          </a:p>
        </p:txBody>
      </p:sp>
      <p:pic>
        <p:nvPicPr>
          <p:cNvPr id="432" name="Google Shape;432;p45"/>
          <p:cNvPicPr preferRelativeResize="0"/>
          <p:nvPr/>
        </p:nvPicPr>
        <p:blipFill rotWithShape="1">
          <a:blip r:embed="rId3">
            <a:alphaModFix/>
          </a:blip>
          <a:srcRect b="964" l="21812" r="21810" t="630"/>
          <a:stretch/>
        </p:blipFill>
        <p:spPr>
          <a:xfrm>
            <a:off x="2836862" y="1784350"/>
            <a:ext cx="3232150" cy="4230687"/>
          </a:xfrm>
          <a:prstGeom prst="rect">
            <a:avLst/>
          </a:prstGeom>
          <a:noFill/>
          <a:ln cap="flat" cmpd="dbl" w="38100">
            <a:solidFill>
              <a:srgbClr val="CC6600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8F8F8"/>
            </a:gs>
            <a:gs pos="100000">
              <a:srgbClr val="CCECFF"/>
            </a:gs>
          </a:gsLst>
          <a:lin ang="5400000" scaled="0"/>
        </a:gradFill>
      </p:bgPr>
    </p:bg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46"/>
          <p:cNvSpPr txBox="1"/>
          <p:nvPr>
            <p:ph type="title"/>
          </p:nvPr>
        </p:nvSpPr>
        <p:spPr>
          <a:xfrm>
            <a:off x="685800" y="22860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Logical View of Segmentation</a:t>
            </a:r>
            <a:endParaRPr/>
          </a:p>
        </p:txBody>
      </p:sp>
      <p:sp>
        <p:nvSpPr>
          <p:cNvPr id="438" name="Google Shape;438;p46"/>
          <p:cNvSpPr/>
          <p:nvPr/>
        </p:nvSpPr>
        <p:spPr>
          <a:xfrm>
            <a:off x="1371600" y="1171575"/>
            <a:ext cx="2895600" cy="39624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9" name="Google Shape;439;p46"/>
          <p:cNvSpPr txBox="1"/>
          <p:nvPr/>
        </p:nvSpPr>
        <p:spPr>
          <a:xfrm>
            <a:off x="1905000" y="1857375"/>
            <a:ext cx="990600" cy="533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/>
          </a:p>
        </p:txBody>
      </p:sp>
      <p:sp>
        <p:nvSpPr>
          <p:cNvPr id="440" name="Google Shape;440;p46"/>
          <p:cNvSpPr txBox="1"/>
          <p:nvPr/>
        </p:nvSpPr>
        <p:spPr>
          <a:xfrm>
            <a:off x="1752600" y="3000375"/>
            <a:ext cx="914400" cy="914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/>
          </a:p>
        </p:txBody>
      </p:sp>
      <p:sp>
        <p:nvSpPr>
          <p:cNvPr id="441" name="Google Shape;441;p46"/>
          <p:cNvSpPr txBox="1"/>
          <p:nvPr/>
        </p:nvSpPr>
        <p:spPr>
          <a:xfrm>
            <a:off x="3200400" y="2466975"/>
            <a:ext cx="914400" cy="381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/>
          </a:p>
        </p:txBody>
      </p:sp>
      <p:sp>
        <p:nvSpPr>
          <p:cNvPr id="442" name="Google Shape;442;p46"/>
          <p:cNvSpPr txBox="1"/>
          <p:nvPr/>
        </p:nvSpPr>
        <p:spPr>
          <a:xfrm>
            <a:off x="3124200" y="3457575"/>
            <a:ext cx="914400" cy="533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endParaRPr/>
          </a:p>
        </p:txBody>
      </p:sp>
      <p:grpSp>
        <p:nvGrpSpPr>
          <p:cNvPr id="443" name="Google Shape;443;p46"/>
          <p:cNvGrpSpPr/>
          <p:nvPr/>
        </p:nvGrpSpPr>
        <p:grpSpPr>
          <a:xfrm>
            <a:off x="5638800" y="1171575"/>
            <a:ext cx="1143000" cy="3962400"/>
            <a:chOff x="3888" y="1056"/>
            <a:chExt cx="720" cy="2496"/>
          </a:xfrm>
        </p:grpSpPr>
        <p:grpSp>
          <p:nvGrpSpPr>
            <p:cNvPr id="444" name="Google Shape;444;p46"/>
            <p:cNvGrpSpPr/>
            <p:nvPr/>
          </p:nvGrpSpPr>
          <p:grpSpPr>
            <a:xfrm>
              <a:off x="3888" y="1056"/>
              <a:ext cx="720" cy="672"/>
              <a:chOff x="3888" y="1056"/>
              <a:chExt cx="720" cy="672"/>
            </a:xfrm>
          </p:grpSpPr>
          <p:sp>
            <p:nvSpPr>
              <p:cNvPr id="445" name="Google Shape;445;p46"/>
              <p:cNvSpPr/>
              <p:nvPr/>
            </p:nvSpPr>
            <p:spPr>
              <a:xfrm>
                <a:off x="3888" y="1056"/>
                <a:ext cx="720" cy="672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cxnSp>
            <p:nvCxnSpPr>
              <p:cNvPr id="446" name="Google Shape;446;p46"/>
              <p:cNvCxnSpPr/>
              <p:nvPr/>
            </p:nvCxnSpPr>
            <p:spPr>
              <a:xfrm>
                <a:off x="3888" y="1392"/>
                <a:ext cx="72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</p:grpSp>
        <p:grpSp>
          <p:nvGrpSpPr>
            <p:cNvPr id="447" name="Google Shape;447;p46"/>
            <p:cNvGrpSpPr/>
            <p:nvPr/>
          </p:nvGrpSpPr>
          <p:grpSpPr>
            <a:xfrm>
              <a:off x="3888" y="1728"/>
              <a:ext cx="720" cy="672"/>
              <a:chOff x="3888" y="1056"/>
              <a:chExt cx="720" cy="672"/>
            </a:xfrm>
          </p:grpSpPr>
          <p:sp>
            <p:nvSpPr>
              <p:cNvPr id="448" name="Google Shape;448;p46"/>
              <p:cNvSpPr/>
              <p:nvPr/>
            </p:nvSpPr>
            <p:spPr>
              <a:xfrm>
                <a:off x="3888" y="1056"/>
                <a:ext cx="720" cy="672"/>
              </a:xfrm>
              <a:prstGeom prst="rect">
                <a:avLst/>
              </a:prstGeom>
              <a:solidFill>
                <a:srgbClr val="DDDDDD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cxnSp>
            <p:nvCxnSpPr>
              <p:cNvPr id="449" name="Google Shape;449;p46"/>
              <p:cNvCxnSpPr/>
              <p:nvPr/>
            </p:nvCxnSpPr>
            <p:spPr>
              <a:xfrm>
                <a:off x="3888" y="1392"/>
                <a:ext cx="72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</p:grpSp>
        <p:sp>
          <p:nvSpPr>
            <p:cNvPr id="450" name="Google Shape;450;p46"/>
            <p:cNvSpPr txBox="1"/>
            <p:nvPr/>
          </p:nvSpPr>
          <p:spPr>
            <a:xfrm>
              <a:off x="4126" y="1133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Helvetica Neue"/>
                <a:buNone/>
              </a:pPr>
              <a:r>
                <a:rPr b="0" i="0" lang="en-US" sz="1800" u="non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1</a:t>
              </a:r>
              <a:endParaRPr/>
            </a:p>
          </p:txBody>
        </p:sp>
        <p:sp>
          <p:nvSpPr>
            <p:cNvPr id="451" name="Google Shape;451;p46"/>
            <p:cNvSpPr txBox="1"/>
            <p:nvPr/>
          </p:nvSpPr>
          <p:spPr>
            <a:xfrm>
              <a:off x="4128" y="1440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Helvetica Neue"/>
                <a:buNone/>
              </a:pPr>
              <a:r>
                <a:rPr b="0" i="0" lang="en-US" sz="1800" u="non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4</a:t>
              </a:r>
              <a:endParaRPr/>
            </a:p>
          </p:txBody>
        </p:sp>
        <p:sp>
          <p:nvSpPr>
            <p:cNvPr id="452" name="Google Shape;452;p46"/>
            <p:cNvSpPr/>
            <p:nvPr/>
          </p:nvSpPr>
          <p:spPr>
            <a:xfrm>
              <a:off x="3888" y="2400"/>
              <a:ext cx="720" cy="912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53" name="Google Shape;453;p46"/>
            <p:cNvSpPr/>
            <p:nvPr/>
          </p:nvSpPr>
          <p:spPr>
            <a:xfrm>
              <a:off x="3888" y="3312"/>
              <a:ext cx="720" cy="240"/>
            </a:xfrm>
            <a:prstGeom prst="rect">
              <a:avLst/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454" name="Google Shape;454;p46"/>
            <p:cNvCxnSpPr/>
            <p:nvPr/>
          </p:nvCxnSpPr>
          <p:spPr>
            <a:xfrm>
              <a:off x="3888" y="2640"/>
              <a:ext cx="72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455" name="Google Shape;455;p46"/>
            <p:cNvSpPr txBox="1"/>
            <p:nvPr/>
          </p:nvSpPr>
          <p:spPr>
            <a:xfrm>
              <a:off x="4128" y="2429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Helvetica Neue"/>
                <a:buNone/>
              </a:pPr>
              <a:r>
                <a:rPr b="0" i="0" lang="en-US" sz="1800" u="non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2</a:t>
              </a:r>
              <a:endParaRPr/>
            </a:p>
          </p:txBody>
        </p:sp>
        <p:sp>
          <p:nvSpPr>
            <p:cNvPr id="456" name="Google Shape;456;p46"/>
            <p:cNvSpPr txBox="1"/>
            <p:nvPr/>
          </p:nvSpPr>
          <p:spPr>
            <a:xfrm>
              <a:off x="4128" y="2889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Helvetica Neue"/>
                <a:buNone/>
              </a:pPr>
              <a:r>
                <a:rPr b="0" i="0" lang="en-US" sz="1800" u="non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3</a:t>
              </a:r>
              <a:endParaRPr/>
            </a:p>
          </p:txBody>
        </p:sp>
      </p:grpSp>
      <p:sp>
        <p:nvSpPr>
          <p:cNvPr id="457" name="Google Shape;457;p46"/>
          <p:cNvSpPr txBox="1"/>
          <p:nvPr/>
        </p:nvSpPr>
        <p:spPr>
          <a:xfrm>
            <a:off x="2022475" y="5256212"/>
            <a:ext cx="13652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user space </a:t>
            </a:r>
            <a:endParaRPr/>
          </a:p>
        </p:txBody>
      </p:sp>
      <p:sp>
        <p:nvSpPr>
          <p:cNvPr id="458" name="Google Shape;458;p46"/>
          <p:cNvSpPr txBox="1"/>
          <p:nvPr/>
        </p:nvSpPr>
        <p:spPr>
          <a:xfrm>
            <a:off x="4883150" y="5256212"/>
            <a:ext cx="25717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physical memory space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8F8F8"/>
            </a:gs>
            <a:gs pos="100000">
              <a:srgbClr val="CCECFF"/>
            </a:gs>
          </a:gsLst>
          <a:lin ang="5400000" scaled="0"/>
        </a:gradFill>
      </p:bgPr>
    </p:bg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50"/>
          <p:cNvSpPr txBox="1"/>
          <p:nvPr>
            <p:ph type="title"/>
          </p:nvPr>
        </p:nvSpPr>
        <p:spPr>
          <a:xfrm>
            <a:off x="685800" y="22860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 of Segmentation</a:t>
            </a:r>
            <a:endParaRPr/>
          </a:p>
        </p:txBody>
      </p:sp>
      <p:pic>
        <p:nvPicPr>
          <p:cNvPr id="464" name="Google Shape;464;p50"/>
          <p:cNvPicPr preferRelativeResize="0"/>
          <p:nvPr/>
        </p:nvPicPr>
        <p:blipFill rotWithShape="1">
          <a:blip r:embed="rId3">
            <a:alphaModFix/>
          </a:blip>
          <a:srcRect b="1532" l="7813" r="7814" t="926"/>
          <a:stretch/>
        </p:blipFill>
        <p:spPr>
          <a:xfrm>
            <a:off x="2038350" y="1776412"/>
            <a:ext cx="4865687" cy="4217987"/>
          </a:xfrm>
          <a:prstGeom prst="rect">
            <a:avLst/>
          </a:prstGeom>
          <a:noFill/>
          <a:ln cap="flat" cmpd="dbl" w="38100">
            <a:solidFill>
              <a:srgbClr val="CC6600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8F8F8"/>
            </a:gs>
            <a:gs pos="100000">
              <a:srgbClr val="CCECFF"/>
            </a:gs>
          </a:gsLst>
          <a:lin ang="5400000" scaled="0"/>
        </a:gradFill>
      </p:bgPr>
    </p:bg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51"/>
          <p:cNvSpPr txBox="1"/>
          <p:nvPr>
            <p:ph type="title"/>
          </p:nvPr>
        </p:nvSpPr>
        <p:spPr>
          <a:xfrm>
            <a:off x="685800" y="22860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Example: The Intel Pentium</a:t>
            </a:r>
            <a:endParaRPr/>
          </a:p>
        </p:txBody>
      </p:sp>
      <p:sp>
        <p:nvSpPr>
          <p:cNvPr id="470" name="Google Shape;470;p51"/>
          <p:cNvSpPr txBox="1"/>
          <p:nvPr>
            <p:ph idx="1" type="body"/>
          </p:nvPr>
        </p:nvSpPr>
        <p:spPr>
          <a:xfrm>
            <a:off x="827087" y="1282700"/>
            <a:ext cx="7351712" cy="44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Supports both segmentation and segmentation with paging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CPU generates logical address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Given to segmentation unit</a:t>
            </a:r>
            <a:endParaRPr/>
          </a:p>
          <a:p>
            <a:pPr indent="-228600" lvl="2" marL="10858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009900"/>
              </a:buClr>
              <a:buSzPts val="1350"/>
              <a:buFont typeface="Arimo"/>
              <a:buChar char="4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Which produces linear addresses 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Linear address given to paging unit</a:t>
            </a:r>
            <a:endParaRPr/>
          </a:p>
          <a:p>
            <a:pPr indent="-228600" lvl="2" marL="10858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009900"/>
              </a:buClr>
              <a:buSzPts val="1350"/>
              <a:buFont typeface="Arimo"/>
              <a:buChar char="4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Which generates physical address in main memory</a:t>
            </a:r>
            <a:endParaRPr/>
          </a:p>
          <a:p>
            <a:pPr indent="-228600" lvl="2" marL="10858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009900"/>
              </a:buClr>
              <a:buSzPts val="1350"/>
              <a:buFont typeface="Arimo"/>
              <a:buChar char="4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Paging units form equivalent of MMU</a:t>
            </a:r>
            <a:endParaRPr/>
          </a:p>
          <a:p>
            <a:pPr indent="-24003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8F8F8"/>
            </a:gs>
            <a:gs pos="100000">
              <a:srgbClr val="CCECFF"/>
            </a:gs>
          </a:gsLst>
          <a:lin ang="5400000" scaled="0"/>
        </a:gradFill>
      </p:bgPr>
    </p:bg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52"/>
          <p:cNvSpPr txBox="1"/>
          <p:nvPr>
            <p:ph type="title"/>
          </p:nvPr>
        </p:nvSpPr>
        <p:spPr>
          <a:xfrm>
            <a:off x="663575" y="427037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2800"/>
              <a:buFont typeface="Helvetica Neue"/>
              <a:buNone/>
            </a:pPr>
            <a:r>
              <a:rPr b="1" i="0" lang="en-US" sz="2800" u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Logical to Physical Address Translation in Pentium</a:t>
            </a:r>
            <a:endParaRPr/>
          </a:p>
        </p:txBody>
      </p:sp>
      <p:pic>
        <p:nvPicPr>
          <p:cNvPr id="476" name="Google Shape;476;p52"/>
          <p:cNvPicPr preferRelativeResize="0"/>
          <p:nvPr/>
        </p:nvPicPr>
        <p:blipFill rotWithShape="1">
          <a:blip r:embed="rId3">
            <a:alphaModFix/>
          </a:blip>
          <a:srcRect b="42946" l="445" r="680" t="43226"/>
          <a:stretch/>
        </p:blipFill>
        <p:spPr>
          <a:xfrm>
            <a:off x="628650" y="2239962"/>
            <a:ext cx="7894637" cy="827087"/>
          </a:xfrm>
          <a:prstGeom prst="rect">
            <a:avLst/>
          </a:prstGeom>
          <a:noFill/>
          <a:ln cap="flat" cmpd="dbl" w="38100">
            <a:solidFill>
              <a:srgbClr val="CC6600"/>
            </a:solidFill>
            <a:prstDash val="solid"/>
            <a:miter lim="800000"/>
            <a:headEnd len="sm" w="sm" type="none"/>
            <a:tailEnd len="sm" w="sm" type="none"/>
          </a:ln>
        </p:spPr>
      </p:pic>
      <p:pic>
        <p:nvPicPr>
          <p:cNvPr id="477" name="Google Shape;477;p52"/>
          <p:cNvPicPr preferRelativeResize="0"/>
          <p:nvPr/>
        </p:nvPicPr>
        <p:blipFill rotWithShape="1">
          <a:blip r:embed="rId4">
            <a:alphaModFix/>
          </a:blip>
          <a:srcRect b="35571" l="637" r="659" t="35570"/>
          <a:stretch/>
        </p:blipFill>
        <p:spPr>
          <a:xfrm>
            <a:off x="1533525" y="4364037"/>
            <a:ext cx="5805487" cy="1273175"/>
          </a:xfrm>
          <a:prstGeom prst="rect">
            <a:avLst/>
          </a:prstGeom>
          <a:noFill/>
          <a:ln cap="flat" cmpd="dbl" w="38100">
            <a:solidFill>
              <a:srgbClr val="CC6600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8F8F8"/>
            </a:gs>
            <a:gs pos="100000">
              <a:srgbClr val="CCECFF"/>
            </a:gs>
          </a:gsLst>
          <a:lin ang="5400000" scaled="0"/>
        </a:gradFill>
      </p:bgPr>
    </p:bg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53"/>
          <p:cNvSpPr txBox="1"/>
          <p:nvPr>
            <p:ph type="title"/>
          </p:nvPr>
        </p:nvSpPr>
        <p:spPr>
          <a:xfrm>
            <a:off x="685800" y="22860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Intel Pentium Segmentation</a:t>
            </a:r>
            <a:endParaRPr/>
          </a:p>
        </p:txBody>
      </p:sp>
      <p:pic>
        <p:nvPicPr>
          <p:cNvPr id="483" name="Google Shape;483;p53"/>
          <p:cNvPicPr preferRelativeResize="0"/>
          <p:nvPr/>
        </p:nvPicPr>
        <p:blipFill rotWithShape="1">
          <a:blip r:embed="rId3">
            <a:alphaModFix/>
          </a:blip>
          <a:srcRect b="10266" l="665" r="664" t="9654"/>
          <a:stretch/>
        </p:blipFill>
        <p:spPr>
          <a:xfrm>
            <a:off x="1266825" y="1754187"/>
            <a:ext cx="6435725" cy="3917950"/>
          </a:xfrm>
          <a:prstGeom prst="rect">
            <a:avLst/>
          </a:prstGeom>
          <a:noFill/>
          <a:ln cap="flat" cmpd="dbl" w="38100">
            <a:solidFill>
              <a:srgbClr val="CC6600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8F8F8"/>
            </a:gs>
            <a:gs pos="100000">
              <a:srgbClr val="CCECFF"/>
            </a:gs>
          </a:gsLst>
          <a:lin ang="5400000" scaled="0"/>
        </a:gradFill>
      </p:bgPr>
    </p:bg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54"/>
          <p:cNvSpPr txBox="1"/>
          <p:nvPr>
            <p:ph type="title"/>
          </p:nvPr>
        </p:nvSpPr>
        <p:spPr>
          <a:xfrm>
            <a:off x="685800" y="22860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Pentium Paging Architecture</a:t>
            </a:r>
            <a:endParaRPr/>
          </a:p>
        </p:txBody>
      </p:sp>
      <p:pic>
        <p:nvPicPr>
          <p:cNvPr id="489" name="Google Shape;489;p54"/>
          <p:cNvPicPr preferRelativeResize="0"/>
          <p:nvPr/>
        </p:nvPicPr>
        <p:blipFill rotWithShape="1">
          <a:blip r:embed="rId3">
            <a:alphaModFix/>
          </a:blip>
          <a:srcRect b="842" l="13206" r="13206" t="843"/>
          <a:stretch/>
        </p:blipFill>
        <p:spPr>
          <a:xfrm>
            <a:off x="2100262" y="1509712"/>
            <a:ext cx="4794250" cy="4803775"/>
          </a:xfrm>
          <a:prstGeom prst="rect">
            <a:avLst/>
          </a:prstGeom>
          <a:noFill/>
          <a:ln cap="flat" cmpd="dbl" w="38100">
            <a:solidFill>
              <a:srgbClr val="CC6600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8F8F8"/>
            </a:gs>
            <a:gs pos="100000">
              <a:srgbClr val="CCECFF"/>
            </a:gs>
          </a:gsLst>
          <a:lin ang="5400000" scaled="0"/>
        </a:gradFill>
      </p:bgPr>
    </p:bg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55"/>
          <p:cNvSpPr txBox="1"/>
          <p:nvPr>
            <p:ph type="title"/>
          </p:nvPr>
        </p:nvSpPr>
        <p:spPr>
          <a:xfrm>
            <a:off x="685800" y="22860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Linear Address in Linux</a:t>
            </a:r>
            <a:endParaRPr/>
          </a:p>
        </p:txBody>
      </p:sp>
      <p:pic>
        <p:nvPicPr>
          <p:cNvPr id="495" name="Google Shape;495;p55"/>
          <p:cNvPicPr preferRelativeResize="0"/>
          <p:nvPr/>
        </p:nvPicPr>
        <p:blipFill rotWithShape="1">
          <a:blip r:embed="rId3">
            <a:alphaModFix/>
          </a:blip>
          <a:srcRect b="42778" l="798" r="897" t="42777"/>
          <a:stretch/>
        </p:blipFill>
        <p:spPr>
          <a:xfrm>
            <a:off x="1235075" y="2886075"/>
            <a:ext cx="6661150" cy="733425"/>
          </a:xfrm>
          <a:prstGeom prst="rect">
            <a:avLst/>
          </a:prstGeom>
          <a:noFill/>
          <a:ln cap="flat" cmpd="dbl" w="38100">
            <a:solidFill>
              <a:srgbClr val="CC6600"/>
            </a:solidFill>
            <a:prstDash val="solid"/>
            <a:miter lim="800000"/>
            <a:headEnd len="sm" w="sm" type="none"/>
            <a:tailEnd len="sm" w="sm" type="none"/>
          </a:ln>
        </p:spPr>
      </p:pic>
      <p:sp>
        <p:nvSpPr>
          <p:cNvPr id="496" name="Google Shape;496;p55"/>
          <p:cNvSpPr txBox="1"/>
          <p:nvPr/>
        </p:nvSpPr>
        <p:spPr>
          <a:xfrm>
            <a:off x="1211262" y="1512887"/>
            <a:ext cx="58610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Broken into four parts:</a:t>
            </a:r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8F8F8"/>
            </a:gs>
            <a:gs pos="100000">
              <a:srgbClr val="CCECFF"/>
            </a:gs>
          </a:gsLst>
          <a:lin ang="5400000" scaled="0"/>
        </a:gradFill>
      </p:bgPr>
    </p:bg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56"/>
          <p:cNvSpPr txBox="1"/>
          <p:nvPr>
            <p:ph type="title"/>
          </p:nvPr>
        </p:nvSpPr>
        <p:spPr>
          <a:xfrm>
            <a:off x="685800" y="22860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Three-level Paging in Linux</a:t>
            </a:r>
            <a:endParaRPr/>
          </a:p>
        </p:txBody>
      </p:sp>
      <p:pic>
        <p:nvPicPr>
          <p:cNvPr id="502" name="Google Shape;502;p56"/>
          <p:cNvPicPr preferRelativeResize="0"/>
          <p:nvPr/>
        </p:nvPicPr>
        <p:blipFill rotWithShape="1">
          <a:blip r:embed="rId3">
            <a:alphaModFix/>
          </a:blip>
          <a:srcRect b="13594" l="447" r="448" t="13278"/>
          <a:stretch/>
        </p:blipFill>
        <p:spPr>
          <a:xfrm>
            <a:off x="1098550" y="1768475"/>
            <a:ext cx="6883400" cy="3810000"/>
          </a:xfrm>
          <a:prstGeom prst="rect">
            <a:avLst/>
          </a:prstGeom>
          <a:noFill/>
          <a:ln cap="flat" cmpd="dbl" w="38100">
            <a:solidFill>
              <a:srgbClr val="CC6600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8F8F8"/>
            </a:gs>
            <a:gs pos="100000">
              <a:srgbClr val="99CCFF"/>
            </a:gs>
          </a:gsLst>
          <a:lin ang="5400000" scaled="0"/>
        </a:gradFill>
      </p:bgPr>
    </p:bg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57"/>
          <p:cNvSpPr txBox="1"/>
          <p:nvPr>
            <p:ph type="ctrTitle"/>
          </p:nvPr>
        </p:nvSpPr>
        <p:spPr>
          <a:xfrm>
            <a:off x="685800" y="22860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End of Chapter 8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s-w-java">
  <a:themeElements>
    <a:clrScheme name="default">
      <a:dk1>
        <a:srgbClr val="000000"/>
      </a:dk1>
      <a:lt1>
        <a:srgbClr val="FFFF99"/>
      </a:lt1>
      <a:dk2>
        <a:srgbClr val="CC3300"/>
      </a:dk2>
      <a:lt2>
        <a:srgbClr val="666699"/>
      </a:lt2>
      <a:accent1>
        <a:srgbClr val="FFCCCC"/>
      </a:accent1>
      <a:accent2>
        <a:srgbClr val="CCCC00"/>
      </a:accent2>
      <a:accent3>
        <a:srgbClr val="FFFF99"/>
      </a:accent3>
      <a:accent4>
        <a:srgbClr val="FFCCCC"/>
      </a:accent4>
      <a:accent5>
        <a:srgbClr val="CCCC00"/>
      </a:accent5>
      <a:accent6>
        <a:srgbClr val="FFFF99"/>
      </a:accent6>
      <a:hlink>
        <a:srgbClr val="FF9900"/>
      </a:hlink>
      <a:folHlink>
        <a:srgbClr val="FF993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1999-08-02T20:13:57Z</dcterms:created>
  <dc:creator>Marilyn Turnamian</dc:creator>
</cp:coreProperties>
</file>